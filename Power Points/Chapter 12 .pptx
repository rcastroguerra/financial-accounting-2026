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64" r:id="rId5"/>
    <p:sldId id="1417" r:id="rId6"/>
    <p:sldId id="1418" r:id="rId7"/>
    <p:sldId id="1489" r:id="rId8"/>
    <p:sldId id="1428" r:id="rId9"/>
    <p:sldId id="1429" r:id="rId10"/>
    <p:sldId id="1490" r:id="rId11"/>
    <p:sldId id="1493" r:id="rId12"/>
    <p:sldId id="1491" r:id="rId13"/>
    <p:sldId id="1492" r:id="rId14"/>
    <p:sldId id="1494" r:id="rId15"/>
    <p:sldId id="1495"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Julie Angel" initials="JA" lastIdx="2" clrIdx="1">
    <p:extLst>
      <p:ext uri="{19B8F6BF-5375-455C-9EA6-DF929625EA0E}">
        <p15:presenceInfo xmlns:p15="http://schemas.microsoft.com/office/powerpoint/2012/main" userId="fec48bcc1f869946" providerId="Windows Live"/>
      </p:ext>
    </p:extLst>
  </p:cmAuthor>
  <p:cmAuthor id="3" name="Erin Tilley" initials="ET" lastIdx="1" clrIdx="2">
    <p:extLst>
      <p:ext uri="{19B8F6BF-5375-455C-9EA6-DF929625EA0E}">
        <p15:presenceInfo xmlns:p15="http://schemas.microsoft.com/office/powerpoint/2012/main" userId="b2f5dbb2b9544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72903" autoAdjust="0"/>
  </p:normalViewPr>
  <p:slideViewPr>
    <p:cSldViewPr snapToGrid="0">
      <p:cViewPr varScale="1">
        <p:scale>
          <a:sx n="80" d="100"/>
          <a:sy n="80" d="100"/>
        </p:scale>
        <p:origin x="1752"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7/2/2026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7/2/2026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7115217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82537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825378"/>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6" y="2550013"/>
            <a:ext cx="5084763" cy="82537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2555894"/>
            <a:ext cx="5213350" cy="825378"/>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505010"/>
            <a:ext cx="5084776" cy="85486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42049" y="3512099"/>
            <a:ext cx="5330269" cy="82537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C16720CB-8E80-4C81-B19E-9660F007EB1A}"/>
              </a:ext>
            </a:extLst>
          </p:cNvPr>
          <p:cNvSpPr>
            <a:spLocks noGrp="1"/>
          </p:cNvSpPr>
          <p:nvPr>
            <p:ph sz="quarter" idx="25"/>
          </p:nvPr>
        </p:nvSpPr>
        <p:spPr>
          <a:xfrm>
            <a:off x="6242049" y="4505010"/>
            <a:ext cx="5084763" cy="8253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BFF3EE-D8A8-40F4-8019-9E0E6C0E27F5}"/>
              </a:ext>
            </a:extLst>
          </p:cNvPr>
          <p:cNvSpPr>
            <a:spLocks noGrp="1"/>
          </p:cNvSpPr>
          <p:nvPr>
            <p:ph sz="quarter" idx="26"/>
          </p:nvPr>
        </p:nvSpPr>
        <p:spPr>
          <a:xfrm>
            <a:off x="736586" y="3482609"/>
            <a:ext cx="5084763" cy="85486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51723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G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33660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80228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LO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652240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p>
            <a:r>
              <a:rPr lang="en-US" dirty="0"/>
              <a:t>Click to edit Master title style</a:t>
            </a:r>
          </a:p>
        </p:txBody>
      </p:sp>
      <p:sp>
        <p:nvSpPr>
          <p:cNvPr id="5" name="Content Placeholder 2"/>
          <p:cNvSpPr>
            <a:spLocks noGrp="1"/>
          </p:cNvSpPr>
          <p:nvPr>
            <p:ph idx="1"/>
          </p:nvPr>
        </p:nvSpPr>
        <p:spPr>
          <a:xfrm>
            <a:off x="609600" y="1216152"/>
            <a:ext cx="10972800" cy="5184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90117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lvl1pPr>
              <a:defRPr lang="en-US" sz="2800" b="1" smtClean="0">
                <a:solidFill>
                  <a:schemeClr val="bg1"/>
                </a:solidFill>
                <a:latin typeface="Arial" panose="020B0604020202020204" pitchFamily="34" charset="0"/>
                <a:ea typeface="+mj-ea"/>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7005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7">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34" r:id="rId10"/>
    <p:sldLayoutId id="2147483716" r:id="rId11"/>
    <p:sldLayoutId id="2147483719" r:id="rId12"/>
    <p:sldLayoutId id="2147483720" r:id="rId13"/>
    <p:sldLayoutId id="2147483723" r:id="rId14"/>
    <p:sldLayoutId id="2147483724" r:id="rId15"/>
    <p:sldLayoutId id="2147483713" r:id="rId16"/>
    <p:sldLayoutId id="2147483717" r:id="rId17"/>
    <p:sldLayoutId id="2147483728" r:id="rId18"/>
    <p:sldLayoutId id="2147483729" r:id="rId19"/>
    <p:sldLayoutId id="2147483730" r:id="rId20"/>
    <p:sldLayoutId id="2147483731" r:id="rId21"/>
    <p:sldLayoutId id="2147483732" r:id="rId22"/>
    <p:sldLayoutId id="2147483733" r:id="rId23"/>
    <p:sldLayoutId id="2147483736" r:id="rId24"/>
    <p:sldLayoutId id="2147483737" r:id="rId2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1464574"/>
          </a:xfrm>
        </p:spPr>
        <p:txBody>
          <a:bodyPr/>
          <a:lstStyle/>
          <a:p>
            <a:pPr algn="ctr"/>
            <a:r>
              <a:rPr lang="en-US" dirty="0"/>
              <a:t>Chapter 12: </a:t>
            </a:r>
            <a:br>
              <a:rPr lang="en-US" dirty="0"/>
            </a:br>
            <a:r>
              <a:rPr lang="en-US" dirty="0"/>
              <a:t>Corporations: Organization, Stock Transactions, and Dividends</a:t>
            </a:r>
          </a:p>
        </p:txBody>
      </p:sp>
      <p:sp>
        <p:nvSpPr>
          <p:cNvPr id="6" name="Text Placeholder 5"/>
          <p:cNvSpPr>
            <a:spLocks noGrp="1"/>
          </p:cNvSpPr>
          <p:nvPr>
            <p:ph type="body" sz="quarter" idx="11"/>
          </p:nvPr>
        </p:nvSpPr>
        <p:spPr>
          <a:xfrm>
            <a:off x="5699483" y="2355562"/>
            <a:ext cx="4684295"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9BD5C518-48CB-72FF-2BF2-A4DA9E7B2E0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 Corporation</a:t>
            </a:r>
            <a:br>
              <a:rPr lang="en-US" dirty="0"/>
            </a:br>
            <a:r>
              <a:rPr lang="en-US" sz="1800" dirty="0"/>
              <a:t> </a:t>
            </a:r>
          </a:p>
        </p:txBody>
      </p:sp>
      <p:sp>
        <p:nvSpPr>
          <p:cNvPr id="3" name="Content Placeholder 2"/>
          <p:cNvSpPr>
            <a:spLocks noGrp="1"/>
          </p:cNvSpPr>
          <p:nvPr>
            <p:ph idx="1"/>
          </p:nvPr>
        </p:nvSpPr>
        <p:spPr/>
        <p:txBody>
          <a:bodyPr/>
          <a:lstStyle/>
          <a:p>
            <a:r>
              <a:rPr lang="en-US" dirty="0"/>
              <a:t>A </a:t>
            </a:r>
            <a:r>
              <a:rPr lang="en-US" i="1" dirty="0"/>
              <a:t>corporation</a:t>
            </a:r>
            <a:r>
              <a:rPr lang="en-US" dirty="0"/>
              <a:t> is a legal entity, distinct and separate from the individuals who create and operate it. </a:t>
            </a:r>
          </a:p>
          <a:p>
            <a:pPr marL="457200" lvl="1" indent="0">
              <a:buNone/>
            </a:pPr>
            <a:endParaRPr lang="en-US" dirty="0"/>
          </a:p>
        </p:txBody>
      </p:sp>
    </p:spTree>
    <p:extLst>
      <p:ext uri="{BB962C8B-B14F-4D97-AF65-F5344CB8AC3E}">
        <p14:creationId xmlns:p14="http://schemas.microsoft.com/office/powerpoint/2010/main" val="4168930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 Corporation</a:t>
            </a:r>
            <a:br>
              <a:rPr lang="en-US" dirty="0"/>
            </a:br>
            <a:r>
              <a:rPr lang="en-US" sz="1800" dirty="0"/>
              <a:t> </a:t>
            </a:r>
          </a:p>
        </p:txBody>
      </p:sp>
      <p:sp>
        <p:nvSpPr>
          <p:cNvPr id="3" name="Content Placeholder 2"/>
          <p:cNvSpPr>
            <a:spLocks noGrp="1"/>
          </p:cNvSpPr>
          <p:nvPr>
            <p:ph idx="1"/>
          </p:nvPr>
        </p:nvSpPr>
        <p:spPr/>
        <p:txBody>
          <a:bodyPr/>
          <a:lstStyle/>
          <a:p>
            <a:r>
              <a:rPr lang="en-US" dirty="0"/>
              <a:t>The </a:t>
            </a:r>
            <a:r>
              <a:rPr lang="en-US" b="1" dirty="0">
                <a:solidFill>
                  <a:srgbClr val="00375D"/>
                </a:solidFill>
              </a:rPr>
              <a:t>stockholders</a:t>
            </a:r>
            <a:r>
              <a:rPr lang="en-US" dirty="0">
                <a:solidFill>
                  <a:srgbClr val="00375D"/>
                </a:solidFill>
              </a:rPr>
              <a:t> </a:t>
            </a:r>
            <a:r>
              <a:rPr lang="en-US" dirty="0"/>
              <a:t>or </a:t>
            </a:r>
            <a:r>
              <a:rPr lang="en-US" i="1" dirty="0"/>
              <a:t>shareholders</a:t>
            </a:r>
            <a:r>
              <a:rPr lang="en-US" dirty="0"/>
              <a:t> who own the stock own the corporation. They can buy and sell stock without affecting the corporation’s operations or continued existence.</a:t>
            </a:r>
          </a:p>
          <a:p>
            <a:pPr marL="0" indent="0">
              <a:buNone/>
            </a:pPr>
            <a:endParaRPr lang="en-US" dirty="0"/>
          </a:p>
        </p:txBody>
      </p:sp>
    </p:spTree>
    <p:extLst>
      <p:ext uri="{BB962C8B-B14F-4D97-AF65-F5344CB8AC3E}">
        <p14:creationId xmlns:p14="http://schemas.microsoft.com/office/powerpoint/2010/main" val="809324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Paid-In Capital from Stock</a:t>
            </a:r>
          </a:p>
        </p:txBody>
      </p:sp>
      <p:sp>
        <p:nvSpPr>
          <p:cNvPr id="3" name="Content Placeholder 2"/>
          <p:cNvSpPr>
            <a:spLocks noGrp="1"/>
          </p:cNvSpPr>
          <p:nvPr>
            <p:ph idx="1"/>
          </p:nvPr>
        </p:nvSpPr>
        <p:spPr/>
        <p:txBody>
          <a:bodyPr/>
          <a:lstStyle/>
          <a:p>
            <a:pPr fontAlgn="auto">
              <a:defRPr/>
            </a:pPr>
            <a:r>
              <a:rPr lang="en-US" dirty="0"/>
              <a:t>The two main sources of stockholders’ equity are paid-in capital (or contributed capital) and retained earnings.</a:t>
            </a:r>
          </a:p>
          <a:p>
            <a:pPr lvl="1" fontAlgn="auto">
              <a:defRPr/>
            </a:pPr>
            <a:r>
              <a:rPr lang="en-US" dirty="0"/>
              <a:t>The main source of paid-in capital is from issuing stock.</a:t>
            </a:r>
          </a:p>
        </p:txBody>
      </p:sp>
    </p:spTree>
    <p:extLst>
      <p:ext uri="{BB962C8B-B14F-4D97-AF65-F5344CB8AC3E}">
        <p14:creationId xmlns:p14="http://schemas.microsoft.com/office/powerpoint/2010/main" val="400691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Stock</a:t>
            </a:r>
            <a:br>
              <a:rPr lang="en-US" dirty="0"/>
            </a:br>
            <a:r>
              <a:rPr lang="en-US" sz="1800" dirty="0"/>
              <a:t> </a:t>
            </a:r>
            <a:endParaRPr lang="en-US" dirty="0"/>
          </a:p>
        </p:txBody>
      </p:sp>
      <p:sp>
        <p:nvSpPr>
          <p:cNvPr id="3" name="Content Placeholder 2"/>
          <p:cNvSpPr>
            <a:spLocks noGrp="1"/>
          </p:cNvSpPr>
          <p:nvPr>
            <p:ph idx="1"/>
          </p:nvPr>
        </p:nvSpPr>
        <p:spPr/>
        <p:txBody>
          <a:bodyPr/>
          <a:lstStyle/>
          <a:p>
            <a:pPr fontAlgn="auto">
              <a:defRPr/>
            </a:pPr>
            <a:r>
              <a:rPr lang="en-US" dirty="0"/>
              <a:t>The number of shares of stock that a corporation is </a:t>
            </a:r>
            <a:r>
              <a:rPr lang="en-US" i="1" dirty="0">
                <a:solidFill>
                  <a:srgbClr val="FF0000"/>
                </a:solidFill>
              </a:rPr>
              <a:t>authorized</a:t>
            </a:r>
            <a:r>
              <a:rPr lang="en-US" dirty="0">
                <a:solidFill>
                  <a:srgbClr val="FF0000"/>
                </a:solidFill>
              </a:rPr>
              <a:t> </a:t>
            </a:r>
            <a:r>
              <a:rPr lang="en-US" dirty="0"/>
              <a:t>to issue is stated in its charter.</a:t>
            </a:r>
          </a:p>
          <a:p>
            <a:pPr fontAlgn="auto">
              <a:defRPr/>
            </a:pPr>
            <a:r>
              <a:rPr lang="en-US" dirty="0"/>
              <a:t>The term </a:t>
            </a:r>
            <a:r>
              <a:rPr lang="en-US" i="1" dirty="0"/>
              <a:t>issued</a:t>
            </a:r>
            <a:r>
              <a:rPr lang="en-US" dirty="0"/>
              <a:t> refers to the shares issued to the stockholders.</a:t>
            </a:r>
          </a:p>
          <a:p>
            <a:pPr lvl="1" fontAlgn="auto">
              <a:defRPr/>
            </a:pPr>
            <a:r>
              <a:rPr lang="en-US" dirty="0"/>
              <a:t>A corporation may reacquire some of the stock that it has issued.</a:t>
            </a:r>
          </a:p>
          <a:p>
            <a:pPr fontAlgn="auto">
              <a:defRPr/>
            </a:pPr>
            <a:r>
              <a:rPr lang="en-US" dirty="0">
                <a:solidFill>
                  <a:srgbClr val="FF0000"/>
                </a:solidFill>
              </a:rPr>
              <a:t>The stock remaining in the hands of stockholders is then called </a:t>
            </a:r>
            <a:r>
              <a:rPr lang="en-US" b="1" dirty="0">
                <a:solidFill>
                  <a:srgbClr val="00375D"/>
                </a:solidFill>
              </a:rPr>
              <a:t>outstanding stock</a:t>
            </a:r>
            <a:r>
              <a:rPr lang="en-US" b="0" dirty="0">
                <a:solidFill>
                  <a:schemeClr val="tx2"/>
                </a:solidFill>
              </a:rPr>
              <a:t>.</a:t>
            </a:r>
            <a:endParaRPr lang="en-US" dirty="0"/>
          </a:p>
        </p:txBody>
      </p:sp>
    </p:spTree>
    <p:extLst>
      <p:ext uri="{BB962C8B-B14F-4D97-AF65-F5344CB8AC3E}">
        <p14:creationId xmlns:p14="http://schemas.microsoft.com/office/powerpoint/2010/main" val="2080227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Authorized, Issued, and Outstanding Stock</a:t>
            </a:r>
          </a:p>
        </p:txBody>
      </p:sp>
      <p:pic>
        <p:nvPicPr>
          <p:cNvPr id="3" name="Picture 2" descr="An illustration showing the relationship between authorized, issued, and outstanding stock is shown. The illustration has three circles, shown in the form of a dartboard. The outer circle is shaded yellow and labeled Authorized. The inner circle is shaded green and labeled Issued. The “bull’s-eye” is shaded purple and labeled Outstanding. Below the circles is the following note: Number of shares authorized, issued, and outstanding."/>
          <p:cNvPicPr>
            <a:picLocks noChangeAspect="1"/>
          </p:cNvPicPr>
          <p:nvPr/>
        </p:nvPicPr>
        <p:blipFill>
          <a:blip r:embed="rId2"/>
          <a:stretch>
            <a:fillRect/>
          </a:stretch>
        </p:blipFill>
        <p:spPr>
          <a:xfrm>
            <a:off x="2570988" y="2286000"/>
            <a:ext cx="7123176" cy="2971800"/>
          </a:xfrm>
          <a:prstGeom prst="rect">
            <a:avLst/>
          </a:prstGeom>
        </p:spPr>
      </p:pic>
    </p:spTree>
    <p:extLst>
      <p:ext uri="{BB962C8B-B14F-4D97-AF65-F5344CB8AC3E}">
        <p14:creationId xmlns:p14="http://schemas.microsoft.com/office/powerpoint/2010/main" val="276258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Stock</a:t>
            </a:r>
            <a:br>
              <a:rPr lang="en-US" dirty="0"/>
            </a:br>
            <a:endParaRPr lang="en-US" dirty="0"/>
          </a:p>
        </p:txBody>
      </p:sp>
      <p:sp>
        <p:nvSpPr>
          <p:cNvPr id="3" name="Content Placeholder 2"/>
          <p:cNvSpPr>
            <a:spLocks noGrp="1"/>
          </p:cNvSpPr>
          <p:nvPr>
            <p:ph idx="1"/>
          </p:nvPr>
        </p:nvSpPr>
        <p:spPr/>
        <p:txBody>
          <a:bodyPr/>
          <a:lstStyle/>
          <a:p>
            <a:pPr fontAlgn="auto">
              <a:defRPr/>
            </a:pPr>
            <a:r>
              <a:rPr lang="en-US" dirty="0"/>
              <a:t>Shares of stock are often assigned a dollar amount, called </a:t>
            </a:r>
            <a:r>
              <a:rPr lang="en-US" b="1" dirty="0">
                <a:solidFill>
                  <a:srgbClr val="00375D"/>
                </a:solidFill>
              </a:rPr>
              <a:t>par</a:t>
            </a:r>
            <a:r>
              <a:rPr lang="en-US" dirty="0">
                <a:solidFill>
                  <a:srgbClr val="00375D"/>
                </a:solidFill>
              </a:rPr>
              <a:t> </a:t>
            </a:r>
            <a:r>
              <a:rPr lang="en-US" b="1" dirty="0">
                <a:solidFill>
                  <a:srgbClr val="00375D"/>
                </a:solidFill>
              </a:rPr>
              <a:t>value</a:t>
            </a:r>
            <a:r>
              <a:rPr lang="en-US" dirty="0"/>
              <a:t>. </a:t>
            </a:r>
          </a:p>
          <a:p>
            <a:pPr fontAlgn="auto">
              <a:defRPr/>
            </a:pPr>
            <a:r>
              <a:rPr lang="en-US" dirty="0"/>
              <a:t>Stock issued without par is called </a:t>
            </a:r>
            <a:r>
              <a:rPr lang="en-US" i="1" dirty="0"/>
              <a:t>no-par stock</a:t>
            </a:r>
            <a:r>
              <a:rPr lang="en-US" dirty="0"/>
              <a:t>. </a:t>
            </a:r>
          </a:p>
          <a:p>
            <a:pPr lvl="1" fontAlgn="auto">
              <a:defRPr/>
            </a:pPr>
            <a:r>
              <a:rPr lang="en-US" dirty="0"/>
              <a:t>In some states, the board of directors of a corporation is required to assign a </a:t>
            </a:r>
            <a:r>
              <a:rPr lang="en-US" i="1" dirty="0"/>
              <a:t>stated value </a:t>
            </a:r>
            <a:r>
              <a:rPr lang="en-US" dirty="0"/>
              <a:t>to no-par stock.</a:t>
            </a:r>
          </a:p>
          <a:p>
            <a:pPr fontAlgn="auto">
              <a:defRPr/>
            </a:pPr>
            <a:r>
              <a:rPr lang="en-US" dirty="0"/>
              <a:t>To protect creditors, some state laws require corporations to maintain a minimum amount of paid-in capital. </a:t>
            </a:r>
          </a:p>
          <a:p>
            <a:pPr lvl="1" fontAlgn="auto">
              <a:defRPr/>
            </a:pPr>
            <a:r>
              <a:rPr lang="en-US" dirty="0"/>
              <a:t>This minimum amount, called </a:t>
            </a:r>
            <a:r>
              <a:rPr lang="en-US" i="1" dirty="0"/>
              <a:t>legal capital</a:t>
            </a:r>
            <a:r>
              <a:rPr lang="en-US" dirty="0"/>
              <a:t>, usually includes the par or stated value of the shares issued.	</a:t>
            </a:r>
          </a:p>
        </p:txBody>
      </p:sp>
    </p:spTree>
    <p:extLst>
      <p:ext uri="{BB962C8B-B14F-4D97-AF65-F5344CB8AC3E}">
        <p14:creationId xmlns:p14="http://schemas.microsoft.com/office/powerpoint/2010/main" val="3799753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Premium on Stock</a:t>
            </a:r>
            <a:br>
              <a:rPr lang="en-US" dirty="0"/>
            </a:br>
            <a:endParaRPr lang="en-US" dirty="0"/>
          </a:p>
        </p:txBody>
      </p:sp>
      <p:sp>
        <p:nvSpPr>
          <p:cNvPr id="3" name="Content Placeholder 2"/>
          <p:cNvSpPr>
            <a:spLocks noGrp="1"/>
          </p:cNvSpPr>
          <p:nvPr>
            <p:ph idx="1"/>
          </p:nvPr>
        </p:nvSpPr>
        <p:spPr/>
        <p:txBody>
          <a:bodyPr/>
          <a:lstStyle/>
          <a:p>
            <a:pPr fontAlgn="auto">
              <a:defRPr/>
            </a:pPr>
            <a:r>
              <a:rPr lang="en-US" dirty="0"/>
              <a:t>When stock is issued at a premium, Cash is debited for the amount received. Common Stock or Preferred Stock is credited for the par amount. </a:t>
            </a:r>
          </a:p>
          <a:p>
            <a:pPr fontAlgn="auto">
              <a:defRPr/>
            </a:pPr>
            <a:r>
              <a:rPr lang="en-US" dirty="0"/>
              <a:t>An account entitled </a:t>
            </a:r>
            <a:r>
              <a:rPr lang="en-US" i="1" dirty="0"/>
              <a:t>Paid-In Capital in Excess of Par</a:t>
            </a:r>
            <a:r>
              <a:rPr lang="en-US" dirty="0"/>
              <a:t> is credited for the excess of the amount paid over par.</a:t>
            </a:r>
          </a:p>
        </p:txBody>
      </p:sp>
    </p:spTree>
    <p:extLst>
      <p:ext uri="{BB962C8B-B14F-4D97-AF65-F5344CB8AC3E}">
        <p14:creationId xmlns:p14="http://schemas.microsoft.com/office/powerpoint/2010/main" val="2446230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Premium on Stock</a:t>
            </a:r>
            <a:br>
              <a:rPr lang="en-US" dirty="0"/>
            </a:br>
            <a:endParaRPr lang="en-US" dirty="0"/>
          </a:p>
        </p:txBody>
      </p:sp>
      <p:sp>
        <p:nvSpPr>
          <p:cNvPr id="3" name="Content Placeholder 2"/>
          <p:cNvSpPr>
            <a:spLocks noGrp="1"/>
          </p:cNvSpPr>
          <p:nvPr>
            <p:ph idx="1"/>
          </p:nvPr>
        </p:nvSpPr>
        <p:spPr/>
        <p:txBody>
          <a:bodyPr/>
          <a:lstStyle/>
          <a:p>
            <a:pPr fontAlgn="auto">
              <a:defRPr/>
            </a:pPr>
            <a:r>
              <a:rPr lang="en-US" dirty="0"/>
              <a:t>To illustrate, assume that Caldwell Company issues 2,000 shares of $50 par preferred stock for cash at $55. The entry to record this transaction is as follows:</a:t>
            </a:r>
          </a:p>
        </p:txBody>
      </p:sp>
      <p:pic>
        <p:nvPicPr>
          <p:cNvPr id="4" name="Picture 3" descr="A journal entry is given in a journal form. Cash is debited—with 110,000 shown in the Debit column. Preferred Stock is credited—with 100,000 shown in the Credit column. Paid-In Capital in Excess of Par—Preferred Stock is credited—with 10,000 shown in the Credit column. A journal entry explanation is given below the journal entry: Issued $50 par preferred stock at $55."/>
          <p:cNvPicPr>
            <a:picLocks noChangeAspect="1"/>
          </p:cNvPicPr>
          <p:nvPr/>
        </p:nvPicPr>
        <p:blipFill>
          <a:blip r:embed="rId2"/>
          <a:stretch>
            <a:fillRect/>
          </a:stretch>
        </p:blipFill>
        <p:spPr>
          <a:xfrm>
            <a:off x="2398775" y="3124200"/>
            <a:ext cx="7467603" cy="1595276"/>
          </a:xfrm>
          <a:prstGeom prst="rect">
            <a:avLst/>
          </a:prstGeom>
        </p:spPr>
      </p:pic>
    </p:spTree>
    <p:extLst>
      <p:ext uri="{BB962C8B-B14F-4D97-AF65-F5344CB8AC3E}">
        <p14:creationId xmlns:p14="http://schemas.microsoft.com/office/powerpoint/2010/main" val="1240583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Premium on Stock</a:t>
            </a:r>
            <a:br>
              <a:rPr lang="en-US" dirty="0"/>
            </a:br>
            <a:endParaRPr lang="en-US" dirty="0"/>
          </a:p>
        </p:txBody>
      </p:sp>
      <p:sp>
        <p:nvSpPr>
          <p:cNvPr id="3" name="Content Placeholder 2"/>
          <p:cNvSpPr>
            <a:spLocks noGrp="1"/>
          </p:cNvSpPr>
          <p:nvPr>
            <p:ph idx="1"/>
          </p:nvPr>
        </p:nvSpPr>
        <p:spPr/>
        <p:txBody>
          <a:bodyPr/>
          <a:lstStyle/>
          <a:p>
            <a:pPr fontAlgn="auto">
              <a:defRPr/>
            </a:pPr>
            <a:r>
              <a:rPr lang="en-US" dirty="0"/>
              <a:t>To illustrate, assume that a corporation acquired land with a fair market value that cannot be determined. In exchange, the corporation issued 10,000 shares of its $10 par common stock. If the stock has a market price of $12 per share, the transaction is recorded as follows:</a:t>
            </a:r>
          </a:p>
        </p:txBody>
      </p:sp>
      <p:pic>
        <p:nvPicPr>
          <p:cNvPr id="4" name="Picture 3" descr="A journal entry is given in a journal form. Land is debited—with 120,000 shown in the Debit column. Common Stock is credited—with 100,000 shown in the Credit column. Paid-In Capital in Excess of Par is credited—with 20,000 shown in the Credit column. A journal entry explanation is given below the journal entry: Issued $10 par common stock, valued at $12 per share, for land."/>
          <p:cNvPicPr>
            <a:picLocks noChangeAspect="1"/>
          </p:cNvPicPr>
          <p:nvPr/>
        </p:nvPicPr>
        <p:blipFill>
          <a:blip r:embed="rId2"/>
          <a:stretch>
            <a:fillRect/>
          </a:stretch>
        </p:blipFill>
        <p:spPr>
          <a:xfrm>
            <a:off x="2398775" y="3962400"/>
            <a:ext cx="7467603" cy="2057400"/>
          </a:xfrm>
          <a:prstGeom prst="rect">
            <a:avLst/>
          </a:prstGeom>
        </p:spPr>
      </p:pic>
    </p:spTree>
    <p:extLst>
      <p:ext uri="{BB962C8B-B14F-4D97-AF65-F5344CB8AC3E}">
        <p14:creationId xmlns:p14="http://schemas.microsoft.com/office/powerpoint/2010/main" val="2099450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Dividends</a:t>
            </a:r>
            <a:br>
              <a:rPr lang="en-US" dirty="0"/>
            </a:br>
            <a:endParaRPr lang="en-US" dirty="0"/>
          </a:p>
        </p:txBody>
      </p:sp>
      <p:sp>
        <p:nvSpPr>
          <p:cNvPr id="3" name="Content Placeholder 2"/>
          <p:cNvSpPr>
            <a:spLocks noGrp="1"/>
          </p:cNvSpPr>
          <p:nvPr>
            <p:ph idx="1"/>
          </p:nvPr>
        </p:nvSpPr>
        <p:spPr/>
        <p:txBody>
          <a:bodyPr/>
          <a:lstStyle/>
          <a:p>
            <a:pPr fontAlgn="auto">
              <a:defRPr/>
            </a:pPr>
            <a:r>
              <a:rPr lang="en-US" b="0" i="0" dirty="0">
                <a:solidFill>
                  <a:srgbClr val="101518"/>
                </a:solidFill>
                <a:effectLst/>
                <a:latin typeface="helvetica neue"/>
              </a:rPr>
              <a:t>a sum of money paid regularly (typically quarterly) by a company to its shareholders out of its profits (or reserves).</a:t>
            </a:r>
          </a:p>
          <a:p>
            <a:pPr lvl="1" fontAlgn="t">
              <a:buFont typeface="Arial" panose="020B0604020202020204" pitchFamily="34" charset="0"/>
              <a:buChar char="•"/>
            </a:pPr>
            <a:r>
              <a:rPr lang="en-US" b="0" i="0" dirty="0">
                <a:solidFill>
                  <a:srgbClr val="000000"/>
                </a:solidFill>
                <a:effectLst/>
                <a:latin typeface="helvetica neue"/>
              </a:rPr>
              <a:t>Cash Dividend. It is the most common type, and there is the actual cash payment by the company to its shareholders directly.</a:t>
            </a:r>
          </a:p>
          <a:p>
            <a:pPr lvl="1" fontAlgn="t">
              <a:buFont typeface="Arial" panose="020B0604020202020204" pitchFamily="34" charset="0"/>
              <a:buChar char="•"/>
            </a:pPr>
            <a:r>
              <a:rPr lang="en-US" b="0" i="0" dirty="0">
                <a:solidFill>
                  <a:srgbClr val="000000"/>
                </a:solidFill>
                <a:effectLst/>
                <a:latin typeface="helvetica neue"/>
              </a:rPr>
              <a:t>Stock Dividend. It is the type under which the company issues the common stock to the present common shareholders without taking any form of consideration.</a:t>
            </a:r>
          </a:p>
          <a:p>
            <a:pPr lvl="1" fontAlgn="t">
              <a:buFont typeface="Arial" panose="020B0604020202020204" pitchFamily="34" charset="0"/>
              <a:buChar char="•"/>
            </a:pPr>
            <a:r>
              <a:rPr lang="en-US" b="0" i="0" dirty="0">
                <a:solidFill>
                  <a:srgbClr val="FF0000"/>
                </a:solidFill>
                <a:effectLst/>
                <a:highlight>
                  <a:srgbClr val="FFFFFF"/>
                </a:highlight>
                <a:latin typeface="Verdana" panose="020B0604030504040204" pitchFamily="34" charset="0"/>
              </a:rPr>
              <a:t>The date on which a cash dividend becomes a binding legal obligation is on th</a:t>
            </a:r>
            <a:r>
              <a:rPr lang="en-US" dirty="0">
                <a:solidFill>
                  <a:srgbClr val="FF0000"/>
                </a:solidFill>
                <a:highlight>
                  <a:srgbClr val="FFFFFF"/>
                </a:highlight>
                <a:latin typeface="helvetica neue"/>
              </a:rPr>
              <a:t>e </a:t>
            </a:r>
            <a:r>
              <a:rPr lang="en-US" b="0" i="0" dirty="0">
                <a:solidFill>
                  <a:srgbClr val="FF0000"/>
                </a:solidFill>
                <a:effectLst/>
                <a:highlight>
                  <a:srgbClr val="FFFFFF"/>
                </a:highlight>
                <a:latin typeface="Noto Serif" panose="02020600060500020200" pitchFamily="18" charset="0"/>
              </a:rPr>
              <a:t>declaration date</a:t>
            </a:r>
            <a:endParaRPr lang="en-US" b="0" i="0" dirty="0">
              <a:solidFill>
                <a:srgbClr val="FF0000"/>
              </a:solidFill>
              <a:effectLst/>
              <a:latin typeface="helvetica neue"/>
            </a:endParaRPr>
          </a:p>
          <a:p>
            <a:pPr fontAlgn="auto">
              <a:defRPr/>
            </a:pPr>
            <a:endParaRPr lang="en-US" dirty="0"/>
          </a:p>
        </p:txBody>
      </p:sp>
    </p:spTree>
    <p:extLst>
      <p:ext uri="{BB962C8B-B14F-4D97-AF65-F5344CB8AC3E}">
        <p14:creationId xmlns:p14="http://schemas.microsoft.com/office/powerpoint/2010/main" val="3103075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Dividends</a:t>
            </a:r>
            <a:br>
              <a:rPr lang="en-US" dirty="0"/>
            </a:br>
            <a:endParaRPr lang="en-US" dirty="0"/>
          </a:p>
        </p:txBody>
      </p:sp>
      <p:sp>
        <p:nvSpPr>
          <p:cNvPr id="3" name="Content Placeholder 2"/>
          <p:cNvSpPr>
            <a:spLocks noGrp="1"/>
          </p:cNvSpPr>
          <p:nvPr>
            <p:ph idx="1"/>
          </p:nvPr>
        </p:nvSpPr>
        <p:spPr/>
        <p:txBody>
          <a:bodyPr/>
          <a:lstStyle/>
          <a:p>
            <a:pPr fontAlgn="auto">
              <a:defRPr/>
            </a:pPr>
            <a:r>
              <a:rPr lang="en-US" b="0" i="0" dirty="0">
                <a:solidFill>
                  <a:srgbClr val="101518"/>
                </a:solidFill>
                <a:effectLst/>
                <a:latin typeface="helvetica neue"/>
              </a:rPr>
              <a:t>The date on which a cash dividends becomes a binding legal obligations is on the declaration date </a:t>
            </a:r>
            <a:r>
              <a:rPr lang="en-US" b="0" i="0" dirty="0">
                <a:solidFill>
                  <a:srgbClr val="000000"/>
                </a:solidFill>
                <a:effectLst/>
                <a:latin typeface="helvetica neue"/>
              </a:rPr>
              <a:t>.</a:t>
            </a:r>
          </a:p>
          <a:p>
            <a:pPr marL="0" indent="0" fontAlgn="auto">
              <a:buNone/>
              <a:defRPr/>
            </a:pPr>
            <a:endParaRPr lang="en-US" sz="1000" dirty="0"/>
          </a:p>
          <a:p>
            <a:pPr marL="0" indent="0" fontAlgn="auto">
              <a:buNone/>
              <a:defRPr/>
            </a:pPr>
            <a:r>
              <a:rPr lang="en-US" sz="1000" dirty="0"/>
              <a:t>The charter of a corporation provides for the issuance of 100,000 shares of common stock.  Assume that 60,000 shares were originally issued and 10,000 were subsequently reacquired.  What is the amount of cash dividends to be paid if a $2 per share dividend is declared?</a:t>
            </a:r>
          </a:p>
          <a:p>
            <a:pPr fontAlgn="auto">
              <a:defRPr/>
            </a:pPr>
            <a:r>
              <a:rPr lang="en-US" sz="1000" dirty="0"/>
              <a:t> 	a. 	$60,000</a:t>
            </a:r>
          </a:p>
          <a:p>
            <a:pPr fontAlgn="auto">
              <a:defRPr/>
            </a:pPr>
            <a:r>
              <a:rPr lang="en-US" sz="1000" dirty="0"/>
              <a:t> 	b. 	$20,000</a:t>
            </a:r>
          </a:p>
          <a:p>
            <a:pPr fontAlgn="auto">
              <a:defRPr/>
            </a:pPr>
            <a:r>
              <a:rPr lang="en-US" sz="1000" dirty="0"/>
              <a:t> 	c. 	$120,000</a:t>
            </a:r>
          </a:p>
          <a:p>
            <a:pPr fontAlgn="auto">
              <a:defRPr/>
            </a:pPr>
            <a:r>
              <a:rPr lang="en-US" sz="1000" dirty="0"/>
              <a:t> 	d. 	$100,000</a:t>
            </a:r>
          </a:p>
          <a:p>
            <a:pPr marL="0" indent="0" fontAlgn="auto">
              <a:buNone/>
              <a:defRPr/>
            </a:pPr>
            <a:endParaRPr lang="en-US" dirty="0"/>
          </a:p>
        </p:txBody>
      </p:sp>
    </p:spTree>
    <p:extLst>
      <p:ext uri="{BB962C8B-B14F-4D97-AF65-F5344CB8AC3E}">
        <p14:creationId xmlns:p14="http://schemas.microsoft.com/office/powerpoint/2010/main" val="1281853749"/>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7637</TotalTime>
  <Words>656</Words>
  <Application>Microsoft Office PowerPoint</Application>
  <PresentationFormat>Widescreen</PresentationFormat>
  <Paragraphs>43</Paragraphs>
  <Slides>12</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Arial</vt:lpstr>
      <vt:lpstr>Arial</vt:lpstr>
      <vt:lpstr>Calibri</vt:lpstr>
      <vt:lpstr>Courier New</vt:lpstr>
      <vt:lpstr>Helvetica</vt:lpstr>
      <vt:lpstr>helvetica neue</vt:lpstr>
      <vt:lpstr>Noto Serif</vt:lpstr>
      <vt:lpstr>Open Sans</vt:lpstr>
      <vt:lpstr>Summer Font</vt:lpstr>
      <vt:lpstr>Verdana</vt:lpstr>
      <vt:lpstr>Wingdings</vt:lpstr>
      <vt:lpstr>Office Theme</vt:lpstr>
      <vt:lpstr>Chapter 12:  Corporations: Organization, Stock Transactions, and Dividends</vt:lpstr>
      <vt:lpstr>Characteristics of a Corporation  </vt:lpstr>
      <vt:lpstr>Characteristics of a Corporation  </vt:lpstr>
      <vt:lpstr>Paid-In Capital from Stock</vt:lpstr>
      <vt:lpstr>Characteristics of Stock  </vt:lpstr>
      <vt:lpstr>Authorized, Issued, and Outstanding Stock</vt:lpstr>
      <vt:lpstr>Characteristics of Stock </vt:lpstr>
      <vt:lpstr>Premium on Stock </vt:lpstr>
      <vt:lpstr>Premium on Stock </vt:lpstr>
      <vt:lpstr>Premium on Stock </vt:lpstr>
      <vt:lpstr>Dividends </vt:lpstr>
      <vt:lpstr>Dividends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287</cp:revision>
  <dcterms:created xsi:type="dcterms:W3CDTF">2020-07-27T16:46:05Z</dcterms:created>
  <dcterms:modified xsi:type="dcterms:W3CDTF">2026-07-02T11:51:20Z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