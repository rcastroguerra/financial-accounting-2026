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64" r:id="rId5"/>
    <p:sldId id="1226" r:id="rId6"/>
    <p:sldId id="1227" r:id="rId7"/>
    <p:sldId id="1229" r:id="rId8"/>
    <p:sldId id="1230" r:id="rId9"/>
    <p:sldId id="1231" r:id="rId10"/>
    <p:sldId id="1233" r:id="rId11"/>
    <p:sldId id="1234" r:id="rId12"/>
    <p:sldId id="1235" r:id="rId13"/>
    <p:sldId id="1291" r:id="rId14"/>
    <p:sldId id="285" r:id="rId15"/>
    <p:sldId id="650" r:id="rId16"/>
    <p:sldId id="416" r:id="rId17"/>
    <p:sldId id="287" r:id="rId18"/>
    <p:sldId id="288" r:id="rId19"/>
    <p:sldId id="651"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 id="3" name="Erin Tilley" initials="ET" lastIdx="1" clrIdx="2">
    <p:extLst>
      <p:ext uri="{19B8F6BF-5375-455C-9EA6-DF929625EA0E}">
        <p15:presenceInfo xmlns:p15="http://schemas.microsoft.com/office/powerpoint/2012/main" userId="b2f5dbb2b9544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73032" autoAdjust="0"/>
  </p:normalViewPr>
  <p:slideViewPr>
    <p:cSldViewPr snapToGrid="0">
      <p:cViewPr varScale="1">
        <p:scale>
          <a:sx n="81" d="100"/>
          <a:sy n="81" d="100"/>
        </p:scale>
        <p:origin x="1710"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8844675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6" y="2550013"/>
            <a:ext cx="5084763" cy="82537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2555894"/>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505010"/>
            <a:ext cx="5084776" cy="8548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42049" y="3512099"/>
            <a:ext cx="5330269"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C16720CB-8E80-4C81-B19E-9660F007EB1A}"/>
              </a:ext>
            </a:extLst>
          </p:cNvPr>
          <p:cNvSpPr>
            <a:spLocks noGrp="1"/>
          </p:cNvSpPr>
          <p:nvPr>
            <p:ph sz="quarter" idx="25"/>
          </p:nvPr>
        </p:nvSpPr>
        <p:spPr>
          <a:xfrm>
            <a:off x="6242049" y="4505010"/>
            <a:ext cx="5084763" cy="825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BFF3EE-D8A8-40F4-8019-9E0E6C0E27F5}"/>
              </a:ext>
            </a:extLst>
          </p:cNvPr>
          <p:cNvSpPr>
            <a:spLocks noGrp="1"/>
          </p:cNvSpPr>
          <p:nvPr>
            <p:ph sz="quarter" idx="26"/>
          </p:nvPr>
        </p:nvSpPr>
        <p:spPr>
          <a:xfrm>
            <a:off x="736586" y="3482609"/>
            <a:ext cx="5084763" cy="8548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1723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3154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2"/>
          <p:cNvSpPr>
            <a:spLocks noGrp="1"/>
          </p:cNvSpPr>
          <p:nvPr>
            <p:ph idx="1"/>
          </p:nvPr>
        </p:nvSpPr>
        <p:spPr>
          <a:xfrm>
            <a:off x="609600" y="1216152"/>
            <a:ext cx="10972800" cy="2517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p:cNvSpPr>
            <a:spLocks noGrp="1"/>
          </p:cNvSpPr>
          <p:nvPr>
            <p:ph sz="quarter" idx="10"/>
          </p:nvPr>
        </p:nvSpPr>
        <p:spPr>
          <a:xfrm>
            <a:off x="609600" y="3886200"/>
            <a:ext cx="10972800" cy="2514600"/>
          </a:xfrm>
          <a:prstGeom prst="rect">
            <a:avLst/>
          </a:prstGeom>
        </p:spPr>
        <p:txBody>
          <a:bodyPr/>
          <a:lstStyle>
            <a:lvl1pPr marL="342900" indent="-342900">
              <a:defRPr lang="en-US" sz="2800" dirty="0" smtClean="0">
                <a:solidFill>
                  <a:schemeClr val="tx2"/>
                </a:solidFill>
                <a:latin typeface="Arial" panose="020B0604020202020204" pitchFamily="34" charset="0"/>
                <a:ea typeface="+mn-ea"/>
                <a:cs typeface="Arial" panose="020B0604020202020204" pitchFamily="34" charset="0"/>
              </a:defRPr>
            </a:lvl1pPr>
            <a:lvl2pPr marL="742950" indent="-285750">
              <a:defRPr lang="en-US" sz="2400" dirty="0" smtClean="0">
                <a:solidFill>
                  <a:schemeClr val="tx2"/>
                </a:solidFill>
                <a:latin typeface="Arial" panose="020B0604020202020204" pitchFamily="34" charset="0"/>
                <a:ea typeface="Times New Roman" charset="0"/>
                <a:cs typeface="Arial" panose="020B0604020202020204" pitchFamily="34" charset="0"/>
              </a:defRPr>
            </a:lvl2pPr>
            <a:lvl3pPr marL="1143000" indent="-228600">
              <a:defRPr lang="en-US" sz="2000" dirty="0" smtClean="0">
                <a:solidFill>
                  <a:schemeClr val="tx2"/>
                </a:solidFill>
                <a:latin typeface="Arial" panose="020B0604020202020204" pitchFamily="34" charset="0"/>
                <a:ea typeface="Times New Roman" charset="0"/>
                <a:cs typeface="Arial" panose="020B0604020202020204" pitchFamily="34" charset="0"/>
              </a:defRPr>
            </a:lvl3pPr>
            <a:lvl4pPr marL="1600200" indent="-228600">
              <a:defRPr lang="en-US" sz="1800" dirty="0" smtClean="0">
                <a:solidFill>
                  <a:schemeClr val="tx2"/>
                </a:solidFill>
                <a:latin typeface="Arial" panose="020B0604020202020204" pitchFamily="34" charset="0"/>
                <a:ea typeface="Times New Roman" charset="0"/>
                <a:cs typeface="Arial" panose="020B0604020202020204" pitchFamily="34" charset="0"/>
              </a:defRPr>
            </a:lvl4pPr>
            <a:lvl5pPr marL="2057400" indent="-228600">
              <a:defRPr lang="en-US" sz="1800" dirty="0">
                <a:solidFill>
                  <a:schemeClr val="tx2"/>
                </a:solidFill>
                <a:latin typeface="Arial" panose="020B0604020202020204" pitchFamily="34" charset="0"/>
                <a:ea typeface="Times New Roman" charset="0"/>
                <a:cs typeface="Arial" panose="020B0604020202020204" pitchFamily="34" charset="0"/>
              </a:defRPr>
            </a:lvl5pPr>
          </a:lstStyle>
          <a:p>
            <a:pPr marL="342900" lvl="0" indent="-342900" algn="l" rtl="0" eaLnBrk="0" fontAlgn="base" hangingPunct="0">
              <a:spcBef>
                <a:spcPts val="1200"/>
              </a:spcBef>
              <a:spcAft>
                <a:spcPct val="0"/>
              </a:spcAft>
              <a:buClr>
                <a:srgbClr val="00375D"/>
              </a:buClr>
              <a:buSzPct val="125000"/>
              <a:buFont typeface="Arial" panose="020B0604020202020204" pitchFamily="34" charset="0"/>
              <a:buChar char="•"/>
            </a:pPr>
            <a:r>
              <a:rPr lang="en-US" dirty="0"/>
              <a:t>Click to edit Master text styles</a:t>
            </a:r>
          </a:p>
          <a:p>
            <a:pPr marL="742950" lvl="1" indent="-285750" algn="l" rtl="0" eaLnBrk="0" fontAlgn="base" hangingPunct="0">
              <a:spcBef>
                <a:spcPts val="1200"/>
              </a:spcBef>
              <a:spcAft>
                <a:spcPct val="0"/>
              </a:spcAft>
              <a:buClr>
                <a:srgbClr val="992315"/>
              </a:buClr>
              <a:buSzPct val="75000"/>
              <a:buFont typeface="Courier New" panose="02070309020205020404" pitchFamily="49" charset="0"/>
              <a:buChar char="o"/>
            </a:pPr>
            <a:r>
              <a:rPr lang="en-US" dirty="0"/>
              <a:t>Second level</a:t>
            </a:r>
          </a:p>
          <a:p>
            <a:pPr marL="1143000" lvl="2" indent="-228600" algn="l" rtl="0" eaLnBrk="0" fontAlgn="base" hangingPunct="0">
              <a:spcBef>
                <a:spcPts val="1200"/>
              </a:spcBef>
              <a:spcAft>
                <a:spcPct val="0"/>
              </a:spcAft>
              <a:buClr>
                <a:srgbClr val="00375D"/>
              </a:buClr>
              <a:buFont typeface="Wingdings" charset="2"/>
              <a:buChar char="§"/>
            </a:pPr>
            <a:r>
              <a:rPr lang="en-US" dirty="0"/>
              <a:t>Third level</a:t>
            </a:r>
          </a:p>
          <a:p>
            <a:pPr marL="1600200" lvl="3" indent="-228600" algn="l" rtl="0" eaLnBrk="0" fontAlgn="base" hangingPunct="0">
              <a:spcBef>
                <a:spcPts val="1200"/>
              </a:spcBef>
              <a:spcAft>
                <a:spcPct val="0"/>
              </a:spcAft>
              <a:buChar char="–"/>
            </a:pPr>
            <a:r>
              <a:rPr lang="en-US" dirty="0"/>
              <a:t>Fourth level</a:t>
            </a:r>
          </a:p>
          <a:p>
            <a:pPr marL="2057400" lvl="4" indent="-228600" algn="l" rtl="0" eaLnBrk="0" fontAlgn="base" hangingPunct="0">
              <a:spcBef>
                <a:spcPts val="1200"/>
              </a:spcBef>
              <a:spcAft>
                <a:spcPct val="0"/>
              </a:spcAft>
              <a:buFont typeface="Wingdings" panose="05000000000000000000" pitchFamily="2" charset="2"/>
              <a:buChar char="§"/>
            </a:pPr>
            <a:r>
              <a:rPr lang="en-US" dirty="0"/>
              <a:t>Fifth level</a:t>
            </a:r>
          </a:p>
        </p:txBody>
      </p:sp>
    </p:spTree>
    <p:extLst>
      <p:ext uri="{BB962C8B-B14F-4D97-AF65-F5344CB8AC3E}">
        <p14:creationId xmlns:p14="http://schemas.microsoft.com/office/powerpoint/2010/main" val="59057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34" r:id="rId10"/>
    <p:sldLayoutId id="2147483716" r:id="rId11"/>
    <p:sldLayoutId id="2147483719" r:id="rId12"/>
    <p:sldLayoutId id="2147483720" r:id="rId13"/>
    <p:sldLayoutId id="2147483723" r:id="rId14"/>
    <p:sldLayoutId id="2147483724" r:id="rId15"/>
    <p:sldLayoutId id="2147483713" r:id="rId16"/>
    <p:sldLayoutId id="2147483717" r:id="rId17"/>
    <p:sldLayoutId id="2147483728" r:id="rId18"/>
    <p:sldLayoutId id="2147483729" r:id="rId19"/>
    <p:sldLayoutId id="2147483730" r:id="rId20"/>
    <p:sldLayoutId id="2147483731" r:id="rId21"/>
    <p:sldLayoutId id="2147483732" r:id="rId22"/>
    <p:sldLayoutId id="2147483733" r:id="rId23"/>
    <p:sldLayoutId id="2147483736" r:id="rId24"/>
    <p:sldLayoutId id="2147483737" r:id="rId2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10: Liabilities: Current, Installment Notes, and Contingencies</a:t>
            </a:r>
          </a:p>
        </p:txBody>
      </p:sp>
      <p:sp>
        <p:nvSpPr>
          <p:cNvPr id="6" name="Text Placeholder 5"/>
          <p:cNvSpPr>
            <a:spLocks noGrp="1"/>
          </p:cNvSpPr>
          <p:nvPr>
            <p:ph type="body" sz="quarter" idx="11"/>
          </p:nvPr>
        </p:nvSpPr>
        <p:spPr>
          <a:xfrm>
            <a:off x="5731568" y="2355562"/>
            <a:ext cx="4620126" cy="1073438"/>
          </a:xfrm>
        </p:spPr>
        <p:txBody>
          <a:bodyPr/>
          <a:lstStyle/>
          <a:p>
            <a:pPr algn="ctr"/>
            <a:r>
              <a:rPr lang="en-US" dirty="0"/>
              <a:t>Financial&amp;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E3646FDE-5545-8895-8131-D304EFC53BF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Liabilities</a:t>
            </a:r>
            <a:endParaRPr lang="en-US" sz="1800" dirty="0"/>
          </a:p>
        </p:txBody>
      </p:sp>
      <p:sp>
        <p:nvSpPr>
          <p:cNvPr id="3" name="Content Placeholder 2"/>
          <p:cNvSpPr>
            <a:spLocks noGrp="1"/>
          </p:cNvSpPr>
          <p:nvPr>
            <p:ph idx="1"/>
          </p:nvPr>
        </p:nvSpPr>
        <p:spPr/>
        <p:txBody>
          <a:bodyPr/>
          <a:lstStyle/>
          <a:p>
            <a:r>
              <a:rPr lang="en-US" dirty="0"/>
              <a:t>When a company or a bank advances </a:t>
            </a:r>
            <a:r>
              <a:rPr lang="en-US" i="1" dirty="0"/>
              <a:t>credit</a:t>
            </a:r>
            <a:r>
              <a:rPr lang="en-US" dirty="0"/>
              <a:t>, it is making a loan.</a:t>
            </a:r>
          </a:p>
          <a:p>
            <a:r>
              <a:rPr lang="en-US" dirty="0"/>
              <a:t>The company or bank is called a </a:t>
            </a:r>
            <a:r>
              <a:rPr lang="en-US" i="1" dirty="0"/>
              <a:t>creditor</a:t>
            </a:r>
            <a:r>
              <a:rPr lang="en-US" dirty="0"/>
              <a:t> (or </a:t>
            </a:r>
            <a:r>
              <a:rPr lang="en-US" i="1" dirty="0"/>
              <a:t>lender</a:t>
            </a:r>
            <a:r>
              <a:rPr lang="en-US" dirty="0"/>
              <a:t>).</a:t>
            </a:r>
          </a:p>
          <a:p>
            <a:r>
              <a:rPr lang="en-US" dirty="0"/>
              <a:t>The individuals or companies receiving the loans are called </a:t>
            </a:r>
            <a:r>
              <a:rPr lang="en-US" i="1" dirty="0"/>
              <a:t>debtors</a:t>
            </a:r>
            <a:r>
              <a:rPr lang="en-US" dirty="0"/>
              <a:t> (or </a:t>
            </a:r>
            <a:r>
              <a:rPr lang="en-US" i="1" dirty="0"/>
              <a:t>borrowers</a:t>
            </a:r>
            <a:r>
              <a:rPr lang="en-US" dirty="0"/>
              <a:t>).</a:t>
            </a:r>
          </a:p>
          <a:p>
            <a:r>
              <a:rPr lang="en-US" dirty="0"/>
              <a:t>Debt is recorded as a liability by the debtor.</a:t>
            </a:r>
          </a:p>
          <a:p>
            <a:pPr lvl="1" fontAlgn="auto">
              <a:defRPr/>
            </a:pPr>
            <a:r>
              <a:rPr lang="en-US" b="1" i="1" dirty="0">
                <a:solidFill>
                  <a:srgbClr val="FF0000"/>
                </a:solidFill>
              </a:rPr>
              <a:t>Long-term liabilities </a:t>
            </a:r>
            <a:r>
              <a:rPr lang="en-US" b="1" dirty="0">
                <a:solidFill>
                  <a:srgbClr val="FF0000"/>
                </a:solidFill>
              </a:rPr>
              <a:t>are debts due beyond one year.</a:t>
            </a:r>
          </a:p>
          <a:p>
            <a:pPr lvl="1" fontAlgn="auto">
              <a:defRPr/>
            </a:pPr>
            <a:r>
              <a:rPr lang="en-US" b="1" i="1" dirty="0">
                <a:solidFill>
                  <a:srgbClr val="FF0000"/>
                </a:solidFill>
              </a:rPr>
              <a:t>Current liabilities </a:t>
            </a:r>
            <a:r>
              <a:rPr lang="en-US" b="1" dirty="0">
                <a:solidFill>
                  <a:srgbClr val="FF0000"/>
                </a:solidFill>
              </a:rPr>
              <a:t>are debts that will be paid out of current assets and are due within one year.</a:t>
            </a:r>
          </a:p>
        </p:txBody>
      </p:sp>
    </p:spTree>
    <p:extLst>
      <p:ext uri="{BB962C8B-B14F-4D97-AF65-F5344CB8AC3E}">
        <p14:creationId xmlns:p14="http://schemas.microsoft.com/office/powerpoint/2010/main" val="2457535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Accounts Payable and Accruals</a:t>
            </a:r>
            <a:endParaRPr lang="en-US" sz="1800" dirty="0"/>
          </a:p>
        </p:txBody>
      </p:sp>
      <p:sp>
        <p:nvSpPr>
          <p:cNvPr id="3" name="Content Placeholder 2"/>
          <p:cNvSpPr>
            <a:spLocks noGrp="1"/>
          </p:cNvSpPr>
          <p:nvPr>
            <p:ph idx="1"/>
          </p:nvPr>
        </p:nvSpPr>
        <p:spPr/>
        <p:txBody>
          <a:bodyPr/>
          <a:lstStyle/>
          <a:p>
            <a:pPr>
              <a:defRPr/>
            </a:pPr>
            <a:r>
              <a:rPr lang="en-US" sz="2400" dirty="0"/>
              <a:t>Accounts payable transactions involve a variety of purchases on account, including the purchase of merchandise and supplies.</a:t>
            </a:r>
          </a:p>
          <a:p>
            <a:pPr>
              <a:defRPr/>
            </a:pPr>
            <a:r>
              <a:rPr lang="en-US" sz="2400" dirty="0"/>
              <a:t>Accrued liabilities reflect an obligation to pay current assets in the future.</a:t>
            </a:r>
          </a:p>
          <a:p>
            <a:pPr>
              <a:defRPr/>
            </a:pPr>
            <a:r>
              <a:rPr lang="en-US" sz="2400" dirty="0"/>
              <a:t>Accrued liabilities are normally recorded at the end of an accounting period as part of the adjustment process</a:t>
            </a:r>
          </a:p>
          <a:p>
            <a:pPr>
              <a:defRPr/>
            </a:pPr>
            <a:r>
              <a:rPr lang="en-US" sz="2400" dirty="0">
                <a:solidFill>
                  <a:srgbClr val="FF0000"/>
                </a:solidFill>
              </a:rPr>
              <a:t>For most companies, accounts payable and accrued liabilities are the largest portion of current liabilities.</a:t>
            </a:r>
          </a:p>
        </p:txBody>
      </p:sp>
    </p:spTree>
    <p:extLst>
      <p:ext uri="{BB962C8B-B14F-4D97-AF65-F5344CB8AC3E}">
        <p14:creationId xmlns:p14="http://schemas.microsoft.com/office/powerpoint/2010/main" val="4023745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Notes Payable</a:t>
            </a:r>
            <a:br>
              <a:rPr lang="en-US" dirty="0"/>
            </a:br>
            <a:endParaRPr lang="en-US" sz="1800" dirty="0"/>
          </a:p>
        </p:txBody>
      </p:sp>
      <p:sp>
        <p:nvSpPr>
          <p:cNvPr id="3" name="Content Placeholder 2"/>
          <p:cNvSpPr>
            <a:spLocks noGrp="1"/>
          </p:cNvSpPr>
          <p:nvPr>
            <p:ph idx="1"/>
          </p:nvPr>
        </p:nvSpPr>
        <p:spPr/>
        <p:txBody>
          <a:bodyPr/>
          <a:lstStyle/>
          <a:p>
            <a:r>
              <a:rPr lang="en-US" dirty="0"/>
              <a:t>Notes may be issued to purchase merchandise or other assets. Notes may also be issued to creditors to satisfy an account payable created earlier.</a:t>
            </a:r>
          </a:p>
        </p:txBody>
      </p:sp>
    </p:spTree>
    <p:extLst>
      <p:ext uri="{BB962C8B-B14F-4D97-AF65-F5344CB8AC3E}">
        <p14:creationId xmlns:p14="http://schemas.microsoft.com/office/powerpoint/2010/main" val="39052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Notes Payable</a:t>
            </a:r>
            <a:br>
              <a:rPr lang="en-US" dirty="0"/>
            </a:br>
            <a:endParaRPr lang="en-US" sz="1800" dirty="0"/>
          </a:p>
        </p:txBody>
      </p:sp>
      <p:sp>
        <p:nvSpPr>
          <p:cNvPr id="5" name="Content Placeholder 4"/>
          <p:cNvSpPr>
            <a:spLocks noGrp="1"/>
          </p:cNvSpPr>
          <p:nvPr>
            <p:ph idx="1"/>
          </p:nvPr>
        </p:nvSpPr>
        <p:spPr/>
        <p:txBody>
          <a:bodyPr/>
          <a:lstStyle/>
          <a:p>
            <a:r>
              <a:rPr lang="en-US" dirty="0"/>
              <a:t>To illustrate, assume that Nature’s Sunshine Company issued a 90-day, 12% note for $1,000, dated August 1, to Murray Co. for a $1,000 overdue account. The entry to record the </a:t>
            </a:r>
            <a:r>
              <a:rPr lang="en-US" dirty="0">
                <a:solidFill>
                  <a:srgbClr val="FF0000"/>
                </a:solidFill>
              </a:rPr>
              <a:t>issuance</a:t>
            </a:r>
            <a:r>
              <a:rPr lang="en-US" dirty="0"/>
              <a:t> of the note is as follows:</a:t>
            </a:r>
            <a:endParaRPr lang="en-US" i="1" dirty="0"/>
          </a:p>
        </p:txBody>
      </p:sp>
      <p:pic>
        <p:nvPicPr>
          <p:cNvPr id="4" name="Picture 3" descr="A journal entry is shown in a journal form. August 1 is the date indicated. Accounts Payable—Murray Co. is debited—with 1,000 shown in the Debit column. Notes Payable is credited—with 1,000 shown in the Credit column. A journal entry explanation is given below the journal entry: Issued a 90-day, 12% note on account."/>
          <p:cNvPicPr>
            <a:picLocks noChangeAspect="1"/>
          </p:cNvPicPr>
          <p:nvPr/>
        </p:nvPicPr>
        <p:blipFill>
          <a:blip r:embed="rId2"/>
          <a:stretch>
            <a:fillRect/>
          </a:stretch>
        </p:blipFill>
        <p:spPr>
          <a:xfrm>
            <a:off x="2398775" y="3581400"/>
            <a:ext cx="7467603" cy="1295400"/>
          </a:xfrm>
          <a:prstGeom prst="rect">
            <a:avLst/>
          </a:prstGeom>
        </p:spPr>
      </p:pic>
    </p:spTree>
    <p:extLst>
      <p:ext uri="{BB962C8B-B14F-4D97-AF65-F5344CB8AC3E}">
        <p14:creationId xmlns:p14="http://schemas.microsoft.com/office/powerpoint/2010/main" val="2536677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0"/>
            <a:ext cx="8229600" cy="1143000"/>
          </a:xfrm>
        </p:spPr>
        <p:txBody>
          <a:bodyPr/>
          <a:lstStyle/>
          <a:p>
            <a:r>
              <a:rPr lang="en-US" dirty="0"/>
              <a:t>Short-Term Notes Payable</a:t>
            </a:r>
            <a:br>
              <a:rPr lang="en-US" dirty="0"/>
            </a:br>
            <a:r>
              <a:rPr lang="en-US" sz="1800" dirty="0"/>
              <a:t>(slide 3 of 10)</a:t>
            </a:r>
          </a:p>
        </p:txBody>
      </p:sp>
      <p:sp>
        <p:nvSpPr>
          <p:cNvPr id="6" name="Content Placeholder 5"/>
          <p:cNvSpPr>
            <a:spLocks noGrp="1"/>
          </p:cNvSpPr>
          <p:nvPr>
            <p:ph idx="1"/>
          </p:nvPr>
        </p:nvSpPr>
        <p:spPr>
          <a:xfrm>
            <a:off x="1981200" y="1216152"/>
            <a:ext cx="8229600" cy="2974848"/>
          </a:xfrm>
        </p:spPr>
        <p:txBody>
          <a:bodyPr/>
          <a:lstStyle/>
          <a:p>
            <a:r>
              <a:rPr lang="en-US" dirty="0"/>
              <a:t>When the note matures, the entry to record </a:t>
            </a:r>
            <a:br>
              <a:rPr lang="en-US" dirty="0"/>
            </a:br>
            <a:r>
              <a:rPr lang="en-US" dirty="0"/>
              <a:t>the payment of $1,000 plus $30 interest ($1,000 × 12% × 90 ÷ 360) is as follows:</a:t>
            </a:r>
          </a:p>
        </p:txBody>
      </p:sp>
      <p:pic>
        <p:nvPicPr>
          <p:cNvPr id="5" name="Picture 4" descr="A journal entry is shown in a journal form. October 30 is the date indicated. Notes Payable is debited—with 1,000 shown in the Debit column. Interest Expense is debited—with 30 shown in the Debit column. Cash is credited—with 1,030 shown in the Credit column. A journal entry explanation is given below the journal entry: Paid principal and interest due on note."/>
          <p:cNvPicPr>
            <a:picLocks noChangeAspect="1"/>
          </p:cNvPicPr>
          <p:nvPr/>
        </p:nvPicPr>
        <p:blipFill>
          <a:blip r:embed="rId2"/>
          <a:stretch>
            <a:fillRect/>
          </a:stretch>
        </p:blipFill>
        <p:spPr>
          <a:xfrm>
            <a:off x="2398775" y="2667000"/>
            <a:ext cx="7467603" cy="1524000"/>
          </a:xfrm>
          <a:prstGeom prst="rect">
            <a:avLst/>
          </a:prstGeom>
        </p:spPr>
      </p:pic>
      <p:sp>
        <p:nvSpPr>
          <p:cNvPr id="4" name="Content Placeholder 3"/>
          <p:cNvSpPr>
            <a:spLocks noGrp="1"/>
          </p:cNvSpPr>
          <p:nvPr>
            <p:ph sz="quarter" idx="10"/>
          </p:nvPr>
        </p:nvSpPr>
        <p:spPr>
          <a:xfrm>
            <a:off x="1981200" y="4267200"/>
            <a:ext cx="8229600" cy="2133600"/>
          </a:xfrm>
        </p:spPr>
        <p:txBody>
          <a:bodyPr/>
          <a:lstStyle/>
          <a:p>
            <a:pPr lvl="1" fontAlgn="auto">
              <a:spcBef>
                <a:spcPts val="1200"/>
              </a:spcBef>
              <a:buClr>
                <a:srgbClr val="992315"/>
              </a:buClr>
              <a:buSzPct val="75000"/>
              <a:buFont typeface="Courier New" panose="02070309020205020404" pitchFamily="49" charset="0"/>
              <a:buChar char="o"/>
              <a:defRPr/>
            </a:pPr>
            <a:r>
              <a:rPr lang="en-US" dirty="0"/>
              <a:t>The interest expense is reported in the Other Expense section of the income statement.</a:t>
            </a:r>
          </a:p>
          <a:p>
            <a:pPr lvl="1" fontAlgn="auto">
              <a:spcBef>
                <a:spcPts val="1200"/>
              </a:spcBef>
              <a:buClr>
                <a:srgbClr val="992315"/>
              </a:buClr>
              <a:buSzPct val="75000"/>
              <a:buFont typeface="Courier New" panose="02070309020205020404" pitchFamily="49" charset="0"/>
              <a:buChar char="o"/>
              <a:defRPr/>
            </a:pPr>
            <a:r>
              <a:rPr lang="en-US" dirty="0"/>
              <a:t>The interest expense account is closed at December 31.</a:t>
            </a:r>
          </a:p>
        </p:txBody>
      </p:sp>
    </p:spTree>
    <p:extLst>
      <p:ext uri="{BB962C8B-B14F-4D97-AF65-F5344CB8AC3E}">
        <p14:creationId xmlns:p14="http://schemas.microsoft.com/office/powerpoint/2010/main" val="1200461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Notes Payable</a:t>
            </a:r>
            <a:br>
              <a:rPr lang="en-US" sz="2400" dirty="0"/>
            </a:br>
            <a:r>
              <a:rPr lang="en-US" sz="1800" dirty="0"/>
              <a:t> </a:t>
            </a:r>
          </a:p>
        </p:txBody>
      </p:sp>
      <p:sp>
        <p:nvSpPr>
          <p:cNvPr id="3" name="Content Placeholder 2"/>
          <p:cNvSpPr>
            <a:spLocks noGrp="1"/>
          </p:cNvSpPr>
          <p:nvPr>
            <p:ph idx="1"/>
          </p:nvPr>
        </p:nvSpPr>
        <p:spPr/>
        <p:txBody>
          <a:bodyPr/>
          <a:lstStyle/>
          <a:p>
            <a:r>
              <a:rPr lang="en-US" dirty="0"/>
              <a:t>A company may also borrow from a bank by issuing a note.</a:t>
            </a:r>
          </a:p>
        </p:txBody>
      </p:sp>
    </p:spTree>
    <p:extLst>
      <p:ext uri="{BB962C8B-B14F-4D97-AF65-F5344CB8AC3E}">
        <p14:creationId xmlns:p14="http://schemas.microsoft.com/office/powerpoint/2010/main" val="119837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Notes Payable</a:t>
            </a:r>
            <a:br>
              <a:rPr lang="en-US" sz="2400" dirty="0"/>
            </a:br>
            <a:r>
              <a:rPr lang="en-US" sz="1800" dirty="0"/>
              <a:t> </a:t>
            </a:r>
          </a:p>
        </p:txBody>
      </p:sp>
      <p:sp>
        <p:nvSpPr>
          <p:cNvPr id="5" name="Content Placeholder 4"/>
          <p:cNvSpPr>
            <a:spLocks noGrp="1"/>
          </p:cNvSpPr>
          <p:nvPr>
            <p:ph idx="1"/>
          </p:nvPr>
        </p:nvSpPr>
        <p:spPr/>
        <p:txBody>
          <a:bodyPr/>
          <a:lstStyle/>
          <a:p>
            <a:r>
              <a:rPr lang="en-US" dirty="0"/>
              <a:t>To illustrate, assume that on September 19, </a:t>
            </a:r>
            <a:r>
              <a:rPr lang="en-US" dirty="0" err="1"/>
              <a:t>Iceburg</a:t>
            </a:r>
            <a:r>
              <a:rPr lang="en-US" dirty="0"/>
              <a:t> Company borrowed cash from First National Bank by issuing a $4,000, 90-day, 15% note to the bank. The entry to record the issuance of the note and the cash proceeds is as follows:</a:t>
            </a:r>
            <a:endParaRPr lang="en-US" i="1" dirty="0"/>
          </a:p>
        </p:txBody>
      </p:sp>
      <p:pic>
        <p:nvPicPr>
          <p:cNvPr id="4" name="Picture 3" descr="A journal entry is shown in a journal form. September 19 is the date indicated. Cash is debited—with 4,000 shown in the Debit column. Notes Payable is credited—with 4,000 shown in the Credit column. A journal entry explanation is given below the journal entry: Issued a 90-day, 15% note to First National Bank."/>
          <p:cNvPicPr>
            <a:picLocks noChangeAspect="1"/>
          </p:cNvPicPr>
          <p:nvPr/>
        </p:nvPicPr>
        <p:blipFill>
          <a:blip r:embed="rId2"/>
          <a:stretch>
            <a:fillRect/>
          </a:stretch>
        </p:blipFill>
        <p:spPr>
          <a:xfrm>
            <a:off x="2398775" y="3962400"/>
            <a:ext cx="7467603" cy="1524000"/>
          </a:xfrm>
          <a:prstGeom prst="rect">
            <a:avLst/>
          </a:prstGeom>
        </p:spPr>
      </p:pic>
    </p:spTree>
    <p:extLst>
      <p:ext uri="{BB962C8B-B14F-4D97-AF65-F5344CB8AC3E}">
        <p14:creationId xmlns:p14="http://schemas.microsoft.com/office/powerpoint/2010/main" val="165178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Notes Payable</a:t>
            </a:r>
            <a:br>
              <a:rPr lang="en-US" dirty="0"/>
            </a:br>
            <a:endParaRPr lang="en-US" sz="1800" dirty="0"/>
          </a:p>
        </p:txBody>
      </p:sp>
      <p:sp>
        <p:nvSpPr>
          <p:cNvPr id="5" name="Content Placeholder 4"/>
          <p:cNvSpPr>
            <a:spLocks noGrp="1"/>
          </p:cNvSpPr>
          <p:nvPr>
            <p:ph idx="1"/>
          </p:nvPr>
        </p:nvSpPr>
        <p:spPr/>
        <p:txBody>
          <a:bodyPr/>
          <a:lstStyle/>
          <a:p>
            <a:r>
              <a:rPr lang="en-US" dirty="0"/>
              <a:t>On the due date of the note (December 18), </a:t>
            </a:r>
            <a:r>
              <a:rPr lang="en-US" dirty="0" err="1"/>
              <a:t>Iceburg</a:t>
            </a:r>
            <a:r>
              <a:rPr lang="en-US" dirty="0"/>
              <a:t> Company owes First National Bank $4,000 plus interest of $150 ($4,000 × 15% × 90 ÷ 360). The entry to record the payment of the note is as follows: </a:t>
            </a:r>
          </a:p>
        </p:txBody>
      </p:sp>
      <p:pic>
        <p:nvPicPr>
          <p:cNvPr id="4" name="Picture 3" descr="A journal entry is shown in a journal form. December 18 is the date indicated. Notes Payable is debited—with 4,000 shown in the Debit column. Interest Expense is debited—with 150 shown in the debit column. Cash is credited—with 4,150 shown in the Credit column. A journal entry explanation is given below the journal entry: Paid principal and interest due on note."/>
          <p:cNvPicPr>
            <a:picLocks noChangeAspect="1"/>
          </p:cNvPicPr>
          <p:nvPr/>
        </p:nvPicPr>
        <p:blipFill>
          <a:blip r:embed="rId2"/>
          <a:stretch>
            <a:fillRect/>
          </a:stretch>
        </p:blipFill>
        <p:spPr>
          <a:xfrm>
            <a:off x="2398775" y="3505200"/>
            <a:ext cx="7467603" cy="1524000"/>
          </a:xfrm>
          <a:prstGeom prst="rect">
            <a:avLst/>
          </a:prstGeom>
        </p:spPr>
      </p:pic>
    </p:spTree>
    <p:extLst>
      <p:ext uri="{BB962C8B-B14F-4D97-AF65-F5344CB8AC3E}">
        <p14:creationId xmlns:p14="http://schemas.microsoft.com/office/powerpoint/2010/main" val="240228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Liabilities</a:t>
            </a:r>
          </a:p>
        </p:txBody>
      </p:sp>
      <p:pic>
        <p:nvPicPr>
          <p:cNvPr id="4" name="Picture 3" descr="The Liabilities section of a balance sheet for Mornin’ Joe, for December 31, 20Y6, is shown. &#10;&#10;Below the heading of the balance sheet is a rigid line, an area of white space, then another rigid line that extends across the length of the balance sheet. This symbolizes that there is information that appears above the Liabilities section on the balance sheet that is not shown here. &#10;&#10;Under Current liabilities:, the following are listed: Accounts payable, $133,000, which is shown in the first amount column; Notes payable (current portion), $200,000, which is shown in the first amount column; Salaries and wages payable, 42,000, which is shown in the first amount column; Payroll taxes payable, 16,400, which is the shown in the first amount column; Interest payable, 40,000, which is shown in the first amount column. A single rule appears below 40,000. Total current liabilities are $431,400, which is shown in the second amount column. Under Long-term liabilities:, the following is listed: Notes payable, 1,400,000, which is shown in the second amount column. "/>
          <p:cNvPicPr>
            <a:picLocks noChangeAspect="1"/>
          </p:cNvPicPr>
          <p:nvPr/>
        </p:nvPicPr>
        <p:blipFill>
          <a:blip r:embed="rId2"/>
          <a:stretch>
            <a:fillRect/>
          </a:stretch>
        </p:blipFill>
        <p:spPr>
          <a:xfrm>
            <a:off x="2598419" y="2133601"/>
            <a:ext cx="7068314" cy="3352800"/>
          </a:xfrm>
          <a:prstGeom prst="rect">
            <a:avLst/>
          </a:prstGeom>
        </p:spPr>
      </p:pic>
    </p:spTree>
    <p:extLst>
      <p:ext uri="{BB962C8B-B14F-4D97-AF65-F5344CB8AC3E}">
        <p14:creationId xmlns:p14="http://schemas.microsoft.com/office/powerpoint/2010/main" val="625715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329A4-7A91-4BF7-9F08-EC1FCFE6A398}"/>
              </a:ext>
            </a:extLst>
          </p:cNvPr>
          <p:cNvSpPr>
            <a:spLocks noGrp="1"/>
          </p:cNvSpPr>
          <p:nvPr>
            <p:ph type="title"/>
          </p:nvPr>
        </p:nvSpPr>
        <p:spPr/>
        <p:txBody>
          <a:bodyPr/>
          <a:lstStyle/>
          <a:p>
            <a:r>
              <a:rPr lang="en-US" dirty="0">
                <a:solidFill>
                  <a:srgbClr val="FF0000"/>
                </a:solidFill>
              </a:rPr>
              <a:t>The Final Exam will not cover any material presented after this PowerPoint slide. </a:t>
            </a:r>
            <a:br>
              <a:rPr lang="en-US" dirty="0"/>
            </a:br>
            <a:br>
              <a:rPr lang="en-US" dirty="0"/>
            </a:br>
            <a:r>
              <a:rPr lang="en-US" dirty="0"/>
              <a:t>Exhibit 3 </a:t>
            </a:r>
            <a:r>
              <a:rPr lang="en-US" sz="3600" noProof="0" dirty="0"/>
              <a:t>–</a:t>
            </a:r>
            <a:r>
              <a:rPr lang="en-US" dirty="0"/>
              <a:t> Responsibility for Tax Payments</a:t>
            </a:r>
          </a:p>
        </p:txBody>
      </p:sp>
      <p:pic>
        <p:nvPicPr>
          <p:cNvPr id="5" name="Picture Placeholder 8" descr="An illustration summarizing the responsibility for employee and employer payroll taxes is shown.&#10;&#10;In the middle of the illustration is a text box labeled Government. Above the text box is a computer graphic image representing the U.S. Capitol building.&#10;&#10;At the top left of the illustration is a text box labeled Employee. Below the text box is a computer graphic image representing a construction worker. To the right of the image of the construction worker, the following are shown in list form: Social security tax, Medicare tax, Federal withholding tax. These appear over a large arrow that is pointing to the right to the computer graphic image of the U.S. Capitol building in the middle of the illustration.&#10;&#10;At the top right of the illustration is a text box labeled Employer (Business). Below the text box is a computer graphic image representing buildings. To the left of the image of the building, the following are shown in list form: Social security tax, Medicare tax, Federal unemployment compensation tax, State unemployment compensation tax. These appear over a large arrow that is pointing to the left to the computer graphic image of the U.S. Capitol building in the middle of the illustration.&#10;">
            <a:extLst>
              <a:ext uri="{FF2B5EF4-FFF2-40B4-BE49-F238E27FC236}">
                <a16:creationId xmlns:a16="http://schemas.microsoft.com/office/drawing/2014/main" id="{F0CA93A2-0986-41C4-A607-29194CDE3972}"/>
              </a:ext>
            </a:extLst>
          </p:cNvPr>
          <p:cNvPicPr>
            <a:picLocks noGrp="1" noChangeAspect="1"/>
          </p:cNvPicPr>
          <p:nvPr>
            <p:ph sz="quarter" idx="10"/>
          </p:nvPr>
        </p:nvPicPr>
        <p:blipFill>
          <a:blip r:embed="rId2"/>
          <a:stretch>
            <a:fillRect/>
          </a:stretch>
        </p:blipFill>
        <p:spPr>
          <a:xfrm>
            <a:off x="838200" y="2322390"/>
            <a:ext cx="10515600" cy="3016494"/>
          </a:xfrm>
          <a:prstGeom prst="rect">
            <a:avLst/>
          </a:prstGeom>
          <a:noFill/>
          <a:ln>
            <a:noFill/>
          </a:ln>
        </p:spPr>
      </p:pic>
    </p:spTree>
    <p:extLst>
      <p:ext uri="{BB962C8B-B14F-4D97-AF65-F5344CB8AC3E}">
        <p14:creationId xmlns:p14="http://schemas.microsoft.com/office/powerpoint/2010/main" val="769791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59CB-91D7-4D2D-961A-556D50155E52}"/>
              </a:ext>
            </a:extLst>
          </p:cNvPr>
          <p:cNvSpPr>
            <a:spLocks noGrp="1"/>
          </p:cNvSpPr>
          <p:nvPr>
            <p:ph type="title"/>
          </p:nvPr>
        </p:nvSpPr>
        <p:spPr/>
        <p:txBody>
          <a:bodyPr/>
          <a:lstStyle/>
          <a:p>
            <a:r>
              <a:rPr lang="en-US" dirty="0"/>
              <a:t>Recording Payroll</a:t>
            </a:r>
            <a:br>
              <a:rPr lang="en-US" dirty="0"/>
            </a:br>
            <a:r>
              <a:rPr lang="en-US" sz="2400" dirty="0"/>
              <a:t>(1 of 5)</a:t>
            </a:r>
          </a:p>
        </p:txBody>
      </p:sp>
      <p:sp>
        <p:nvSpPr>
          <p:cNvPr id="3" name="Text Placeholder 2">
            <a:extLst>
              <a:ext uri="{FF2B5EF4-FFF2-40B4-BE49-F238E27FC236}">
                <a16:creationId xmlns:a16="http://schemas.microsoft.com/office/drawing/2014/main" id="{D0AFEC8D-294F-42EA-999D-A43F44DE08FE}"/>
              </a:ext>
            </a:extLst>
          </p:cNvPr>
          <p:cNvSpPr>
            <a:spLocks noGrp="1"/>
          </p:cNvSpPr>
          <p:nvPr>
            <p:ph sz="quarter" idx="16"/>
          </p:nvPr>
        </p:nvSpPr>
        <p:spPr>
          <a:xfrm>
            <a:off x="838200" y="1607126"/>
            <a:ext cx="10515599" cy="1395154"/>
          </a:xfrm>
        </p:spPr>
        <p:txBody>
          <a:bodyPr>
            <a:noAutofit/>
          </a:bodyPr>
          <a:lstStyle/>
          <a:p>
            <a:pPr marL="457200" indent="-457200">
              <a:lnSpc>
                <a:spcPct val="110000"/>
              </a:lnSpc>
              <a:buFont typeface="Arial" panose="020B0604020202020204" pitchFamily="34" charset="0"/>
              <a:buChar char="•"/>
            </a:pPr>
            <a:r>
              <a:rPr lang="en-US" sz="2200" dirty="0"/>
              <a:t>The payroll liabilities are normally recorded at the end of each payroll period.</a:t>
            </a:r>
          </a:p>
          <a:p>
            <a:pPr marL="457200" indent="-457200">
              <a:lnSpc>
                <a:spcPct val="110000"/>
              </a:lnSpc>
              <a:buFont typeface="Arial" panose="020B0604020202020204" pitchFamily="34" charset="0"/>
              <a:buChar char="•"/>
            </a:pPr>
            <a:r>
              <a:rPr lang="en-US" sz="2200" dirty="0"/>
              <a:t>The following data for McDermott Supply Co. for payroll period ending March 21 are used.</a:t>
            </a:r>
          </a:p>
        </p:txBody>
      </p:sp>
      <p:graphicFrame>
        <p:nvGraphicFramePr>
          <p:cNvPr id="5" name="Table 5">
            <a:extLst>
              <a:ext uri="{FF2B5EF4-FFF2-40B4-BE49-F238E27FC236}">
                <a16:creationId xmlns:a16="http://schemas.microsoft.com/office/drawing/2014/main" id="{F6D55FBD-F939-41B6-9137-DB2EB4CD01DE}"/>
              </a:ext>
            </a:extLst>
          </p:cNvPr>
          <p:cNvGraphicFramePr>
            <a:graphicFrameLocks noGrp="1"/>
          </p:cNvGraphicFramePr>
          <p:nvPr>
            <p:ph sz="quarter" idx="17"/>
          </p:nvPr>
        </p:nvGraphicFramePr>
        <p:xfrm>
          <a:off x="2152649" y="3002280"/>
          <a:ext cx="7886700" cy="2966720"/>
        </p:xfrm>
        <a:graphic>
          <a:graphicData uri="http://schemas.openxmlformats.org/drawingml/2006/table">
            <a:tbl>
              <a:tblPr firstRow="1" bandRow="1">
                <a:tableStyleId>{2D5ABB26-0587-4C30-8999-92F81FD0307C}</a:tableStyleId>
              </a:tblPr>
              <a:tblGrid>
                <a:gridCol w="5836920">
                  <a:extLst>
                    <a:ext uri="{9D8B030D-6E8A-4147-A177-3AD203B41FA5}">
                      <a16:colId xmlns:a16="http://schemas.microsoft.com/office/drawing/2014/main" val="517519707"/>
                    </a:ext>
                  </a:extLst>
                </a:gridCol>
                <a:gridCol w="2049780">
                  <a:extLst>
                    <a:ext uri="{9D8B030D-6E8A-4147-A177-3AD203B41FA5}">
                      <a16:colId xmlns:a16="http://schemas.microsoft.com/office/drawing/2014/main" val="3236009958"/>
                    </a:ext>
                  </a:extLst>
                </a:gridCol>
              </a:tblGrid>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Payroll:</a:t>
                      </a:r>
                    </a:p>
                  </a:txBody>
                  <a:tcPr/>
                </a:tc>
                <a:tc>
                  <a:txBody>
                    <a:bodyPr/>
                    <a:lstStyle/>
                    <a:p>
                      <a:pPr>
                        <a:lnSpc>
                          <a:spcPct val="80000"/>
                        </a:lnSpc>
                      </a:pPr>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83775373"/>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Sales salaries</a:t>
                      </a:r>
                    </a:p>
                  </a:txBody>
                  <a:tcPr/>
                </a:tc>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$20,000</a:t>
                      </a:r>
                    </a:p>
                  </a:txBody>
                  <a:tcPr/>
                </a:tc>
                <a:extLst>
                  <a:ext uri="{0D108BD9-81ED-4DB2-BD59-A6C34878D82A}">
                    <a16:rowId xmlns:a16="http://schemas.microsoft.com/office/drawing/2014/main" val="3438365217"/>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Office salaries</a:t>
                      </a:r>
                    </a:p>
                  </a:txBody>
                  <a:tcPr/>
                </a:tc>
                <a:tc>
                  <a:txBody>
                    <a:bodyPr/>
                    <a:lstStyle/>
                    <a:p>
                      <a:pPr>
                        <a:lnSpc>
                          <a:spcPct val="80000"/>
                        </a:lnSpc>
                      </a:pPr>
                      <a:r>
                        <a:rPr lang="en-US" sz="2000" u="sng" dirty="0">
                          <a:solidFill>
                            <a:srgbClr val="000000"/>
                          </a:solidFill>
                          <a:latin typeface="Arial" panose="020B0604020202020204" pitchFamily="34" charset="0"/>
                          <a:cs typeface="Arial" panose="020B0604020202020204" pitchFamily="34" charset="0"/>
                        </a:rPr>
                        <a:t>    5,000</a:t>
                      </a:r>
                    </a:p>
                  </a:txBody>
                  <a:tcPr/>
                </a:tc>
                <a:extLst>
                  <a:ext uri="{0D108BD9-81ED-4DB2-BD59-A6C34878D82A}">
                    <a16:rowId xmlns:a16="http://schemas.microsoft.com/office/drawing/2014/main" val="2631085753"/>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Total payroll</a:t>
                      </a:r>
                    </a:p>
                  </a:txBody>
                  <a:tcPr/>
                </a:tc>
                <a:tc>
                  <a:txBody>
                    <a:bodyPr/>
                    <a:lstStyle/>
                    <a:p>
                      <a:pPr>
                        <a:lnSpc>
                          <a:spcPct val="80000"/>
                        </a:lnSpc>
                      </a:pPr>
                      <a:r>
                        <a:rPr lang="en-US" sz="2000" u="dbl" baseline="0" dirty="0">
                          <a:solidFill>
                            <a:srgbClr val="000000"/>
                          </a:solidFill>
                          <a:latin typeface="Arial" panose="020B0604020202020204" pitchFamily="34" charset="0"/>
                          <a:cs typeface="Arial" panose="020B0604020202020204" pitchFamily="34" charset="0"/>
                        </a:rPr>
                        <a:t>$25,000</a:t>
                      </a:r>
                    </a:p>
                  </a:txBody>
                  <a:tcPr/>
                </a:tc>
                <a:extLst>
                  <a:ext uri="{0D108BD9-81ED-4DB2-BD59-A6C34878D82A}">
                    <a16:rowId xmlns:a16="http://schemas.microsoft.com/office/drawing/2014/main" val="726743093"/>
                  </a:ext>
                </a:extLst>
              </a:tr>
              <a:tr h="370840">
                <a:tc>
                  <a:txBody>
                    <a:bodyPr/>
                    <a:lstStyle/>
                    <a:p>
                      <a:pPr>
                        <a:lnSpc>
                          <a:spcPct val="80000"/>
                        </a:lnSpc>
                      </a:pPr>
                      <a:endParaRPr lang="en-US" sz="2000" dirty="0">
                        <a:solidFill>
                          <a:srgbClr val="000000"/>
                        </a:solidFill>
                        <a:latin typeface="Arial" panose="020B0604020202020204" pitchFamily="34" charset="0"/>
                        <a:cs typeface="Arial" panose="020B0604020202020204" pitchFamily="34" charset="0"/>
                      </a:endParaRPr>
                    </a:p>
                  </a:txBody>
                  <a:tcPr/>
                </a:tc>
                <a:tc>
                  <a:txBody>
                    <a:bodyPr/>
                    <a:lstStyle/>
                    <a:p>
                      <a:pPr>
                        <a:lnSpc>
                          <a:spcPct val="80000"/>
                        </a:lnSpc>
                      </a:pPr>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69238595"/>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Salaries subject to payroll taxes:</a:t>
                      </a:r>
                    </a:p>
                  </a:txBody>
                  <a:tcPr/>
                </a:tc>
                <a:tc>
                  <a:txBody>
                    <a:bodyPr/>
                    <a:lstStyle/>
                    <a:p>
                      <a:pPr>
                        <a:lnSpc>
                          <a:spcPct val="80000"/>
                        </a:lnSpc>
                      </a:pPr>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05860623"/>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Social security and Medicare</a:t>
                      </a:r>
                    </a:p>
                  </a:txBody>
                  <a:tcPr/>
                </a:tc>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$25,000</a:t>
                      </a:r>
                    </a:p>
                  </a:txBody>
                  <a:tcPr/>
                </a:tc>
                <a:extLst>
                  <a:ext uri="{0D108BD9-81ED-4DB2-BD59-A6C34878D82A}">
                    <a16:rowId xmlns:a16="http://schemas.microsoft.com/office/drawing/2014/main" val="150442607"/>
                  </a:ext>
                </a:extLst>
              </a:tr>
              <a:tr h="370840">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State and federal unemployment tax</a:t>
                      </a:r>
                    </a:p>
                  </a:txBody>
                  <a:tcPr/>
                </a:tc>
                <a:tc>
                  <a:txBody>
                    <a:bodyPr/>
                    <a:lstStyle/>
                    <a:p>
                      <a:pPr>
                        <a:lnSpc>
                          <a:spcPct val="80000"/>
                        </a:lnSpc>
                      </a:pPr>
                      <a:r>
                        <a:rPr lang="en-US" sz="2000" dirty="0">
                          <a:solidFill>
                            <a:srgbClr val="000000"/>
                          </a:solidFill>
                          <a:latin typeface="Arial" panose="020B0604020202020204" pitchFamily="34" charset="0"/>
                          <a:cs typeface="Arial" panose="020B0604020202020204" pitchFamily="34" charset="0"/>
                        </a:rPr>
                        <a:t>  10,000</a:t>
                      </a:r>
                    </a:p>
                  </a:txBody>
                  <a:tcPr/>
                </a:tc>
                <a:extLst>
                  <a:ext uri="{0D108BD9-81ED-4DB2-BD59-A6C34878D82A}">
                    <a16:rowId xmlns:a16="http://schemas.microsoft.com/office/drawing/2014/main" val="1572714863"/>
                  </a:ext>
                </a:extLst>
              </a:tr>
            </a:tbl>
          </a:graphicData>
        </a:graphic>
      </p:graphicFrame>
    </p:spTree>
    <p:extLst>
      <p:ext uri="{BB962C8B-B14F-4D97-AF65-F5344CB8AC3E}">
        <p14:creationId xmlns:p14="http://schemas.microsoft.com/office/powerpoint/2010/main" val="1224904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2B4C3-BEFB-456F-B64D-B99884C23F09}"/>
              </a:ext>
            </a:extLst>
          </p:cNvPr>
          <p:cNvSpPr>
            <a:spLocks noGrp="1"/>
          </p:cNvSpPr>
          <p:nvPr>
            <p:ph type="title"/>
          </p:nvPr>
        </p:nvSpPr>
        <p:spPr/>
        <p:txBody>
          <a:bodyPr/>
          <a:lstStyle/>
          <a:p>
            <a:r>
              <a:rPr lang="en-US" dirty="0"/>
              <a:t>Recording Payroll</a:t>
            </a:r>
            <a:br>
              <a:rPr lang="en-US" dirty="0"/>
            </a:br>
            <a:r>
              <a:rPr lang="en-US" sz="2400" dirty="0"/>
              <a:t>(2 of 5)</a:t>
            </a:r>
          </a:p>
        </p:txBody>
      </p:sp>
      <p:graphicFrame>
        <p:nvGraphicFramePr>
          <p:cNvPr id="5" name="Table 5">
            <a:extLst>
              <a:ext uri="{FF2B5EF4-FFF2-40B4-BE49-F238E27FC236}">
                <a16:creationId xmlns:a16="http://schemas.microsoft.com/office/drawing/2014/main" id="{ACDF0666-49AE-4A78-B8C3-DD1FC7013ED5}"/>
              </a:ext>
            </a:extLst>
          </p:cNvPr>
          <p:cNvGraphicFramePr>
            <a:graphicFrameLocks noGrp="1"/>
          </p:cNvGraphicFramePr>
          <p:nvPr>
            <p:ph sz="quarter" idx="17"/>
          </p:nvPr>
        </p:nvGraphicFramePr>
        <p:xfrm>
          <a:off x="2727960" y="1493520"/>
          <a:ext cx="6736080" cy="4565646"/>
        </p:xfrm>
        <a:graphic>
          <a:graphicData uri="http://schemas.openxmlformats.org/drawingml/2006/table">
            <a:tbl>
              <a:tblPr firstRow="1" bandRow="1">
                <a:tableStyleId>{2D5ABB26-0587-4C30-8999-92F81FD0307C}</a:tableStyleId>
              </a:tblPr>
              <a:tblGrid>
                <a:gridCol w="5455920">
                  <a:extLst>
                    <a:ext uri="{9D8B030D-6E8A-4147-A177-3AD203B41FA5}">
                      <a16:colId xmlns:a16="http://schemas.microsoft.com/office/drawing/2014/main" val="2470071951"/>
                    </a:ext>
                  </a:extLst>
                </a:gridCol>
                <a:gridCol w="1280160">
                  <a:extLst>
                    <a:ext uri="{9D8B030D-6E8A-4147-A177-3AD203B41FA5}">
                      <a16:colId xmlns:a16="http://schemas.microsoft.com/office/drawing/2014/main" val="3188617681"/>
                    </a:ext>
                  </a:extLst>
                </a:gridCol>
              </a:tblGrid>
              <a:tr h="232919">
                <a:tc>
                  <a:txBody>
                    <a:bodyPr/>
                    <a:lstStyle/>
                    <a:p>
                      <a:r>
                        <a:rPr lang="en-US" sz="2000" dirty="0">
                          <a:solidFill>
                            <a:srgbClr val="000000"/>
                          </a:solidFill>
                          <a:latin typeface="Arial" panose="020B0604020202020204" pitchFamily="34" charset="0"/>
                          <a:cs typeface="Arial" panose="020B0604020202020204" pitchFamily="34" charset="0"/>
                        </a:rPr>
                        <a:t>Payroll tax rates:</a:t>
                      </a:r>
                    </a:p>
                  </a:txBody>
                  <a:tcPr/>
                </a:tc>
                <a:tc>
                  <a:txBody>
                    <a:bodyPr/>
                    <a:lstStyle/>
                    <a:p>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98826310"/>
                  </a:ext>
                </a:extLst>
              </a:tr>
              <a:tr h="232919">
                <a:tc>
                  <a:txBody>
                    <a:bodyPr/>
                    <a:lstStyle/>
                    <a:p>
                      <a:r>
                        <a:rPr lang="en-US" sz="2000" dirty="0">
                          <a:solidFill>
                            <a:srgbClr val="000000"/>
                          </a:solidFill>
                          <a:latin typeface="Arial" panose="020B0604020202020204" pitchFamily="34" charset="0"/>
                          <a:cs typeface="Arial" panose="020B0604020202020204" pitchFamily="34" charset="0"/>
                        </a:rPr>
                        <a:t>    Social security tax</a:t>
                      </a:r>
                    </a:p>
                  </a:txBody>
                  <a:tcPr/>
                </a:tc>
                <a:tc>
                  <a:txBody>
                    <a:bodyPr/>
                    <a:lstStyle/>
                    <a:p>
                      <a:r>
                        <a:rPr lang="en-US" sz="2000" dirty="0">
                          <a:solidFill>
                            <a:srgbClr val="000000"/>
                          </a:solidFill>
                          <a:latin typeface="Arial" panose="020B0604020202020204" pitchFamily="34" charset="0"/>
                          <a:cs typeface="Arial" panose="020B0604020202020204" pitchFamily="34" charset="0"/>
                        </a:rPr>
                        <a:t>6.0%</a:t>
                      </a:r>
                    </a:p>
                  </a:txBody>
                  <a:tcPr/>
                </a:tc>
                <a:extLst>
                  <a:ext uri="{0D108BD9-81ED-4DB2-BD59-A6C34878D82A}">
                    <a16:rowId xmlns:a16="http://schemas.microsoft.com/office/drawing/2014/main" val="3009919590"/>
                  </a:ext>
                </a:extLst>
              </a:tr>
              <a:tr h="232919">
                <a:tc>
                  <a:txBody>
                    <a:bodyPr/>
                    <a:lstStyle/>
                    <a:p>
                      <a:r>
                        <a:rPr lang="en-US" sz="2000" dirty="0">
                          <a:solidFill>
                            <a:srgbClr val="000000"/>
                          </a:solidFill>
                          <a:latin typeface="Arial" panose="020B0604020202020204" pitchFamily="34" charset="0"/>
                          <a:cs typeface="Arial" panose="020B0604020202020204" pitchFamily="34" charset="0"/>
                        </a:rPr>
                        <a:t>    Medicare tax</a:t>
                      </a:r>
                    </a:p>
                  </a:txBody>
                  <a:tcPr/>
                </a:tc>
                <a:tc>
                  <a:txBody>
                    <a:bodyPr/>
                    <a:lstStyle/>
                    <a:p>
                      <a:r>
                        <a:rPr lang="en-US" sz="2000" dirty="0">
                          <a:solidFill>
                            <a:srgbClr val="000000"/>
                          </a:solidFill>
                          <a:latin typeface="Arial" panose="020B0604020202020204" pitchFamily="34" charset="0"/>
                          <a:cs typeface="Arial" panose="020B0604020202020204" pitchFamily="34" charset="0"/>
                        </a:rPr>
                        <a:t>1.5</a:t>
                      </a:r>
                    </a:p>
                  </a:txBody>
                  <a:tcPr/>
                </a:tc>
                <a:extLst>
                  <a:ext uri="{0D108BD9-81ED-4DB2-BD59-A6C34878D82A}">
                    <a16:rowId xmlns:a16="http://schemas.microsoft.com/office/drawing/2014/main" val="300362413"/>
                  </a:ext>
                </a:extLst>
              </a:tr>
              <a:tr h="402025">
                <a:tc>
                  <a:txBody>
                    <a:bodyPr/>
                    <a:lstStyle/>
                    <a:p>
                      <a:r>
                        <a:rPr lang="en-US" sz="2000" dirty="0">
                          <a:solidFill>
                            <a:srgbClr val="000000"/>
                          </a:solidFill>
                          <a:latin typeface="Arial" panose="020B0604020202020204" pitchFamily="34" charset="0"/>
                          <a:cs typeface="Arial" panose="020B0604020202020204" pitchFamily="34" charset="0"/>
                        </a:rPr>
                        <a:t>    State unemployment compensation tax</a:t>
                      </a:r>
                    </a:p>
                  </a:txBody>
                  <a:tcPr/>
                </a:tc>
                <a:tc>
                  <a:txBody>
                    <a:bodyPr/>
                    <a:lstStyle/>
                    <a:p>
                      <a:r>
                        <a:rPr lang="en-US" sz="2000" dirty="0">
                          <a:solidFill>
                            <a:srgbClr val="000000"/>
                          </a:solidFill>
                          <a:latin typeface="Arial" panose="020B0604020202020204" pitchFamily="34" charset="0"/>
                          <a:cs typeface="Arial" panose="020B0604020202020204" pitchFamily="34" charset="0"/>
                        </a:rPr>
                        <a:t>5.4</a:t>
                      </a:r>
                    </a:p>
                  </a:txBody>
                  <a:tcPr/>
                </a:tc>
                <a:extLst>
                  <a:ext uri="{0D108BD9-81ED-4DB2-BD59-A6C34878D82A}">
                    <a16:rowId xmlns:a16="http://schemas.microsoft.com/office/drawing/2014/main" val="811237989"/>
                  </a:ext>
                </a:extLst>
              </a:tr>
              <a:tr h="574321">
                <a:tc>
                  <a:txBody>
                    <a:bodyPr/>
                    <a:lstStyle/>
                    <a:p>
                      <a:r>
                        <a:rPr lang="en-US" sz="2000" dirty="0">
                          <a:solidFill>
                            <a:srgbClr val="000000"/>
                          </a:solidFill>
                          <a:latin typeface="Arial" panose="020B0604020202020204" pitchFamily="34" charset="0"/>
                          <a:cs typeface="Arial" panose="020B0604020202020204" pitchFamily="34" charset="0"/>
                        </a:rPr>
                        <a:t>    Federal unemployment compensation tax</a:t>
                      </a:r>
                    </a:p>
                  </a:txBody>
                  <a:tcPr/>
                </a:tc>
                <a:tc>
                  <a:txBody>
                    <a:bodyPr/>
                    <a:lstStyle/>
                    <a:p>
                      <a:r>
                        <a:rPr lang="en-US" sz="2000" dirty="0">
                          <a:solidFill>
                            <a:srgbClr val="000000"/>
                          </a:solidFill>
                          <a:latin typeface="Arial" panose="020B0604020202020204" pitchFamily="34" charset="0"/>
                          <a:cs typeface="Arial" panose="020B0604020202020204" pitchFamily="34" charset="0"/>
                        </a:rPr>
                        <a:t>0.8</a:t>
                      </a:r>
                    </a:p>
                  </a:txBody>
                  <a:tcPr/>
                </a:tc>
                <a:extLst>
                  <a:ext uri="{0D108BD9-81ED-4DB2-BD59-A6C34878D82A}">
                    <a16:rowId xmlns:a16="http://schemas.microsoft.com/office/drawing/2014/main" val="3978144630"/>
                  </a:ext>
                </a:extLst>
              </a:tr>
              <a:tr h="232919">
                <a:tc>
                  <a:txBody>
                    <a:bodyPr/>
                    <a:lstStyle/>
                    <a:p>
                      <a:endParaRPr lang="en-US" sz="2000" dirty="0">
                        <a:solidFill>
                          <a:srgbClr val="000000"/>
                        </a:solidFill>
                        <a:latin typeface="Arial" panose="020B0604020202020204" pitchFamily="34" charset="0"/>
                        <a:cs typeface="Arial" panose="020B0604020202020204" pitchFamily="34" charset="0"/>
                      </a:endParaRPr>
                    </a:p>
                  </a:txBody>
                  <a:tcPr/>
                </a:tc>
                <a:tc>
                  <a:txBody>
                    <a:bodyPr/>
                    <a:lstStyle/>
                    <a:p>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5850213"/>
                  </a:ext>
                </a:extLst>
              </a:tr>
              <a:tr h="232919">
                <a:tc>
                  <a:txBody>
                    <a:bodyPr/>
                    <a:lstStyle/>
                    <a:p>
                      <a:r>
                        <a:rPr lang="en-US" sz="2000" dirty="0">
                          <a:solidFill>
                            <a:srgbClr val="000000"/>
                          </a:solidFill>
                          <a:latin typeface="Arial" panose="020B0604020202020204" pitchFamily="34" charset="0"/>
                          <a:cs typeface="Arial" panose="020B0604020202020204" pitchFamily="34" charset="0"/>
                        </a:rPr>
                        <a:t>Employee deductions:</a:t>
                      </a:r>
                    </a:p>
                  </a:txBody>
                  <a:tcPr/>
                </a:tc>
                <a:tc>
                  <a:txBody>
                    <a:bodyPr/>
                    <a:lstStyle/>
                    <a:p>
                      <a:endParaRPr lang="en-US" sz="20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50070331"/>
                  </a:ext>
                </a:extLst>
              </a:tr>
              <a:tr h="402025">
                <a:tc>
                  <a:txBody>
                    <a:bodyPr/>
                    <a:lstStyle/>
                    <a:p>
                      <a:r>
                        <a:rPr lang="en-US" sz="2000" dirty="0">
                          <a:solidFill>
                            <a:srgbClr val="000000"/>
                          </a:solidFill>
                          <a:latin typeface="Arial" panose="020B0604020202020204" pitchFamily="34" charset="0"/>
                          <a:cs typeface="Arial" panose="020B0604020202020204" pitchFamily="34" charset="0"/>
                        </a:rPr>
                        <a:t>    Federal income tax withholdings</a:t>
                      </a:r>
                    </a:p>
                  </a:txBody>
                  <a:tcPr/>
                </a:tc>
                <a:tc>
                  <a:txBody>
                    <a:bodyPr/>
                    <a:lstStyle/>
                    <a:p>
                      <a:r>
                        <a:rPr lang="en-US" sz="2000" dirty="0">
                          <a:solidFill>
                            <a:srgbClr val="000000"/>
                          </a:solidFill>
                          <a:latin typeface="Arial" panose="020B0604020202020204" pitchFamily="34" charset="0"/>
                          <a:cs typeface="Arial" panose="020B0604020202020204" pitchFamily="34" charset="0"/>
                        </a:rPr>
                        <a:t>$2,100</a:t>
                      </a:r>
                    </a:p>
                  </a:txBody>
                  <a:tcPr/>
                </a:tc>
                <a:extLst>
                  <a:ext uri="{0D108BD9-81ED-4DB2-BD59-A6C34878D82A}">
                    <a16:rowId xmlns:a16="http://schemas.microsoft.com/office/drawing/2014/main" val="2174860003"/>
                  </a:ext>
                </a:extLst>
              </a:tr>
              <a:tr h="402025">
                <a:tc>
                  <a:txBody>
                    <a:bodyPr/>
                    <a:lstStyle/>
                    <a:p>
                      <a:r>
                        <a:rPr lang="en-US" sz="2000" dirty="0">
                          <a:solidFill>
                            <a:srgbClr val="000000"/>
                          </a:solidFill>
                          <a:latin typeface="Arial" panose="020B0604020202020204" pitchFamily="34" charset="0"/>
                          <a:cs typeface="Arial" panose="020B0604020202020204" pitchFamily="34" charset="0"/>
                        </a:rPr>
                        <a:t>    State income tax withholdings</a:t>
                      </a:r>
                    </a:p>
                  </a:txBody>
                  <a:tcPr/>
                </a:tc>
                <a:tc>
                  <a:txBody>
                    <a:bodyPr/>
                    <a:lstStyle/>
                    <a:p>
                      <a:r>
                        <a:rPr lang="en-US" sz="2000" dirty="0">
                          <a:solidFill>
                            <a:srgbClr val="000000"/>
                          </a:solidFill>
                          <a:latin typeface="Arial" panose="020B0604020202020204" pitchFamily="34" charset="0"/>
                          <a:cs typeface="Arial" panose="020B0604020202020204" pitchFamily="34" charset="0"/>
                        </a:rPr>
                        <a:t>     550</a:t>
                      </a:r>
                    </a:p>
                  </a:txBody>
                  <a:tcPr/>
                </a:tc>
                <a:extLst>
                  <a:ext uri="{0D108BD9-81ED-4DB2-BD59-A6C34878D82A}">
                    <a16:rowId xmlns:a16="http://schemas.microsoft.com/office/drawing/2014/main" val="4258436040"/>
                  </a:ext>
                </a:extLst>
              </a:tr>
              <a:tr h="402025">
                <a:tc>
                  <a:txBody>
                    <a:bodyPr/>
                    <a:lstStyle/>
                    <a:p>
                      <a:r>
                        <a:rPr lang="en-US" sz="2000" dirty="0">
                          <a:solidFill>
                            <a:srgbClr val="000000"/>
                          </a:solidFill>
                          <a:latin typeface="Arial" panose="020B0604020202020204" pitchFamily="34" charset="0"/>
                          <a:cs typeface="Arial" panose="020B0604020202020204" pitchFamily="34" charset="0"/>
                        </a:rPr>
                        <a:t>    Retirement contributions</a:t>
                      </a:r>
                    </a:p>
                  </a:txBody>
                  <a:tcPr/>
                </a:tc>
                <a:tc>
                  <a:txBody>
                    <a:bodyPr/>
                    <a:lstStyle/>
                    <a:p>
                      <a:r>
                        <a:rPr lang="en-US" sz="2000" dirty="0">
                          <a:solidFill>
                            <a:srgbClr val="000000"/>
                          </a:solidFill>
                          <a:latin typeface="Arial" panose="020B0604020202020204" pitchFamily="34" charset="0"/>
                          <a:cs typeface="Arial" panose="020B0604020202020204" pitchFamily="34" charset="0"/>
                        </a:rPr>
                        <a:t>  1,200</a:t>
                      </a:r>
                    </a:p>
                  </a:txBody>
                  <a:tcPr/>
                </a:tc>
                <a:extLst>
                  <a:ext uri="{0D108BD9-81ED-4DB2-BD59-A6C34878D82A}">
                    <a16:rowId xmlns:a16="http://schemas.microsoft.com/office/drawing/2014/main" val="1120956324"/>
                  </a:ext>
                </a:extLst>
              </a:tr>
              <a:tr h="402025">
                <a:tc>
                  <a:txBody>
                    <a:bodyPr/>
                    <a:lstStyle/>
                    <a:p>
                      <a:r>
                        <a:rPr lang="en-US" sz="2000" dirty="0">
                          <a:solidFill>
                            <a:srgbClr val="000000"/>
                          </a:solidFill>
                          <a:latin typeface="Arial" panose="020B0604020202020204" pitchFamily="34" charset="0"/>
                          <a:cs typeface="Arial" panose="020B0604020202020204" pitchFamily="34" charset="0"/>
                        </a:rPr>
                        <a:t>    Charitable contributions</a:t>
                      </a:r>
                    </a:p>
                  </a:txBody>
                  <a:tcPr/>
                </a:tc>
                <a:tc>
                  <a:txBody>
                    <a:bodyPr/>
                    <a:lstStyle/>
                    <a:p>
                      <a:r>
                        <a:rPr lang="en-US" sz="2000" dirty="0">
                          <a:solidFill>
                            <a:srgbClr val="000000"/>
                          </a:solidFill>
                          <a:latin typeface="Arial" panose="020B0604020202020204" pitchFamily="34" charset="0"/>
                          <a:cs typeface="Arial" panose="020B0604020202020204" pitchFamily="34" charset="0"/>
                        </a:rPr>
                        <a:t>     250</a:t>
                      </a:r>
                    </a:p>
                  </a:txBody>
                  <a:tcPr/>
                </a:tc>
                <a:extLst>
                  <a:ext uri="{0D108BD9-81ED-4DB2-BD59-A6C34878D82A}">
                    <a16:rowId xmlns:a16="http://schemas.microsoft.com/office/drawing/2014/main" val="1219753902"/>
                  </a:ext>
                </a:extLst>
              </a:tr>
            </a:tbl>
          </a:graphicData>
        </a:graphic>
      </p:graphicFrame>
    </p:spTree>
    <p:extLst>
      <p:ext uri="{BB962C8B-B14F-4D97-AF65-F5344CB8AC3E}">
        <p14:creationId xmlns:p14="http://schemas.microsoft.com/office/powerpoint/2010/main" val="2529874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59CB-91D7-4D2D-961A-556D50155E52}"/>
              </a:ext>
            </a:extLst>
          </p:cNvPr>
          <p:cNvSpPr>
            <a:spLocks noGrp="1"/>
          </p:cNvSpPr>
          <p:nvPr>
            <p:ph type="title"/>
          </p:nvPr>
        </p:nvSpPr>
        <p:spPr/>
        <p:txBody>
          <a:bodyPr/>
          <a:lstStyle/>
          <a:p>
            <a:r>
              <a:rPr lang="en-US" dirty="0"/>
              <a:t>Recording Payroll</a:t>
            </a:r>
            <a:br>
              <a:rPr lang="en-US" dirty="0"/>
            </a:br>
            <a:r>
              <a:rPr lang="en-US" sz="2400" dirty="0"/>
              <a:t>(3 of 5)</a:t>
            </a:r>
          </a:p>
        </p:txBody>
      </p:sp>
      <p:sp>
        <p:nvSpPr>
          <p:cNvPr id="3" name="Text Placeholder 2">
            <a:extLst>
              <a:ext uri="{FF2B5EF4-FFF2-40B4-BE49-F238E27FC236}">
                <a16:creationId xmlns:a16="http://schemas.microsoft.com/office/drawing/2014/main" id="{D0AFEC8D-294F-42EA-999D-A43F44DE08FE}"/>
              </a:ext>
            </a:extLst>
          </p:cNvPr>
          <p:cNvSpPr>
            <a:spLocks noGrp="1"/>
          </p:cNvSpPr>
          <p:nvPr>
            <p:ph sz="quarter" idx="16"/>
          </p:nvPr>
        </p:nvSpPr>
        <p:spPr>
          <a:xfrm>
            <a:off x="838200" y="1607126"/>
            <a:ext cx="10515600" cy="1273234"/>
          </a:xfrm>
        </p:spPr>
        <p:txBody>
          <a:bodyPr>
            <a:noAutofit/>
          </a:bodyPr>
          <a:lstStyle/>
          <a:p>
            <a:pPr marL="457200" indent="-457200">
              <a:buFont typeface="Arial" panose="020B0604020202020204" pitchFamily="34" charset="0"/>
              <a:buChar char="•"/>
            </a:pPr>
            <a:r>
              <a:rPr lang="en-US" dirty="0"/>
              <a:t>The journal entry to record the March 21 payroll is as follows:</a:t>
            </a:r>
          </a:p>
        </p:txBody>
      </p:sp>
      <p:pic>
        <p:nvPicPr>
          <p:cNvPr id="6" name="Content Placeholder 5" descr="A journal entry is shown in a journal form. March 21 is the date indicated. Sales Salaries Expense is debited—with 20,000 shown in the Debit column. Office Salaries Expense is debited—with 5,000 shown in the Debit column. Social Security Tax Payable is credited—with 1,500 shown in the Credit column. To the right of the Social Security Tax Payable account name, the following calculation is shown: ($25,000 times 6%). Medicare Tax Payable is credited—with 375 shown in the Credit column. To the right of the Medicare Tax Payable account name, the following calculation is shown: ($25,000 times 1.5%). Employees Federal Income Tax Payable is credited—with 2,100 shown in the Credit column. Employees State Income Tax Payable is credited—with 550 shown in the Credit column. Retirement Contributions Payable is credited—with 1,200 shown in the Credit column. Charitable Contributions Payable is credited—with 250 shown in the Credit column. Salaries Payable is credited—with 19,025 shown in the Credit column. &#10;&#10;Below the journal form, the accounting equation impact is illustrated. &#10;&#10;The accounting equation is shown: Assets = Liabilities + Stockholders’ Equity.&#10;&#10;Under Liabilities in the accounting equation, a T account for Payroll Payables is shown. In the credit column of the Payroll Payables T account, an entry of 25,000 is shown. The debit column of the Payroll Payables T account is blank.&#10;&#10;Under Stockholders’ Equity in the accounting equation, two T accounts are shown. On the left, a T account for Sales Salaries Expense is shown. In the debit column of the Sales Salaries Expense T account, an entry of 20,000 is shown. The credit column of the Sales Salaries Expense T account is blank. On the right, a T account for Office Salaries Expense is shown. In the debit column of the Office Salaries Expense T account, an entry of 5,000 is shown. The credit column of the Office Salaries Expense T account is blank. &#10;">
            <a:extLst>
              <a:ext uri="{FF2B5EF4-FFF2-40B4-BE49-F238E27FC236}">
                <a16:creationId xmlns:a16="http://schemas.microsoft.com/office/drawing/2014/main" id="{D5F54E09-18DD-43B3-AF94-0B339AD37D97}"/>
              </a:ext>
            </a:extLst>
          </p:cNvPr>
          <p:cNvPicPr>
            <a:picLocks noGrp="1" noChangeAspect="1"/>
          </p:cNvPicPr>
          <p:nvPr>
            <p:ph sz="quarter" idx="17"/>
          </p:nvPr>
        </p:nvPicPr>
        <p:blipFill>
          <a:blip r:embed="rId2"/>
          <a:stretch>
            <a:fillRect/>
          </a:stretch>
        </p:blipFill>
        <p:spPr>
          <a:xfrm>
            <a:off x="2238692" y="2320620"/>
            <a:ext cx="7714615" cy="3677157"/>
          </a:xfrm>
          <a:prstGeom prst="rect">
            <a:avLst/>
          </a:prstGeom>
        </p:spPr>
      </p:pic>
    </p:spTree>
    <p:extLst>
      <p:ext uri="{BB962C8B-B14F-4D97-AF65-F5344CB8AC3E}">
        <p14:creationId xmlns:p14="http://schemas.microsoft.com/office/powerpoint/2010/main" val="2516085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59CB-91D7-4D2D-961A-556D50155E52}"/>
              </a:ext>
            </a:extLst>
          </p:cNvPr>
          <p:cNvSpPr>
            <a:spLocks noGrp="1"/>
          </p:cNvSpPr>
          <p:nvPr>
            <p:ph type="title"/>
          </p:nvPr>
        </p:nvSpPr>
        <p:spPr/>
        <p:txBody>
          <a:bodyPr/>
          <a:lstStyle/>
          <a:p>
            <a:r>
              <a:rPr lang="en-US" dirty="0"/>
              <a:t>Recording Payroll</a:t>
            </a:r>
            <a:br>
              <a:rPr lang="en-US" dirty="0"/>
            </a:br>
            <a:r>
              <a:rPr lang="en-US" sz="2400" dirty="0"/>
              <a:t>(4 of 5)</a:t>
            </a:r>
          </a:p>
        </p:txBody>
      </p:sp>
      <p:sp>
        <p:nvSpPr>
          <p:cNvPr id="3" name="Text Placeholder 2">
            <a:extLst>
              <a:ext uri="{FF2B5EF4-FFF2-40B4-BE49-F238E27FC236}">
                <a16:creationId xmlns:a16="http://schemas.microsoft.com/office/drawing/2014/main" id="{D0AFEC8D-294F-42EA-999D-A43F44DE08FE}"/>
              </a:ext>
            </a:extLst>
          </p:cNvPr>
          <p:cNvSpPr>
            <a:spLocks noGrp="1"/>
          </p:cNvSpPr>
          <p:nvPr>
            <p:ph sz="quarter" idx="16"/>
          </p:nvPr>
        </p:nvSpPr>
        <p:spPr>
          <a:xfrm>
            <a:off x="838200" y="1607126"/>
            <a:ext cx="10515600" cy="2050474"/>
          </a:xfrm>
        </p:spPr>
        <p:txBody>
          <a:bodyPr>
            <a:noAutofit/>
          </a:bodyPr>
          <a:lstStyle/>
          <a:p>
            <a:pPr marL="457200" indent="-457200">
              <a:buFont typeface="Arial" panose="020B0604020202020204" pitchFamily="34" charset="0"/>
              <a:buChar char="•"/>
            </a:pPr>
            <a:r>
              <a:rPr lang="en-US" sz="2400" dirty="0"/>
              <a:t>Employers must match the employees’ social security and Medicare taxes.</a:t>
            </a:r>
          </a:p>
          <a:p>
            <a:pPr marL="457200" indent="-457200">
              <a:buFont typeface="Arial" panose="020B0604020202020204" pitchFamily="34" charset="0"/>
              <a:buChar char="•"/>
            </a:pPr>
            <a:r>
              <a:rPr lang="en-US" sz="2400" dirty="0"/>
              <a:t>In addition, an employer must pay state and federal unemployment compensation taxes.</a:t>
            </a:r>
          </a:p>
          <a:p>
            <a:pPr marL="457200" indent="-457200">
              <a:buFont typeface="Arial" panose="020B0604020202020204" pitchFamily="34" charset="0"/>
              <a:buChar char="•"/>
            </a:pPr>
            <a:r>
              <a:rPr lang="en-US" sz="2400" dirty="0"/>
              <a:t>The employer’s payroll taxes of $2,495 for the March 21 payroll are as follows:</a:t>
            </a:r>
            <a:endParaRPr lang="en-US" dirty="0"/>
          </a:p>
        </p:txBody>
      </p:sp>
      <p:pic>
        <p:nvPicPr>
          <p:cNvPr id="9" name="Content Placeholder 8" descr="Social security tax, which is $25,000 times 6 percent, equals $1,500. Medicare tax, which is $25,000 times 1.5 percent, equals 375. State unemployment tax, which is $10,000 times 5.4 percent, equals 540. Federal unemployment tax, which is $10,000 times 0.8 percent, equals 80. Summing these amounts results in total payroll taxes of $2,495.">
            <a:extLst>
              <a:ext uri="{FF2B5EF4-FFF2-40B4-BE49-F238E27FC236}">
                <a16:creationId xmlns:a16="http://schemas.microsoft.com/office/drawing/2014/main" id="{191E649E-E50D-48CF-BF4B-B77216B51C04}"/>
              </a:ext>
            </a:extLst>
          </p:cNvPr>
          <p:cNvPicPr>
            <a:picLocks noGrp="1" noChangeAspect="1"/>
          </p:cNvPicPr>
          <p:nvPr>
            <p:ph sz="quarter" idx="17"/>
          </p:nvPr>
        </p:nvPicPr>
        <p:blipFill>
          <a:blip r:embed="rId2"/>
          <a:stretch>
            <a:fillRect/>
          </a:stretch>
        </p:blipFill>
        <p:spPr>
          <a:xfrm>
            <a:off x="2399502" y="3657600"/>
            <a:ext cx="7392995" cy="2050474"/>
          </a:xfrm>
        </p:spPr>
      </p:pic>
    </p:spTree>
    <p:extLst>
      <p:ext uri="{BB962C8B-B14F-4D97-AF65-F5344CB8AC3E}">
        <p14:creationId xmlns:p14="http://schemas.microsoft.com/office/powerpoint/2010/main" val="3401377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59CB-91D7-4D2D-961A-556D50155E52}"/>
              </a:ext>
            </a:extLst>
          </p:cNvPr>
          <p:cNvSpPr>
            <a:spLocks noGrp="1"/>
          </p:cNvSpPr>
          <p:nvPr>
            <p:ph type="title"/>
          </p:nvPr>
        </p:nvSpPr>
        <p:spPr/>
        <p:txBody>
          <a:bodyPr/>
          <a:lstStyle/>
          <a:p>
            <a:r>
              <a:rPr lang="en-US" dirty="0"/>
              <a:t>Recording Payroll</a:t>
            </a:r>
            <a:br>
              <a:rPr lang="en-US" dirty="0"/>
            </a:br>
            <a:r>
              <a:rPr lang="en-US" sz="2400" dirty="0"/>
              <a:t>(5 of 5)</a:t>
            </a:r>
          </a:p>
        </p:txBody>
      </p:sp>
      <p:sp>
        <p:nvSpPr>
          <p:cNvPr id="3" name="Text Placeholder 2">
            <a:extLst>
              <a:ext uri="{FF2B5EF4-FFF2-40B4-BE49-F238E27FC236}">
                <a16:creationId xmlns:a16="http://schemas.microsoft.com/office/drawing/2014/main" id="{D0AFEC8D-294F-42EA-999D-A43F44DE08FE}"/>
              </a:ext>
            </a:extLst>
          </p:cNvPr>
          <p:cNvSpPr>
            <a:spLocks noGrp="1"/>
          </p:cNvSpPr>
          <p:nvPr>
            <p:ph sz="quarter" idx="16"/>
          </p:nvPr>
        </p:nvSpPr>
        <p:spPr>
          <a:xfrm>
            <a:off x="838200" y="1607127"/>
            <a:ext cx="10515599" cy="526474"/>
          </a:xfrm>
        </p:spPr>
        <p:txBody>
          <a:bodyPr>
            <a:noAutofit/>
          </a:bodyPr>
          <a:lstStyle/>
          <a:p>
            <a:pPr marL="457200" indent="-457200">
              <a:buFont typeface="Arial" panose="020B0604020202020204" pitchFamily="34" charset="0"/>
              <a:buChar char="•"/>
            </a:pPr>
            <a:r>
              <a:rPr lang="en-US" sz="2600" dirty="0"/>
              <a:t>The journal entry to record the payroll tax expense is as follows:</a:t>
            </a:r>
            <a:endParaRPr lang="en-US" sz="2600" u="dbl" dirty="0"/>
          </a:p>
        </p:txBody>
      </p:sp>
      <p:pic>
        <p:nvPicPr>
          <p:cNvPr id="6" name="Content Placeholder 5" descr="A journal entry is shown in a journal form. March 21 is the date indicated. Payroll Tax Expense is debited—with 2,495 shown in the Debit column. Social Security Tax Payable is credited—with 1,500 shown in the Credit column. Medicare Tax Payable is credited—with 375 shown in the Credit column. State Unemployment Tax Payable is credited—with 540 shown in the Credit column. Federal Unemployment Tax Payable is credited—with 80 shown in the Credit column. &#10;&#10;Below the journal form, the accounting equation impact is illustrated. &#10;&#10;The accounting equation is shown: Assets = Liabilities + Stockholders’ Equity.&#10;&#10;Under Liabilities in the accounting equation, four T accounts are shown. At the top left, a T account for Social Security Tax Payable is shown. In the credit column of the Social Security Tax Payable T account, an entry of 1,500 is shown. The debit column of the Social Security Tax Payable T account is blank. At the top right, a T account for Medicare Tax Payable is shown. In the credit column of the Medicare Tax Payable T account, an entry of 375 is shown. The debit column of the Medicare Tax Payable T account is blank. At the bottom left, a T account for State Unemployment Tax Payable is shown. In the credit column of the State Unemployment Tax Payable T account, an entry of 540 is shown. The debit column of the State Unemployment Tax Payable T account is blank. At the bottom right, a T account for Federal Unemployment Tax Payable is shown. In the credit column of the Federal Unemployment Tax Payable T account, an entry of 80 is shown. The debit column of the Federal Unemployment Tax Payable T account is blank.&#10;&#10;Under Stockholders’ Equity in the accounting equation, a T account for Payroll Tax Expense is shown. In the debit column of the Payroll Tax Expense T account, an entry of 2,495 is shown. The credit column of the Payroll Tax Expense T account is blank. &#10;">
            <a:extLst>
              <a:ext uri="{FF2B5EF4-FFF2-40B4-BE49-F238E27FC236}">
                <a16:creationId xmlns:a16="http://schemas.microsoft.com/office/drawing/2014/main" id="{BF272189-839D-4C70-B0EA-D8588EACE6A7}"/>
              </a:ext>
            </a:extLst>
          </p:cNvPr>
          <p:cNvPicPr>
            <a:picLocks noGrp="1" noChangeAspect="1"/>
          </p:cNvPicPr>
          <p:nvPr>
            <p:ph sz="quarter" idx="17"/>
          </p:nvPr>
        </p:nvPicPr>
        <p:blipFill>
          <a:blip r:embed="rId2"/>
          <a:stretch>
            <a:fillRect/>
          </a:stretch>
        </p:blipFill>
        <p:spPr>
          <a:xfrm>
            <a:off x="2331129" y="2276123"/>
            <a:ext cx="7529740" cy="3603977"/>
          </a:xfrm>
          <a:prstGeom prst="rect">
            <a:avLst/>
          </a:prstGeom>
        </p:spPr>
      </p:pic>
    </p:spTree>
    <p:extLst>
      <p:ext uri="{BB962C8B-B14F-4D97-AF65-F5344CB8AC3E}">
        <p14:creationId xmlns:p14="http://schemas.microsoft.com/office/powerpoint/2010/main" val="2515925134"/>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6807</TotalTime>
  <Words>744</Words>
  <Application>Microsoft Office PowerPoint</Application>
  <PresentationFormat>Widescreen</PresentationFormat>
  <Paragraphs>75</Paragraphs>
  <Slides>16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vt:lpstr>
      <vt:lpstr>Calibri</vt:lpstr>
      <vt:lpstr>Courier New</vt:lpstr>
      <vt:lpstr>Helvetica</vt:lpstr>
      <vt:lpstr>Open Sans</vt:lpstr>
      <vt:lpstr>Summer Font</vt:lpstr>
      <vt:lpstr>Wingdings</vt:lpstr>
      <vt:lpstr>Office Theme</vt:lpstr>
      <vt:lpstr>Chapter 10: Liabilities: Current, Installment Notes, and Contingencies</vt:lpstr>
      <vt:lpstr>Current Liabilities</vt:lpstr>
      <vt:lpstr>Accounts Payable and Accruals</vt:lpstr>
      <vt:lpstr>Short-Term Notes Payable </vt:lpstr>
      <vt:lpstr>Short-Term Notes Payable </vt:lpstr>
      <vt:lpstr>Short-Term Notes Payable (slide 3 of 10)</vt:lpstr>
      <vt:lpstr>Short-Term Notes Payable  </vt:lpstr>
      <vt:lpstr>Short-Term Notes Payable  </vt:lpstr>
      <vt:lpstr>Short-Term Notes Payable </vt:lpstr>
      <vt:lpstr>Reporting Liabilities</vt:lpstr>
      <vt:lpstr>The Final Exam will not cover any material presented after this PowerPoint slide.   Exhibit 3 – Responsibility for Tax Payments</vt:lpstr>
      <vt:lpstr>Recording Payroll (1 of 5)</vt:lpstr>
      <vt:lpstr>Recording Payroll (2 of 5)</vt:lpstr>
      <vt:lpstr>Recording Payroll (3 of 5)</vt:lpstr>
      <vt:lpstr>Recording Payroll (4 of 5)</vt:lpstr>
      <vt:lpstr>Recording Payroll (5 of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250</cp:revision>
  <dcterms:created xsi:type="dcterms:W3CDTF">2020-07-27T16:46:05Z</dcterms:created>
  <dcterms:modified xsi:type="dcterms:W3CDTF">2026-07-02T11:47:18Z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