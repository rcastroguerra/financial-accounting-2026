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64" r:id="rId5"/>
    <p:sldId id="1226" r:id="rId6"/>
    <p:sldId id="1237" r:id="rId7"/>
    <p:sldId id="1240" r:id="rId8"/>
    <p:sldId id="1241" r:id="rId9"/>
    <p:sldId id="1321" r:id="rId10"/>
    <p:sldId id="1242" r:id="rId11"/>
    <p:sldId id="1322" r:id="rId12"/>
    <p:sldId id="1323" r:id="rId13"/>
    <p:sldId id="1324" r:id="rId14"/>
    <p:sldId id="1325" r:id="rId15"/>
    <p:sldId id="622" r:id="rId16"/>
    <p:sldId id="623" r:id="rId17"/>
    <p:sldId id="1328" r:id="rId18"/>
    <p:sldId id="624" r:id="rId19"/>
    <p:sldId id="286" r:id="rId20"/>
    <p:sldId id="1252" r:id="rId21"/>
    <p:sldId id="625" r:id="rId22"/>
    <p:sldId id="290" r:id="rId23"/>
    <p:sldId id="291" r:id="rId2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Julie Angel" initials="JA" lastIdx="2" clrIdx="1">
    <p:extLst>
      <p:ext uri="{19B8F6BF-5375-455C-9EA6-DF929625EA0E}">
        <p15:presenceInfo xmlns:p15="http://schemas.microsoft.com/office/powerpoint/2012/main" userId="fec48bcc1f869946" providerId="Windows Live"/>
      </p:ext>
    </p:extLst>
  </p:cmAuthor>
  <p:cmAuthor id="3" name="Erin Tilley" initials="ET" lastIdx="1" clrIdx="2">
    <p:extLst>
      <p:ext uri="{19B8F6BF-5375-455C-9EA6-DF929625EA0E}">
        <p15:presenceInfo xmlns:p15="http://schemas.microsoft.com/office/powerpoint/2012/main" userId="b2f5dbb2b9544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71226" autoAdjust="0"/>
  </p:normalViewPr>
  <p:slideViewPr>
    <p:cSldViewPr snapToGrid="0">
      <p:cViewPr varScale="1">
        <p:scale>
          <a:sx n="79" d="100"/>
          <a:sy n="79" d="100"/>
        </p:scale>
        <p:origin x="1788" y="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7/2/2026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7/2/2026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711521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8465536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pPr>
              <a:defRPr/>
            </a:pPr>
            <a:r>
              <a:rPr lang="en-US" dirty="0"/>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E7287522-6EFB-4B6F-A755-2B83B87BF180}"/>
              </a:ext>
            </a:extLst>
          </p:cNvPr>
          <p:cNvSpPr>
            <a:spLocks noGrp="1"/>
          </p:cNvSpPr>
          <p:nvPr>
            <p:ph sz="quarter" idx="10"/>
          </p:nvPr>
        </p:nvSpPr>
        <p:spPr>
          <a:xfrm>
            <a:off x="838200" y="1593273"/>
            <a:ext cx="10515600" cy="447415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86311C29-F62B-4AA5-8197-B175712ABE83}"/>
              </a:ext>
            </a:extLst>
          </p:cNvPr>
          <p:cNvSpPr>
            <a:spLocks noGrp="1"/>
          </p:cNvSpPr>
          <p:nvPr>
            <p:ph sz="quarter" idx="16"/>
          </p:nvPr>
        </p:nvSpPr>
        <p:spPr>
          <a:xfrm>
            <a:off x="6207368" y="1607126"/>
            <a:ext cx="5146431" cy="34157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CBA4F7D5-043F-4B98-992B-40E415A84609}"/>
              </a:ext>
            </a:extLst>
          </p:cNvPr>
          <p:cNvSpPr>
            <a:spLocks noGrp="1"/>
          </p:cNvSpPr>
          <p:nvPr>
            <p:ph sz="quarter" idx="17"/>
          </p:nvPr>
        </p:nvSpPr>
        <p:spPr>
          <a:xfrm>
            <a:off x="838200" y="1607126"/>
            <a:ext cx="5035062" cy="341572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194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Text Placeholder 5"/>
          <p:cNvSpPr>
            <a:spLocks noGrp="1"/>
          </p:cNvSpPr>
          <p:nvPr>
            <p:ph type="body" sz="quarter" idx="18" hasCustomPrompt="1"/>
          </p:nvPr>
        </p:nvSpPr>
        <p:spPr>
          <a:xfrm>
            <a:off x="740228" y="1290690"/>
            <a:ext cx="10711543" cy="190932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356DCFCF-A355-4530-967D-8510D0847AE0}"/>
              </a:ext>
            </a:extLst>
          </p:cNvPr>
          <p:cNvSpPr>
            <a:spLocks noGrp="1"/>
          </p:cNvSpPr>
          <p:nvPr>
            <p:ph sz="quarter" idx="19"/>
          </p:nvPr>
        </p:nvSpPr>
        <p:spPr>
          <a:xfrm>
            <a:off x="739775" y="3429000"/>
            <a:ext cx="10712450" cy="246221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642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600" y="3429000"/>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096000" y="3429000"/>
            <a:ext cx="535940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9007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7" y="3216398"/>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3216398"/>
            <a:ext cx="521335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969161"/>
            <a:ext cx="5084776" cy="1543050"/>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12919" y="4969161"/>
            <a:ext cx="5359400"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9208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825378"/>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825378"/>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6" y="2550013"/>
            <a:ext cx="5084763" cy="825379"/>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2555894"/>
            <a:ext cx="5213350" cy="825378"/>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505010"/>
            <a:ext cx="5084776" cy="854869"/>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42049" y="3512099"/>
            <a:ext cx="5330269" cy="825378"/>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C16720CB-8E80-4C81-B19E-9660F007EB1A}"/>
              </a:ext>
            </a:extLst>
          </p:cNvPr>
          <p:cNvSpPr>
            <a:spLocks noGrp="1"/>
          </p:cNvSpPr>
          <p:nvPr>
            <p:ph sz="quarter" idx="25"/>
          </p:nvPr>
        </p:nvSpPr>
        <p:spPr>
          <a:xfrm>
            <a:off x="6242049" y="4505010"/>
            <a:ext cx="5084763" cy="8253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20BFF3EE-D8A8-40F4-8019-9E0E6C0E27F5}"/>
              </a:ext>
            </a:extLst>
          </p:cNvPr>
          <p:cNvSpPr>
            <a:spLocks noGrp="1"/>
          </p:cNvSpPr>
          <p:nvPr>
            <p:ph sz="quarter" idx="26"/>
          </p:nvPr>
        </p:nvSpPr>
        <p:spPr>
          <a:xfrm>
            <a:off x="736586" y="3482609"/>
            <a:ext cx="5084763" cy="85486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51723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G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336605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541624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B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5" name="Table Placeholder 4"/>
          <p:cNvSpPr>
            <a:spLocks noGrp="1"/>
          </p:cNvSpPr>
          <p:nvPr>
            <p:ph type="tbl" sz="quarter" idx="10"/>
          </p:nvPr>
        </p:nvSpPr>
        <p:spPr>
          <a:xfrm>
            <a:off x="1133687" y="1367327"/>
            <a:ext cx="9924626" cy="4871103"/>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878221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GEN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614165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6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802289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LO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6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1652240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58368" y="0"/>
            <a:ext cx="10972800" cy="1143000"/>
          </a:xfrm>
        </p:spPr>
        <p:txBody>
          <a:bodyPr/>
          <a:lstStyle/>
          <a:p>
            <a:r>
              <a:rPr lang="en-US" dirty="0"/>
              <a:t>Click to edit Master title style</a:t>
            </a:r>
          </a:p>
        </p:txBody>
      </p:sp>
      <p:sp>
        <p:nvSpPr>
          <p:cNvPr id="5" name="Content Placeholder 2"/>
          <p:cNvSpPr>
            <a:spLocks noGrp="1"/>
          </p:cNvSpPr>
          <p:nvPr>
            <p:ph idx="1"/>
          </p:nvPr>
        </p:nvSpPr>
        <p:spPr>
          <a:xfrm>
            <a:off x="609600" y="1216152"/>
            <a:ext cx="10972800" cy="5184648"/>
          </a:xfrm>
          <a:prstGeom prst="rect">
            <a:avLst/>
          </a:prstGeom>
        </p:spPr>
        <p:txBody>
          <a:bodyPr/>
          <a:lstStyle>
            <a:lvl1pPr marL="342900" indent="-342900">
              <a:spcBef>
                <a:spcPts val="1200"/>
              </a:spcBef>
              <a:buClr>
                <a:srgbClr val="00375D"/>
              </a:buClr>
              <a:buSzPct val="125000"/>
              <a:buFont typeface="Arial" panose="020B0604020202020204" pitchFamily="34" charset="0"/>
              <a:buChar char="•"/>
              <a:defRPr sz="2800">
                <a:solidFill>
                  <a:schemeClr val="tx2"/>
                </a:solidFill>
                <a:latin typeface="Arial" panose="020B0604020202020204" pitchFamily="34" charset="0"/>
                <a:cs typeface="Arial" panose="020B0604020202020204" pitchFamily="34" charset="0"/>
              </a:defRPr>
            </a:lvl1pPr>
            <a:lvl2pPr marL="742950" indent="-285750">
              <a:spcBef>
                <a:spcPts val="1200"/>
              </a:spcBef>
              <a:buClr>
                <a:srgbClr val="992315"/>
              </a:buClr>
              <a:buSzPct val="75000"/>
              <a:buFont typeface="Courier New" panose="02070309020205020404" pitchFamily="49" charset="0"/>
              <a:buChar char="o"/>
              <a:defRPr sz="2400">
                <a:solidFill>
                  <a:schemeClr val="tx2"/>
                </a:solidFill>
                <a:latin typeface="Arial" panose="020B0604020202020204" pitchFamily="34" charset="0"/>
                <a:cs typeface="Arial" panose="020B0604020202020204" pitchFamily="34" charset="0"/>
              </a:defRPr>
            </a:lvl2pPr>
            <a:lvl3pPr marL="1143000" indent="-228600">
              <a:spcBef>
                <a:spcPts val="1200"/>
              </a:spcBef>
              <a:buClr>
                <a:srgbClr val="00375D"/>
              </a:buClr>
              <a:buFont typeface="Wingdings" charset="2"/>
              <a:buChar char="§"/>
              <a:defRPr sz="2000">
                <a:solidFill>
                  <a:schemeClr val="tx2"/>
                </a:solidFill>
                <a:latin typeface="Arial" panose="020B0604020202020204" pitchFamily="34" charset="0"/>
                <a:cs typeface="Arial" panose="020B0604020202020204" pitchFamily="34" charset="0"/>
              </a:defRPr>
            </a:lvl3pPr>
            <a:lvl4pPr>
              <a:spcBef>
                <a:spcPts val="1200"/>
              </a:spcBef>
              <a:defRPr sz="1800">
                <a:solidFill>
                  <a:schemeClr val="tx2"/>
                </a:solidFill>
                <a:latin typeface="Arial" panose="020B0604020202020204" pitchFamily="34" charset="0"/>
                <a:cs typeface="Arial" panose="020B0604020202020204" pitchFamily="34" charset="0"/>
              </a:defRPr>
            </a:lvl4pPr>
            <a:lvl5pPr marL="2057400" indent="-228600">
              <a:spcBef>
                <a:spcPts val="1200"/>
              </a:spcBef>
              <a:buFont typeface="Wingdings" panose="05000000000000000000" pitchFamily="2" charset="2"/>
              <a:buChar char="§"/>
              <a:defRPr sz="1800">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39458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2"/>
          <p:cNvSpPr>
            <a:spLocks noGrp="1"/>
          </p:cNvSpPr>
          <p:nvPr>
            <p:ph idx="1"/>
          </p:nvPr>
        </p:nvSpPr>
        <p:spPr>
          <a:xfrm>
            <a:off x="609600" y="1216152"/>
            <a:ext cx="10972800" cy="2517648"/>
          </a:xfrm>
          <a:prstGeom prst="rect">
            <a:avLst/>
          </a:prstGeom>
        </p:spPr>
        <p:txBody>
          <a:bodyPr/>
          <a:lstStyle>
            <a:lvl1pPr marL="342900" indent="-342900">
              <a:spcBef>
                <a:spcPts val="1200"/>
              </a:spcBef>
              <a:buClr>
                <a:srgbClr val="00375D"/>
              </a:buClr>
              <a:buSzPct val="125000"/>
              <a:buFont typeface="Arial" panose="020B0604020202020204" pitchFamily="34" charset="0"/>
              <a:buChar char="•"/>
              <a:defRPr sz="2800">
                <a:solidFill>
                  <a:schemeClr val="tx2"/>
                </a:solidFill>
                <a:latin typeface="Arial" panose="020B0604020202020204" pitchFamily="34" charset="0"/>
                <a:cs typeface="Arial" panose="020B0604020202020204" pitchFamily="34" charset="0"/>
              </a:defRPr>
            </a:lvl1pPr>
            <a:lvl2pPr marL="742950" indent="-285750">
              <a:spcBef>
                <a:spcPts val="1200"/>
              </a:spcBef>
              <a:buClr>
                <a:srgbClr val="992315"/>
              </a:buClr>
              <a:buSzPct val="75000"/>
              <a:buFont typeface="Courier New" panose="02070309020205020404" pitchFamily="49" charset="0"/>
              <a:buChar char="o"/>
              <a:defRPr sz="2400">
                <a:solidFill>
                  <a:schemeClr val="tx2"/>
                </a:solidFill>
                <a:latin typeface="Arial" panose="020B0604020202020204" pitchFamily="34" charset="0"/>
                <a:cs typeface="Arial" panose="020B0604020202020204" pitchFamily="34" charset="0"/>
              </a:defRPr>
            </a:lvl2pPr>
            <a:lvl3pPr marL="1143000" indent="-228600">
              <a:spcBef>
                <a:spcPts val="1200"/>
              </a:spcBef>
              <a:buClr>
                <a:srgbClr val="00375D"/>
              </a:buClr>
              <a:buFont typeface="Wingdings" charset="2"/>
              <a:buChar char="§"/>
              <a:defRPr sz="2000">
                <a:solidFill>
                  <a:schemeClr val="tx2"/>
                </a:solidFill>
                <a:latin typeface="Arial" panose="020B0604020202020204" pitchFamily="34" charset="0"/>
                <a:cs typeface="Arial" panose="020B0604020202020204" pitchFamily="34" charset="0"/>
              </a:defRPr>
            </a:lvl3pPr>
            <a:lvl4pPr>
              <a:spcBef>
                <a:spcPts val="1200"/>
              </a:spcBef>
              <a:defRPr sz="1800">
                <a:solidFill>
                  <a:schemeClr val="tx2"/>
                </a:solidFill>
                <a:latin typeface="Arial" panose="020B0604020202020204" pitchFamily="34" charset="0"/>
                <a:cs typeface="Arial" panose="020B0604020202020204" pitchFamily="34" charset="0"/>
              </a:defRPr>
            </a:lvl4pPr>
            <a:lvl5pPr marL="2057400" indent="-228600">
              <a:spcBef>
                <a:spcPts val="1200"/>
              </a:spcBef>
              <a:buFont typeface="Wingdings" panose="05000000000000000000" pitchFamily="2" charset="2"/>
              <a:buChar char="§"/>
              <a:defRPr sz="1800">
                <a:solidFill>
                  <a:schemeClr val="tx2"/>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p:cNvSpPr>
            <a:spLocks noGrp="1"/>
          </p:cNvSpPr>
          <p:nvPr>
            <p:ph sz="quarter" idx="10"/>
          </p:nvPr>
        </p:nvSpPr>
        <p:spPr>
          <a:xfrm>
            <a:off x="609600" y="3886200"/>
            <a:ext cx="10972800" cy="2514600"/>
          </a:xfrm>
          <a:prstGeom prst="rect">
            <a:avLst/>
          </a:prstGeom>
        </p:spPr>
        <p:txBody>
          <a:bodyPr/>
          <a:lstStyle>
            <a:lvl1pPr marL="342900" indent="-342900">
              <a:defRPr lang="en-US" sz="2800" dirty="0" smtClean="0">
                <a:solidFill>
                  <a:schemeClr val="tx2"/>
                </a:solidFill>
                <a:latin typeface="Arial" panose="020B0604020202020204" pitchFamily="34" charset="0"/>
                <a:ea typeface="+mn-ea"/>
                <a:cs typeface="Arial" panose="020B0604020202020204" pitchFamily="34" charset="0"/>
              </a:defRPr>
            </a:lvl1pPr>
            <a:lvl2pPr marL="742950" indent="-285750">
              <a:defRPr lang="en-US" sz="2400" dirty="0" smtClean="0">
                <a:solidFill>
                  <a:schemeClr val="tx2"/>
                </a:solidFill>
                <a:latin typeface="Arial" panose="020B0604020202020204" pitchFamily="34" charset="0"/>
                <a:ea typeface="Times New Roman" charset="0"/>
                <a:cs typeface="Arial" panose="020B0604020202020204" pitchFamily="34" charset="0"/>
              </a:defRPr>
            </a:lvl2pPr>
            <a:lvl3pPr marL="1143000" indent="-228600">
              <a:defRPr lang="en-US" sz="2000" dirty="0" smtClean="0">
                <a:solidFill>
                  <a:schemeClr val="tx2"/>
                </a:solidFill>
                <a:latin typeface="Arial" panose="020B0604020202020204" pitchFamily="34" charset="0"/>
                <a:ea typeface="Times New Roman" charset="0"/>
                <a:cs typeface="Arial" panose="020B0604020202020204" pitchFamily="34" charset="0"/>
              </a:defRPr>
            </a:lvl3pPr>
            <a:lvl4pPr marL="1600200" indent="-228600">
              <a:defRPr lang="en-US" sz="1800" dirty="0" smtClean="0">
                <a:solidFill>
                  <a:schemeClr val="tx2"/>
                </a:solidFill>
                <a:latin typeface="Arial" panose="020B0604020202020204" pitchFamily="34" charset="0"/>
                <a:ea typeface="Times New Roman" charset="0"/>
                <a:cs typeface="Arial" panose="020B0604020202020204" pitchFamily="34" charset="0"/>
              </a:defRPr>
            </a:lvl4pPr>
            <a:lvl5pPr marL="2057400" indent="-228600">
              <a:defRPr lang="en-US" sz="1800" dirty="0">
                <a:solidFill>
                  <a:schemeClr val="tx2"/>
                </a:solidFill>
                <a:latin typeface="Arial" panose="020B0604020202020204" pitchFamily="34" charset="0"/>
                <a:ea typeface="Times New Roman" charset="0"/>
                <a:cs typeface="Arial" panose="020B0604020202020204" pitchFamily="34" charset="0"/>
              </a:defRPr>
            </a:lvl5pPr>
          </a:lstStyle>
          <a:p>
            <a:pPr marL="342900" lvl="0" indent="-342900" algn="l" rtl="0" eaLnBrk="0" fontAlgn="base" hangingPunct="0">
              <a:spcBef>
                <a:spcPts val="1200"/>
              </a:spcBef>
              <a:spcAft>
                <a:spcPct val="0"/>
              </a:spcAft>
              <a:buClr>
                <a:srgbClr val="00375D"/>
              </a:buClr>
              <a:buSzPct val="125000"/>
              <a:buFont typeface="Arial" panose="020B0604020202020204" pitchFamily="34" charset="0"/>
              <a:buChar char="•"/>
            </a:pPr>
            <a:r>
              <a:rPr lang="en-US" dirty="0"/>
              <a:t>Click to edit Master text styles</a:t>
            </a:r>
          </a:p>
          <a:p>
            <a:pPr marL="742950" lvl="1" indent="-285750" algn="l" rtl="0" eaLnBrk="0" fontAlgn="base" hangingPunct="0">
              <a:spcBef>
                <a:spcPts val="1200"/>
              </a:spcBef>
              <a:spcAft>
                <a:spcPct val="0"/>
              </a:spcAft>
              <a:buClr>
                <a:srgbClr val="992315"/>
              </a:buClr>
              <a:buSzPct val="75000"/>
              <a:buFont typeface="Courier New" panose="02070309020205020404" pitchFamily="49" charset="0"/>
              <a:buChar char="o"/>
            </a:pPr>
            <a:r>
              <a:rPr lang="en-US" dirty="0"/>
              <a:t>Second level</a:t>
            </a:r>
          </a:p>
          <a:p>
            <a:pPr marL="1143000" lvl="2" indent="-228600" algn="l" rtl="0" eaLnBrk="0" fontAlgn="base" hangingPunct="0">
              <a:spcBef>
                <a:spcPts val="1200"/>
              </a:spcBef>
              <a:spcAft>
                <a:spcPct val="0"/>
              </a:spcAft>
              <a:buClr>
                <a:srgbClr val="00375D"/>
              </a:buClr>
              <a:buFont typeface="Wingdings" charset="2"/>
              <a:buChar char="§"/>
            </a:pPr>
            <a:r>
              <a:rPr lang="en-US" dirty="0"/>
              <a:t>Third level</a:t>
            </a:r>
          </a:p>
          <a:p>
            <a:pPr marL="1600200" lvl="3" indent="-228600" algn="l" rtl="0" eaLnBrk="0" fontAlgn="base" hangingPunct="0">
              <a:spcBef>
                <a:spcPts val="1200"/>
              </a:spcBef>
              <a:spcAft>
                <a:spcPct val="0"/>
              </a:spcAft>
              <a:buChar char="–"/>
            </a:pPr>
            <a:r>
              <a:rPr lang="en-US" dirty="0"/>
              <a:t>Fourth level</a:t>
            </a:r>
          </a:p>
          <a:p>
            <a:pPr marL="2057400" lvl="4" indent="-228600" algn="l" rtl="0" eaLnBrk="0" fontAlgn="base" hangingPunct="0">
              <a:spcBef>
                <a:spcPts val="1200"/>
              </a:spcBef>
              <a:spcAft>
                <a:spcPct val="0"/>
              </a:spcAft>
              <a:buFont typeface="Wingdings" panose="05000000000000000000" pitchFamily="2" charset="2"/>
              <a:buChar char="§"/>
            </a:pPr>
            <a:r>
              <a:rPr lang="en-US" dirty="0"/>
              <a:t>Fifth level</a:t>
            </a:r>
          </a:p>
        </p:txBody>
      </p:sp>
    </p:spTree>
    <p:extLst>
      <p:ext uri="{BB962C8B-B14F-4D97-AF65-F5344CB8AC3E}">
        <p14:creationId xmlns:p14="http://schemas.microsoft.com/office/powerpoint/2010/main" val="2171711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27">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Dawn Iacobucci, Marketing Management, 6th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25" r:id="rId5"/>
    <p:sldLayoutId id="2147483718" r:id="rId6"/>
    <p:sldLayoutId id="2147483726" r:id="rId7"/>
    <p:sldLayoutId id="2147483715" r:id="rId8"/>
    <p:sldLayoutId id="2147483727" r:id="rId9"/>
    <p:sldLayoutId id="2147483734" r:id="rId10"/>
    <p:sldLayoutId id="2147483716" r:id="rId11"/>
    <p:sldLayoutId id="2147483719" r:id="rId12"/>
    <p:sldLayoutId id="2147483720" r:id="rId13"/>
    <p:sldLayoutId id="2147483723" r:id="rId14"/>
    <p:sldLayoutId id="2147483724" r:id="rId15"/>
    <p:sldLayoutId id="2147483713" r:id="rId16"/>
    <p:sldLayoutId id="2147483717" r:id="rId17"/>
    <p:sldLayoutId id="2147483728" r:id="rId18"/>
    <p:sldLayoutId id="2147483729" r:id="rId19"/>
    <p:sldLayoutId id="2147483730" r:id="rId20"/>
    <p:sldLayoutId id="2147483731" r:id="rId21"/>
    <p:sldLayoutId id="2147483732" r:id="rId22"/>
    <p:sldLayoutId id="2147483733" r:id="rId23"/>
    <p:sldLayoutId id="2147483735" r:id="rId24"/>
    <p:sldLayoutId id="2147483736" r:id="rId2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840289" y="4035474"/>
            <a:ext cx="6402684" cy="672105"/>
          </a:xfrm>
        </p:spPr>
        <p:txBody>
          <a:bodyPr/>
          <a:lstStyle/>
          <a:p>
            <a:pPr algn="ctr"/>
            <a:r>
              <a:rPr lang="en-US" dirty="0"/>
              <a:t>Chapter 9: Long-Term Assets: Fixed and Intangible</a:t>
            </a:r>
          </a:p>
        </p:txBody>
      </p:sp>
      <p:sp>
        <p:nvSpPr>
          <p:cNvPr id="6" name="Text Placeholder 5"/>
          <p:cNvSpPr>
            <a:spLocks noGrp="1"/>
          </p:cNvSpPr>
          <p:nvPr>
            <p:ph type="body" sz="quarter" idx="11"/>
          </p:nvPr>
        </p:nvSpPr>
        <p:spPr>
          <a:xfrm>
            <a:off x="5691462" y="2355562"/>
            <a:ext cx="4700337" cy="1073438"/>
          </a:xfrm>
        </p:spPr>
        <p:txBody>
          <a:bodyPr/>
          <a:lstStyle/>
          <a:p>
            <a:pPr algn="ctr"/>
            <a:r>
              <a:rPr lang="en-US" dirty="0"/>
              <a:t>Financial &amp; Managerial Accounting, 16e</a:t>
            </a:r>
          </a:p>
        </p:txBody>
      </p:sp>
      <p:sp>
        <p:nvSpPr>
          <p:cNvPr id="8" name="Footer Placeholder 7"/>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pic>
        <p:nvPicPr>
          <p:cNvPr id="7" name="Picture 6">
            <a:extLst>
              <a:ext uri="{FF2B5EF4-FFF2-40B4-BE49-F238E27FC236}">
                <a16:creationId xmlns:a16="http://schemas.microsoft.com/office/drawing/2014/main" id="{BF0C8D72-C8F4-0C21-B842-D35EF2E8F6D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9109" y="689200"/>
            <a:ext cx="3624303" cy="4214746"/>
          </a:xfrm>
          <a:prstGeom prst="rect">
            <a:avLst/>
          </a:prstGeom>
        </p:spPr>
      </p:pic>
    </p:spTree>
    <p:extLst>
      <p:ext uri="{BB962C8B-B14F-4D97-AF65-F5344CB8AC3E}">
        <p14:creationId xmlns:p14="http://schemas.microsoft.com/office/powerpoint/2010/main" val="160705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Nature of Fixed Assets</a:t>
            </a:r>
            <a:endParaRPr lang="en-US" sz="1800" dirty="0"/>
          </a:p>
        </p:txBody>
      </p:sp>
      <p:sp>
        <p:nvSpPr>
          <p:cNvPr id="3" name="Content Placeholder 2"/>
          <p:cNvSpPr>
            <a:spLocks noGrp="1"/>
          </p:cNvSpPr>
          <p:nvPr>
            <p:ph idx="1"/>
          </p:nvPr>
        </p:nvSpPr>
        <p:spPr/>
        <p:txBody>
          <a:bodyPr/>
          <a:lstStyle/>
          <a:p>
            <a:pPr fontAlgn="auto">
              <a:defRPr/>
            </a:pPr>
            <a:r>
              <a:rPr lang="en-US" sz="2400" b="1" dirty="0">
                <a:solidFill>
                  <a:srgbClr val="00375D"/>
                </a:solidFill>
              </a:rPr>
              <a:t>Fixed assets </a:t>
            </a:r>
            <a:r>
              <a:rPr lang="en-US" sz="2400" dirty="0"/>
              <a:t>are long-term or relatively permanent assets such as equipment, machinery, buildings, and land. </a:t>
            </a:r>
          </a:p>
          <a:p>
            <a:pPr fontAlgn="auto">
              <a:defRPr/>
            </a:pPr>
            <a:r>
              <a:rPr lang="en-US" sz="2400" dirty="0"/>
              <a:t>Other descriptive titles for fixed assets are </a:t>
            </a:r>
            <a:r>
              <a:rPr lang="en-US" sz="2400" i="1" dirty="0"/>
              <a:t>plant assets</a:t>
            </a:r>
            <a:r>
              <a:rPr lang="en-US" sz="2400" dirty="0"/>
              <a:t> or </a:t>
            </a:r>
            <a:r>
              <a:rPr lang="en-US" sz="2400" i="1" dirty="0"/>
              <a:t>property, plant, and equipment</a:t>
            </a:r>
            <a:r>
              <a:rPr lang="en-US" sz="2400" dirty="0"/>
              <a:t>.</a:t>
            </a:r>
          </a:p>
          <a:p>
            <a:pPr fontAlgn="auto">
              <a:defRPr/>
            </a:pPr>
            <a:r>
              <a:rPr lang="en-US" sz="2400" dirty="0"/>
              <a:t>Fixed assets have the following characteristics:</a:t>
            </a:r>
          </a:p>
          <a:p>
            <a:pPr lvl="1">
              <a:defRPr/>
            </a:pPr>
            <a:r>
              <a:rPr lang="en-US" sz="2000" dirty="0"/>
              <a:t>They exist physically and, thus, are </a:t>
            </a:r>
            <a:r>
              <a:rPr lang="en-US" sz="2000" i="1" dirty="0"/>
              <a:t>tangible</a:t>
            </a:r>
            <a:r>
              <a:rPr lang="en-US" sz="2000" dirty="0"/>
              <a:t> assets.</a:t>
            </a:r>
          </a:p>
          <a:p>
            <a:pPr lvl="1">
              <a:defRPr/>
            </a:pPr>
            <a:r>
              <a:rPr lang="en-US" sz="2000" dirty="0"/>
              <a:t>They are owned and used by the company in its normal operations.</a:t>
            </a:r>
          </a:p>
          <a:p>
            <a:pPr lvl="1">
              <a:defRPr/>
            </a:pPr>
            <a:r>
              <a:rPr lang="en-US" sz="2000" dirty="0"/>
              <a:t>They are not offered by sale as part of normal operations.</a:t>
            </a:r>
          </a:p>
        </p:txBody>
      </p:sp>
    </p:spTree>
    <p:extLst>
      <p:ext uri="{BB962C8B-B14F-4D97-AF65-F5344CB8AC3E}">
        <p14:creationId xmlns:p14="http://schemas.microsoft.com/office/powerpoint/2010/main" val="366777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Accounting for Depreciation</a:t>
            </a:r>
            <a:br>
              <a:rPr lang="en-US" dirty="0"/>
            </a:br>
            <a:endParaRPr lang="en-US" sz="1800" dirty="0"/>
          </a:p>
        </p:txBody>
      </p:sp>
      <p:sp>
        <p:nvSpPr>
          <p:cNvPr id="3" name="Content Placeholder 2"/>
          <p:cNvSpPr>
            <a:spLocks noGrp="1"/>
          </p:cNvSpPr>
          <p:nvPr>
            <p:ph idx="1"/>
          </p:nvPr>
        </p:nvSpPr>
        <p:spPr/>
        <p:txBody>
          <a:bodyPr/>
          <a:lstStyle/>
          <a:p>
            <a:pPr fontAlgn="auto">
              <a:defRPr/>
            </a:pPr>
            <a:r>
              <a:rPr lang="en-US" dirty="0"/>
              <a:t>Over time, fixed assets, with the exception of land, lose their ability to provide services. </a:t>
            </a:r>
          </a:p>
          <a:p>
            <a:pPr fontAlgn="auto">
              <a:defRPr/>
            </a:pPr>
            <a:r>
              <a:rPr lang="en-US" dirty="0"/>
              <a:t>Thus, the costs of fixed assets such as equipment and buildings should be recorded as an expense over their useful lives.</a:t>
            </a:r>
          </a:p>
          <a:p>
            <a:pPr fontAlgn="auto">
              <a:defRPr/>
            </a:pPr>
            <a:r>
              <a:rPr lang="en-US" dirty="0"/>
              <a:t>Recording the cost of fixed assets as an expense is called </a:t>
            </a:r>
            <a:r>
              <a:rPr lang="en-US" b="1" dirty="0">
                <a:solidFill>
                  <a:srgbClr val="00375D"/>
                </a:solidFill>
              </a:rPr>
              <a:t>depreciation</a:t>
            </a:r>
            <a:r>
              <a:rPr lang="en-US" dirty="0"/>
              <a:t>.</a:t>
            </a:r>
          </a:p>
          <a:p>
            <a:pPr fontAlgn="auto">
              <a:defRPr/>
            </a:pPr>
            <a:r>
              <a:rPr lang="en-US" dirty="0"/>
              <a:t>Because land has an unlimited life, it is not depreciated.</a:t>
            </a:r>
          </a:p>
        </p:txBody>
      </p:sp>
    </p:spTree>
    <p:extLst>
      <p:ext uri="{BB962C8B-B14F-4D97-AF65-F5344CB8AC3E}">
        <p14:creationId xmlns:p14="http://schemas.microsoft.com/office/powerpoint/2010/main" val="1445947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in Computing Depreciation Expense</a:t>
            </a:r>
            <a:endParaRPr lang="en-US" sz="1800" dirty="0"/>
          </a:p>
        </p:txBody>
      </p:sp>
      <p:sp>
        <p:nvSpPr>
          <p:cNvPr id="3" name="Content Placeholder 2"/>
          <p:cNvSpPr>
            <a:spLocks noGrp="1"/>
          </p:cNvSpPr>
          <p:nvPr>
            <p:ph idx="1"/>
          </p:nvPr>
        </p:nvSpPr>
        <p:spPr/>
        <p:txBody>
          <a:bodyPr/>
          <a:lstStyle/>
          <a:p>
            <a:r>
              <a:rPr lang="en-US" dirty="0"/>
              <a:t>The three factors that determine the depreciation expense for a fixed asset are as follows:</a:t>
            </a:r>
          </a:p>
          <a:p>
            <a:pPr lvl="1"/>
            <a:r>
              <a:rPr lang="en-US" dirty="0"/>
              <a:t>The asset’s initial cost</a:t>
            </a:r>
          </a:p>
          <a:p>
            <a:pPr lvl="1"/>
            <a:r>
              <a:rPr lang="en-US" dirty="0"/>
              <a:t>The asset’s expected useful life</a:t>
            </a:r>
          </a:p>
          <a:p>
            <a:pPr lvl="1"/>
            <a:r>
              <a:rPr lang="en-US" dirty="0"/>
              <a:t>The asset’s estimated residual value</a:t>
            </a:r>
          </a:p>
        </p:txBody>
      </p:sp>
    </p:spTree>
    <p:extLst>
      <p:ext uri="{BB962C8B-B14F-4D97-AF65-F5344CB8AC3E}">
        <p14:creationId xmlns:p14="http://schemas.microsoft.com/office/powerpoint/2010/main" val="51396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in Computing Depreciation Expense</a:t>
            </a:r>
            <a:endParaRPr lang="en-US" sz="1800" dirty="0"/>
          </a:p>
        </p:txBody>
      </p:sp>
      <p:sp>
        <p:nvSpPr>
          <p:cNvPr id="3" name="Content Placeholder 2"/>
          <p:cNvSpPr>
            <a:spLocks noGrp="1"/>
          </p:cNvSpPr>
          <p:nvPr>
            <p:ph idx="1"/>
          </p:nvPr>
        </p:nvSpPr>
        <p:spPr/>
        <p:txBody>
          <a:bodyPr/>
          <a:lstStyle/>
          <a:p>
            <a:r>
              <a:rPr lang="en-US" dirty="0"/>
              <a:t>The </a:t>
            </a:r>
            <a:r>
              <a:rPr lang="en-US" b="1" dirty="0">
                <a:solidFill>
                  <a:srgbClr val="00375D"/>
                </a:solidFill>
              </a:rPr>
              <a:t>initial cost</a:t>
            </a:r>
            <a:r>
              <a:rPr lang="en-US" dirty="0"/>
              <a:t> of a fixed asset is the purchase price of the asset plus all costs to obtain and ready it for use.</a:t>
            </a:r>
          </a:p>
        </p:txBody>
      </p:sp>
    </p:spTree>
    <p:extLst>
      <p:ext uri="{BB962C8B-B14F-4D97-AF65-F5344CB8AC3E}">
        <p14:creationId xmlns:p14="http://schemas.microsoft.com/office/powerpoint/2010/main" val="193483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in Computing Depreciation Expense</a:t>
            </a:r>
            <a:br>
              <a:rPr lang="en-US"/>
            </a:br>
            <a:endParaRPr lang="en-US" sz="1800" dirty="0"/>
          </a:p>
        </p:txBody>
      </p:sp>
      <p:sp>
        <p:nvSpPr>
          <p:cNvPr id="3" name="Content Placeholder 2"/>
          <p:cNvSpPr>
            <a:spLocks noGrp="1"/>
          </p:cNvSpPr>
          <p:nvPr>
            <p:ph idx="1"/>
          </p:nvPr>
        </p:nvSpPr>
        <p:spPr/>
        <p:txBody>
          <a:bodyPr/>
          <a:lstStyle/>
          <a:p>
            <a:r>
              <a:rPr lang="en-US" dirty="0"/>
              <a:t>The </a:t>
            </a:r>
            <a:r>
              <a:rPr lang="en-US" b="1" dirty="0">
                <a:solidFill>
                  <a:srgbClr val="00375D"/>
                </a:solidFill>
              </a:rPr>
              <a:t>expected useful life </a:t>
            </a:r>
            <a:r>
              <a:rPr lang="en-US" dirty="0"/>
              <a:t>of a fixed asset is the estimated length of time the asset will be used in normal operations.</a:t>
            </a:r>
          </a:p>
          <a:p>
            <a:r>
              <a:rPr lang="en-US" dirty="0"/>
              <a:t>It is estimated at the time the asset is placed into service.</a:t>
            </a:r>
          </a:p>
          <a:p>
            <a:r>
              <a:rPr lang="en-US" dirty="0"/>
              <a:t>Estimates of expected useful lives are available from industry trade associations.</a:t>
            </a:r>
          </a:p>
        </p:txBody>
      </p:sp>
    </p:spTree>
    <p:extLst>
      <p:ext uri="{BB962C8B-B14F-4D97-AF65-F5344CB8AC3E}">
        <p14:creationId xmlns:p14="http://schemas.microsoft.com/office/powerpoint/2010/main" val="2133532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in Computing Depreciation Expense</a:t>
            </a:r>
            <a:br>
              <a:rPr lang="en-US" dirty="0"/>
            </a:br>
            <a:endParaRPr lang="en-US" sz="1800" dirty="0"/>
          </a:p>
        </p:txBody>
      </p:sp>
      <p:sp>
        <p:nvSpPr>
          <p:cNvPr id="3" name="Content Placeholder 2"/>
          <p:cNvSpPr>
            <a:spLocks noGrp="1"/>
          </p:cNvSpPr>
          <p:nvPr>
            <p:ph idx="1"/>
          </p:nvPr>
        </p:nvSpPr>
        <p:spPr/>
        <p:txBody>
          <a:bodyPr/>
          <a:lstStyle/>
          <a:p>
            <a:r>
              <a:rPr lang="en-US" dirty="0"/>
              <a:t>The </a:t>
            </a:r>
            <a:r>
              <a:rPr lang="en-US" b="1" dirty="0">
                <a:solidFill>
                  <a:srgbClr val="00375D"/>
                </a:solidFill>
              </a:rPr>
              <a:t>residual value </a:t>
            </a:r>
            <a:r>
              <a:rPr lang="en-US" dirty="0"/>
              <a:t>of a fixed asset is the estimated value of the asset at the end of its useful life.</a:t>
            </a:r>
          </a:p>
          <a:p>
            <a:r>
              <a:rPr lang="en-US" dirty="0"/>
              <a:t>It is estimated at the time the asset is placed into service.</a:t>
            </a:r>
          </a:p>
          <a:p>
            <a:r>
              <a:rPr lang="en-US" dirty="0"/>
              <a:t>Residual value is sometimes referred to as </a:t>
            </a:r>
            <a:r>
              <a:rPr lang="en-US" i="1" dirty="0"/>
              <a:t>scrap value</a:t>
            </a:r>
            <a:r>
              <a:rPr lang="en-US" dirty="0"/>
              <a:t>, </a:t>
            </a:r>
            <a:r>
              <a:rPr lang="en-US" i="1" dirty="0"/>
              <a:t>salvage value</a:t>
            </a:r>
            <a:r>
              <a:rPr lang="en-US" dirty="0"/>
              <a:t>, or </a:t>
            </a:r>
            <a:r>
              <a:rPr lang="en-US" i="1" dirty="0"/>
              <a:t>trade-in value</a:t>
            </a:r>
            <a:r>
              <a:rPr lang="en-US" dirty="0"/>
              <a:t>.  </a:t>
            </a:r>
          </a:p>
        </p:txBody>
      </p:sp>
    </p:spTree>
    <p:extLst>
      <p:ext uri="{BB962C8B-B14F-4D97-AF65-F5344CB8AC3E}">
        <p14:creationId xmlns:p14="http://schemas.microsoft.com/office/powerpoint/2010/main" val="3468385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in Computing Depreciation Expense</a:t>
            </a:r>
            <a:br>
              <a:rPr lang="en-US" dirty="0"/>
            </a:br>
            <a:endParaRPr lang="en-US" sz="1800" dirty="0"/>
          </a:p>
        </p:txBody>
      </p:sp>
      <p:sp>
        <p:nvSpPr>
          <p:cNvPr id="3" name="Content Placeholder 2"/>
          <p:cNvSpPr>
            <a:spLocks noGrp="1"/>
          </p:cNvSpPr>
          <p:nvPr>
            <p:ph idx="1"/>
          </p:nvPr>
        </p:nvSpPr>
        <p:spPr/>
        <p:txBody>
          <a:bodyPr/>
          <a:lstStyle/>
          <a:p>
            <a:r>
              <a:rPr lang="en-US" dirty="0"/>
              <a:t>The difference between a fixed asset’s initial cost and its residual value is called the asset’s </a:t>
            </a:r>
            <a:r>
              <a:rPr lang="en-US" b="1" dirty="0">
                <a:solidFill>
                  <a:srgbClr val="00375D"/>
                </a:solidFill>
              </a:rPr>
              <a:t>depreciable cost</a:t>
            </a:r>
            <a:r>
              <a:rPr lang="en-US" dirty="0"/>
              <a:t>.</a:t>
            </a:r>
          </a:p>
          <a:p>
            <a:r>
              <a:rPr lang="en-US" dirty="0"/>
              <a:t>This is the asset’s cost that is allocated over its useful life as depreciation expense.</a:t>
            </a:r>
          </a:p>
          <a:p>
            <a:pPr marL="342900" lvl="1" indent="-342900">
              <a:buClr>
                <a:srgbClr val="00375D"/>
              </a:buClr>
              <a:buSzPct val="125000"/>
              <a:buFont typeface="Arial" panose="020B0604020202020204" pitchFamily="34" charset="0"/>
              <a:buChar char="•"/>
            </a:pPr>
            <a:r>
              <a:rPr lang="en-US" sz="2800" dirty="0">
                <a:ea typeface="+mn-ea"/>
              </a:rPr>
              <a:t>If a fixed asset has no residual value, then its entire cost should be allocated to depreciation.</a:t>
            </a:r>
          </a:p>
        </p:txBody>
      </p:sp>
    </p:spTree>
    <p:extLst>
      <p:ext uri="{BB962C8B-B14F-4D97-AF65-F5344CB8AC3E}">
        <p14:creationId xmlns:p14="http://schemas.microsoft.com/office/powerpoint/2010/main" val="4116850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in Computing Depreciation Expense</a:t>
            </a:r>
            <a:br>
              <a:rPr lang="en-US" dirty="0"/>
            </a:br>
            <a:endParaRPr lang="en-US" sz="1800" dirty="0"/>
          </a:p>
        </p:txBody>
      </p:sp>
      <p:sp>
        <p:nvSpPr>
          <p:cNvPr id="3" name="Content Placeholder 2"/>
          <p:cNvSpPr>
            <a:spLocks noGrp="1"/>
          </p:cNvSpPr>
          <p:nvPr>
            <p:ph idx="1"/>
          </p:nvPr>
        </p:nvSpPr>
        <p:spPr/>
        <p:txBody>
          <a:bodyPr/>
          <a:lstStyle/>
          <a:p>
            <a:r>
              <a:rPr lang="en-US" dirty="0"/>
              <a:t>Assume Exeter Company purchased a new forklift on January 1 as follows:</a:t>
            </a:r>
            <a:endParaRPr lang="en-US" dirty="0">
              <a:ea typeface="+mn-ea"/>
            </a:endParaRPr>
          </a:p>
        </p:txBody>
      </p:sp>
      <p:pic>
        <p:nvPicPr>
          <p:cNvPr id="4" name="Picture 3" descr="A table containing the following data about the purchase of a forklift is shown: Initial cost, $24,000; Expected useful life, 5 years; Estimated residual value, $2,000."/>
          <p:cNvPicPr>
            <a:picLocks noChangeAspect="1"/>
          </p:cNvPicPr>
          <p:nvPr/>
        </p:nvPicPr>
        <p:blipFill>
          <a:blip r:embed="rId2"/>
          <a:stretch>
            <a:fillRect/>
          </a:stretch>
        </p:blipFill>
        <p:spPr>
          <a:xfrm>
            <a:off x="3963543" y="2286001"/>
            <a:ext cx="4338067" cy="942867"/>
          </a:xfrm>
          <a:prstGeom prst="rect">
            <a:avLst/>
          </a:prstGeom>
        </p:spPr>
      </p:pic>
    </p:spTree>
    <p:extLst>
      <p:ext uri="{BB962C8B-B14F-4D97-AF65-F5344CB8AC3E}">
        <p14:creationId xmlns:p14="http://schemas.microsoft.com/office/powerpoint/2010/main" val="4009403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Straight-Line Method</a:t>
            </a:r>
            <a:br>
              <a:rPr lang="en-US" dirty="0"/>
            </a:br>
            <a:endParaRPr lang="en-US" sz="1800" dirty="0"/>
          </a:p>
        </p:txBody>
      </p:sp>
      <p:sp>
        <p:nvSpPr>
          <p:cNvPr id="3" name="Content Placeholder 2"/>
          <p:cNvSpPr>
            <a:spLocks noGrp="1"/>
          </p:cNvSpPr>
          <p:nvPr>
            <p:ph idx="1"/>
          </p:nvPr>
        </p:nvSpPr>
        <p:spPr/>
        <p:txBody>
          <a:bodyPr/>
          <a:lstStyle/>
          <a:p>
            <a:r>
              <a:rPr lang="en-US" dirty="0"/>
              <a:t>The </a:t>
            </a:r>
            <a:r>
              <a:rPr lang="en-US" b="1" dirty="0">
                <a:solidFill>
                  <a:srgbClr val="00375D"/>
                </a:solidFill>
              </a:rPr>
              <a:t>straight-line method </a:t>
            </a:r>
            <a:r>
              <a:rPr lang="en-US" dirty="0"/>
              <a:t>provides for the same amount of depreciation expense for each year of the asset’s useful life.</a:t>
            </a:r>
          </a:p>
        </p:txBody>
      </p:sp>
    </p:spTree>
    <p:extLst>
      <p:ext uri="{BB962C8B-B14F-4D97-AF65-F5344CB8AC3E}">
        <p14:creationId xmlns:p14="http://schemas.microsoft.com/office/powerpoint/2010/main" val="2430677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Straight-Line Method</a:t>
            </a:r>
            <a:br>
              <a:rPr lang="en-US"/>
            </a:br>
            <a:endParaRPr lang="en-US" sz="1800" dirty="0"/>
          </a:p>
        </p:txBody>
      </p:sp>
      <p:sp>
        <p:nvSpPr>
          <p:cNvPr id="3" name="Content Placeholder 2"/>
          <p:cNvSpPr>
            <a:spLocks noGrp="1"/>
          </p:cNvSpPr>
          <p:nvPr>
            <p:ph idx="1"/>
          </p:nvPr>
        </p:nvSpPr>
        <p:spPr/>
        <p:txBody>
          <a:bodyPr/>
          <a:lstStyle/>
          <a:p>
            <a:r>
              <a:rPr lang="en-US" dirty="0"/>
              <a:t>The annual straight-line depreciation for Exeter’s forklift is computed as follows:</a:t>
            </a:r>
          </a:p>
        </p:txBody>
      </p:sp>
      <p:pic>
        <p:nvPicPr>
          <p:cNvPr id="4" name="Picture 3" descr="The formula for computing the annual straight-line depreciation is given: Cost – Residual Value divided by Useful Life. The formula is shown in fraction form, with Cost – Residual Value as the numerator and Useful Life as the denominator. To the right of the formula, an equal sign is given. To the right of the equal sign, numbers are plugged into the formula: $24,000 – $2,000 divided by 5 Years. The computation is shown in fraction form, with $24,000 – $2,000 as the numerator and 5 Years as the denominator. To the right of the computation, an equal sign is given. To the right of the equal sign, the answer is given to the computation: $4,400. "/>
          <p:cNvPicPr>
            <a:picLocks noChangeAspect="1"/>
          </p:cNvPicPr>
          <p:nvPr/>
        </p:nvPicPr>
        <p:blipFill>
          <a:blip r:embed="rId2"/>
          <a:stretch>
            <a:fillRect/>
          </a:stretch>
        </p:blipFill>
        <p:spPr>
          <a:xfrm>
            <a:off x="3390900" y="2286001"/>
            <a:ext cx="5410201" cy="685800"/>
          </a:xfrm>
          <a:prstGeom prst="rect">
            <a:avLst/>
          </a:prstGeom>
        </p:spPr>
      </p:pic>
    </p:spTree>
    <p:extLst>
      <p:ext uri="{BB962C8B-B14F-4D97-AF65-F5344CB8AC3E}">
        <p14:creationId xmlns:p14="http://schemas.microsoft.com/office/powerpoint/2010/main" val="1086187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C9641-D581-45A0-8EFF-56FC8E66422B}"/>
              </a:ext>
            </a:extLst>
          </p:cNvPr>
          <p:cNvSpPr>
            <a:spLocks noGrp="1"/>
          </p:cNvSpPr>
          <p:nvPr>
            <p:ph type="title"/>
          </p:nvPr>
        </p:nvSpPr>
        <p:spPr/>
        <p:txBody>
          <a:bodyPr/>
          <a:lstStyle/>
          <a:p>
            <a:r>
              <a:rPr lang="en-US" dirty="0"/>
              <a:t>Straight-Line Method</a:t>
            </a:r>
            <a:br>
              <a:rPr lang="en-US" dirty="0"/>
            </a:br>
            <a:r>
              <a:rPr lang="en-US" sz="2400" dirty="0"/>
              <a:t> )</a:t>
            </a:r>
          </a:p>
        </p:txBody>
      </p:sp>
      <p:sp>
        <p:nvSpPr>
          <p:cNvPr id="3" name="Text Placeholder 2">
            <a:extLst>
              <a:ext uri="{FF2B5EF4-FFF2-40B4-BE49-F238E27FC236}">
                <a16:creationId xmlns:a16="http://schemas.microsoft.com/office/drawing/2014/main" id="{453EB40B-EDFC-4700-A8DC-1CCD7C82BC4C}"/>
              </a:ext>
            </a:extLst>
          </p:cNvPr>
          <p:cNvSpPr>
            <a:spLocks noGrp="1"/>
          </p:cNvSpPr>
          <p:nvPr>
            <p:ph sz="quarter" idx="16"/>
          </p:nvPr>
        </p:nvSpPr>
        <p:spPr>
          <a:xfrm>
            <a:off x="838200" y="1607126"/>
            <a:ext cx="10515600" cy="3415724"/>
          </a:xfrm>
        </p:spPr>
        <p:txBody>
          <a:bodyPr>
            <a:noAutofit/>
          </a:bodyPr>
          <a:lstStyle/>
          <a:p>
            <a:pPr marL="457200" indent="-457200">
              <a:buFont typeface="Arial" panose="020B0604020202020204" pitchFamily="34" charset="0"/>
              <a:buChar char="•"/>
            </a:pPr>
            <a:r>
              <a:rPr lang="en-US" dirty="0"/>
              <a:t>Depreciation of the forklift for the first year using the straight-line method is recorded as follows:</a:t>
            </a:r>
          </a:p>
        </p:txBody>
      </p:sp>
      <p:pic>
        <p:nvPicPr>
          <p:cNvPr id="6" name="Content Placeholder 5" descr="A journal entry is shown in a journal form. The transaction is dated December 31. Depreciation Expense—Forklift is debited—with 4,400 shown in the Debit column. Accumulated Depreciation—Forklift is credited—with 4,400 shown in the Credit column.&#10;&#10;Below the journal form, the accounting equation impact is illustrated. &#10;&#10;The accounting equation is shown: Assets = Liabilities + Stockholders’ Equity.&#10;&#10;Under Assets in the accounting equation, a T account for Accumulated Depreciation is shown. On the right, in the credit column of the Accumulated Depreciation T account, an entry of 4,400 is shown. The debit column of the Accumulated Depreciation T account is blank.&#10;&#10;Under Stockholders’ Equity in the accounting equation, a T account for Depreciation Expense is shown. On the left, in the debit column of the Depreciation Expense T account, an entry of 4,400 is shown. The credit column of the Depreciation Expense T account is blank. &#10;">
            <a:extLst>
              <a:ext uri="{FF2B5EF4-FFF2-40B4-BE49-F238E27FC236}">
                <a16:creationId xmlns:a16="http://schemas.microsoft.com/office/drawing/2014/main" id="{50C5EB08-B10E-4119-BC8F-FC830CA51AC2}"/>
              </a:ext>
            </a:extLst>
          </p:cNvPr>
          <p:cNvPicPr>
            <a:picLocks noGrp="1" noChangeAspect="1"/>
          </p:cNvPicPr>
          <p:nvPr>
            <p:ph sz="quarter" idx="17"/>
          </p:nvPr>
        </p:nvPicPr>
        <p:blipFill>
          <a:blip r:embed="rId2"/>
          <a:stretch>
            <a:fillRect/>
          </a:stretch>
        </p:blipFill>
        <p:spPr>
          <a:xfrm>
            <a:off x="1607616" y="2649247"/>
            <a:ext cx="8976768" cy="2373603"/>
          </a:xfrm>
          <a:prstGeom prst="rect">
            <a:avLst/>
          </a:prstGeom>
        </p:spPr>
      </p:pic>
    </p:spTree>
    <p:extLst>
      <p:ext uri="{BB962C8B-B14F-4D97-AF65-F5344CB8AC3E}">
        <p14:creationId xmlns:p14="http://schemas.microsoft.com/office/powerpoint/2010/main" val="884829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C9641-D581-45A0-8EFF-56FC8E66422B}"/>
              </a:ext>
            </a:extLst>
          </p:cNvPr>
          <p:cNvSpPr>
            <a:spLocks noGrp="1"/>
          </p:cNvSpPr>
          <p:nvPr>
            <p:ph type="title"/>
          </p:nvPr>
        </p:nvSpPr>
        <p:spPr/>
        <p:txBody>
          <a:bodyPr/>
          <a:lstStyle/>
          <a:p>
            <a:r>
              <a:rPr lang="en-US" dirty="0"/>
              <a:t>Straight-Line Method</a:t>
            </a:r>
            <a:br>
              <a:rPr lang="en-US" dirty="0"/>
            </a:br>
            <a:r>
              <a:rPr lang="en-US" sz="2400" dirty="0"/>
              <a:t> </a:t>
            </a:r>
          </a:p>
        </p:txBody>
      </p:sp>
      <p:sp>
        <p:nvSpPr>
          <p:cNvPr id="3" name="Text Placeholder 2">
            <a:extLst>
              <a:ext uri="{FF2B5EF4-FFF2-40B4-BE49-F238E27FC236}">
                <a16:creationId xmlns:a16="http://schemas.microsoft.com/office/drawing/2014/main" id="{453EB40B-EDFC-4700-A8DC-1CCD7C82BC4C}"/>
              </a:ext>
            </a:extLst>
          </p:cNvPr>
          <p:cNvSpPr>
            <a:spLocks noGrp="1"/>
          </p:cNvSpPr>
          <p:nvPr>
            <p:ph sz="quarter" idx="10"/>
          </p:nvPr>
        </p:nvSpPr>
        <p:spPr/>
        <p:txBody>
          <a:bodyPr>
            <a:noAutofit/>
          </a:bodyPr>
          <a:lstStyle/>
          <a:p>
            <a:pPr marL="457200" indent="-457200">
              <a:buFont typeface="Arial" panose="020B0604020202020204" pitchFamily="34" charset="0"/>
              <a:buChar char="•"/>
            </a:pPr>
            <a:r>
              <a:rPr lang="en-US" dirty="0"/>
              <a:t>Accumulated depreciation accounts are called </a:t>
            </a:r>
            <a:r>
              <a:rPr lang="en-US" i="1" dirty="0"/>
              <a:t>contra accounts</a:t>
            </a:r>
            <a:r>
              <a:rPr lang="en-US" dirty="0"/>
              <a:t>, or </a:t>
            </a:r>
            <a:r>
              <a:rPr lang="en-US" i="1" dirty="0"/>
              <a:t>contra asset accounts</a:t>
            </a:r>
            <a:r>
              <a:rPr lang="en-US" dirty="0"/>
              <a:t>.</a:t>
            </a:r>
          </a:p>
          <a:p>
            <a:pPr lvl="1"/>
            <a:r>
              <a:rPr lang="en-US" dirty="0"/>
              <a:t>This is because accumulated depreciation accounts are deducted from their related fixed asset accounts on the balance sheet.</a:t>
            </a:r>
          </a:p>
          <a:p>
            <a:pPr marL="457200" indent="-457200">
              <a:buFont typeface="Arial" panose="020B0604020202020204" pitchFamily="34" charset="0"/>
              <a:buChar char="•"/>
            </a:pPr>
            <a:r>
              <a:rPr lang="en-US" dirty="0"/>
              <a:t>The difference between the fixed asset account and its related accumulated depreciation account is called the asset’s book value or </a:t>
            </a:r>
            <a:r>
              <a:rPr lang="en-US" i="1" dirty="0"/>
              <a:t>net book value of the asset</a:t>
            </a:r>
            <a:r>
              <a:rPr lang="en-US" dirty="0"/>
              <a:t>.</a:t>
            </a:r>
          </a:p>
        </p:txBody>
      </p:sp>
    </p:spTree>
    <p:extLst>
      <p:ext uri="{BB962C8B-B14F-4D97-AF65-F5344CB8AC3E}">
        <p14:creationId xmlns:p14="http://schemas.microsoft.com/office/powerpoint/2010/main" val="610591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Straight-Line Method</a:t>
            </a:r>
            <a:br>
              <a:rPr lang="en-US" dirty="0"/>
            </a:br>
            <a:endParaRPr lang="en-US" sz="1800" dirty="0"/>
          </a:p>
        </p:txBody>
      </p:sp>
      <p:sp>
        <p:nvSpPr>
          <p:cNvPr id="3" name="Content Placeholder 2"/>
          <p:cNvSpPr>
            <a:spLocks noGrp="1"/>
          </p:cNvSpPr>
          <p:nvPr>
            <p:ph idx="1"/>
          </p:nvPr>
        </p:nvSpPr>
        <p:spPr/>
        <p:txBody>
          <a:bodyPr/>
          <a:lstStyle/>
          <a:p>
            <a:pPr fontAlgn="auto">
              <a:defRPr/>
            </a:pPr>
            <a:r>
              <a:rPr lang="en-US" dirty="0"/>
              <a:t>The difference between the fixed asset account and its related accumulated depreciation account is called the asset’s </a:t>
            </a:r>
            <a:r>
              <a:rPr lang="en-US" b="1" dirty="0">
                <a:solidFill>
                  <a:srgbClr val="00375D"/>
                </a:solidFill>
              </a:rPr>
              <a:t>book value </a:t>
            </a:r>
            <a:r>
              <a:rPr lang="en-US" dirty="0"/>
              <a:t>or </a:t>
            </a:r>
            <a:r>
              <a:rPr lang="en-US" i="1" dirty="0"/>
              <a:t>net book value of the asset</a:t>
            </a:r>
            <a:r>
              <a:rPr lang="en-US" dirty="0"/>
              <a:t>.</a:t>
            </a:r>
          </a:p>
          <a:p>
            <a:pPr fontAlgn="auto">
              <a:defRPr/>
            </a:pPr>
            <a:r>
              <a:rPr lang="en-US" dirty="0"/>
              <a:t>The book value of the forklift at the end of the first year would be reported on the balance sheet as follows:</a:t>
            </a:r>
          </a:p>
        </p:txBody>
      </p:sp>
      <p:pic>
        <p:nvPicPr>
          <p:cNvPr id="4" name="Picture 3" descr="A table showing the computation of the book value of a forklift is shown. The following are listed: Equipment, $24,000; Accumulated depreciation (4,400). A single rule appears below (4,400). Book value, $19,600. A double rule appears below $19,600."/>
          <p:cNvPicPr>
            <a:picLocks noChangeAspect="1"/>
          </p:cNvPicPr>
          <p:nvPr/>
        </p:nvPicPr>
        <p:blipFill>
          <a:blip r:embed="rId2"/>
          <a:stretch>
            <a:fillRect/>
          </a:stretch>
        </p:blipFill>
        <p:spPr>
          <a:xfrm>
            <a:off x="4337508" y="4495800"/>
            <a:ext cx="3516985" cy="807720"/>
          </a:xfrm>
          <a:prstGeom prst="rect">
            <a:avLst/>
          </a:prstGeom>
        </p:spPr>
      </p:pic>
    </p:spTree>
    <p:extLst>
      <p:ext uri="{BB962C8B-B14F-4D97-AF65-F5344CB8AC3E}">
        <p14:creationId xmlns:p14="http://schemas.microsoft.com/office/powerpoint/2010/main" val="670068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D2287-4D44-451C-A083-FC06557D06F2}"/>
              </a:ext>
            </a:extLst>
          </p:cNvPr>
          <p:cNvSpPr>
            <a:spLocks noGrp="1"/>
          </p:cNvSpPr>
          <p:nvPr>
            <p:ph type="title"/>
          </p:nvPr>
        </p:nvSpPr>
        <p:spPr>
          <a:xfrm>
            <a:off x="838200" y="316357"/>
            <a:ext cx="10515600" cy="672105"/>
          </a:xfrm>
        </p:spPr>
        <p:txBody>
          <a:bodyPr/>
          <a:lstStyle/>
          <a:p>
            <a:r>
              <a:rPr lang="en-US" dirty="0"/>
              <a:t>Units-of-Activity Method</a:t>
            </a:r>
            <a:br>
              <a:rPr lang="en-US" dirty="0"/>
            </a:br>
            <a:endParaRPr lang="en-US" sz="2400" dirty="0"/>
          </a:p>
        </p:txBody>
      </p:sp>
      <p:sp>
        <p:nvSpPr>
          <p:cNvPr id="3" name="Text Placeholder 2">
            <a:extLst>
              <a:ext uri="{FF2B5EF4-FFF2-40B4-BE49-F238E27FC236}">
                <a16:creationId xmlns:a16="http://schemas.microsoft.com/office/drawing/2014/main" id="{817CD388-8B31-45B4-BCAB-F80AE184EC34}"/>
              </a:ext>
            </a:extLst>
          </p:cNvPr>
          <p:cNvSpPr>
            <a:spLocks noGrp="1"/>
          </p:cNvSpPr>
          <p:nvPr>
            <p:ph sz="quarter" idx="10"/>
          </p:nvPr>
        </p:nvSpPr>
        <p:spPr/>
        <p:txBody>
          <a:bodyPr/>
          <a:lstStyle/>
          <a:p>
            <a:pPr marL="457200" indent="-457200">
              <a:buFont typeface="Arial" panose="020B0604020202020204" pitchFamily="34" charset="0"/>
              <a:buChar char="•"/>
            </a:pPr>
            <a:r>
              <a:rPr lang="en-US" sz="2600" dirty="0"/>
              <a:t>The </a:t>
            </a:r>
            <a:r>
              <a:rPr lang="en-US" sz="2600" b="1" dirty="0">
                <a:solidFill>
                  <a:srgbClr val="004A78"/>
                </a:solidFill>
              </a:rPr>
              <a:t>units-of-activity method</a:t>
            </a:r>
            <a:r>
              <a:rPr lang="en-US" sz="2600" dirty="0">
                <a:solidFill>
                  <a:srgbClr val="004A78"/>
                </a:solidFill>
              </a:rPr>
              <a:t> </a:t>
            </a:r>
            <a:r>
              <a:rPr lang="en-US" sz="2600" dirty="0"/>
              <a:t>provides the same amount of depreciation expense for each unit of activity of the asset.</a:t>
            </a:r>
          </a:p>
          <a:p>
            <a:pPr marL="457200" indent="-457200">
              <a:buFont typeface="Arial" panose="020B0604020202020204" pitchFamily="34" charset="0"/>
              <a:buChar char="•"/>
            </a:pPr>
            <a:r>
              <a:rPr lang="en-US" sz="2600" dirty="0"/>
              <a:t>Depending on the asset, the units of activity can be expressed in terms of hours, miles driven, or quantity produced.</a:t>
            </a:r>
          </a:p>
          <a:p>
            <a:pPr marL="457200" indent="-457200">
              <a:buFont typeface="Arial" panose="020B0604020202020204" pitchFamily="34" charset="0"/>
              <a:buChar char="•"/>
            </a:pPr>
            <a:r>
              <a:rPr lang="en-US" sz="2600" dirty="0"/>
              <a:t>For manufacturing assets, the units of activity are often expressed as units of product.</a:t>
            </a:r>
          </a:p>
          <a:p>
            <a:pPr lvl="1"/>
            <a:r>
              <a:rPr lang="en-US" sz="2600" dirty="0"/>
              <a:t>In this case, the units-of-activity method may be called the </a:t>
            </a:r>
            <a:r>
              <a:rPr lang="en-US" sz="2600" i="1" dirty="0"/>
              <a:t>units-of-production method</a:t>
            </a:r>
            <a:r>
              <a:rPr lang="en-US" sz="2600" dirty="0"/>
              <a:t> or </a:t>
            </a:r>
            <a:r>
              <a:rPr lang="en-US" sz="2600" i="1" dirty="0"/>
              <a:t>units-of-output method</a:t>
            </a:r>
            <a:r>
              <a:rPr lang="en-US" sz="2600" dirty="0"/>
              <a:t>.</a:t>
            </a:r>
          </a:p>
        </p:txBody>
      </p:sp>
    </p:spTree>
    <p:extLst>
      <p:ext uri="{BB962C8B-B14F-4D97-AF65-F5344CB8AC3E}">
        <p14:creationId xmlns:p14="http://schemas.microsoft.com/office/powerpoint/2010/main" val="2901150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D2287-4D44-451C-A083-FC06557D06F2}"/>
              </a:ext>
            </a:extLst>
          </p:cNvPr>
          <p:cNvSpPr>
            <a:spLocks noGrp="1"/>
          </p:cNvSpPr>
          <p:nvPr>
            <p:ph type="title"/>
          </p:nvPr>
        </p:nvSpPr>
        <p:spPr/>
        <p:txBody>
          <a:bodyPr/>
          <a:lstStyle/>
          <a:p>
            <a:r>
              <a:rPr lang="en-US" dirty="0"/>
              <a:t>Units-of-Activity Method</a:t>
            </a:r>
            <a:br>
              <a:rPr lang="en-US" dirty="0"/>
            </a:br>
            <a:endParaRPr lang="en-US" sz="2400" dirty="0"/>
          </a:p>
        </p:txBody>
      </p:sp>
      <p:sp>
        <p:nvSpPr>
          <p:cNvPr id="3" name="Text Placeholder 2">
            <a:extLst>
              <a:ext uri="{FF2B5EF4-FFF2-40B4-BE49-F238E27FC236}">
                <a16:creationId xmlns:a16="http://schemas.microsoft.com/office/drawing/2014/main" id="{817CD388-8B31-45B4-BCAB-F80AE184EC34}"/>
              </a:ext>
            </a:extLst>
          </p:cNvPr>
          <p:cNvSpPr>
            <a:spLocks noGrp="1"/>
          </p:cNvSpPr>
          <p:nvPr>
            <p:ph sz="quarter" idx="19"/>
          </p:nvPr>
        </p:nvSpPr>
        <p:spPr>
          <a:xfrm>
            <a:off x="736587" y="1579439"/>
            <a:ext cx="10617213" cy="897061"/>
          </a:xfrm>
        </p:spPr>
        <p:txBody>
          <a:bodyPr/>
          <a:lstStyle/>
          <a:p>
            <a:pPr marL="457200" indent="-457200">
              <a:buFont typeface="Arial" panose="020B0604020202020204" pitchFamily="34" charset="0"/>
              <a:buChar char="•"/>
            </a:pPr>
            <a:r>
              <a:rPr lang="en-US" sz="2600" dirty="0"/>
              <a:t>The units-of-activity method is applied in the following two steps:</a:t>
            </a:r>
          </a:p>
          <a:p>
            <a:pPr lvl="1"/>
            <a:r>
              <a:rPr lang="en-US" sz="2600" dirty="0"/>
              <a:t>Step 1. Determine the depreciation per unit as follows:</a:t>
            </a:r>
            <a:endParaRPr lang="en-US" b="0" dirty="0"/>
          </a:p>
        </p:txBody>
      </p:sp>
      <p:graphicFrame>
        <p:nvGraphicFramePr>
          <p:cNvPr id="9" name="Content Placeholder 8" descr="Begin equation 1. Depreciation per unit equals cost minus residual value divided by total estimated units of activity. End equation 1. &#10;Begin equation 2. Depreciation expense equals Depreciation per unit times units of activity for period. End equation 2.">
            <a:extLst>
              <a:ext uri="{FF2B5EF4-FFF2-40B4-BE49-F238E27FC236}">
                <a16:creationId xmlns:a16="http://schemas.microsoft.com/office/drawing/2014/main" id="{9489D9EE-23CD-4F0A-B56C-99E460534E66}"/>
              </a:ext>
            </a:extLst>
          </p:cNvPr>
          <p:cNvGraphicFramePr>
            <a:graphicFrameLocks noGrp="1" noChangeAspect="1"/>
          </p:cNvGraphicFramePr>
          <p:nvPr>
            <p:ph sz="quarter" idx="22"/>
            <p:extLst>
              <p:ext uri="{D42A27DB-BD31-4B8C-83A1-F6EECF244321}">
                <p14:modId xmlns:p14="http://schemas.microsoft.com/office/powerpoint/2010/main" val="261343294"/>
              </p:ext>
            </p:extLst>
          </p:nvPr>
        </p:nvGraphicFramePr>
        <p:xfrm>
          <a:off x="1656864" y="2476500"/>
          <a:ext cx="9696936" cy="1722806"/>
        </p:xfrm>
        <a:graphic>
          <a:graphicData uri="http://schemas.openxmlformats.org/presentationml/2006/ole">
            <mc:AlternateContent xmlns:mc="http://schemas.openxmlformats.org/markup-compatibility/2006">
              <mc:Choice xmlns:v="urn:schemas-microsoft-com:vml" Requires="v">
                <p:oleObj name="Equation" r:id="rId2" imgW="5003640" imgH="888840" progId="Equation.DSMT4">
                  <p:embed/>
                </p:oleObj>
              </mc:Choice>
              <mc:Fallback>
                <p:oleObj name="Equation" r:id="rId2" imgW="5003640" imgH="888840" progId="Equation.DSMT4">
                  <p:embed/>
                  <p:pic>
                    <p:nvPicPr>
                      <p:cNvPr id="7" name="Object 6">
                        <a:extLst>
                          <a:ext uri="{FF2B5EF4-FFF2-40B4-BE49-F238E27FC236}">
                            <a16:creationId xmlns:a16="http://schemas.microsoft.com/office/drawing/2014/main" id="{9BC874FD-6FAA-4347-8069-C37FF3477C0E}"/>
                          </a:ext>
                        </a:extLst>
                      </p:cNvPr>
                      <p:cNvPicPr/>
                      <p:nvPr/>
                    </p:nvPicPr>
                    <p:blipFill>
                      <a:blip r:embed="rId3"/>
                      <a:stretch>
                        <a:fillRect/>
                      </a:stretch>
                    </p:blipFill>
                    <p:spPr>
                      <a:xfrm>
                        <a:off x="1656864" y="2476500"/>
                        <a:ext cx="9696936" cy="1722806"/>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1B6CF86C-AFE4-44F2-996E-66DC55C9309B}"/>
              </a:ext>
            </a:extLst>
          </p:cNvPr>
          <p:cNvSpPr>
            <a:spLocks noGrp="1"/>
          </p:cNvSpPr>
          <p:nvPr>
            <p:ph sz="quarter" idx="21"/>
          </p:nvPr>
        </p:nvSpPr>
        <p:spPr>
          <a:xfrm>
            <a:off x="736587" y="4591173"/>
            <a:ext cx="10617213" cy="1374775"/>
          </a:xfrm>
        </p:spPr>
        <p:txBody>
          <a:bodyPr/>
          <a:lstStyle/>
          <a:p>
            <a:pPr marL="685800" indent="-228600">
              <a:buFont typeface="Arial" panose="020B0604020202020204" pitchFamily="34" charset="0"/>
              <a:buChar char="•"/>
            </a:pPr>
            <a:r>
              <a:rPr lang="en-US" sz="2600" dirty="0"/>
              <a:t>Step 2. Compute the depreciation expense as follows:</a:t>
            </a:r>
          </a:p>
        </p:txBody>
      </p:sp>
    </p:spTree>
    <p:extLst>
      <p:ext uri="{BB962C8B-B14F-4D97-AF65-F5344CB8AC3E}">
        <p14:creationId xmlns:p14="http://schemas.microsoft.com/office/powerpoint/2010/main" val="99925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7776" y="0"/>
            <a:ext cx="8229600" cy="1143000"/>
          </a:xfrm>
        </p:spPr>
        <p:txBody>
          <a:bodyPr/>
          <a:lstStyle/>
          <a:p>
            <a:r>
              <a:rPr lang="en-US" dirty="0"/>
              <a:t>Units-of-Activity Method</a:t>
            </a:r>
            <a:br>
              <a:rPr lang="en-US"/>
            </a:br>
            <a:endParaRPr lang="en-US" sz="1800" dirty="0"/>
          </a:p>
        </p:txBody>
      </p:sp>
      <p:sp>
        <p:nvSpPr>
          <p:cNvPr id="3" name="Content Placeholder 2"/>
          <p:cNvSpPr>
            <a:spLocks noGrp="1"/>
          </p:cNvSpPr>
          <p:nvPr>
            <p:ph idx="1"/>
          </p:nvPr>
        </p:nvSpPr>
        <p:spPr>
          <a:xfrm>
            <a:off x="1981200" y="1216152"/>
            <a:ext cx="8229600" cy="3584448"/>
          </a:xfrm>
        </p:spPr>
        <p:txBody>
          <a:bodyPr/>
          <a:lstStyle/>
          <a:p>
            <a:pPr fontAlgn="auto">
              <a:defRPr/>
            </a:pPr>
            <a:r>
              <a:rPr lang="en-US" sz="2400" dirty="0"/>
              <a:t>To illustrate, assume that Exeter’s forklift costs $24,000. Its estimated residual value is $2,000, and it is estimated to have a useful life of 10,000 operating hours over the life of the asset. During the first year, the forklift was operated 2,100 hours. The units-of-activity depreciation is computed as follows:</a:t>
            </a:r>
          </a:p>
          <a:p>
            <a:pPr lvl="1" fontAlgn="auto">
              <a:defRPr/>
            </a:pPr>
            <a:r>
              <a:rPr lang="en-US" sz="2000" dirty="0"/>
              <a:t>Step 1. Determine the depreciation per hour as follows:</a:t>
            </a:r>
          </a:p>
        </p:txBody>
      </p:sp>
      <p:pic>
        <p:nvPicPr>
          <p:cNvPr id="5" name="Picture 4" descr="The formula for computing the depreciation per hour is given: Cost – Residual Value divided by Total Estimated Units of Activity. The formula is shown in fraction form, with Cost – Residual Value as the numerator and Total Estimated Units of Activity as the denominator. To the right of the formula, an equal sign is given. To the right of the equal sign, numbers are plugged into the formula: $24,000 – $2,000 divided by 10,000 Hours. The computation is shown in fraction form, with $24,000 – $2,000 as the numerator and 10,000 Hours as the denominator. To the right of the computation, an equal sign is given. To the right of the equal sign, the answer is given to the computation: $2.20 per Hour. "/>
          <p:cNvPicPr>
            <a:picLocks noChangeAspect="1"/>
          </p:cNvPicPr>
          <p:nvPr/>
        </p:nvPicPr>
        <p:blipFill>
          <a:blip r:embed="rId2"/>
          <a:stretch>
            <a:fillRect/>
          </a:stretch>
        </p:blipFill>
        <p:spPr>
          <a:xfrm>
            <a:off x="2538339" y="4038601"/>
            <a:ext cx="7188474" cy="676767"/>
          </a:xfrm>
          <a:prstGeom prst="rect">
            <a:avLst/>
          </a:prstGeom>
        </p:spPr>
      </p:pic>
      <p:sp>
        <p:nvSpPr>
          <p:cNvPr id="4" name="Content Placeholder 3"/>
          <p:cNvSpPr>
            <a:spLocks noGrp="1"/>
          </p:cNvSpPr>
          <p:nvPr>
            <p:ph sz="quarter" idx="10"/>
          </p:nvPr>
        </p:nvSpPr>
        <p:spPr>
          <a:xfrm>
            <a:off x="1981200" y="4800600"/>
            <a:ext cx="8229600" cy="1600200"/>
          </a:xfrm>
        </p:spPr>
        <p:txBody>
          <a:bodyPr/>
          <a:lstStyle/>
          <a:p>
            <a:pPr lvl="1" fontAlgn="auto">
              <a:spcBef>
                <a:spcPts val="1200"/>
              </a:spcBef>
              <a:buClr>
                <a:srgbClr val="992315"/>
              </a:buClr>
              <a:buSzPct val="75000"/>
              <a:buFont typeface="Courier New" panose="02070309020205020404" pitchFamily="49" charset="0"/>
              <a:buChar char="o"/>
              <a:defRPr/>
            </a:pPr>
            <a:r>
              <a:rPr lang="en-US" sz="2000" dirty="0"/>
              <a:t>Step 2. Compute the depreciation expense as follows:</a:t>
            </a:r>
            <a:endParaRPr lang="en-US" dirty="0"/>
          </a:p>
        </p:txBody>
      </p:sp>
      <p:pic>
        <p:nvPicPr>
          <p:cNvPr id="7" name="Picture 6" descr="The formula for computing depreciation expense is given: Depreciation Expense = Depreciation per Unit × Units of Activity for Period. On the next line, the following computation and answer is shown: $2.20 per Hour × 2,100 Hours = $4,620."/>
          <p:cNvPicPr>
            <a:picLocks noChangeAspect="1"/>
          </p:cNvPicPr>
          <p:nvPr/>
        </p:nvPicPr>
        <p:blipFill>
          <a:blip r:embed="rId3"/>
          <a:stretch>
            <a:fillRect/>
          </a:stretch>
        </p:blipFill>
        <p:spPr>
          <a:xfrm>
            <a:off x="3365748" y="5264009"/>
            <a:ext cx="5533657" cy="588151"/>
          </a:xfrm>
          <a:prstGeom prst="rect">
            <a:avLst/>
          </a:prstGeom>
        </p:spPr>
      </p:pic>
    </p:spTree>
    <p:extLst>
      <p:ext uri="{BB962C8B-B14F-4D97-AF65-F5344CB8AC3E}">
        <p14:creationId xmlns:p14="http://schemas.microsoft.com/office/powerpoint/2010/main" val="2014409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D2287-4D44-451C-A083-FC06557D06F2}"/>
              </a:ext>
            </a:extLst>
          </p:cNvPr>
          <p:cNvSpPr>
            <a:spLocks noGrp="1"/>
          </p:cNvSpPr>
          <p:nvPr>
            <p:ph type="title"/>
          </p:nvPr>
        </p:nvSpPr>
        <p:spPr/>
        <p:txBody>
          <a:bodyPr/>
          <a:lstStyle/>
          <a:p>
            <a:r>
              <a:rPr lang="en-US" dirty="0"/>
              <a:t>Units-of-Activity Method</a:t>
            </a:r>
            <a:br>
              <a:rPr lang="en-US" dirty="0"/>
            </a:br>
            <a:r>
              <a:rPr lang="en-US" sz="2400" dirty="0"/>
              <a:t>(3 of 3)</a:t>
            </a:r>
          </a:p>
        </p:txBody>
      </p:sp>
      <p:sp>
        <p:nvSpPr>
          <p:cNvPr id="3" name="Text Placeholder 2">
            <a:extLst>
              <a:ext uri="{FF2B5EF4-FFF2-40B4-BE49-F238E27FC236}">
                <a16:creationId xmlns:a16="http://schemas.microsoft.com/office/drawing/2014/main" id="{817CD388-8B31-45B4-BCAB-F80AE184EC34}"/>
              </a:ext>
            </a:extLst>
          </p:cNvPr>
          <p:cNvSpPr>
            <a:spLocks noGrp="1"/>
          </p:cNvSpPr>
          <p:nvPr>
            <p:ph sz="quarter" idx="16"/>
          </p:nvPr>
        </p:nvSpPr>
        <p:spPr>
          <a:xfrm>
            <a:off x="838200" y="1607126"/>
            <a:ext cx="10515600" cy="818574"/>
          </a:xfrm>
        </p:spPr>
        <p:txBody>
          <a:bodyPr/>
          <a:lstStyle/>
          <a:p>
            <a:pPr marL="457200" indent="-457200">
              <a:buFont typeface="Arial" panose="020B0604020202020204" pitchFamily="34" charset="0"/>
              <a:buChar char="•"/>
            </a:pPr>
            <a:r>
              <a:rPr lang="en-US" sz="2600" dirty="0"/>
              <a:t>Depreciation for the first year using the units-of-activity method is recorded as follows: </a:t>
            </a:r>
          </a:p>
          <a:p>
            <a:endParaRPr lang="en-US" sz="2600" dirty="0"/>
          </a:p>
          <a:p>
            <a:endParaRPr lang="en-US" sz="2600" dirty="0"/>
          </a:p>
          <a:p>
            <a:endParaRPr lang="en-US" sz="2600" dirty="0"/>
          </a:p>
          <a:p>
            <a:endParaRPr lang="en-US" sz="2600" dirty="0"/>
          </a:p>
        </p:txBody>
      </p:sp>
      <p:pic>
        <p:nvPicPr>
          <p:cNvPr id="6" name="Content Placeholder 5" descr="A journal entry is shown in a journal form. December 31 is the date indicated. Depreciation Expense—Forklift is debited—with 4,620 shown in the Debit column. Accumulated Depreciation—Forklift is credited—with 4,620 shown in the Credit column. &#10;&#10;Below the journal form, the accounting equation impact is illustrated. &#10;&#10;The accounting equation is shown: Assets = Liabilities + Stockholders’ Equity.&#10;&#10;Under Assets in the accounting equation, a T account for Accumulated Depreciation is shown. On the right, in the credit column of the Accumulated Depreciation T account, an entry of 4,620 is shown. The debit column of the Accumulated Depreciation T account is blank.&#10;&#10;Under Stockholders’ Equity in the accounting equation, a T account for Depreciation Expense is shown. On the left, in the debit column of the Depreciation Expense T account, an entry of 4,620 is shown. The credit column of the Depreciation Expense T account is blank. &#10;">
            <a:extLst>
              <a:ext uri="{FF2B5EF4-FFF2-40B4-BE49-F238E27FC236}">
                <a16:creationId xmlns:a16="http://schemas.microsoft.com/office/drawing/2014/main" id="{9D24B510-2770-4DD7-9675-898494F1CD77}"/>
              </a:ext>
            </a:extLst>
          </p:cNvPr>
          <p:cNvPicPr>
            <a:picLocks noGrp="1" noChangeAspect="1"/>
          </p:cNvPicPr>
          <p:nvPr>
            <p:ph sz="quarter" idx="17"/>
          </p:nvPr>
        </p:nvPicPr>
        <p:blipFill>
          <a:blip r:embed="rId3"/>
          <a:stretch>
            <a:fillRect/>
          </a:stretch>
        </p:blipFill>
        <p:spPr>
          <a:xfrm>
            <a:off x="2084732" y="2609676"/>
            <a:ext cx="8022536" cy="2165523"/>
          </a:xfrm>
          <a:prstGeom prst="rect">
            <a:avLst/>
          </a:prstGeom>
        </p:spPr>
      </p:pic>
    </p:spTree>
    <p:extLst>
      <p:ext uri="{BB962C8B-B14F-4D97-AF65-F5344CB8AC3E}">
        <p14:creationId xmlns:p14="http://schemas.microsoft.com/office/powerpoint/2010/main" val="1467078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6374A-ECC7-45B2-A567-3B5EE0DE33BF}"/>
              </a:ext>
            </a:extLst>
          </p:cNvPr>
          <p:cNvSpPr>
            <a:spLocks noGrp="1"/>
          </p:cNvSpPr>
          <p:nvPr>
            <p:ph type="title"/>
          </p:nvPr>
        </p:nvSpPr>
        <p:spPr/>
        <p:txBody>
          <a:bodyPr/>
          <a:lstStyle/>
          <a:p>
            <a:r>
              <a:rPr lang="en-US" dirty="0"/>
              <a:t>Double-Declining-Balance Method</a:t>
            </a:r>
            <a:br>
              <a:rPr lang="en-US" dirty="0"/>
            </a:br>
            <a:endParaRPr lang="en-US" sz="2400" dirty="0"/>
          </a:p>
        </p:txBody>
      </p:sp>
      <p:sp>
        <p:nvSpPr>
          <p:cNvPr id="3" name="Text Placeholder 2">
            <a:extLst>
              <a:ext uri="{FF2B5EF4-FFF2-40B4-BE49-F238E27FC236}">
                <a16:creationId xmlns:a16="http://schemas.microsoft.com/office/drawing/2014/main" id="{A787D8F9-D0C1-40F4-9A84-6AE4D5B11754}"/>
              </a:ext>
            </a:extLst>
          </p:cNvPr>
          <p:cNvSpPr>
            <a:spLocks noGrp="1"/>
          </p:cNvSpPr>
          <p:nvPr>
            <p:ph sz="quarter" idx="10"/>
          </p:nvPr>
        </p:nvSpPr>
        <p:spPr>
          <a:xfrm>
            <a:off x="597408" y="804672"/>
            <a:ext cx="10756392" cy="5262753"/>
          </a:xfrm>
        </p:spPr>
        <p:txBody>
          <a:bodyPr>
            <a:noAutofit/>
          </a:bodyPr>
          <a:lstStyle/>
          <a:p>
            <a:pPr marL="457200" indent="-457200">
              <a:buFont typeface="Arial" panose="020B0604020202020204" pitchFamily="34" charset="0"/>
              <a:buChar char="•"/>
            </a:pPr>
            <a:r>
              <a:rPr lang="en-US" sz="2000" dirty="0"/>
              <a:t>The </a:t>
            </a:r>
            <a:r>
              <a:rPr lang="en-US" sz="2000" b="1" dirty="0">
                <a:solidFill>
                  <a:srgbClr val="004A78"/>
                </a:solidFill>
              </a:rPr>
              <a:t>double-declining-balance method</a:t>
            </a:r>
            <a:r>
              <a:rPr lang="en-US" sz="2000" dirty="0">
                <a:solidFill>
                  <a:srgbClr val="004A78"/>
                </a:solidFill>
              </a:rPr>
              <a:t> </a:t>
            </a:r>
            <a:r>
              <a:rPr lang="en-US" sz="2000" dirty="0"/>
              <a:t>provides for a declining periodic expense over the expected useful life of the asset. </a:t>
            </a:r>
          </a:p>
          <a:p>
            <a:pPr marL="457200" indent="-457200">
              <a:buFont typeface="Arial" panose="020B0604020202020204" pitchFamily="34" charset="0"/>
              <a:buChar char="•"/>
            </a:pPr>
            <a:endParaRPr lang="en-US" sz="2000" dirty="0"/>
          </a:p>
          <a:p>
            <a:r>
              <a:rPr lang="en-US" sz="2000" dirty="0"/>
              <a:t> </a:t>
            </a:r>
          </a:p>
          <a:p>
            <a:r>
              <a:rPr lang="en-US" sz="2000" b="1" dirty="0">
                <a:solidFill>
                  <a:srgbClr val="FF0000"/>
                </a:solidFill>
              </a:rPr>
              <a:t>1 year: double-declining-balance= initial cost  x[ (1  / expected useful life) x2]</a:t>
            </a:r>
          </a:p>
          <a:p>
            <a:endParaRPr lang="en-US" sz="2000" b="1" dirty="0">
              <a:solidFill>
                <a:srgbClr val="FF0000"/>
              </a:solidFill>
            </a:endParaRPr>
          </a:p>
          <a:p>
            <a:r>
              <a:rPr lang="en-US" sz="2000" b="1" dirty="0">
                <a:solidFill>
                  <a:srgbClr val="FF0000"/>
                </a:solidFill>
              </a:rPr>
              <a:t>2 year: double-declining-balance= initial  cost &lt; 1</a:t>
            </a:r>
            <a:r>
              <a:rPr lang="en-US" sz="2000" b="1" baseline="30000" dirty="0">
                <a:solidFill>
                  <a:srgbClr val="FF0000"/>
                </a:solidFill>
              </a:rPr>
              <a:t>st</a:t>
            </a:r>
            <a:r>
              <a:rPr lang="en-US" sz="2000" b="1" dirty="0">
                <a:solidFill>
                  <a:srgbClr val="FF0000"/>
                </a:solidFill>
              </a:rPr>
              <a:t> year of depreciation&gt; </a:t>
            </a:r>
          </a:p>
          <a:p>
            <a:r>
              <a:rPr lang="en-US" sz="2000" b="1" dirty="0">
                <a:solidFill>
                  <a:srgbClr val="FF0000"/>
                </a:solidFill>
              </a:rPr>
              <a:t>x[ (1  / expected useful life) x2]</a:t>
            </a:r>
          </a:p>
          <a:p>
            <a:endParaRPr lang="en-US" sz="2000" b="1" dirty="0">
              <a:solidFill>
                <a:srgbClr val="FF0000"/>
              </a:solidFill>
            </a:endParaRPr>
          </a:p>
          <a:p>
            <a:r>
              <a:rPr lang="en-US" sz="2000" b="1" dirty="0">
                <a:solidFill>
                  <a:srgbClr val="FF0000"/>
                </a:solidFill>
              </a:rPr>
              <a:t>Do the same for the rest of the years except the last one. (Subtract every depreciation years)</a:t>
            </a:r>
          </a:p>
          <a:p>
            <a:endParaRPr lang="en-US" sz="2000" b="1" dirty="0">
              <a:solidFill>
                <a:srgbClr val="FF0000"/>
              </a:solidFill>
            </a:endParaRPr>
          </a:p>
          <a:p>
            <a:r>
              <a:rPr lang="en-US" sz="2000" b="1" dirty="0">
                <a:solidFill>
                  <a:srgbClr val="FF0000"/>
                </a:solidFill>
              </a:rPr>
              <a:t>Last year: double-declining-balance= initial cost &lt;all the years depreciation&gt; &lt;residual value&gt;</a:t>
            </a:r>
          </a:p>
          <a:p>
            <a:endParaRPr lang="en-US" sz="2000" b="1" dirty="0">
              <a:solidFill>
                <a:srgbClr val="004A78"/>
              </a:solidFill>
            </a:endParaRPr>
          </a:p>
          <a:p>
            <a:endParaRPr lang="en-US" sz="2000" b="1" dirty="0">
              <a:solidFill>
                <a:srgbClr val="004A78"/>
              </a:solidFill>
            </a:endParaRPr>
          </a:p>
          <a:p>
            <a:endParaRPr lang="en-US" sz="2000" dirty="0"/>
          </a:p>
          <a:p>
            <a:endParaRPr lang="en-US" sz="2000" dirty="0"/>
          </a:p>
          <a:p>
            <a:endParaRPr lang="en-US" sz="2000" dirty="0"/>
          </a:p>
        </p:txBody>
      </p:sp>
    </p:spTree>
    <p:extLst>
      <p:ext uri="{BB962C8B-B14F-4D97-AF65-F5344CB8AC3E}">
        <p14:creationId xmlns:p14="http://schemas.microsoft.com/office/powerpoint/2010/main" val="3834496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6374A-ECC7-45B2-A567-3B5EE0DE33BF}"/>
              </a:ext>
            </a:extLst>
          </p:cNvPr>
          <p:cNvSpPr>
            <a:spLocks noGrp="1"/>
          </p:cNvSpPr>
          <p:nvPr>
            <p:ph type="title"/>
          </p:nvPr>
        </p:nvSpPr>
        <p:spPr/>
        <p:txBody>
          <a:bodyPr/>
          <a:lstStyle/>
          <a:p>
            <a:r>
              <a:rPr lang="en-US" dirty="0"/>
              <a:t>Double-Declining-Balance Method</a:t>
            </a:r>
            <a:br>
              <a:rPr lang="en-US" dirty="0"/>
            </a:br>
            <a:r>
              <a:rPr lang="en-US" sz="2400" dirty="0"/>
              <a:t>(2 of 4)</a:t>
            </a:r>
          </a:p>
        </p:txBody>
      </p:sp>
      <p:sp>
        <p:nvSpPr>
          <p:cNvPr id="3" name="Text Placeholder 2">
            <a:extLst>
              <a:ext uri="{FF2B5EF4-FFF2-40B4-BE49-F238E27FC236}">
                <a16:creationId xmlns:a16="http://schemas.microsoft.com/office/drawing/2014/main" id="{A787D8F9-D0C1-40F4-9A84-6AE4D5B11754}"/>
              </a:ext>
            </a:extLst>
          </p:cNvPr>
          <p:cNvSpPr>
            <a:spLocks noGrp="1"/>
          </p:cNvSpPr>
          <p:nvPr>
            <p:ph sz="quarter" idx="16"/>
          </p:nvPr>
        </p:nvSpPr>
        <p:spPr>
          <a:xfrm>
            <a:off x="838200" y="1607126"/>
            <a:ext cx="10515600" cy="1029847"/>
          </a:xfrm>
        </p:spPr>
        <p:txBody>
          <a:bodyPr>
            <a:noAutofit/>
          </a:bodyPr>
          <a:lstStyle/>
          <a:p>
            <a:pPr marL="457200" indent="-457200">
              <a:buFont typeface="Arial" panose="020B0604020202020204" pitchFamily="34" charset="0"/>
              <a:buChar char="•"/>
            </a:pPr>
            <a:r>
              <a:rPr lang="en-US" sz="2600" dirty="0"/>
              <a:t>Depreciation of the forklift for the first year using the double-declining-balance method is recorded as follows:</a:t>
            </a:r>
          </a:p>
        </p:txBody>
      </p:sp>
      <p:pic>
        <p:nvPicPr>
          <p:cNvPr id="6" name="Content Placeholder 5" descr="A journal entry is shown in a journal form. December 31 is the date indicated. Depreciation Expense—Forklift is debited— with 9,600 shown in the Debit column. Accumulated Depreciation—Forklift is credited—with 9,600 shown in the Credit column. &#10;&#10;Below the journal form, the accounting equation impact is illustrated. &#10;&#10;The accounting equation is shown: Assets = Liabilities + Stockholders’ Equity.&#10;&#10;Under Assets in the accounting equation, a T account for Accumulated Depreciation is shown. On the right, in the credit column of the Accumulated Depreciation T account, an entry of 9,600 is shown. The debit column of the Accumulated Depreciation T account is blank.&#10;&#10;Under Stockholders’ Equity in the accounting equation, a T account for Depreciation Expense is shown. On the left, in the debit column of the Depreciation Expense T account, an entry of 9,600 is shown. The credit column of the Depreciation Expense T account is blank. &#10;">
            <a:extLst>
              <a:ext uri="{FF2B5EF4-FFF2-40B4-BE49-F238E27FC236}">
                <a16:creationId xmlns:a16="http://schemas.microsoft.com/office/drawing/2014/main" id="{8EC95998-E3A0-4AB9-84A3-0518F63B1E0D}"/>
              </a:ext>
            </a:extLst>
          </p:cNvPr>
          <p:cNvPicPr>
            <a:picLocks noGrp="1" noChangeAspect="1"/>
          </p:cNvPicPr>
          <p:nvPr>
            <p:ph sz="quarter" idx="17"/>
          </p:nvPr>
        </p:nvPicPr>
        <p:blipFill>
          <a:blip r:embed="rId2"/>
          <a:stretch>
            <a:fillRect/>
          </a:stretch>
        </p:blipFill>
        <p:spPr>
          <a:xfrm>
            <a:off x="1864718" y="2636973"/>
            <a:ext cx="8462563" cy="2277927"/>
          </a:xfrm>
          <a:prstGeom prst="rect">
            <a:avLst/>
          </a:prstGeom>
        </p:spPr>
      </p:pic>
    </p:spTree>
    <p:extLst>
      <p:ext uri="{BB962C8B-B14F-4D97-AF65-F5344CB8AC3E}">
        <p14:creationId xmlns:p14="http://schemas.microsoft.com/office/powerpoint/2010/main" val="1860864916"/>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94B888A8E71149BA1FDF36AA0410F2" ma:contentTypeVersion="11" ma:contentTypeDescription="Create a new document." ma:contentTypeScope="" ma:versionID="a2acd571cfbae07cc1c1b9b4f31a4903">
  <xsd:schema xmlns:xsd="http://www.w3.org/2001/XMLSchema" xmlns:xs="http://www.w3.org/2001/XMLSchema" xmlns:p="http://schemas.microsoft.com/office/2006/metadata/properties" xmlns:ns2="5f8dbb90-e206-4f83-9820-44f04f84401f" xmlns:ns3="ab864144-ca3b-47ab-a142-93b76c4c492d" targetNamespace="http://schemas.microsoft.com/office/2006/metadata/properties" ma:root="true" ma:fieldsID="3c31c27e1b082e584a7e0e139cda3467" ns2:_="" ns3:_="">
    <xsd:import namespace="5f8dbb90-e206-4f83-9820-44f04f84401f"/>
    <xsd:import namespace="ab864144-ca3b-47ab-a142-93b76c4c492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dbb90-e206-4f83-9820-44f04f8440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864144-ca3b-47ab-a142-93b76c4c492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ab864144-ca3b-47ab-a142-93b76c4c492d">
      <UserInfo>
        <DisplayName/>
        <AccountId xsi:nil="true"/>
        <AccountType/>
      </UserInfo>
    </SharedWithUsers>
  </documentManagement>
</p:properties>
</file>

<file path=customXml/itemProps1.xml><?xml version="1.0" encoding="utf-8"?>
<ds:datastoreItem xmlns:ds="http://schemas.openxmlformats.org/officeDocument/2006/customXml" ds:itemID="{CCAA2083-1E27-43BC-8488-C4E35C2DDA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8dbb90-e206-4f83-9820-44f04f84401f"/>
    <ds:schemaRef ds:uri="ab864144-ca3b-47ab-a142-93b76c4c49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BA9BA192-EF86-48DF-982C-2C526A268392}">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ab864144-ca3b-47ab-a142-93b76c4c492d"/>
    <ds:schemaRef ds:uri="5f8dbb90-e206-4f83-9820-44f04f84401f"/>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5929</TotalTime>
  <Words>993</Words>
  <Application>Microsoft Office PowerPoint</Application>
  <PresentationFormat>Widescreen</PresentationFormat>
  <Paragraphs>85</Paragraphs>
  <Slides>20</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30" baseType="lpstr">
      <vt:lpstr>Arial</vt:lpstr>
      <vt:lpstr>Arial</vt:lpstr>
      <vt:lpstr>Calibri</vt:lpstr>
      <vt:lpstr>Courier New</vt:lpstr>
      <vt:lpstr>Helvetica</vt:lpstr>
      <vt:lpstr>Open Sans</vt:lpstr>
      <vt:lpstr>Summer Font</vt:lpstr>
      <vt:lpstr>Wingdings</vt:lpstr>
      <vt:lpstr>Office Theme</vt:lpstr>
      <vt:lpstr>Equation</vt:lpstr>
      <vt:lpstr>Chapter 9: Long-Term Assets: Fixed and Intangible</vt:lpstr>
      <vt:lpstr>Nature of Fixed Assets</vt:lpstr>
      <vt:lpstr>Accounting for Depreciation </vt:lpstr>
      <vt:lpstr>Factors in Computing Depreciation Expense</vt:lpstr>
      <vt:lpstr>Factors in Computing Depreciation Expense</vt:lpstr>
      <vt:lpstr>Factors in Computing Depreciation Expense </vt:lpstr>
      <vt:lpstr>Factors in Computing Depreciation Expense </vt:lpstr>
      <vt:lpstr>Factors in Computing Depreciation Expense </vt:lpstr>
      <vt:lpstr>Factors in Computing Depreciation Expense </vt:lpstr>
      <vt:lpstr>Straight-Line Method </vt:lpstr>
      <vt:lpstr>Straight-Line Method </vt:lpstr>
      <vt:lpstr>Straight-Line Method  )</vt:lpstr>
      <vt:lpstr>Straight-Line Method  </vt:lpstr>
      <vt:lpstr>Straight-Line Method </vt:lpstr>
      <vt:lpstr>Units-of-Activity Method </vt:lpstr>
      <vt:lpstr>Units-of-Activity Method </vt:lpstr>
      <vt:lpstr>Units-of-Activity Method </vt:lpstr>
      <vt:lpstr>Units-of-Activity Method (3 of 3)</vt:lpstr>
      <vt:lpstr>Double-Declining-Balance Method </vt:lpstr>
      <vt:lpstr>Double-Declining-Balance Method (2 of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Graney, Karla (DTPW)</cp:lastModifiedBy>
  <cp:revision>228</cp:revision>
  <dcterms:created xsi:type="dcterms:W3CDTF">2020-07-27T16:46:05Z</dcterms:created>
  <dcterms:modified xsi:type="dcterms:W3CDTF">2026-07-02T11:44:40Z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0x0101005394B888A8E71149BA1FDF36AA0410F2</vt:lpwstr>
  </property>
  <property fmtid="{D5CDD505-2E9C-101B-9397-08002B2CF9AE}" pid="3" name="Order">
    <vt:r8>21552800</vt:r8>
  </property>
  <property fmtid="{D5CDD505-2E9C-101B-9397-08002B2CF9AE}" pid="4" name="xd_Signature">
    <vt:bool>false</vt:bool>
  </property>
  <property fmtid="{D5CDD505-2E9C-101B-9397-08002B2CF9AE}" pid="5" name="xd_ProgID">
    <vt:lpwstr/>
  </property>
  <property fmtid="{D5CDD505-2E9C-101B-9397-08002B2CF9AE}" pid="6" name="Status">
    <vt:lpwstr>1. In development</vt:lpwstr>
  </property>
  <property fmtid="{D5CDD505-2E9C-101B-9397-08002B2CF9AE}" pid="7" name="ComplianceAssetId">
    <vt:lpwstr/>
  </property>
  <property fmtid="{D5CDD505-2E9C-101B-9397-08002B2CF9AE}" pid="8" name="TemplateUrl">
    <vt:lpwstr/>
  </property>
</Properties>
</file>