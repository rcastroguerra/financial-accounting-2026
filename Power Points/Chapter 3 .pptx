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64" r:id="rId5"/>
    <p:sldId id="403" r:id="rId6"/>
    <p:sldId id="404" r:id="rId7"/>
    <p:sldId id="405" r:id="rId8"/>
    <p:sldId id="694" r:id="rId9"/>
    <p:sldId id="265" r:id="rId10"/>
    <p:sldId id="409" r:id="rId11"/>
    <p:sldId id="325" r:id="rId12"/>
    <p:sldId id="332" r:id="rId13"/>
    <p:sldId id="412" r:id="rId14"/>
    <p:sldId id="414" r:id="rId15"/>
    <p:sldId id="347" r:id="rId16"/>
    <p:sldId id="356" r:id="rId17"/>
    <p:sldId id="416" r:id="rId18"/>
    <p:sldId id="418" r:id="rId19"/>
    <p:sldId id="703" r:id="rId20"/>
    <p:sldId id="419" r:id="rId21"/>
    <p:sldId id="290" r:id="rId22"/>
    <p:sldId id="350" r:id="rId23"/>
    <p:sldId id="349" r:id="rId24"/>
    <p:sldId id="717" r:id="rId25"/>
    <p:sldId id="743" r:id="rId26"/>
    <p:sldId id="719" r:id="rId27"/>
    <p:sldId id="423" r:id="rId28"/>
    <p:sldId id="351" r:id="rId29"/>
    <p:sldId id="355" r:id="rId30"/>
    <p:sldId id="428" r:id="rId31"/>
    <p:sldId id="315" r:id="rId32"/>
    <p:sldId id="336"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290" autoAdjust="0"/>
  </p:normalViewPr>
  <p:slideViewPr>
    <p:cSldViewPr snapToGrid="0">
      <p:cViewPr varScale="1">
        <p:scale>
          <a:sx n="81" d="100"/>
          <a:sy n="81" d="100"/>
        </p:scale>
        <p:origin x="1716" y="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6/8/2026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6/8/2026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balance in NetSolutions’ supplies account on December 31 is $2,000.</a:t>
            </a:r>
          </a:p>
          <a:p>
            <a:pPr marL="171450" indent="-171450">
              <a:buFont typeface="Arial" panose="020B0604020202020204" pitchFamily="34" charset="0"/>
              <a:buChar char="•"/>
            </a:pPr>
            <a:r>
              <a:rPr lang="en-US" dirty="0"/>
              <a:t>Some of these supplies (paper, envelopes, etc.) were used during December, and some are still on hand (not used).</a:t>
            </a:r>
          </a:p>
          <a:p>
            <a:pPr marL="171450" indent="-171450">
              <a:buFont typeface="Arial" panose="020B0604020202020204" pitchFamily="34" charset="0"/>
              <a:buChar char="•"/>
            </a:pPr>
            <a:r>
              <a:rPr lang="en-US" dirty="0"/>
              <a:t>Assuming that on December 31 the amount of supplies on hand is $760, the amount to be transferred from the asset account to the expense account is $1,240, computed as follows:</a:t>
            </a:r>
            <a:br>
              <a:rPr lang="en-US" dirty="0"/>
            </a:br>
            <a:endParaRPr lang="en-US" dirty="0"/>
          </a:p>
          <a:p>
            <a:pPr marL="914400" lvl="2" indent="0">
              <a:buNone/>
              <a:tabLst>
                <a:tab pos="8399463" algn="l"/>
              </a:tabLst>
            </a:pPr>
            <a:r>
              <a:rPr lang="en-US" dirty="0"/>
              <a:t>Supplies available during December (balance of account) </a:t>
            </a:r>
            <a:r>
              <a:rPr lang="en-US" baseline="0" dirty="0"/>
              <a:t>                                                                  </a:t>
            </a:r>
            <a:r>
              <a:rPr lang="en-US" dirty="0"/>
              <a:t>$ 2,000</a:t>
            </a:r>
          </a:p>
          <a:p>
            <a:pPr marL="914400" lvl="2" indent="0">
              <a:buNone/>
              <a:tabLst>
                <a:tab pos="8516938" algn="l"/>
              </a:tabLst>
            </a:pPr>
            <a:r>
              <a:rPr lang="en-US" dirty="0"/>
              <a:t>Supplies on hand, December 31 </a:t>
            </a:r>
            <a:r>
              <a:rPr lang="en-US" baseline="0" dirty="0"/>
              <a:t>                                                                                                           </a:t>
            </a:r>
            <a:r>
              <a:rPr lang="en-US" u="sng" dirty="0"/>
              <a:t>    (760</a:t>
            </a:r>
            <a:r>
              <a:rPr lang="en-US" u="none" dirty="0"/>
              <a:t>)</a:t>
            </a:r>
          </a:p>
          <a:p>
            <a:pPr marL="914400" lvl="2" indent="0" defTabSz="1398588">
              <a:buNone/>
            </a:pPr>
            <a:r>
              <a:rPr lang="en-US" dirty="0">
                <a:solidFill>
                  <a:srgbClr val="00B8E7"/>
                </a:solidFill>
              </a:rPr>
              <a:t>Supplies used (amount of adjustment) 			</a:t>
            </a:r>
            <a:r>
              <a:rPr lang="en-US" u="sng" dirty="0">
                <a:solidFill>
                  <a:srgbClr val="00B8E7"/>
                </a:solidFill>
                <a:uFill>
                  <a:solidFill>
                    <a:srgbClr val="000000"/>
                  </a:solidFill>
                </a:uFill>
              </a:rPr>
              <a:t>$ 1,240</a:t>
            </a:r>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2740275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3915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9" r:id="rId17"/>
    <p:sldLayoutId id="2147483730" r:id="rId18"/>
    <p:sldLayoutId id="2147483731" r:id="rId19"/>
    <p:sldLayoutId id="2147483732" r:id="rId20"/>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3: The Adjusting Process</a:t>
            </a:r>
          </a:p>
        </p:txBody>
      </p:sp>
      <p:sp>
        <p:nvSpPr>
          <p:cNvPr id="6" name="Text Placeholder 5"/>
          <p:cNvSpPr>
            <a:spLocks noGrp="1"/>
          </p:cNvSpPr>
          <p:nvPr>
            <p:ph type="body" sz="quarter" idx="11"/>
          </p:nvPr>
        </p:nvSpPr>
        <p:spPr>
          <a:xfrm>
            <a:off x="5691462" y="2355562"/>
            <a:ext cx="4700337"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13" name="Picture 12">
            <a:extLst>
              <a:ext uri="{FF2B5EF4-FFF2-40B4-BE49-F238E27FC236}">
                <a16:creationId xmlns:a16="http://schemas.microsoft.com/office/drawing/2014/main" id="{31102E57-5728-A695-CE2E-AF28219D144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D5B8D-9843-4DD7-B020-261E0D7E8059}"/>
              </a:ext>
            </a:extLst>
          </p:cNvPr>
          <p:cNvSpPr>
            <a:spLocks noGrp="1"/>
          </p:cNvSpPr>
          <p:nvPr>
            <p:ph type="title"/>
          </p:nvPr>
        </p:nvSpPr>
        <p:spPr>
          <a:xfrm>
            <a:off x="838200" y="365125"/>
            <a:ext cx="10515600" cy="672105"/>
          </a:xfrm>
        </p:spPr>
        <p:txBody>
          <a:bodyPr/>
          <a:lstStyle/>
          <a:p>
            <a:r>
              <a:rPr lang="en-US" dirty="0"/>
              <a:t>Accrual and Cash Bases of Accounting</a:t>
            </a:r>
          </a:p>
        </p:txBody>
      </p:sp>
      <p:sp>
        <p:nvSpPr>
          <p:cNvPr id="3" name="Text Placeholder 2">
            <a:extLst>
              <a:ext uri="{FF2B5EF4-FFF2-40B4-BE49-F238E27FC236}">
                <a16:creationId xmlns:a16="http://schemas.microsoft.com/office/drawing/2014/main" id="{C35F37BC-6F95-4604-B02F-DA5E09B9DFE4}"/>
              </a:ext>
            </a:extLst>
          </p:cNvPr>
          <p:cNvSpPr>
            <a:spLocks noGrp="1"/>
          </p:cNvSpPr>
          <p:nvPr>
            <p:ph sz="quarter" idx="10"/>
          </p:nvPr>
        </p:nvSpPr>
        <p:spPr>
          <a:xfrm>
            <a:off x="838200" y="1593273"/>
            <a:ext cx="10515600" cy="4474152"/>
          </a:xfrm>
        </p:spPr>
        <p:txBody>
          <a:bodyPr/>
          <a:lstStyle/>
          <a:p>
            <a:pPr marL="457200" indent="-457200">
              <a:buFont typeface="Arial" panose="020B0604020202020204" pitchFamily="34" charset="0"/>
              <a:buChar char="•"/>
            </a:pPr>
            <a:r>
              <a:rPr lang="en-US" sz="2600" dirty="0"/>
              <a:t>Under the </a:t>
            </a:r>
            <a:r>
              <a:rPr lang="en-US" sz="2600" b="1" dirty="0">
                <a:solidFill>
                  <a:srgbClr val="004A78"/>
                </a:solidFill>
              </a:rPr>
              <a:t>accrual basis of accounting</a:t>
            </a:r>
            <a:r>
              <a:rPr lang="en-US" sz="2600" dirty="0"/>
              <a:t>, revenues are reported on the income statement in the period in which a service has been performed or a product has been delivered.</a:t>
            </a:r>
          </a:p>
          <a:p>
            <a:pPr marL="457200" lvl="1" indent="0">
              <a:buNone/>
            </a:pPr>
            <a:endParaRPr lang="en-US" sz="2600" dirty="0"/>
          </a:p>
          <a:p>
            <a:pPr marL="457200" indent="-457200">
              <a:buFont typeface="Arial" panose="020B0604020202020204" pitchFamily="34" charset="0"/>
              <a:buChar char="•"/>
            </a:pPr>
            <a:r>
              <a:rPr lang="en-US" sz="2600" dirty="0"/>
              <a:t>Under the </a:t>
            </a:r>
            <a:r>
              <a:rPr lang="en-US" sz="2600" b="1" dirty="0">
                <a:solidFill>
                  <a:srgbClr val="004A78"/>
                </a:solidFill>
              </a:rPr>
              <a:t>cash basis of accounting</a:t>
            </a:r>
            <a:r>
              <a:rPr lang="en-US" sz="2600" dirty="0"/>
              <a:t>, revenues and expenses are reported on the income statement in the period in which cash is received or paid.</a:t>
            </a:r>
          </a:p>
        </p:txBody>
      </p:sp>
    </p:spTree>
    <p:extLst>
      <p:ext uri="{BB962C8B-B14F-4D97-AF65-F5344CB8AC3E}">
        <p14:creationId xmlns:p14="http://schemas.microsoft.com/office/powerpoint/2010/main" val="2826031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BF4C-B582-416A-9959-8794371397C7}"/>
              </a:ext>
            </a:extLst>
          </p:cNvPr>
          <p:cNvSpPr>
            <a:spLocks noGrp="1"/>
          </p:cNvSpPr>
          <p:nvPr>
            <p:ph type="title"/>
          </p:nvPr>
        </p:nvSpPr>
        <p:spPr>
          <a:xfrm>
            <a:off x="838200" y="365125"/>
            <a:ext cx="10515600" cy="672105"/>
          </a:xfrm>
        </p:spPr>
        <p:txBody>
          <a:bodyPr/>
          <a:lstStyle/>
          <a:p>
            <a:r>
              <a:rPr lang="en-US" dirty="0"/>
              <a:t>Revenue and Expense Recognition</a:t>
            </a:r>
            <a:br>
              <a:rPr lang="en-US" dirty="0"/>
            </a:br>
            <a:r>
              <a:rPr lang="en-US" sz="2400" dirty="0"/>
              <a:t>(1 of 2)</a:t>
            </a:r>
          </a:p>
        </p:txBody>
      </p:sp>
      <p:sp>
        <p:nvSpPr>
          <p:cNvPr id="3" name="Text Placeholder 2">
            <a:extLst>
              <a:ext uri="{FF2B5EF4-FFF2-40B4-BE49-F238E27FC236}">
                <a16:creationId xmlns:a16="http://schemas.microsoft.com/office/drawing/2014/main" id="{F4435B89-1361-4845-9866-64EAC2050971}"/>
              </a:ext>
            </a:extLst>
          </p:cNvPr>
          <p:cNvSpPr>
            <a:spLocks noGrp="1"/>
          </p:cNvSpPr>
          <p:nvPr>
            <p:ph sz="quarter" idx="10"/>
          </p:nvPr>
        </p:nvSpPr>
        <p:spPr>
          <a:xfrm>
            <a:off x="838200" y="1593273"/>
            <a:ext cx="10515600" cy="4474152"/>
          </a:xfrm>
        </p:spPr>
        <p:txBody>
          <a:bodyPr>
            <a:normAutofit/>
          </a:bodyPr>
          <a:lstStyle/>
          <a:p>
            <a:pPr marL="457200" indent="-457200">
              <a:buFont typeface="Arial" panose="020B0604020202020204" pitchFamily="34" charset="0"/>
              <a:buChar char="•"/>
            </a:pPr>
            <a:r>
              <a:rPr lang="en-US" sz="2600" dirty="0"/>
              <a:t>Under the </a:t>
            </a:r>
            <a:r>
              <a:rPr lang="en-US" sz="2600" b="1" dirty="0">
                <a:solidFill>
                  <a:srgbClr val="004A78"/>
                </a:solidFill>
              </a:rPr>
              <a:t>revenue recognition principle</a:t>
            </a:r>
            <a:r>
              <a:rPr lang="en-US" sz="2600" dirty="0"/>
              <a:t>, revenues are recorded when earned, which is when the services have been performed or products have been delivered to customers.</a:t>
            </a:r>
          </a:p>
          <a:p>
            <a:pPr lvl="1"/>
            <a:r>
              <a:rPr lang="en-US" sz="2600" dirty="0"/>
              <a:t>Revenue is normally measured as the assets are received, such as cash or accounts receivable.</a:t>
            </a:r>
          </a:p>
        </p:txBody>
      </p:sp>
    </p:spTree>
    <p:extLst>
      <p:ext uri="{BB962C8B-B14F-4D97-AF65-F5344CB8AC3E}">
        <p14:creationId xmlns:p14="http://schemas.microsoft.com/office/powerpoint/2010/main" val="89189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BF4C-B582-416A-9959-8794371397C7}"/>
              </a:ext>
            </a:extLst>
          </p:cNvPr>
          <p:cNvSpPr>
            <a:spLocks noGrp="1"/>
          </p:cNvSpPr>
          <p:nvPr>
            <p:ph type="title"/>
          </p:nvPr>
        </p:nvSpPr>
        <p:spPr>
          <a:xfrm>
            <a:off x="838200" y="365125"/>
            <a:ext cx="10515600" cy="672105"/>
          </a:xfrm>
        </p:spPr>
        <p:txBody>
          <a:bodyPr/>
          <a:lstStyle/>
          <a:p>
            <a:r>
              <a:rPr lang="en-US" dirty="0"/>
              <a:t>Revenue and Expense Recognition</a:t>
            </a:r>
            <a:br>
              <a:rPr lang="en-US" dirty="0"/>
            </a:br>
            <a:r>
              <a:rPr lang="en-US" sz="2400" dirty="0"/>
              <a:t>(2 of 2)</a:t>
            </a:r>
          </a:p>
        </p:txBody>
      </p:sp>
      <p:sp>
        <p:nvSpPr>
          <p:cNvPr id="3" name="Text Placeholder 2">
            <a:extLst>
              <a:ext uri="{FF2B5EF4-FFF2-40B4-BE49-F238E27FC236}">
                <a16:creationId xmlns:a16="http://schemas.microsoft.com/office/drawing/2014/main" id="{F4435B89-1361-4845-9866-64EAC2050971}"/>
              </a:ext>
            </a:extLst>
          </p:cNvPr>
          <p:cNvSpPr>
            <a:spLocks noGrp="1"/>
          </p:cNvSpPr>
          <p:nvPr>
            <p:ph sz="quarter" idx="10"/>
          </p:nvPr>
        </p:nvSpPr>
        <p:spPr>
          <a:xfrm>
            <a:off x="838200" y="1593273"/>
            <a:ext cx="10515600" cy="4474152"/>
          </a:xfrm>
        </p:spPr>
        <p:txBody>
          <a:bodyPr>
            <a:normAutofit/>
          </a:bodyPr>
          <a:lstStyle/>
          <a:p>
            <a:pPr marL="457200" indent="-457200">
              <a:buFont typeface="Arial" panose="020B0604020202020204" pitchFamily="34" charset="0"/>
              <a:buChar char="•"/>
            </a:pPr>
            <a:r>
              <a:rPr lang="en-US" sz="2600" dirty="0"/>
              <a:t>Under the </a:t>
            </a:r>
            <a:r>
              <a:rPr lang="en-US" sz="2600" b="1" dirty="0">
                <a:solidFill>
                  <a:srgbClr val="004A78"/>
                </a:solidFill>
              </a:rPr>
              <a:t>expense recognition principle</a:t>
            </a:r>
            <a:r>
              <a:rPr lang="en-US" sz="2600" dirty="0"/>
              <a:t>, the expenses incurred in generating revenue must be reported in the same period as the related revenue.</a:t>
            </a:r>
          </a:p>
        </p:txBody>
      </p:sp>
    </p:spTree>
    <p:extLst>
      <p:ext uri="{BB962C8B-B14F-4D97-AF65-F5344CB8AC3E}">
        <p14:creationId xmlns:p14="http://schemas.microsoft.com/office/powerpoint/2010/main" val="1009896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Accounts Requiring Adjustment</a:t>
            </a:r>
          </a:p>
        </p:txBody>
      </p:sp>
      <p:sp>
        <p:nvSpPr>
          <p:cNvPr id="2" name="Content Placeholder 1"/>
          <p:cNvSpPr>
            <a:spLocks noGrp="1"/>
          </p:cNvSpPr>
          <p:nvPr>
            <p:ph idx="1"/>
          </p:nvPr>
        </p:nvSpPr>
        <p:spPr/>
        <p:txBody>
          <a:bodyPr/>
          <a:lstStyle/>
          <a:p>
            <a:r>
              <a:rPr lang="en-US" dirty="0"/>
              <a:t>The two general classifications of accounts requiring adjustment are as follows:</a:t>
            </a:r>
          </a:p>
          <a:p>
            <a:pPr lvl="1"/>
            <a:r>
              <a:rPr lang="en-US" dirty="0"/>
              <a:t>Accruals</a:t>
            </a:r>
          </a:p>
          <a:p>
            <a:pPr lvl="1"/>
            <a:r>
              <a:rPr lang="en-US" dirty="0"/>
              <a:t>Deferrals</a:t>
            </a:r>
          </a:p>
        </p:txBody>
      </p:sp>
    </p:spTree>
    <p:extLst>
      <p:ext uri="{BB962C8B-B14F-4D97-AF65-F5344CB8AC3E}">
        <p14:creationId xmlns:p14="http://schemas.microsoft.com/office/powerpoint/2010/main" val="101541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28D07-449C-41D2-9CE2-47EFCACB3A48}"/>
              </a:ext>
            </a:extLst>
          </p:cNvPr>
          <p:cNvSpPr>
            <a:spLocks noGrp="1"/>
          </p:cNvSpPr>
          <p:nvPr>
            <p:ph type="title"/>
          </p:nvPr>
        </p:nvSpPr>
        <p:spPr>
          <a:xfrm>
            <a:off x="838200" y="365125"/>
            <a:ext cx="10515600" cy="672105"/>
          </a:xfrm>
        </p:spPr>
        <p:txBody>
          <a:bodyPr/>
          <a:lstStyle/>
          <a:p>
            <a:r>
              <a:rPr lang="en-US" dirty="0"/>
              <a:t>Types of Accounts Requiring Adjustment</a:t>
            </a:r>
            <a:br>
              <a:rPr lang="en-US" dirty="0"/>
            </a:br>
            <a:r>
              <a:rPr lang="en-US" sz="2400" dirty="0"/>
              <a:t>(1 of 2)</a:t>
            </a:r>
          </a:p>
        </p:txBody>
      </p:sp>
      <p:sp>
        <p:nvSpPr>
          <p:cNvPr id="3" name="Text Placeholder 2">
            <a:extLst>
              <a:ext uri="{FF2B5EF4-FFF2-40B4-BE49-F238E27FC236}">
                <a16:creationId xmlns:a16="http://schemas.microsoft.com/office/drawing/2014/main" id="{E1647DE9-EEB3-4F21-99DA-33324057B5E1}"/>
              </a:ext>
            </a:extLst>
          </p:cNvPr>
          <p:cNvSpPr>
            <a:spLocks noGrp="1"/>
          </p:cNvSpPr>
          <p:nvPr>
            <p:ph sz="quarter" idx="10"/>
          </p:nvPr>
        </p:nvSpPr>
        <p:spPr>
          <a:xfrm>
            <a:off x="838200" y="1593273"/>
            <a:ext cx="10515600" cy="4474152"/>
          </a:xfrm>
        </p:spPr>
        <p:txBody>
          <a:bodyPr>
            <a:normAutofit/>
          </a:bodyPr>
          <a:lstStyle/>
          <a:p>
            <a:pPr marL="457200" indent="-457200">
              <a:buFont typeface="Arial" panose="020B0604020202020204" pitchFamily="34" charset="0"/>
              <a:buChar char="•"/>
            </a:pPr>
            <a:r>
              <a:rPr lang="en-US" sz="2600" dirty="0"/>
              <a:t>An </a:t>
            </a:r>
            <a:r>
              <a:rPr lang="en-US" sz="2600" b="1" dirty="0">
                <a:solidFill>
                  <a:srgbClr val="004A78"/>
                </a:solidFill>
              </a:rPr>
              <a:t>accrual</a:t>
            </a:r>
            <a:r>
              <a:rPr lang="en-US" sz="2600" dirty="0"/>
              <a:t> occurs when revenue has been earned or an expense has been incurred but has not been recorded. </a:t>
            </a:r>
          </a:p>
          <a:p>
            <a:pPr lvl="1"/>
            <a:r>
              <a:rPr lang="en-US" sz="2600" dirty="0"/>
              <a:t>If the accrual is for revenue, the adjusting entry debits an asset (Accounts Receivable) and credits a revenue account. </a:t>
            </a:r>
          </a:p>
          <a:p>
            <a:pPr lvl="1"/>
            <a:r>
              <a:rPr lang="en-US" sz="2600" dirty="0"/>
              <a:t>If the accrual is for an expense, the adjusting entry debits an expense account and credits a related liability account such as Accounts Payable or Wages Payable. </a:t>
            </a:r>
          </a:p>
        </p:txBody>
      </p:sp>
    </p:spTree>
    <p:extLst>
      <p:ext uri="{BB962C8B-B14F-4D97-AF65-F5344CB8AC3E}">
        <p14:creationId xmlns:p14="http://schemas.microsoft.com/office/powerpoint/2010/main" val="143535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28D07-449C-41D2-9CE2-47EFCACB3A48}"/>
              </a:ext>
            </a:extLst>
          </p:cNvPr>
          <p:cNvSpPr>
            <a:spLocks noGrp="1"/>
          </p:cNvSpPr>
          <p:nvPr>
            <p:ph type="title"/>
          </p:nvPr>
        </p:nvSpPr>
        <p:spPr>
          <a:xfrm>
            <a:off x="838200" y="365125"/>
            <a:ext cx="10515600" cy="672105"/>
          </a:xfrm>
        </p:spPr>
        <p:txBody>
          <a:bodyPr/>
          <a:lstStyle/>
          <a:p>
            <a:r>
              <a:rPr lang="en-US" dirty="0"/>
              <a:t>Types of Accounts Requiring Adjustment</a:t>
            </a:r>
            <a:br>
              <a:rPr lang="en-US" dirty="0"/>
            </a:br>
            <a:r>
              <a:rPr lang="en-US" sz="2400" dirty="0"/>
              <a:t>(2 of 2)</a:t>
            </a:r>
          </a:p>
        </p:txBody>
      </p:sp>
      <p:sp>
        <p:nvSpPr>
          <p:cNvPr id="3" name="Text Placeholder 2">
            <a:extLst>
              <a:ext uri="{FF2B5EF4-FFF2-40B4-BE49-F238E27FC236}">
                <a16:creationId xmlns:a16="http://schemas.microsoft.com/office/drawing/2014/main" id="{E1647DE9-EEB3-4F21-99DA-33324057B5E1}"/>
              </a:ext>
            </a:extLst>
          </p:cNvPr>
          <p:cNvSpPr>
            <a:spLocks noGrp="1"/>
          </p:cNvSpPr>
          <p:nvPr>
            <p:ph sz="quarter" idx="10"/>
          </p:nvPr>
        </p:nvSpPr>
        <p:spPr>
          <a:xfrm>
            <a:off x="838200" y="1593273"/>
            <a:ext cx="10515600" cy="4474152"/>
          </a:xfrm>
        </p:spPr>
        <p:txBody>
          <a:bodyPr>
            <a:noAutofit/>
          </a:bodyPr>
          <a:lstStyle/>
          <a:p>
            <a:pPr marL="457200" indent="-457200">
              <a:buFont typeface="Arial" panose="020B0604020202020204" pitchFamily="34" charset="0"/>
              <a:buChar char="•"/>
            </a:pPr>
            <a:r>
              <a:rPr lang="en-US" sz="2600" dirty="0"/>
              <a:t>A </a:t>
            </a:r>
            <a:r>
              <a:rPr lang="en-US" sz="2600" b="1" dirty="0"/>
              <a:t>deferral</a:t>
            </a:r>
            <a:r>
              <a:rPr lang="en-US" sz="2600" dirty="0"/>
              <a:t> occurs when cash related to a future revenue or expense has been initially recorded as a liability or an asset. </a:t>
            </a:r>
          </a:p>
          <a:p>
            <a:pPr lvl="1"/>
            <a:r>
              <a:rPr lang="en-US" sz="2600" dirty="0"/>
              <a:t>If the cash received is related to future revenue, it is initially recorded as a liability called </a:t>
            </a:r>
            <a:r>
              <a:rPr lang="en-US" sz="2600" b="1" dirty="0">
                <a:solidFill>
                  <a:srgbClr val="004A78"/>
                </a:solidFill>
              </a:rPr>
              <a:t>unearned revenue</a:t>
            </a:r>
            <a:r>
              <a:rPr lang="en-US" sz="2600" dirty="0"/>
              <a:t>. </a:t>
            </a:r>
          </a:p>
          <a:p>
            <a:pPr lvl="1"/>
            <a:r>
              <a:rPr lang="en-US" sz="2600" dirty="0"/>
              <a:t>The adjusting entry in the period when the revenue is earned debits an unearned revenue account and credits a revenue account. </a:t>
            </a:r>
          </a:p>
          <a:p>
            <a:pPr lvl="1"/>
            <a:r>
              <a:rPr lang="en-US" sz="2600" dirty="0"/>
              <a:t>If the cash paid is related to a future expense, it is initially recorded as an asset called </a:t>
            </a:r>
            <a:r>
              <a:rPr lang="en-US" sz="2600" b="1" dirty="0">
                <a:solidFill>
                  <a:srgbClr val="004A78"/>
                </a:solidFill>
              </a:rPr>
              <a:t>prepaid expense</a:t>
            </a:r>
            <a:r>
              <a:rPr lang="en-US" sz="2600" dirty="0"/>
              <a:t>. </a:t>
            </a:r>
          </a:p>
          <a:p>
            <a:pPr lvl="1"/>
            <a:r>
              <a:rPr lang="en-US" sz="2600" dirty="0"/>
              <a:t>The adjusting entry in the period when the expense is incurred debits an expense account and credits a prepaid expense (asset) account.</a:t>
            </a:r>
          </a:p>
        </p:txBody>
      </p:sp>
    </p:spTree>
    <p:extLst>
      <p:ext uri="{BB962C8B-B14F-4D97-AF65-F5344CB8AC3E}">
        <p14:creationId xmlns:p14="http://schemas.microsoft.com/office/powerpoint/2010/main" val="243290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C7C2-0FE1-47DA-897A-A28404674888}"/>
              </a:ext>
            </a:extLst>
          </p:cNvPr>
          <p:cNvSpPr>
            <a:spLocks noGrp="1"/>
          </p:cNvSpPr>
          <p:nvPr>
            <p:ph type="title"/>
          </p:nvPr>
        </p:nvSpPr>
        <p:spPr>
          <a:xfrm>
            <a:off x="385011" y="365125"/>
            <a:ext cx="11470105" cy="671513"/>
          </a:xfrm>
        </p:spPr>
        <p:txBody>
          <a:bodyPr/>
          <a:lstStyle/>
          <a:p>
            <a:pPr>
              <a:spcBef>
                <a:spcPts val="0"/>
              </a:spcBef>
            </a:pPr>
            <a:r>
              <a:rPr lang="en-US" noProof="0" dirty="0"/>
              <a:t>Adjusting Entries for Accruals</a:t>
            </a:r>
            <a:br>
              <a:rPr lang="en-US" noProof="0" dirty="0"/>
            </a:br>
            <a:r>
              <a:rPr lang="en-US" sz="2400" dirty="0"/>
              <a:t>(Learning Objective 2)</a:t>
            </a:r>
            <a:br>
              <a:rPr lang="en-US" sz="2400" noProof="0" dirty="0"/>
            </a:br>
            <a:br>
              <a:rPr lang="en-US" sz="1400" noProof="0" dirty="0"/>
            </a:br>
            <a:r>
              <a:rPr lang="en-US" sz="2400" noProof="0" dirty="0"/>
              <a:t>Exhibit 3 – Unadjusted Trial Balance for NetSolutions</a:t>
            </a:r>
            <a:endParaRPr lang="en-US" sz="2400" dirty="0"/>
          </a:p>
        </p:txBody>
      </p:sp>
      <p:pic>
        <p:nvPicPr>
          <p:cNvPr id="6" name="Content Placeholder 5" descr="An unadjusted trial balance for NetSolutions is shown. A three-line heading is set centered at the top of the trial balance. The first line lists the company name, NetSolutions. The second line lists the type of financial statement, Unadjusted Trial Balance. The third line lists the date, December 31, 20Y3. It shows the following accounts, account numbers, and amounts: Cash, 11, debit balance of 2,065; Accounts Receivable, 12, debit balance of 2,220; Supplies, 14, debit balance of 2,000; Prepaid Insurance, 15, debit balance of 2,400; Land, 17, debit balance of 20,000; Office Equipment, 18, debit balance of 1,800; Accounts Payable, 21, credit balance of 900; Unearned Rent, 23, credit balance of 360; Common Stock, 31, credit balance of 25,000; Dividends, 33, debit balance of 4,000; Fees Earned, 41, credit balance of 16,340; Wages Expense, 51, debit balance of 4,275; Supplies Expense, 52, debit balance of 800; Rent Expense, 53, debit balance of 1,600; Utilities Expense, 54, debit balance of 985; Miscellaneous Expense, 59, debit balance of 455. A single rule underscores 455 in the Debit Balances column and is also set on the same row of the Credit Balances column. The total of the Debit Balances column is 42,600. The total of the Credit Balances column is also 42,600. A double rule appears below both of these balances. ">
            <a:extLst>
              <a:ext uri="{FF2B5EF4-FFF2-40B4-BE49-F238E27FC236}">
                <a16:creationId xmlns:a16="http://schemas.microsoft.com/office/drawing/2014/main" id="{7FB8D04C-A325-44DC-9BC6-DDEE7E9B3A92}"/>
              </a:ext>
            </a:extLst>
          </p:cNvPr>
          <p:cNvPicPr>
            <a:picLocks noGrp="1" noChangeAspect="1"/>
          </p:cNvPicPr>
          <p:nvPr>
            <p:ph sz="quarter" idx="17"/>
          </p:nvPr>
        </p:nvPicPr>
        <p:blipFill>
          <a:blip r:embed="rId2"/>
          <a:stretch>
            <a:fillRect/>
          </a:stretch>
        </p:blipFill>
        <p:spPr>
          <a:xfrm>
            <a:off x="2703512" y="1742603"/>
            <a:ext cx="6784976" cy="4409458"/>
          </a:xfrm>
        </p:spPr>
      </p:pic>
    </p:spTree>
    <p:extLst>
      <p:ext uri="{BB962C8B-B14F-4D97-AF65-F5344CB8AC3E}">
        <p14:creationId xmlns:p14="http://schemas.microsoft.com/office/powerpoint/2010/main" val="2001577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E9FD-03CE-4571-9DFA-85549063EB3B}"/>
              </a:ext>
            </a:extLst>
          </p:cNvPr>
          <p:cNvSpPr>
            <a:spLocks noGrp="1"/>
          </p:cNvSpPr>
          <p:nvPr>
            <p:ph type="title"/>
          </p:nvPr>
        </p:nvSpPr>
        <p:spPr>
          <a:xfrm>
            <a:off x="208547" y="365125"/>
            <a:ext cx="11790947" cy="672105"/>
          </a:xfrm>
        </p:spPr>
        <p:txBody>
          <a:bodyPr/>
          <a:lstStyle/>
          <a:p>
            <a:r>
              <a:rPr kumimoji="0" lang="en-US" b="1" i="0" u="none" strike="noStrike" kern="1200" cap="none" spc="0" normalizeH="0" baseline="0" noProof="0" dirty="0">
                <a:ln>
                  <a:noFill/>
                </a:ln>
                <a:effectLst/>
                <a:uLnTx/>
                <a:uFillTx/>
              </a:rPr>
              <a:t>Exhibit 4 </a:t>
            </a:r>
            <a:r>
              <a:rPr lang="en-US" noProof="0" dirty="0"/>
              <a:t>–</a:t>
            </a:r>
            <a:r>
              <a:rPr kumimoji="0" lang="en-US" b="1" i="0" u="none" strike="noStrike" kern="1200" cap="none" spc="0" normalizeH="0" baseline="0" noProof="0" dirty="0">
                <a:ln>
                  <a:noFill/>
                </a:ln>
                <a:effectLst/>
                <a:uLnTx/>
                <a:uFillTx/>
              </a:rPr>
              <a:t> Expanded Chart of Accounts for NetSolutions</a:t>
            </a:r>
            <a:endParaRPr lang="en-US" dirty="0"/>
          </a:p>
        </p:txBody>
      </p:sp>
      <p:graphicFrame>
        <p:nvGraphicFramePr>
          <p:cNvPr id="4" name="Table 4">
            <a:extLst>
              <a:ext uri="{FF2B5EF4-FFF2-40B4-BE49-F238E27FC236}">
                <a16:creationId xmlns:a16="http://schemas.microsoft.com/office/drawing/2014/main" id="{4CC866CF-A723-4D8E-B5C6-DCEC5CD107E2}"/>
              </a:ext>
            </a:extLst>
          </p:cNvPr>
          <p:cNvGraphicFramePr>
            <a:graphicFrameLocks noGrp="1"/>
          </p:cNvGraphicFramePr>
          <p:nvPr>
            <p:ph sz="quarter" idx="16"/>
            <p:extLst>
              <p:ext uri="{D42A27DB-BD31-4B8C-83A1-F6EECF244321}">
                <p14:modId xmlns:p14="http://schemas.microsoft.com/office/powerpoint/2010/main" val="2279397083"/>
              </p:ext>
            </p:extLst>
          </p:nvPr>
        </p:nvGraphicFramePr>
        <p:xfrm>
          <a:off x="550865" y="1040617"/>
          <a:ext cx="5336589" cy="5120640"/>
        </p:xfrm>
        <a:graphic>
          <a:graphicData uri="http://schemas.openxmlformats.org/drawingml/2006/table">
            <a:tbl>
              <a:tblPr firstRow="1" bandRow="1">
                <a:tableStyleId>{5C22544A-7EE6-4342-B048-85BDC9FD1C3A}</a:tableStyleId>
              </a:tblPr>
              <a:tblGrid>
                <a:gridCol w="5336589">
                  <a:extLst>
                    <a:ext uri="{9D8B030D-6E8A-4147-A177-3AD203B41FA5}">
                      <a16:colId xmlns:a16="http://schemas.microsoft.com/office/drawing/2014/main" val="762899119"/>
                    </a:ext>
                  </a:extLst>
                </a:gridCol>
              </a:tblGrid>
              <a:tr h="303839">
                <a:tc>
                  <a:txBody>
                    <a:bodyPr/>
                    <a:lstStyle/>
                    <a:p>
                      <a:pPr algn="ctr"/>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Balance Sheet Accounts</a:t>
                      </a:r>
                      <a:endParaRPr lang="en-US" sz="1800" dirty="0">
                        <a:solidFill>
                          <a:srgbClr val="000000"/>
                        </a:solidFill>
                        <a:latin typeface="Arial" panose="020B0604020202020204" pitchFamily="34" charset="0"/>
                        <a:cs typeface="Arial" panose="020B0604020202020204" pitchFamily="34" charset="0"/>
                      </a:endParaRPr>
                    </a:p>
                  </a:txBody>
                  <a:tcPr>
                    <a:lnR w="12700" cap="flat" cmpd="sng" algn="ctr">
                      <a:solidFill>
                        <a:schemeClr val="bg1"/>
                      </a:solidFill>
                      <a:prstDash val="solid"/>
                      <a:round/>
                      <a:headEnd type="none" w="med" len="med"/>
                      <a:tailEnd type="none" w="med" len="med"/>
                    </a:lnR>
                    <a:noFill/>
                  </a:tcPr>
                </a:tc>
                <a:extLst>
                  <a:ext uri="{0D108BD9-81ED-4DB2-BD59-A6C34878D82A}">
                    <a16:rowId xmlns:a16="http://schemas.microsoft.com/office/drawing/2014/main" val="1840202689"/>
                  </a:ext>
                </a:extLst>
              </a:tr>
              <a:tr h="3895805">
                <a:tc>
                  <a:txBody>
                    <a:bodyPr/>
                    <a:lstStyle/>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1. Assets</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11   Cash</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12   Accounts Receivable</a:t>
                      </a:r>
                      <a:endParaRPr lang="en-US" sz="1800" b="1" i="0" u="none" strike="noStrike" kern="1200" baseline="0" dirty="0">
                        <a:solidFill>
                          <a:srgbClr val="000000"/>
                        </a:solidFill>
                        <a:latin typeface="Arial" panose="020B0604020202020204" pitchFamily="34" charset="0"/>
                        <a:ea typeface="+mn-ea"/>
                        <a:cs typeface="Arial" panose="020B0604020202020204" pitchFamily="34" charset="0"/>
                      </a:endParaRP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14   Supplies</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15   Prepaid Insurance</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17   Land</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18   Office Equipment</a:t>
                      </a:r>
                    </a:p>
                    <a:p>
                      <a:pPr marL="233363" indent="0"/>
                      <a:r>
                        <a:rPr lang="en-US" sz="1800" b="0" i="0" u="none" strike="noStrike" kern="1200" baseline="0" dirty="0">
                          <a:solidFill>
                            <a:srgbClr val="004A78"/>
                          </a:solidFill>
                          <a:latin typeface="Arial" panose="020B0604020202020204" pitchFamily="34" charset="0"/>
                          <a:ea typeface="+mn-ea"/>
                          <a:cs typeface="Arial" panose="020B0604020202020204" pitchFamily="34" charset="0"/>
                        </a:rPr>
                        <a:t>19   Accumulated Depreciation—Office Equipment</a:t>
                      </a:r>
                    </a:p>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2. Liabilities</a:t>
                      </a:r>
                      <a:endParaRPr lang="en-US" sz="1800" b="0" i="0" u="none" strike="noStrike" kern="1200" baseline="0" dirty="0">
                        <a:solidFill>
                          <a:srgbClr val="000000"/>
                        </a:solidFill>
                        <a:latin typeface="Arial" panose="020B0604020202020204" pitchFamily="34" charset="0"/>
                        <a:ea typeface="+mn-ea"/>
                        <a:cs typeface="Arial" panose="020B0604020202020204" pitchFamily="34" charset="0"/>
                      </a:endParaRP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21   Accounts Payable</a:t>
                      </a:r>
                    </a:p>
                    <a:p>
                      <a:pPr marL="233363" indent="0"/>
                      <a:r>
                        <a:rPr lang="en-US" sz="1800" b="0" i="0" u="none" strike="noStrike" kern="1200" baseline="0" dirty="0">
                          <a:solidFill>
                            <a:srgbClr val="004A78"/>
                          </a:solidFill>
                          <a:latin typeface="Arial" panose="020B0604020202020204" pitchFamily="34" charset="0"/>
                          <a:ea typeface="+mn-ea"/>
                          <a:cs typeface="Arial" panose="020B0604020202020204" pitchFamily="34" charset="0"/>
                        </a:rPr>
                        <a:t>22   Wages Payable</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23   Unearned Rent</a:t>
                      </a:r>
                    </a:p>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3. Stockholders’ Equity</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31   Common Stock</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32   Retained Earnings</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33   Dividends</a:t>
                      </a:r>
                      <a:endParaRPr lang="en-US" sz="1800" dirty="0">
                        <a:solidFill>
                          <a:srgbClr val="000000"/>
                        </a:solidFill>
                        <a:latin typeface="Arial" panose="020B0604020202020204" pitchFamily="34" charset="0"/>
                        <a:cs typeface="Arial" panose="020B0604020202020204" pitchFamily="34" charset="0"/>
                      </a:endParaRPr>
                    </a:p>
                  </a:txBody>
                  <a:tcPr>
                    <a:lnR w="12700" cap="flat" cmpd="sng" algn="ctr">
                      <a:solidFill>
                        <a:schemeClr val="bg1"/>
                      </a:solidFill>
                      <a:prstDash val="solid"/>
                      <a:round/>
                      <a:headEnd type="none" w="med" len="med"/>
                      <a:tailEnd type="none" w="med" len="med"/>
                    </a:lnR>
                    <a:noFill/>
                  </a:tcPr>
                </a:tc>
                <a:extLst>
                  <a:ext uri="{0D108BD9-81ED-4DB2-BD59-A6C34878D82A}">
                    <a16:rowId xmlns:a16="http://schemas.microsoft.com/office/drawing/2014/main" val="1358915937"/>
                  </a:ext>
                </a:extLst>
              </a:tr>
            </a:tbl>
          </a:graphicData>
        </a:graphic>
      </p:graphicFrame>
      <p:sp>
        <p:nvSpPr>
          <p:cNvPr id="3" name="Content Placeholder 2">
            <a:extLst>
              <a:ext uri="{FF2B5EF4-FFF2-40B4-BE49-F238E27FC236}">
                <a16:creationId xmlns:a16="http://schemas.microsoft.com/office/drawing/2014/main" id="{38142571-1E52-49A3-BDA3-CD050873AD16}"/>
              </a:ext>
            </a:extLst>
          </p:cNvPr>
          <p:cNvSpPr>
            <a:spLocks noGrp="1"/>
          </p:cNvSpPr>
          <p:nvPr>
            <p:ph sz="quarter" idx="17"/>
          </p:nvPr>
        </p:nvSpPr>
        <p:spPr>
          <a:xfrm>
            <a:off x="6304548" y="1037230"/>
            <a:ext cx="5035062" cy="3415723"/>
          </a:xfrm>
        </p:spPr>
        <p:txBody>
          <a:bodyPr/>
          <a:lstStyle/>
          <a:p>
            <a:pPr marL="0" algn="ctr" rtl="0" eaLnBrk="1" fontAlgn="t" latinLnBrk="0" hangingPunct="1">
              <a:spcBef>
                <a:spcPts val="0"/>
              </a:spcBef>
              <a:spcAft>
                <a:spcPts val="0"/>
              </a:spcAft>
            </a:pPr>
            <a:r>
              <a:rPr lang="en-US" sz="1800" b="1" i="0" u="none" strike="noStrike" kern="1200" baseline="0" dirty="0">
                <a:solidFill>
                  <a:srgbClr val="000000"/>
                </a:solidFill>
                <a:effectLst/>
                <a:latin typeface="Arial" panose="020B0604020202020204" pitchFamily="34" charset="0"/>
                <a:cs typeface="Arial" panose="020B0604020202020204" pitchFamily="34" charset="0"/>
              </a:rPr>
              <a:t>Income Statement Accounts</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none" strike="noStrike" kern="1200" baseline="0" dirty="0">
                <a:solidFill>
                  <a:srgbClr val="000000"/>
                </a:solidFill>
                <a:effectLst/>
                <a:latin typeface="Arial" panose="020B0604020202020204" pitchFamily="34" charset="0"/>
                <a:cs typeface="Arial" panose="020B0604020202020204" pitchFamily="34" charset="0"/>
              </a:rPr>
              <a:t>4. Revenue</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0000"/>
                </a:solidFill>
                <a:effectLst/>
                <a:latin typeface="Arial" panose="020B0604020202020204" pitchFamily="34" charset="0"/>
                <a:cs typeface="Arial" panose="020B0604020202020204" pitchFamily="34" charset="0"/>
              </a:rPr>
              <a:t>41   Fees Earned</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4A78"/>
                </a:solidFill>
                <a:effectLst/>
                <a:latin typeface="Arial" panose="020B0604020202020204" pitchFamily="34" charset="0"/>
                <a:cs typeface="Arial" panose="020B0604020202020204" pitchFamily="34" charset="0"/>
              </a:rPr>
              <a:t>42   Rent Revenue</a:t>
            </a:r>
            <a:endParaRPr lang="en-US" sz="1800" b="0" i="0" u="none" strike="noStrike" dirty="0">
              <a:solidFill>
                <a:srgbClr val="004A78"/>
              </a:solidFill>
              <a:effectLst/>
              <a:latin typeface="Arial" panose="020B0604020202020204" pitchFamily="34" charset="0"/>
            </a:endParaRPr>
          </a:p>
          <a:p>
            <a:pPr marL="0" algn="l" rtl="0" eaLnBrk="1" fontAlgn="t" latinLnBrk="0" hangingPunct="1">
              <a:spcBef>
                <a:spcPts val="0"/>
              </a:spcBef>
              <a:spcAft>
                <a:spcPts val="0"/>
              </a:spcAft>
            </a:pPr>
            <a:r>
              <a:rPr lang="en-US" sz="1800" b="1" i="0" u="none" strike="noStrike" kern="1200" baseline="0" dirty="0">
                <a:solidFill>
                  <a:srgbClr val="000000"/>
                </a:solidFill>
                <a:effectLst/>
                <a:latin typeface="Arial" panose="020B0604020202020204" pitchFamily="34" charset="0"/>
                <a:cs typeface="Arial" panose="020B0604020202020204" pitchFamily="34" charset="0"/>
              </a:rPr>
              <a:t>5. Expenses</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0000"/>
                </a:solidFill>
                <a:effectLst/>
                <a:latin typeface="Arial" panose="020B0604020202020204" pitchFamily="34" charset="0"/>
                <a:cs typeface="Arial" panose="020B0604020202020204" pitchFamily="34" charset="0"/>
              </a:rPr>
              <a:t>51   Wages Expense</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0000"/>
                </a:solidFill>
                <a:effectLst/>
                <a:latin typeface="Arial" panose="020B0604020202020204" pitchFamily="34" charset="0"/>
                <a:cs typeface="Arial" panose="020B0604020202020204" pitchFamily="34" charset="0"/>
              </a:rPr>
              <a:t>52   Supplies Expense</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0000"/>
                </a:solidFill>
                <a:effectLst/>
                <a:latin typeface="Arial" panose="020B0604020202020204" pitchFamily="34" charset="0"/>
                <a:cs typeface="Arial" panose="020B0604020202020204" pitchFamily="34" charset="0"/>
              </a:rPr>
              <a:t>53   Rent Expense</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0000"/>
                </a:solidFill>
                <a:effectLst/>
                <a:latin typeface="Arial" panose="020B0604020202020204" pitchFamily="34" charset="0"/>
                <a:cs typeface="Arial" panose="020B0604020202020204" pitchFamily="34" charset="0"/>
              </a:rPr>
              <a:t>54   Utilities Expense</a:t>
            </a:r>
            <a:endParaRPr lang="en-US" sz="1800" b="0" i="0" u="none" strike="noStrike" dirty="0">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4A78"/>
                </a:solidFill>
                <a:effectLst/>
                <a:latin typeface="Arial" panose="020B0604020202020204" pitchFamily="34" charset="0"/>
                <a:cs typeface="Arial" panose="020B0604020202020204" pitchFamily="34" charset="0"/>
              </a:rPr>
              <a:t>55   Insurance Expense</a:t>
            </a:r>
            <a:endParaRPr lang="en-US" sz="1800" b="0" i="0" u="none" strike="noStrike" dirty="0">
              <a:solidFill>
                <a:srgbClr val="004A78"/>
              </a:solidFill>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4A78"/>
                </a:solidFill>
                <a:effectLst/>
                <a:latin typeface="Arial" panose="020B0604020202020204" pitchFamily="34" charset="0"/>
                <a:cs typeface="Arial" panose="020B0604020202020204" pitchFamily="34" charset="0"/>
              </a:rPr>
              <a:t>56   Depreciation Expense</a:t>
            </a:r>
            <a:endParaRPr lang="en-US" sz="1800" b="0" i="0" u="none" strike="noStrike" dirty="0">
              <a:solidFill>
                <a:srgbClr val="004A78"/>
              </a:solidFill>
              <a:effectLst/>
              <a:latin typeface="Arial" panose="020B0604020202020204" pitchFamily="34" charset="0"/>
            </a:endParaRPr>
          </a:p>
          <a:p>
            <a:pPr marL="0" indent="237744" algn="l" rtl="0" eaLnBrk="1" fontAlgn="t" latinLnBrk="0" hangingPunct="1">
              <a:spcBef>
                <a:spcPts val="0"/>
              </a:spcBef>
              <a:spcAft>
                <a:spcPts val="0"/>
              </a:spcAft>
            </a:pPr>
            <a:r>
              <a:rPr lang="en-US" sz="1800" b="0" i="0" u="none" strike="noStrike" kern="1200" baseline="0" dirty="0">
                <a:solidFill>
                  <a:srgbClr val="000000"/>
                </a:solidFill>
                <a:effectLst/>
                <a:latin typeface="Arial" panose="020B0604020202020204" pitchFamily="34" charset="0"/>
                <a:cs typeface="Arial" panose="020B0604020202020204" pitchFamily="34" charset="0"/>
              </a:rPr>
              <a:t>59   Miscellaneous Expense</a:t>
            </a:r>
            <a:endParaRPr lang="en-US" sz="1800" b="0" i="0" u="none" strike="noStrike"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327102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B971-8794-4A32-A7FE-5C4B413C71A3}"/>
              </a:ext>
            </a:extLst>
          </p:cNvPr>
          <p:cNvSpPr>
            <a:spLocks noGrp="1"/>
          </p:cNvSpPr>
          <p:nvPr>
            <p:ph type="title"/>
          </p:nvPr>
        </p:nvSpPr>
        <p:spPr>
          <a:xfrm>
            <a:off x="838200" y="365125"/>
            <a:ext cx="10515600" cy="672105"/>
          </a:xfrm>
        </p:spPr>
        <p:txBody>
          <a:bodyPr/>
          <a:lstStyle/>
          <a:p>
            <a:r>
              <a:rPr lang="en-US" dirty="0"/>
              <a:t>Accrued Revenues</a:t>
            </a:r>
            <a:br>
              <a:rPr lang="en-US" dirty="0"/>
            </a:br>
            <a:r>
              <a:rPr lang="en-US" sz="2400" dirty="0"/>
              <a:t>(2 of 3)</a:t>
            </a:r>
          </a:p>
        </p:txBody>
      </p:sp>
      <p:sp>
        <p:nvSpPr>
          <p:cNvPr id="3" name="Text Placeholder 2">
            <a:extLst>
              <a:ext uri="{FF2B5EF4-FFF2-40B4-BE49-F238E27FC236}">
                <a16:creationId xmlns:a16="http://schemas.microsoft.com/office/drawing/2014/main" id="{3AB4D206-FDDC-422C-BB9B-555AE116BD71}"/>
              </a:ext>
            </a:extLst>
          </p:cNvPr>
          <p:cNvSpPr>
            <a:spLocks noGrp="1"/>
          </p:cNvSpPr>
          <p:nvPr>
            <p:ph sz="quarter" idx="16"/>
          </p:nvPr>
        </p:nvSpPr>
        <p:spPr>
          <a:xfrm>
            <a:off x="838201" y="1606550"/>
            <a:ext cx="10515600" cy="1537703"/>
          </a:xfrm>
        </p:spPr>
        <p:txBody>
          <a:bodyPr/>
          <a:lstStyle/>
          <a:p>
            <a:pPr marL="457200" indent="-457200">
              <a:buFont typeface="Arial" panose="020B0604020202020204" pitchFamily="34" charset="0"/>
              <a:buChar char="•"/>
            </a:pPr>
            <a:r>
              <a:rPr lang="en-US" sz="2400" dirty="0"/>
              <a:t>Assume that NetSolutions signed an agreement with Dankner Co. on December 15 to provide services at a rate of $20 per hour. </a:t>
            </a:r>
          </a:p>
          <a:p>
            <a:pPr marL="457200" indent="-457200">
              <a:buFont typeface="Arial" panose="020B0604020202020204" pitchFamily="34" charset="0"/>
              <a:buChar char="•"/>
            </a:pPr>
            <a:r>
              <a:rPr lang="en-US" sz="2400" dirty="0"/>
              <a:t>As of December 31, NetSolutions had provided 25 hours of services. The revenue will be billed on January 15.</a:t>
            </a:r>
          </a:p>
        </p:txBody>
      </p:sp>
      <p:pic>
        <p:nvPicPr>
          <p:cNvPr id="6" name="Content Placeholder 5" descr="An adjusting journal entry is shown in a journal form. December 31 is the date indicated. Accounts Receivable is debited—with 12 shown in the Posting Reference column and 500 shown in the Debit column. Fees Earned is credited—with 41 shown in the Posting Reference column and 500 shown in the Credit column. A journal entry explanation is given below the journal entry: Accrued fees (25 hours times $20) . &#10;&#10;Below the journal form, the accounting equation impact is illustrated, showing the accounting equation: Assets = Liabilities + Stockholders’ Equity (Revenue).&#10;&#10;Under Assets in the accounting equation, a T account for Accounts Receivable is shown. The account number, 12, is shown in the top-right corner of the T account. On the left, in the debit column of the Accounts Receivable T account, a balance of 2,220 is shown. Below that, a December 31 entry of 500 is shown in blue. A single rule underlines the number 500, and below that an adjusted balance of 2,720 is shown. There is a double rule below 2,720.&#10;&#10;Under Stockholders’ Equity (Revenue) in the accounting equation, a T account for Fees Earned is shown. The account number, 41, is shown in the top-right corner of the T account. On the left, the debit column of the Fees Earned T account is blank. On the right, in the credit column of the Fees Earned T account, a balance of 16,340 is shown. Below that, a December 31 entry of 500 is shown in blue. A single rule underlines the number 500, and below that an adjusted balance of 16,840 is shown. There is a double rule below 16,840.&#10;&#10;A double-headed arrow runs from the December 31 debit entry of 500 in the Accounts Receivable T account to the December 31 credit entry of 500 in the Fees Earned T account to indicate that these are the adjusting journal entry amounts.&#10;">
            <a:extLst>
              <a:ext uri="{FF2B5EF4-FFF2-40B4-BE49-F238E27FC236}">
                <a16:creationId xmlns:a16="http://schemas.microsoft.com/office/drawing/2014/main" id="{E6EC208C-E88D-4A47-8D7B-AC265409F58C}"/>
              </a:ext>
            </a:extLst>
          </p:cNvPr>
          <p:cNvPicPr>
            <a:picLocks noGrp="1" noChangeAspect="1"/>
          </p:cNvPicPr>
          <p:nvPr>
            <p:ph sz="quarter" idx="17"/>
          </p:nvPr>
        </p:nvPicPr>
        <p:blipFill>
          <a:blip r:embed="rId2"/>
          <a:stretch>
            <a:fillRect/>
          </a:stretch>
        </p:blipFill>
        <p:spPr>
          <a:xfrm>
            <a:off x="927163" y="3310356"/>
            <a:ext cx="10526034" cy="2689391"/>
          </a:xfrm>
        </p:spPr>
      </p:pic>
    </p:spTree>
    <p:extLst>
      <p:ext uri="{BB962C8B-B14F-4D97-AF65-F5344CB8AC3E}">
        <p14:creationId xmlns:p14="http://schemas.microsoft.com/office/powerpoint/2010/main" val="1846352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EE6D-9146-46F6-922D-B9501277E175}"/>
              </a:ext>
            </a:extLst>
          </p:cNvPr>
          <p:cNvSpPr>
            <a:spLocks noGrp="1"/>
          </p:cNvSpPr>
          <p:nvPr>
            <p:ph type="title"/>
          </p:nvPr>
        </p:nvSpPr>
        <p:spPr>
          <a:xfrm>
            <a:off x="838200" y="365125"/>
            <a:ext cx="10515600" cy="672105"/>
          </a:xfrm>
        </p:spPr>
        <p:txBody>
          <a:bodyPr/>
          <a:lstStyle/>
          <a:p>
            <a:r>
              <a:rPr lang="en-US" dirty="0"/>
              <a:t>Accrued Expenses</a:t>
            </a:r>
            <a:br>
              <a:rPr lang="en-US" dirty="0"/>
            </a:br>
            <a:r>
              <a:rPr lang="en-US" sz="2400" dirty="0"/>
              <a:t>(3 of 5)</a:t>
            </a:r>
          </a:p>
        </p:txBody>
      </p:sp>
      <p:sp>
        <p:nvSpPr>
          <p:cNvPr id="3" name="Text Placeholder 2">
            <a:extLst>
              <a:ext uri="{FF2B5EF4-FFF2-40B4-BE49-F238E27FC236}">
                <a16:creationId xmlns:a16="http://schemas.microsoft.com/office/drawing/2014/main" id="{03ED7B00-98A6-4FF3-98AA-FC51AC49A5DF}"/>
              </a:ext>
            </a:extLst>
          </p:cNvPr>
          <p:cNvSpPr>
            <a:spLocks noGrp="1"/>
          </p:cNvSpPr>
          <p:nvPr>
            <p:ph sz="quarter" idx="16"/>
          </p:nvPr>
        </p:nvSpPr>
        <p:spPr>
          <a:xfrm>
            <a:off x="838201" y="1606550"/>
            <a:ext cx="10515600" cy="511008"/>
          </a:xfrm>
        </p:spPr>
        <p:txBody>
          <a:bodyPr>
            <a:normAutofit/>
          </a:bodyPr>
          <a:lstStyle/>
          <a:p>
            <a:pPr marL="457200" indent="-457200">
              <a:buFont typeface="Arial" panose="020B0604020202020204" pitchFamily="34" charset="0"/>
              <a:buChar char="•"/>
            </a:pPr>
            <a:r>
              <a:rPr lang="en-US" sz="2600" dirty="0"/>
              <a:t>The adjusting journal entry and T accounts are as follows:</a:t>
            </a:r>
          </a:p>
        </p:txBody>
      </p:sp>
      <p:pic>
        <p:nvPicPr>
          <p:cNvPr id="6" name="Content Placeholder 5" descr="An adjusting journal entry is shown in a journal form. December 31 is the date indicated. Wages Expense is debited—with 51 shown in the Posting Reference column and 250 shown in the Debit column. Wages Payable is credited—with 22 shown in the Posting Reference column and 250 shown in the Credit column. A journal entry explanation is given below the journal entry: Accrued wages.&#10;&#10;Below the journal form, the accounting equation impact is illustrated, showing the accounting equation: Assets = Liabilities + Stockholders’ Equity (Expense).&#10;&#10;Under Liabilities in the accounting equation, a T account for Wages Payable is shown. The account number, 22, is shown in the top-right corner of the T account. On the right, in the credit column of the Wages Payable T account, a December 31 entry of 250 is shown in blue.&#10;&#10;Under Stockholders’ Equity (Expense) in the accounting equation, a T account for Wages Expense is shown. The account number, 51, is shown in the top-right corner of the T account. On the left, in the debit column of the Wages Expense T account, a balance of 4,275 is shown. Below that, a December 31 entry of 250 is shown in blue. A single rule underlines the number 250, and below that an adjusted balance of 4,525 is shown.&#10;&#10;A double-headed arrow runs from the December 31 credit entry of 250 in the Wages Payable T account to the December 31 debit entry of 250 in the Wages Expense T account to indicate that these are the adjusting journal entry amounts.&#10;">
            <a:extLst>
              <a:ext uri="{FF2B5EF4-FFF2-40B4-BE49-F238E27FC236}">
                <a16:creationId xmlns:a16="http://schemas.microsoft.com/office/drawing/2014/main" id="{8724C83B-DC2C-42F4-AB18-9FD854E91C78}"/>
              </a:ext>
            </a:extLst>
          </p:cNvPr>
          <p:cNvPicPr>
            <a:picLocks noGrp="1" noChangeAspect="1"/>
          </p:cNvPicPr>
          <p:nvPr>
            <p:ph sz="quarter" idx="17"/>
          </p:nvPr>
        </p:nvPicPr>
        <p:blipFill>
          <a:blip r:embed="rId2"/>
          <a:stretch>
            <a:fillRect/>
          </a:stretch>
        </p:blipFill>
        <p:spPr>
          <a:xfrm>
            <a:off x="667947" y="2549235"/>
            <a:ext cx="10856106" cy="2702215"/>
          </a:xfrm>
        </p:spPr>
      </p:pic>
    </p:spTree>
    <p:extLst>
      <p:ext uri="{BB962C8B-B14F-4D97-AF65-F5344CB8AC3E}">
        <p14:creationId xmlns:p14="http://schemas.microsoft.com/office/powerpoint/2010/main" val="2647904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1</a:t>
            </a:r>
          </a:p>
        </p:txBody>
      </p:sp>
      <p:sp>
        <p:nvSpPr>
          <p:cNvPr id="3" name="Text Placeholder 2"/>
          <p:cNvSpPr>
            <a:spLocks noGrp="1"/>
          </p:cNvSpPr>
          <p:nvPr>
            <p:ph sz="quarter" idx="10"/>
          </p:nvPr>
        </p:nvSpPr>
        <p:spPr>
          <a:xfrm>
            <a:off x="838200" y="1593273"/>
            <a:ext cx="10515600" cy="4474152"/>
          </a:xfrm>
        </p:spPr>
        <p:txBody>
          <a:bodyPr/>
          <a:lstStyle/>
          <a:p>
            <a:r>
              <a:rPr lang="en-US" sz="2600" dirty="0"/>
              <a:t>At the end of an accounting period, an adjusting entry to record revenue that has been earned but not yet recorded would include which of the following?</a:t>
            </a:r>
          </a:p>
          <a:p>
            <a:pPr marL="514350" indent="-514350">
              <a:buFont typeface="+mj-lt"/>
              <a:buAutoNum type="alphaLcPeriod"/>
            </a:pPr>
            <a:r>
              <a:rPr lang="en-US" sz="2600" dirty="0"/>
              <a:t>debit an asset account; debit a revenue account</a:t>
            </a:r>
          </a:p>
          <a:p>
            <a:pPr marL="514350" indent="-514350">
              <a:buFont typeface="+mj-lt"/>
              <a:buAutoNum type="alphaLcPeriod"/>
            </a:pPr>
            <a:r>
              <a:rPr lang="en-US" sz="2600" dirty="0"/>
              <a:t>debit an asset account; credit a revenue account</a:t>
            </a:r>
          </a:p>
          <a:p>
            <a:pPr marL="514350" indent="-514350">
              <a:buFont typeface="+mj-lt"/>
              <a:buAutoNum type="alphaLcPeriod"/>
            </a:pPr>
            <a:r>
              <a:rPr lang="en-US" sz="2600" dirty="0"/>
              <a:t>credit an asset account; debit a revenue account</a:t>
            </a:r>
          </a:p>
          <a:p>
            <a:pPr marL="514350" indent="-514350">
              <a:buFont typeface="+mj-lt"/>
              <a:buAutoNum type="alphaLcPeriod"/>
            </a:pPr>
            <a:r>
              <a:rPr lang="en-US" sz="2600" dirty="0"/>
              <a:t>credit an asset account; credit a revenue account</a:t>
            </a:r>
          </a:p>
        </p:txBody>
      </p:sp>
    </p:spTree>
    <p:extLst>
      <p:ext uri="{BB962C8B-B14F-4D97-AF65-F5344CB8AC3E}">
        <p14:creationId xmlns:p14="http://schemas.microsoft.com/office/powerpoint/2010/main" val="1787734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1: Answer</a:t>
            </a:r>
          </a:p>
        </p:txBody>
      </p:sp>
      <p:sp>
        <p:nvSpPr>
          <p:cNvPr id="3" name="Text Placeholder 2"/>
          <p:cNvSpPr>
            <a:spLocks noGrp="1"/>
          </p:cNvSpPr>
          <p:nvPr>
            <p:ph sz="quarter" idx="10"/>
          </p:nvPr>
        </p:nvSpPr>
        <p:spPr>
          <a:xfrm>
            <a:off x="838200" y="1593273"/>
            <a:ext cx="10515600" cy="4474152"/>
          </a:xfrm>
        </p:spPr>
        <p:txBody>
          <a:bodyPr/>
          <a:lstStyle/>
          <a:p>
            <a:r>
              <a:rPr lang="en-US" sz="2600" dirty="0"/>
              <a:t>At the end of an accounting period, an adjusting entry to record revenue that has been earned but not yet recorded would include which of the following?</a:t>
            </a:r>
          </a:p>
          <a:p>
            <a:endParaRPr lang="en-US" sz="2600" dirty="0"/>
          </a:p>
          <a:p>
            <a:r>
              <a:rPr lang="en-US" sz="2600" b="1" dirty="0"/>
              <a:t>Answer: </a:t>
            </a:r>
            <a:r>
              <a:rPr lang="en-US" sz="2600" dirty="0"/>
              <a:t>b. debit an asset account; credit a revenue account</a:t>
            </a:r>
          </a:p>
          <a:p>
            <a:endParaRPr lang="en-US" sz="2600" dirty="0"/>
          </a:p>
          <a:p>
            <a:r>
              <a:rPr lang="en-US" sz="2600" dirty="0"/>
              <a:t>At the end of an accounting period, when there may be revenue that has been earned but has not been recorded, the revenue is recorded by increasing (debiting) an asset account and increasing (crediting) a revenue account.</a:t>
            </a:r>
          </a:p>
        </p:txBody>
      </p:sp>
    </p:spTree>
    <p:extLst>
      <p:ext uri="{BB962C8B-B14F-4D97-AF65-F5344CB8AC3E}">
        <p14:creationId xmlns:p14="http://schemas.microsoft.com/office/powerpoint/2010/main" val="3267857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962A5-1AFC-438E-A082-2A9A04C6AB4B}"/>
              </a:ext>
            </a:extLst>
          </p:cNvPr>
          <p:cNvSpPr>
            <a:spLocks noGrp="1"/>
          </p:cNvSpPr>
          <p:nvPr>
            <p:ph type="title"/>
          </p:nvPr>
        </p:nvSpPr>
        <p:spPr>
          <a:xfrm>
            <a:off x="838200" y="365125"/>
            <a:ext cx="10515600" cy="672105"/>
          </a:xfrm>
        </p:spPr>
        <p:txBody>
          <a:bodyPr/>
          <a:lstStyle/>
          <a:p>
            <a:r>
              <a:rPr lang="en-US" dirty="0"/>
              <a:t> Adjusting Entries for Deferrals </a:t>
            </a:r>
            <a:r>
              <a:rPr lang="en-US" sz="2400" dirty="0"/>
              <a:t>(LO3) </a:t>
            </a:r>
            <a:br>
              <a:rPr lang="en-US" dirty="0"/>
            </a:br>
            <a:r>
              <a:rPr lang="en-US" dirty="0"/>
              <a:t>Unearned Revenues</a:t>
            </a:r>
            <a:br>
              <a:rPr lang="en-US" dirty="0"/>
            </a:br>
            <a:r>
              <a:rPr lang="en-US" sz="2400" dirty="0"/>
              <a:t>(1 of 2)</a:t>
            </a:r>
          </a:p>
        </p:txBody>
      </p:sp>
      <p:sp>
        <p:nvSpPr>
          <p:cNvPr id="3" name="Text Placeholder 2">
            <a:extLst>
              <a:ext uri="{FF2B5EF4-FFF2-40B4-BE49-F238E27FC236}">
                <a16:creationId xmlns:a16="http://schemas.microsoft.com/office/drawing/2014/main" id="{BBF702CE-0B04-48CA-A9EB-DA8467CF80E0}"/>
              </a:ext>
            </a:extLst>
          </p:cNvPr>
          <p:cNvSpPr>
            <a:spLocks noGrp="1"/>
          </p:cNvSpPr>
          <p:nvPr>
            <p:ph sz="quarter" idx="16"/>
          </p:nvPr>
        </p:nvSpPr>
        <p:spPr>
          <a:xfrm>
            <a:off x="838200" y="1835149"/>
            <a:ext cx="10515600" cy="2271630"/>
          </a:xfrm>
        </p:spPr>
        <p:txBody>
          <a:bodyPr>
            <a:noAutofit/>
          </a:bodyPr>
          <a:lstStyle/>
          <a:p>
            <a:pPr marL="457200" indent="-457200">
              <a:spcBef>
                <a:spcPts val="300"/>
              </a:spcBef>
              <a:buFont typeface="Arial" panose="020B0604020202020204" pitchFamily="34" charset="0"/>
              <a:buChar char="•"/>
            </a:pPr>
            <a:r>
              <a:rPr lang="en-US" sz="2200" dirty="0"/>
              <a:t>The December 31 unadjusted trial balance of NetSolutions indicates a balance in the unearned rent account of $360.</a:t>
            </a:r>
          </a:p>
          <a:p>
            <a:pPr marL="457200" indent="-457200">
              <a:spcBef>
                <a:spcPts val="300"/>
              </a:spcBef>
              <a:buFont typeface="Arial" panose="020B0604020202020204" pitchFamily="34" charset="0"/>
              <a:buChar char="•"/>
            </a:pPr>
            <a:r>
              <a:rPr lang="en-US" sz="2200" dirty="0"/>
              <a:t>This balance represents the receipt of three months’ rent on December 1 for December, January, and February.</a:t>
            </a:r>
          </a:p>
          <a:p>
            <a:pPr marL="457200" indent="-457200">
              <a:spcBef>
                <a:spcPts val="300"/>
              </a:spcBef>
              <a:buFont typeface="Arial" panose="020B0604020202020204" pitchFamily="34" charset="0"/>
              <a:buChar char="•"/>
            </a:pPr>
            <a:r>
              <a:rPr lang="en-US" sz="2200" dirty="0"/>
              <a:t>At the end of December, one month’s rent has been earned.</a:t>
            </a:r>
          </a:p>
          <a:p>
            <a:pPr marL="457200" indent="-457200">
              <a:spcBef>
                <a:spcPts val="300"/>
              </a:spcBef>
              <a:buFont typeface="Arial" panose="020B0604020202020204" pitchFamily="34" charset="0"/>
              <a:buChar char="•"/>
            </a:pPr>
            <a:r>
              <a:rPr lang="en-US" sz="2200" dirty="0"/>
              <a:t>The adjusting journal entry and T accounts are as follows:</a:t>
            </a:r>
          </a:p>
        </p:txBody>
      </p:sp>
      <p:pic>
        <p:nvPicPr>
          <p:cNvPr id="9" name="Content Placeholder 8" descr="An adjusting journal entry is shown in a journal form. December 31 is the date indicated. Unearned Rent is debited—with 23 shown in the Posting Reference column and 120 shown in the Debit column. Rent Revenue is credited—with 42 shown in the Posting Reference column and 120 shown in the Credit column. A journal entry explanation is given below the journal entry: Rent earned ($360 divided by 3 months). &#10;&#10;Below the journal form, the accounting equation impact is illustrated, showing the accounting equation: Assets = Liabilities + Stockholders’ Equity (Revenue).&#10;&#10;Under Liabilities in the accounting equation, a T account for Unearned Rent is shown. The account number, 23, is shown in the top-right corner of the T account. On the left, in the debit column of the Unearned Rent T account, a December 31 entry of 120 is shown in blue. On the right, in the credit column of the Unearned Rent T account, a balance of 360 is shown. A single rule appears below 360, and below the rule an adjusted balance of 240 is shown. &#10;&#10;Under Stockholders’ Equity (Revenue) in the accounting equation, a T account for Rent Revenue is shown. The account number, 42, is shown in the top-right corner of the T account. On the left, the debit column of the Rent Revenue T account is blank. On the right, in the credit column of the Rent Revenue T account, a December 31 entry of 120 is shown in blue. &#10;&#10;A double-headed arrow runs from the December 31 debit entry of 120 in the Unearned Rent T account to the December 31 credit entry of 120 in the Rent Revenue T account to indicate that these are the adjusting journal entry amounts.&#10;">
            <a:extLst>
              <a:ext uri="{FF2B5EF4-FFF2-40B4-BE49-F238E27FC236}">
                <a16:creationId xmlns:a16="http://schemas.microsoft.com/office/drawing/2014/main" id="{462442A1-7563-41C0-B6CF-322E1297A1A0}"/>
              </a:ext>
            </a:extLst>
          </p:cNvPr>
          <p:cNvPicPr>
            <a:picLocks noGrp="1" noChangeAspect="1"/>
          </p:cNvPicPr>
          <p:nvPr>
            <p:ph sz="quarter" idx="17"/>
          </p:nvPr>
        </p:nvPicPr>
        <p:blipFill>
          <a:blip r:embed="rId2"/>
          <a:stretch>
            <a:fillRect/>
          </a:stretch>
        </p:blipFill>
        <p:spPr>
          <a:xfrm>
            <a:off x="1661653" y="3904581"/>
            <a:ext cx="8868694" cy="2271629"/>
          </a:xfrm>
          <a:prstGeom prst="rect">
            <a:avLst/>
          </a:prstGeom>
        </p:spPr>
      </p:pic>
    </p:spTree>
    <p:extLst>
      <p:ext uri="{BB962C8B-B14F-4D97-AF65-F5344CB8AC3E}">
        <p14:creationId xmlns:p14="http://schemas.microsoft.com/office/powerpoint/2010/main" val="561526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A1F54-F4E4-4FA0-BC7F-99ACD1FF9070}"/>
              </a:ext>
            </a:extLst>
          </p:cNvPr>
          <p:cNvSpPr>
            <a:spLocks noGrp="1"/>
          </p:cNvSpPr>
          <p:nvPr>
            <p:ph type="title"/>
          </p:nvPr>
        </p:nvSpPr>
        <p:spPr/>
        <p:txBody>
          <a:bodyPr/>
          <a:lstStyle/>
          <a:p>
            <a:r>
              <a:rPr lang="en-US" dirty="0"/>
              <a:t>Prepaid Expenses</a:t>
            </a:r>
            <a:br>
              <a:rPr lang="en-US" dirty="0"/>
            </a:br>
            <a:endParaRPr lang="en-US" sz="2000" dirty="0"/>
          </a:p>
        </p:txBody>
      </p:sp>
      <p:sp>
        <p:nvSpPr>
          <p:cNvPr id="3" name="Text Placeholder 2">
            <a:extLst>
              <a:ext uri="{FF2B5EF4-FFF2-40B4-BE49-F238E27FC236}">
                <a16:creationId xmlns:a16="http://schemas.microsoft.com/office/drawing/2014/main" id="{2CB20E95-6C99-45F8-90C0-046B4D1973FB}"/>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The December 31, 20Y3, unadjusted trial balance of NetSolutions indicates a balance in the supplies account of $2,000.</a:t>
            </a:r>
          </a:p>
          <a:p>
            <a:pPr marL="457200" indent="-457200">
              <a:buFont typeface="Arial" panose="020B0604020202020204" pitchFamily="34" charset="0"/>
              <a:buChar char="•"/>
            </a:pPr>
            <a:r>
              <a:rPr lang="en-US" sz="2600" dirty="0"/>
              <a:t>In addition, the prepaid insurance account has a balance of $2,400.</a:t>
            </a:r>
          </a:p>
          <a:p>
            <a:pPr marL="457200" indent="-457200">
              <a:buFont typeface="Arial" panose="020B0604020202020204" pitchFamily="34" charset="0"/>
              <a:buChar char="•"/>
            </a:pPr>
            <a:r>
              <a:rPr lang="en-US" sz="2600" dirty="0"/>
              <a:t>Each of these accounts requires an adjusting entry.</a:t>
            </a:r>
          </a:p>
        </p:txBody>
      </p:sp>
    </p:spTree>
    <p:extLst>
      <p:ext uri="{BB962C8B-B14F-4D97-AF65-F5344CB8AC3E}">
        <p14:creationId xmlns:p14="http://schemas.microsoft.com/office/powerpoint/2010/main" val="262703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Prepaid Expenses: Supplies</a:t>
            </a:r>
            <a:br>
              <a:rPr lang="en-US" dirty="0"/>
            </a:br>
            <a:endParaRPr lang="en-US" sz="1800" dirty="0"/>
          </a:p>
        </p:txBody>
      </p:sp>
      <p:sp>
        <p:nvSpPr>
          <p:cNvPr id="3" name="Content Placeholder 2"/>
          <p:cNvSpPr>
            <a:spLocks noGrp="1"/>
          </p:cNvSpPr>
          <p:nvPr>
            <p:ph idx="1"/>
          </p:nvPr>
        </p:nvSpPr>
        <p:spPr/>
        <p:txBody>
          <a:bodyPr/>
          <a:lstStyle/>
          <a:p>
            <a:pPr>
              <a:buSzPct val="125000"/>
              <a:buFont typeface="Arial" panose="020B0604020202020204" pitchFamily="34" charset="0"/>
              <a:buChar char="•"/>
            </a:pPr>
            <a:r>
              <a:rPr lang="en-US" sz="2400" dirty="0"/>
              <a:t>The December 31, 20Y3 unadjusted trial balance of NetSolutions indicates a balance in the supplies account of $2,000. Some of these supplies were used during December, and some are still on hand (not used). Assuming that on December 31 the amount of supplies on hand is $760, the amount to be transferred from the asset account to the expense account is computed as follows:</a:t>
            </a:r>
          </a:p>
        </p:txBody>
      </p:sp>
      <p:pic>
        <p:nvPicPr>
          <p:cNvPr id="5" name="Picture 4" descr="A table showing the computation of the amount of supplies used for NetSolutions at year-end is shown. The table shows the following: Supplies available during December (balance of account), $2,000; Supplies on hand, December 31, 760. A single rule appears below 760. Supplies used (amount of adjustment), $1,240. A double rule appears below $1,240. The words Supplies used (amount of adjustment) and $1,240 are shown in bright blue type."/>
          <p:cNvPicPr>
            <a:picLocks noChangeAspect="1"/>
          </p:cNvPicPr>
          <p:nvPr/>
        </p:nvPicPr>
        <p:blipFill>
          <a:blip r:embed="rId2"/>
          <a:stretch>
            <a:fillRect/>
          </a:stretch>
        </p:blipFill>
        <p:spPr>
          <a:xfrm>
            <a:off x="2552700" y="4343401"/>
            <a:ext cx="7086601" cy="100000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5E88D-F0F3-4661-8048-BC57438DDB18}"/>
              </a:ext>
            </a:extLst>
          </p:cNvPr>
          <p:cNvSpPr>
            <a:spLocks noGrp="1"/>
          </p:cNvSpPr>
          <p:nvPr>
            <p:ph type="title"/>
          </p:nvPr>
        </p:nvSpPr>
        <p:spPr/>
        <p:txBody>
          <a:bodyPr/>
          <a:lstStyle/>
          <a:p>
            <a:r>
              <a:rPr lang="en-US" dirty="0"/>
              <a:t>Prepaid Expenses </a:t>
            </a:r>
            <a:r>
              <a:rPr lang="en-US" noProof="0" dirty="0"/>
              <a:t>–</a:t>
            </a:r>
            <a:r>
              <a:rPr lang="en-US" dirty="0"/>
              <a:t> Supplies</a:t>
            </a:r>
            <a:br>
              <a:rPr lang="en-US" dirty="0"/>
            </a:br>
            <a:endParaRPr lang="en-US" sz="2000" dirty="0"/>
          </a:p>
        </p:txBody>
      </p:sp>
      <p:pic>
        <p:nvPicPr>
          <p:cNvPr id="5" name="Content Placeholder 4" descr="An adjusting journal entry is shown on page 5 of a journal form. December 31, 20Y3, is the date indicated in the Date column. In the Description column, Supplies Expense is debited—with 52 shown in the Posting Reference column and 1,240 shown in the Debit column. Supplies is credited—with 14 shown in the Posting Reference column and 1,240 shown in the Credit column. A journal entry explanation is given below the journal entry: Supplies used ($2,000 minus $760).&#10;&#10;Below the journal form, the accounting equation impact is illustrated, showing the accounting equation: Assets = Liabilities + Stockholders’ Equity (Expense).&#10;&#10;Under Assets in the accounting equation, a T account for Supplies is shown. The account number, 14, is shown in the top-right corner of the T account. On the left, in the debit column of the Supplies T account, a balance of 2,000 is shown. A single rule underlines the number 2,000, and below the rule an adjusted balance of 760 is shown. On the right, in the credit column of the Supplies T account, a December 31 entry of 1,240 is shown in blue.&#10;&#10;Under Stockholders’ Equity (Expense) in the accounting equation, a T account for Supplies Expense is shown. The account number for Supplies Expense, 52, is shown in the top-right corner of the T account. On the left, in the debit column of the Supplies Expense T account, a balance of 800 is shown. On the next line, a December 31 entry of 1,240 is shown in blue. On the third line, an adjusted balance of 2,040 is shown. The credit column of the Supplies Expense T account is blank.&#10;&#10;A double-headed arrow runs from the December 31 credit entry of 1,240 in the Supplies T account to the December 31 debit entry of 1,240 in the Supplies Expense T account to indicate that these are the adjusting journal entry amounts.&#10;">
            <a:extLst>
              <a:ext uri="{FF2B5EF4-FFF2-40B4-BE49-F238E27FC236}">
                <a16:creationId xmlns:a16="http://schemas.microsoft.com/office/drawing/2014/main" id="{C0800CFD-554B-4295-BF87-B0A6105506BF}"/>
              </a:ext>
            </a:extLst>
          </p:cNvPr>
          <p:cNvPicPr>
            <a:picLocks noGrp="1" noChangeAspect="1"/>
          </p:cNvPicPr>
          <p:nvPr>
            <p:ph sz="quarter" idx="10"/>
          </p:nvPr>
        </p:nvPicPr>
        <p:blipFill>
          <a:blip r:embed="rId3"/>
          <a:stretch>
            <a:fillRect/>
          </a:stretch>
        </p:blipFill>
        <p:spPr>
          <a:xfrm>
            <a:off x="687944" y="1879333"/>
            <a:ext cx="10816112" cy="3708143"/>
          </a:xfrm>
          <a:prstGeom prst="rect">
            <a:avLst/>
          </a:prstGeom>
        </p:spPr>
      </p:pic>
    </p:spTree>
    <p:extLst>
      <p:ext uri="{BB962C8B-B14F-4D97-AF65-F5344CB8AC3E}">
        <p14:creationId xmlns:p14="http://schemas.microsoft.com/office/powerpoint/2010/main" val="3310852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B3D45-7D5E-4CE9-A235-F81BAA00E298}"/>
              </a:ext>
            </a:extLst>
          </p:cNvPr>
          <p:cNvSpPr>
            <a:spLocks noGrp="1"/>
          </p:cNvSpPr>
          <p:nvPr>
            <p:ph type="title"/>
          </p:nvPr>
        </p:nvSpPr>
        <p:spPr>
          <a:xfrm>
            <a:off x="838200" y="365125"/>
            <a:ext cx="10515600" cy="672105"/>
          </a:xfrm>
        </p:spPr>
        <p:txBody>
          <a:bodyPr/>
          <a:lstStyle/>
          <a:p>
            <a:r>
              <a:rPr lang="en-US" dirty="0"/>
              <a:t>Prepaid Insurance</a:t>
            </a:r>
            <a:br>
              <a:rPr lang="en-US" dirty="0"/>
            </a:br>
            <a:endParaRPr lang="en-US" dirty="0"/>
          </a:p>
        </p:txBody>
      </p:sp>
      <p:sp>
        <p:nvSpPr>
          <p:cNvPr id="3" name="Text Placeholder 2">
            <a:extLst>
              <a:ext uri="{FF2B5EF4-FFF2-40B4-BE49-F238E27FC236}">
                <a16:creationId xmlns:a16="http://schemas.microsoft.com/office/drawing/2014/main" id="{CD67C107-0E97-4F68-834F-5CA1359EE497}"/>
              </a:ext>
            </a:extLst>
          </p:cNvPr>
          <p:cNvSpPr>
            <a:spLocks noGrp="1"/>
          </p:cNvSpPr>
          <p:nvPr>
            <p:ph sz="quarter" idx="16"/>
          </p:nvPr>
        </p:nvSpPr>
        <p:spPr>
          <a:xfrm>
            <a:off x="838201" y="1606550"/>
            <a:ext cx="10515600" cy="2698750"/>
          </a:xfrm>
        </p:spPr>
        <p:txBody>
          <a:bodyPr>
            <a:noAutofit/>
          </a:bodyPr>
          <a:lstStyle/>
          <a:p>
            <a:pPr marL="342900" indent="-342900">
              <a:spcBef>
                <a:spcPts val="300"/>
              </a:spcBef>
              <a:buFont typeface="Arial" panose="020B0604020202020204" pitchFamily="34" charset="0"/>
              <a:buChar char="•"/>
            </a:pPr>
            <a:r>
              <a:rPr lang="en-US" sz="2200" dirty="0"/>
              <a:t>The debit balance of $2,400 in NetSolutions’ prepaid insurance account represents a December 1 prepayment of insurance for 12 months. </a:t>
            </a:r>
          </a:p>
          <a:p>
            <a:pPr marL="342900" indent="-342900">
              <a:spcBef>
                <a:spcPts val="300"/>
              </a:spcBef>
              <a:buFont typeface="Arial" panose="020B0604020202020204" pitchFamily="34" charset="0"/>
              <a:buChar char="•"/>
            </a:pPr>
            <a:r>
              <a:rPr lang="en-US" sz="2200" dirty="0"/>
              <a:t>At the end of December, the insurance expense account is increased (debited), and the prepaid insurance account is decreased (credited) by $200, the insurance for one month.</a:t>
            </a:r>
          </a:p>
          <a:p>
            <a:pPr marL="342900" indent="-342900">
              <a:spcBef>
                <a:spcPts val="300"/>
              </a:spcBef>
              <a:buFont typeface="Arial" panose="020B0604020202020204" pitchFamily="34" charset="0"/>
              <a:buChar char="•"/>
            </a:pPr>
            <a:r>
              <a:rPr lang="en-US" sz="2200" dirty="0"/>
              <a:t>The adjusting journal entry and T accounts for Prepaid Insurance and Insurance Expense are as follows:</a:t>
            </a:r>
          </a:p>
        </p:txBody>
      </p:sp>
      <p:pic>
        <p:nvPicPr>
          <p:cNvPr id="6" name="Content Placeholder 5" descr="An adjusting journal entry is shown in a journal form. December 31 is the date indicated. Insurance Expense is debited—with 55 shown in the Posting Reference column and 200 shown in the Debit column. Prepaid Insurance is credited—with 15 shown in the Posting Reference column and 200 shown in the Credit column. A journal entry explanation is given below the journal entry: Insurance expired ($2,400 divided by 12).&#10;&#10;Below the journal form, the accounting equation impact is illustrated, showing the accounting equation: Assets = Liabilities + Stockholders’ Equity (Expense).&#10;&#10;Under Assets in the accounting equation, a T account for Prepaid Insurance is shown. The account number, 15, is shown in the top-right corner of the T account. On the left, in the debit column of the Prepaid Insurance T account, a balance of 2,400 is shown. A single rule underlines the number 2,400, and below the rule an adjusted balance of 2,200 is shown. On the right, in the credit column of the Prepaid Insurance T account, a December 31 entry of 200 is shown in blue.&#10;&#10;Under Stockholders’ Equity (Expense) in the accounting equation, a T account for Insurance Expense is shown. The account number, 55, is shown in the top-right corner of the T account. On the left, in the debit column of the Insurance Expense T account, a December 31 entry of 200 is shown in blue. The credit column of the Insurance Expense T account is blank.&#10;&#10;A double-headed arrow runs from the December 31 credit entry of 200 in the Prepaid Insurance T account to the December 31 debit entry of 200 in the Insurance Expense T account to indicate that these are the adjusting journal entry amounts.&#10;">
            <a:extLst>
              <a:ext uri="{FF2B5EF4-FFF2-40B4-BE49-F238E27FC236}">
                <a16:creationId xmlns:a16="http://schemas.microsoft.com/office/drawing/2014/main" id="{5AC8D89C-6835-4EBE-BF62-6482C269E6D5}"/>
              </a:ext>
            </a:extLst>
          </p:cNvPr>
          <p:cNvPicPr>
            <a:picLocks noGrp="1" noChangeAspect="1"/>
          </p:cNvPicPr>
          <p:nvPr>
            <p:ph sz="quarter" idx="17"/>
          </p:nvPr>
        </p:nvPicPr>
        <p:blipFill>
          <a:blip r:embed="rId2"/>
          <a:stretch>
            <a:fillRect/>
          </a:stretch>
        </p:blipFill>
        <p:spPr>
          <a:xfrm>
            <a:off x="2025679" y="3942730"/>
            <a:ext cx="8140641" cy="2267570"/>
          </a:xfrm>
        </p:spPr>
      </p:pic>
    </p:spTree>
    <p:extLst>
      <p:ext uri="{BB962C8B-B14F-4D97-AF65-F5344CB8AC3E}">
        <p14:creationId xmlns:p14="http://schemas.microsoft.com/office/powerpoint/2010/main" val="948165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2</a:t>
            </a:r>
          </a:p>
        </p:txBody>
      </p:sp>
      <p:sp>
        <p:nvSpPr>
          <p:cNvPr id="3" name="Text Placeholder 2"/>
          <p:cNvSpPr>
            <a:spLocks noGrp="1"/>
          </p:cNvSpPr>
          <p:nvPr>
            <p:ph sz="quarter" idx="10"/>
          </p:nvPr>
        </p:nvSpPr>
        <p:spPr>
          <a:xfrm>
            <a:off x="838200" y="1593273"/>
            <a:ext cx="10515600" cy="4474152"/>
          </a:xfrm>
        </p:spPr>
        <p:txBody>
          <a:bodyPr/>
          <a:lstStyle/>
          <a:p>
            <a:r>
              <a:rPr lang="en-US" sz="2600" dirty="0"/>
              <a:t>On November 20, Cassie purchases a $200 ticket on Delta Airlines to fly to Orlando on January 28 of the next year. Assuming Delta Airlines has a fiscal year end of December 31, which account would they credit to record the sale of this airline ticket on November 20? </a:t>
            </a:r>
          </a:p>
          <a:p>
            <a:pPr marL="514350" indent="-514350">
              <a:buFont typeface="+mj-lt"/>
              <a:buAutoNum type="alphaLcPeriod"/>
            </a:pPr>
            <a:r>
              <a:rPr lang="en-US" sz="2600" dirty="0"/>
              <a:t>Sales</a:t>
            </a:r>
          </a:p>
          <a:p>
            <a:pPr marL="514350" indent="-514350">
              <a:buFont typeface="+mj-lt"/>
              <a:buAutoNum type="alphaLcPeriod"/>
            </a:pPr>
            <a:r>
              <a:rPr lang="en-US" sz="2600" dirty="0"/>
              <a:t>Cash</a:t>
            </a:r>
          </a:p>
          <a:p>
            <a:pPr marL="514350" indent="-514350">
              <a:buFont typeface="+mj-lt"/>
              <a:buAutoNum type="alphaLcPeriod"/>
            </a:pPr>
            <a:r>
              <a:rPr lang="en-US" sz="2600" dirty="0"/>
              <a:t>Unearned Revenue</a:t>
            </a:r>
          </a:p>
          <a:p>
            <a:pPr marL="514350" indent="-514350">
              <a:buFont typeface="+mj-lt"/>
              <a:buAutoNum type="alphaLcPeriod"/>
            </a:pPr>
            <a:r>
              <a:rPr lang="en-US" sz="2600" dirty="0"/>
              <a:t>Accounts Receivable</a:t>
            </a:r>
          </a:p>
          <a:p>
            <a:endParaRPr lang="en-US" sz="2600" dirty="0"/>
          </a:p>
        </p:txBody>
      </p:sp>
    </p:spTree>
    <p:extLst>
      <p:ext uri="{BB962C8B-B14F-4D97-AF65-F5344CB8AC3E}">
        <p14:creationId xmlns:p14="http://schemas.microsoft.com/office/powerpoint/2010/main" val="1376370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2: Answer</a:t>
            </a:r>
          </a:p>
        </p:txBody>
      </p:sp>
      <p:sp>
        <p:nvSpPr>
          <p:cNvPr id="3" name="Text Placeholder 2"/>
          <p:cNvSpPr>
            <a:spLocks noGrp="1"/>
          </p:cNvSpPr>
          <p:nvPr>
            <p:ph sz="quarter" idx="10"/>
          </p:nvPr>
        </p:nvSpPr>
        <p:spPr>
          <a:xfrm>
            <a:off x="838200" y="1593273"/>
            <a:ext cx="10515600" cy="4474152"/>
          </a:xfrm>
        </p:spPr>
        <p:txBody>
          <a:bodyPr>
            <a:noAutofit/>
          </a:bodyPr>
          <a:lstStyle/>
          <a:p>
            <a:r>
              <a:rPr lang="en-US" sz="2200" dirty="0"/>
              <a:t>On November 20, Cassie purchases a $200 ticket on Delta Airlines to fly to Orlando on January 28 of the next year. Assuming Delta Airlines has a fiscal year end of December 31, which account would they credit to record the sale of this airline ticket on November 20?</a:t>
            </a:r>
          </a:p>
          <a:p>
            <a:endParaRPr lang="en-US" sz="2200" dirty="0"/>
          </a:p>
          <a:p>
            <a:r>
              <a:rPr lang="en-US" sz="2200" b="1" dirty="0"/>
              <a:t>Answer: </a:t>
            </a:r>
            <a:r>
              <a:rPr lang="en-US" sz="2200" dirty="0"/>
              <a:t>c. Unearned Revenue</a:t>
            </a:r>
          </a:p>
          <a:p>
            <a:endParaRPr lang="en-US" sz="2200" dirty="0"/>
          </a:p>
          <a:p>
            <a:r>
              <a:rPr lang="en-US" sz="2200" dirty="0"/>
              <a:t>Even though Delta has collected the cash from the customer for the sale of the ticket on November 20, at the end of the fiscal year on December 31, they have not yet provided the service for this sale (the flight has not yet occurred). They cannot claim the $200 sale until after the flight has taken place on January 28. The Unearned Revenue account, which is a liability, can “hold” the revenue until it is actually earned.</a:t>
            </a:r>
          </a:p>
        </p:txBody>
      </p:sp>
    </p:spTree>
    <p:extLst>
      <p:ext uri="{BB962C8B-B14F-4D97-AF65-F5344CB8AC3E}">
        <p14:creationId xmlns:p14="http://schemas.microsoft.com/office/powerpoint/2010/main" val="107332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Depreciation Expense</a:t>
            </a:r>
            <a:br>
              <a:rPr lang="en-US" dirty="0"/>
            </a:br>
            <a:endParaRPr lang="en-US" sz="1800" dirty="0"/>
          </a:p>
        </p:txBody>
      </p:sp>
      <p:sp>
        <p:nvSpPr>
          <p:cNvPr id="3" name="Content Placeholder 2"/>
          <p:cNvSpPr>
            <a:spLocks noGrp="1"/>
          </p:cNvSpPr>
          <p:nvPr>
            <p:ph idx="1"/>
          </p:nvPr>
        </p:nvSpPr>
        <p:spPr/>
        <p:txBody>
          <a:bodyPr/>
          <a:lstStyle/>
          <a:p>
            <a:pPr marL="349250" indent="-349250">
              <a:defRPr/>
            </a:pPr>
            <a:r>
              <a:rPr lang="en-US" b="1" dirty="0">
                <a:solidFill>
                  <a:srgbClr val="00375D"/>
                </a:solidFill>
              </a:rPr>
              <a:t>Fixed assets</a:t>
            </a:r>
            <a:r>
              <a:rPr lang="en-US" dirty="0"/>
              <a:t>, or </a:t>
            </a:r>
            <a:r>
              <a:rPr lang="en-US" b="1" dirty="0">
                <a:solidFill>
                  <a:srgbClr val="00375D"/>
                </a:solidFill>
              </a:rPr>
              <a:t>plant assets</a:t>
            </a:r>
            <a:r>
              <a:rPr lang="en-US" dirty="0"/>
              <a:t>, are physical resources that are owned and used by a business and are permanent or have a long life.</a:t>
            </a:r>
          </a:p>
          <a:p>
            <a:pPr lvl="1">
              <a:defRPr/>
            </a:pPr>
            <a:r>
              <a:rPr lang="en-US" dirty="0"/>
              <a:t>Examples of fixed assets include land, buildings, and equipment.</a:t>
            </a:r>
          </a:p>
        </p:txBody>
      </p:sp>
    </p:spTree>
    <p:extLst>
      <p:ext uri="{BB962C8B-B14F-4D97-AF65-F5344CB8AC3E}">
        <p14:creationId xmlns:p14="http://schemas.microsoft.com/office/powerpoint/2010/main" val="2344434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Depreciation Expense</a:t>
            </a:r>
            <a:br>
              <a:rPr lang="en-US" dirty="0"/>
            </a:br>
            <a:endParaRPr lang="en-US" sz="1800" dirty="0"/>
          </a:p>
        </p:txBody>
      </p:sp>
      <p:sp>
        <p:nvSpPr>
          <p:cNvPr id="3" name="Content Placeholder 2"/>
          <p:cNvSpPr>
            <a:spLocks noGrp="1"/>
          </p:cNvSpPr>
          <p:nvPr>
            <p:ph idx="1"/>
          </p:nvPr>
        </p:nvSpPr>
        <p:spPr>
          <a:xfrm>
            <a:off x="1981200" y="1219200"/>
            <a:ext cx="8229600" cy="5184648"/>
          </a:xfrm>
        </p:spPr>
        <p:txBody>
          <a:bodyPr/>
          <a:lstStyle/>
          <a:p>
            <a:pPr marL="349250" indent="-349250">
              <a:defRPr/>
            </a:pPr>
            <a:r>
              <a:rPr lang="en-US" dirty="0"/>
              <a:t>As time passes, a fixed asset loses its ability to provide useful services. </a:t>
            </a:r>
          </a:p>
          <a:p>
            <a:pPr lvl="1">
              <a:defRPr/>
            </a:pPr>
            <a:r>
              <a:rPr lang="en-US" dirty="0"/>
              <a:t>This decrease in usefulness is called </a:t>
            </a:r>
            <a:r>
              <a:rPr lang="en-US" b="1" dirty="0">
                <a:solidFill>
                  <a:srgbClr val="00375D"/>
                </a:solidFill>
                <a:ea typeface="+mn-ea"/>
              </a:rPr>
              <a:t>depreciation</a:t>
            </a:r>
            <a:r>
              <a:rPr lang="en-US" dirty="0"/>
              <a:t>.</a:t>
            </a:r>
          </a:p>
          <a:p>
            <a:pPr lvl="1">
              <a:defRPr/>
            </a:pPr>
            <a:endParaRPr lang="en-US" dirty="0"/>
          </a:p>
          <a:p>
            <a:pPr lvl="1">
              <a:defRPr/>
            </a:pPr>
            <a:r>
              <a:rPr lang="en-US" dirty="0"/>
              <a:t>This periodic expense is called </a:t>
            </a:r>
            <a:r>
              <a:rPr lang="en-US" b="1" dirty="0">
                <a:solidFill>
                  <a:srgbClr val="00375D"/>
                </a:solidFill>
                <a:ea typeface="+mn-ea"/>
              </a:rPr>
              <a:t>depreciation expense</a:t>
            </a:r>
            <a:r>
              <a:rPr lang="en-US" dirty="0"/>
              <a:t>.</a:t>
            </a:r>
          </a:p>
          <a:p>
            <a:pPr lvl="1">
              <a:defRPr/>
            </a:pPr>
            <a:endParaRPr lang="en-US" dirty="0"/>
          </a:p>
          <a:p>
            <a:pPr lvl="1">
              <a:defRPr/>
            </a:pPr>
            <a:r>
              <a:rPr lang="en-US" dirty="0"/>
              <a:t>Accumulated depreciation accounts are called </a:t>
            </a:r>
            <a:r>
              <a:rPr lang="en-US" b="1" dirty="0">
                <a:solidFill>
                  <a:srgbClr val="00375D"/>
                </a:solidFill>
              </a:rPr>
              <a:t>contra accounts</a:t>
            </a:r>
            <a:r>
              <a:rPr lang="en-US" dirty="0"/>
              <a:t>, or </a:t>
            </a:r>
            <a:r>
              <a:rPr lang="en-US" b="1" dirty="0">
                <a:solidFill>
                  <a:srgbClr val="00375D"/>
                </a:solidFill>
              </a:rPr>
              <a:t>contra asset accounts</a:t>
            </a:r>
            <a:r>
              <a:rPr lang="en-US" dirty="0"/>
              <a:t>.</a:t>
            </a:r>
          </a:p>
          <a:p>
            <a:pPr lvl="1">
              <a:defRPr/>
            </a:pPr>
            <a:endParaRPr lang="en-US" dirty="0"/>
          </a:p>
        </p:txBody>
      </p:sp>
    </p:spTree>
    <p:extLst>
      <p:ext uri="{BB962C8B-B14F-4D97-AF65-F5344CB8AC3E}">
        <p14:creationId xmlns:p14="http://schemas.microsoft.com/office/powerpoint/2010/main" val="2589746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Depreciation Expense</a:t>
            </a:r>
            <a:br>
              <a:rPr lang="en-US" dirty="0"/>
            </a:br>
            <a:endParaRPr lang="en-US" sz="1800" dirty="0"/>
          </a:p>
        </p:txBody>
      </p:sp>
      <p:sp>
        <p:nvSpPr>
          <p:cNvPr id="3" name="Content Placeholder 2"/>
          <p:cNvSpPr>
            <a:spLocks noGrp="1"/>
          </p:cNvSpPr>
          <p:nvPr>
            <p:ph idx="1"/>
          </p:nvPr>
        </p:nvSpPr>
        <p:spPr/>
        <p:txBody>
          <a:bodyPr/>
          <a:lstStyle/>
          <a:p>
            <a:pPr marL="349250" indent="-349250">
              <a:defRPr/>
            </a:pPr>
            <a:r>
              <a:rPr lang="en-US" dirty="0"/>
              <a:t>The normal titles for fixed asset accounts and their related contra asset accounts are as follows:</a:t>
            </a:r>
          </a:p>
        </p:txBody>
      </p:sp>
      <p:pic>
        <p:nvPicPr>
          <p:cNvPr id="5" name="Picture 4" descr="A table listing the normal titles for fixed asset accounts and their related contra asset accounts is shown.&#10;&#10;The first Fixed Asset Account listed is Land. The related Contra Asset Account is None—Land is not depreciated.&#10;&#10;The second Fixed Asset Account listed is Buildings. The related Contra Asset Account is Accumulated Depreciation—Buildings.&#10;&#10;The third Fixed Asset Account listed is Store Equipment. The related Contra Asset Account is Accumulated Depreciation—Store Equipment. &#10;&#10;The fourth Fixed Asset Account listed is Office Equipment. The related Contra Asset Account is Accumulated Depreciation—Office Equipment."/>
          <p:cNvPicPr>
            <a:picLocks noChangeAspect="1"/>
          </p:cNvPicPr>
          <p:nvPr/>
        </p:nvPicPr>
        <p:blipFill>
          <a:blip r:embed="rId2"/>
          <a:stretch>
            <a:fillRect/>
          </a:stretch>
        </p:blipFill>
        <p:spPr>
          <a:xfrm>
            <a:off x="3294515" y="2743201"/>
            <a:ext cx="5676123" cy="1304753"/>
          </a:xfrm>
          <a:prstGeom prst="rect">
            <a:avLst/>
          </a:prstGeom>
        </p:spPr>
      </p:pic>
    </p:spTree>
    <p:extLst>
      <p:ext uri="{BB962C8B-B14F-4D97-AF65-F5344CB8AC3E}">
        <p14:creationId xmlns:p14="http://schemas.microsoft.com/office/powerpoint/2010/main" val="3419071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A43A-9855-48DB-B1F6-A43F1176A975}"/>
              </a:ext>
            </a:extLst>
          </p:cNvPr>
          <p:cNvSpPr>
            <a:spLocks noGrp="1"/>
          </p:cNvSpPr>
          <p:nvPr>
            <p:ph type="title"/>
          </p:nvPr>
        </p:nvSpPr>
        <p:spPr>
          <a:xfrm>
            <a:off x="838200" y="365125"/>
            <a:ext cx="10515600" cy="672105"/>
          </a:xfrm>
        </p:spPr>
        <p:txBody>
          <a:bodyPr/>
          <a:lstStyle/>
          <a:p>
            <a:r>
              <a:rPr lang="en-US" dirty="0"/>
              <a:t>Adjusting Entries for Depreciation</a:t>
            </a:r>
            <a:br>
              <a:rPr lang="en-US" dirty="0"/>
            </a:br>
            <a:r>
              <a:rPr lang="en-US" sz="2400" dirty="0"/>
              <a:t>(5 of 8)</a:t>
            </a:r>
          </a:p>
        </p:txBody>
      </p:sp>
      <p:sp>
        <p:nvSpPr>
          <p:cNvPr id="3" name="Text Placeholder 2">
            <a:extLst>
              <a:ext uri="{FF2B5EF4-FFF2-40B4-BE49-F238E27FC236}">
                <a16:creationId xmlns:a16="http://schemas.microsoft.com/office/drawing/2014/main" id="{D786F909-6559-4175-B2C6-68D55476569F}"/>
              </a:ext>
            </a:extLst>
          </p:cNvPr>
          <p:cNvSpPr>
            <a:spLocks noGrp="1"/>
          </p:cNvSpPr>
          <p:nvPr>
            <p:ph sz="quarter" idx="16"/>
          </p:nvPr>
        </p:nvSpPr>
        <p:spPr>
          <a:xfrm>
            <a:off x="838201" y="1606550"/>
            <a:ext cx="10515600" cy="2231094"/>
          </a:xfrm>
        </p:spPr>
        <p:txBody>
          <a:bodyPr>
            <a:noAutofit/>
          </a:bodyPr>
          <a:lstStyle/>
          <a:p>
            <a:pPr marL="342900" indent="-342900">
              <a:buFont typeface="Arial" panose="020B0604020202020204" pitchFamily="34" charset="0"/>
              <a:buChar char="•"/>
            </a:pPr>
            <a:r>
              <a:rPr lang="en-US" sz="2200" dirty="0"/>
              <a:t>The December 31, 20Y3, unadjusted trial balance of NetSolutions indicates that NetSolutions owns two fixed assets: land and office equipment.</a:t>
            </a:r>
          </a:p>
          <a:p>
            <a:pPr lvl="1"/>
            <a:r>
              <a:rPr lang="en-US" sz="2200" dirty="0"/>
              <a:t>Land does not depreciate; however, an adjusting entry is recorded for the depreciation of the office equipment for December.</a:t>
            </a:r>
          </a:p>
          <a:p>
            <a:pPr marL="342900" indent="-342900">
              <a:buFont typeface="Arial" panose="020B0604020202020204" pitchFamily="34" charset="0"/>
              <a:buChar char="•"/>
            </a:pPr>
            <a:r>
              <a:rPr lang="en-US" sz="2200" dirty="0"/>
              <a:t>Assume that the office equipment depreciates $50 during December.</a:t>
            </a:r>
          </a:p>
          <a:p>
            <a:pPr marL="342900" indent="-342900">
              <a:buFont typeface="Arial" panose="020B0604020202020204" pitchFamily="34" charset="0"/>
              <a:buChar char="•"/>
            </a:pPr>
            <a:r>
              <a:rPr lang="en-US" sz="2200" dirty="0"/>
              <a:t>The adjusting journal entry and T accounts are as follows:</a:t>
            </a:r>
          </a:p>
        </p:txBody>
      </p:sp>
      <p:pic>
        <p:nvPicPr>
          <p:cNvPr id="6" name="Content Placeholder 5" descr="An adjusting journal entry is shown in a journal form. December 31 is the date indicated. Depreciation Expense is debited—with 56 shown in the Posting Reference column and 50 shown in the Debit column. Accumulated Depreciation—Office Equipment is credited—with 19 shown in the Posting Reference column and 50 shown in the Credit column. A journal entry explanation is given below the journal entry: Depreciation on office equipment. &#10;&#10;Below the journal form, the accounting equation impact is illustrated, showing the accounting equation: Assets = Liabilities + Stockholders’ Equity (Expense).&#10;&#10;Under Assets in the accounting equation, a T account for Office Equipment is shown. The account number, 18, is shown in the top-right corner of the T account. On the left, in the debit column of the Office Equipment T account, a balance of 1,800 is shown. Under the Office Equipment T account, a T account for Accumulated Depreciation—Office Equipment is shown. The account number, 19, is shown in the top-right corner of the T account. On the right, in the credit column of the Accumulated Depreciation—Office Equipment T account, a December 31 entry of 50 is shown in blue. &#10;&#10;Under Stockholders’ Equity (Expense) in the accounting equation, a T account for Depreciation Expense is shown. The account number, 56, is shown in the top-right corner of the T account. On the left, in the debit column of the Depreciation Expense T account, a December 31 entry of 50 is shown in blue. &#10;&#10;A double-headed arrow runs from the December 31 credit entry of 50 in the Accumulated Depreciation—Office Equipment T account to the December 31 debit entry of 50 in the Depreciation Expense T account to indicate that these are the adjusting journal entry amounts.&#10;">
            <a:extLst>
              <a:ext uri="{FF2B5EF4-FFF2-40B4-BE49-F238E27FC236}">
                <a16:creationId xmlns:a16="http://schemas.microsoft.com/office/drawing/2014/main" id="{E766BB6D-845D-433F-9491-D2E65B546B7C}"/>
              </a:ext>
            </a:extLst>
          </p:cNvPr>
          <p:cNvPicPr>
            <a:picLocks noGrp="1" noChangeAspect="1"/>
          </p:cNvPicPr>
          <p:nvPr>
            <p:ph sz="quarter" idx="17"/>
          </p:nvPr>
        </p:nvPicPr>
        <p:blipFill>
          <a:blip r:embed="rId2"/>
          <a:stretch>
            <a:fillRect/>
          </a:stretch>
        </p:blipFill>
        <p:spPr>
          <a:xfrm>
            <a:off x="2180585" y="3837644"/>
            <a:ext cx="7830829" cy="2370412"/>
          </a:xfrm>
        </p:spPr>
      </p:pic>
    </p:spTree>
    <p:extLst>
      <p:ext uri="{BB962C8B-B14F-4D97-AF65-F5344CB8AC3E}">
        <p14:creationId xmlns:p14="http://schemas.microsoft.com/office/powerpoint/2010/main" val="34462597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3</a:t>
            </a:r>
          </a:p>
        </p:txBody>
      </p:sp>
      <p:sp>
        <p:nvSpPr>
          <p:cNvPr id="3" name="Text Placeholder 2"/>
          <p:cNvSpPr>
            <a:spLocks noGrp="1"/>
          </p:cNvSpPr>
          <p:nvPr>
            <p:ph sz="quarter" idx="10"/>
          </p:nvPr>
        </p:nvSpPr>
        <p:spPr/>
        <p:txBody>
          <a:bodyPr/>
          <a:lstStyle/>
          <a:p>
            <a:pPr marL="0" indent="0">
              <a:buNone/>
            </a:pPr>
            <a:r>
              <a:rPr lang="en-US" sz="2600" dirty="0"/>
              <a:t>Miller Cement Works, Inc. paid $120,000 for a used cement mixer truck. It has an estimated life of 10 years. After six years, the truck has accumulated depreciation of $72,000, and its net book value is:</a:t>
            </a:r>
          </a:p>
          <a:p>
            <a:pPr marL="514350" indent="-514350">
              <a:buAutoNum type="alphaLcPeriod"/>
            </a:pPr>
            <a:r>
              <a:rPr lang="en-US" sz="2600" dirty="0"/>
              <a:t>$48,000</a:t>
            </a:r>
          </a:p>
          <a:p>
            <a:pPr marL="514350" indent="-514350">
              <a:buAutoNum type="alphaLcPeriod"/>
            </a:pPr>
            <a:r>
              <a:rPr lang="en-US" sz="2600" dirty="0"/>
              <a:t>$0</a:t>
            </a:r>
          </a:p>
          <a:p>
            <a:pPr marL="514350" indent="-514350">
              <a:buAutoNum type="alphaLcPeriod"/>
            </a:pPr>
            <a:r>
              <a:rPr lang="en-US" sz="2600" dirty="0"/>
              <a:t>$72,000</a:t>
            </a:r>
          </a:p>
          <a:p>
            <a:pPr marL="514350" indent="-514350">
              <a:buAutoNum type="alphaLcPeriod"/>
            </a:pPr>
            <a:r>
              <a:rPr lang="en-US" sz="2600" dirty="0"/>
              <a:t>$120,000</a:t>
            </a:r>
          </a:p>
        </p:txBody>
      </p:sp>
    </p:spTree>
    <p:extLst>
      <p:ext uri="{BB962C8B-B14F-4D97-AF65-F5344CB8AC3E}">
        <p14:creationId xmlns:p14="http://schemas.microsoft.com/office/powerpoint/2010/main" val="3951158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3: Answer</a:t>
            </a:r>
          </a:p>
        </p:txBody>
      </p:sp>
      <p:sp>
        <p:nvSpPr>
          <p:cNvPr id="3" name="Text Placeholder 2"/>
          <p:cNvSpPr>
            <a:spLocks noGrp="1"/>
          </p:cNvSpPr>
          <p:nvPr>
            <p:ph sz="quarter" idx="10"/>
          </p:nvPr>
        </p:nvSpPr>
        <p:spPr/>
        <p:txBody>
          <a:bodyPr/>
          <a:lstStyle/>
          <a:p>
            <a:pPr marL="0" indent="0">
              <a:buNone/>
            </a:pPr>
            <a:r>
              <a:rPr lang="en-US" sz="2600" dirty="0"/>
              <a:t>Miller Cement Works, Inc. paid $120,000 for a used cement mixer truck. It has an estimated life of 10 years. After six years, the truck has accumulated depreciation of $72,000, and its net book value is:</a:t>
            </a:r>
          </a:p>
          <a:p>
            <a:pPr marL="0" indent="0">
              <a:buNone/>
            </a:pPr>
            <a:endParaRPr lang="en-US" sz="2600" dirty="0"/>
          </a:p>
          <a:p>
            <a:pPr marL="0" indent="0">
              <a:buNone/>
            </a:pPr>
            <a:r>
              <a:rPr lang="en-US" sz="2600" b="1" dirty="0"/>
              <a:t>Answer: </a:t>
            </a:r>
            <a:r>
              <a:rPr lang="en-US" sz="2600" dirty="0"/>
              <a:t>a. $48,000</a:t>
            </a:r>
          </a:p>
          <a:p>
            <a:pPr marL="0" indent="0">
              <a:buNone/>
            </a:pPr>
            <a:endParaRPr lang="en-US" sz="2600" dirty="0"/>
          </a:p>
          <a:p>
            <a:pPr marL="0" indent="0">
              <a:buNone/>
            </a:pPr>
            <a:r>
              <a:rPr lang="en-US" sz="2600" dirty="0"/>
              <a:t>The net book value of the truck after six years will be its purchase price less accumulated depreciation: $120,000 - $72,000 = $48,000. </a:t>
            </a:r>
          </a:p>
        </p:txBody>
      </p:sp>
    </p:spTree>
    <p:extLst>
      <p:ext uri="{BB962C8B-B14F-4D97-AF65-F5344CB8AC3E}">
        <p14:creationId xmlns:p14="http://schemas.microsoft.com/office/powerpoint/2010/main" val="1667428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C0E51-4025-4804-AF0F-A1C696D24801}"/>
              </a:ext>
            </a:extLst>
          </p:cNvPr>
          <p:cNvSpPr>
            <a:spLocks noGrp="1"/>
          </p:cNvSpPr>
          <p:nvPr>
            <p:ph type="title"/>
          </p:nvPr>
        </p:nvSpPr>
        <p:spPr/>
        <p:txBody>
          <a:bodyPr/>
          <a:lstStyle/>
          <a:p>
            <a:r>
              <a:rPr lang="en-US" dirty="0"/>
              <a:t>Exhibit 7 </a:t>
            </a:r>
            <a:r>
              <a:rPr lang="en-US" noProof="0" dirty="0"/>
              <a:t>–</a:t>
            </a:r>
            <a:r>
              <a:rPr lang="en-US" dirty="0"/>
              <a:t> Adjusting Entries—NetSolutions</a:t>
            </a:r>
          </a:p>
        </p:txBody>
      </p:sp>
      <p:pic>
        <p:nvPicPr>
          <p:cNvPr id="5" name="Content Placeholder 4" descr="The adjusting entries for NetSolutions are shown on page 5 of a journal form. December 31, 20Y3, is the date indicated. &#10;&#10;In the first adjusting entry, Accounts Receivable is debited—with 12 shown in the Posting Reference column and 500 shown in the Debit column. Fees Earned is credited—with 41 shown in the Posting Reference column and 500 shown in the Credit column. A journal entry explanation is given below the journal entry: Accrued fees (25 hours times $20). &#10;&#10;In the second adjusting entry, Wages Expense is debited—with 51 shown in the Posting Reference column and 250 shown in the Debit column. Wages Payable is credited—with 22 shown in the Posting Reference column and 250 shown in the Credit column. A journal entry explanation is given below the journal entry: Accrued wages. &#10;&#10;In the third adjusting entry, Unearned Rent is debited—with 23 shown in the Posting Reference column and 120 shown in the Debit column. Rent Revenue is credited—with 42 shown in the Posting Reference column and 120 shown in the Credit column. A journal entry explanation is given below the journal entry: Rent earned ($360 divided by 3 months). &#10;&#10;In the fourth adjusting entry, Supplies Expense is debited—with 52 shown in the Posting Reference column and 1,240 shown in the Debit column. Supplies is credited—with 14 shown in the Posting Reference column and 1,240 shown in the Credit column. A journal entry explanation is given below the journal entry: Supplies used ($2,000 – $760). &#10;&#10;In the fifth adjusting entry, Insurance Expense is debited—with 55 shown in the Posting Reference column and 200 shown in the Debit column. Prepaid Insurance is credited—with 15 shown in the Posting Reference column and 200 shown in the Credit column. A journal entry explanation is given below the journal entry: Insurance expired ($2,400 divided by 12 months). &#10;&#10;In the sixth adjusting entry, Depreciation Expense is debited—with 56 shown in the Posting Reference column and 50 shown in the Debit column. Accumulated Depreciation—Office Equipment is credited—with 19 shown in the Posting Reference column and 50 shown in the Credit column. A journal entry explanation is given below the journal entry: Depreciation on office equipment. &#10;">
            <a:extLst>
              <a:ext uri="{FF2B5EF4-FFF2-40B4-BE49-F238E27FC236}">
                <a16:creationId xmlns:a16="http://schemas.microsoft.com/office/drawing/2014/main" id="{2EBB20F4-E934-440D-8C5A-EBC677DC6573}"/>
              </a:ext>
            </a:extLst>
          </p:cNvPr>
          <p:cNvPicPr>
            <a:picLocks noGrp="1" noChangeAspect="1"/>
          </p:cNvPicPr>
          <p:nvPr>
            <p:ph sz="quarter" idx="10"/>
          </p:nvPr>
        </p:nvPicPr>
        <p:blipFill>
          <a:blip r:embed="rId2"/>
          <a:stretch>
            <a:fillRect/>
          </a:stretch>
        </p:blipFill>
        <p:spPr>
          <a:xfrm>
            <a:off x="2753446" y="1037230"/>
            <a:ext cx="6685108" cy="5099539"/>
          </a:xfrm>
          <a:prstGeom prst="rect">
            <a:avLst/>
          </a:prstGeom>
        </p:spPr>
      </p:pic>
    </p:spTree>
    <p:extLst>
      <p:ext uri="{BB962C8B-B14F-4D97-AF65-F5344CB8AC3E}">
        <p14:creationId xmlns:p14="http://schemas.microsoft.com/office/powerpoint/2010/main" val="1673432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35C8-AAE4-480E-AD14-CD62D0E0296F}"/>
              </a:ext>
            </a:extLst>
          </p:cNvPr>
          <p:cNvSpPr>
            <a:spLocks noGrp="1"/>
          </p:cNvSpPr>
          <p:nvPr>
            <p:ph type="title"/>
          </p:nvPr>
        </p:nvSpPr>
        <p:spPr>
          <a:xfrm>
            <a:off x="838200" y="365125"/>
            <a:ext cx="10515600" cy="672105"/>
          </a:xfrm>
        </p:spPr>
        <p:txBody>
          <a:bodyPr/>
          <a:lstStyle/>
          <a:p>
            <a:r>
              <a:rPr lang="en-US" dirty="0"/>
              <a:t>Adjusted Trial Balance</a:t>
            </a:r>
            <a:br>
              <a:rPr lang="en-US" dirty="0"/>
            </a:br>
            <a:r>
              <a:rPr lang="en-US" sz="2400" dirty="0"/>
              <a:t>(Learning Objective 6)</a:t>
            </a:r>
          </a:p>
        </p:txBody>
      </p:sp>
      <p:sp>
        <p:nvSpPr>
          <p:cNvPr id="3" name="Text Placeholder 2">
            <a:extLst>
              <a:ext uri="{FF2B5EF4-FFF2-40B4-BE49-F238E27FC236}">
                <a16:creationId xmlns:a16="http://schemas.microsoft.com/office/drawing/2014/main" id="{627BF983-E52E-4447-A173-3C00EA5B3E9E}"/>
              </a:ext>
            </a:extLst>
          </p:cNvPr>
          <p:cNvSpPr>
            <a:spLocks noGrp="1"/>
          </p:cNvSpPr>
          <p:nvPr>
            <p:ph sz="quarter" idx="10"/>
          </p:nvPr>
        </p:nvSpPr>
        <p:spPr>
          <a:xfrm>
            <a:off x="838200" y="1593273"/>
            <a:ext cx="10515600" cy="4474152"/>
          </a:xfrm>
        </p:spPr>
        <p:txBody>
          <a:bodyPr/>
          <a:lstStyle/>
          <a:p>
            <a:pPr marL="457200" indent="-457200">
              <a:buFont typeface="Arial" panose="020B0604020202020204" pitchFamily="34" charset="0"/>
              <a:buChar char="•"/>
            </a:pPr>
            <a:r>
              <a:rPr lang="en-US" dirty="0"/>
              <a:t>After the adjusting entries are posted, an adjusted trial balance is prepared.</a:t>
            </a:r>
          </a:p>
          <a:p>
            <a:pPr marL="457200" indent="-457200">
              <a:buFont typeface="Arial" panose="020B0604020202020204" pitchFamily="34" charset="0"/>
              <a:buChar char="•"/>
            </a:pPr>
            <a:r>
              <a:rPr lang="en-US" dirty="0"/>
              <a:t>The adjusted trial balance verifies the equality of the total debit and credit balances before the financial statements are prepared.</a:t>
            </a:r>
          </a:p>
          <a:p>
            <a:pPr marL="457200" indent="-457200">
              <a:buFont typeface="Arial" panose="020B0604020202020204" pitchFamily="34" charset="0"/>
              <a:buChar char="•"/>
            </a:pPr>
            <a:r>
              <a:rPr lang="en-US" dirty="0"/>
              <a:t>If the adjusted trial balance does not balance, an error has occurred.</a:t>
            </a:r>
          </a:p>
        </p:txBody>
      </p:sp>
    </p:spTree>
    <p:extLst>
      <p:ext uri="{BB962C8B-B14F-4D97-AF65-F5344CB8AC3E}">
        <p14:creationId xmlns:p14="http://schemas.microsoft.com/office/powerpoint/2010/main" val="2979271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C7C2-0FE1-47DA-897A-A28404674888}"/>
              </a:ext>
            </a:extLst>
          </p:cNvPr>
          <p:cNvSpPr>
            <a:spLocks noGrp="1"/>
          </p:cNvSpPr>
          <p:nvPr>
            <p:ph type="title"/>
          </p:nvPr>
        </p:nvSpPr>
        <p:spPr>
          <a:xfrm>
            <a:off x="838200" y="365125"/>
            <a:ext cx="10515600" cy="672105"/>
          </a:xfrm>
        </p:spPr>
        <p:txBody>
          <a:bodyPr/>
          <a:lstStyle/>
          <a:p>
            <a:r>
              <a:rPr lang="en-US" noProof="0" dirty="0"/>
              <a:t>Exhibit 9 – Adjusted Trial Balance</a:t>
            </a:r>
            <a:endParaRPr lang="en-US" dirty="0"/>
          </a:p>
        </p:txBody>
      </p:sp>
      <p:pic>
        <p:nvPicPr>
          <p:cNvPr id="5" name="Content Placeholder 4" descr="An adjusted trial balance for NetSolutions is shown. A three-line heading is set centered at the top of the trial balance. The first line lists the company name, NetSolutions. The second line lists the type of financial statement, Adjusted Trial Balance. The third line lists the date, December 31, 20Y3. It shows the following accounts, account numbers, and amounts: Cash, 11, debit balance of 2,065; Accounts Receivable, 12, debit balance of 2,720; Supplies, 14, debit balance of 760; Prepaid Insurance, 15, debit balance of 2,200; Land, 17, debit balance of 20,000; Office Equipment, 18, debit balance of 1,800; Accumulated Depreciation—Office Equipment, 19, credit balance of 50; Accounts Payable, 21, credit balance of 900; Wages Payable, 22, credit balance of 250; Unearned Rent, 23, credit balance of 240; Common Stock, 31, credit balance of 25,000; Dividends, 33, debit balance of 4,000; Fees Earned, 41, credit balance of 16,840; Rent Revenue, 42, credit balance of 120; Wages Expense, 51, debit balance of 4,525; Supplies Expense, 52, debit balance of 2,040; Rent Expense, 53, debit balance of 1,600; Utilities Expense, 54, debit balance of 985; Insurance Expense, 55, debit balance of 200; Depreciation Expense, 56, debit balance of 50; Miscellaneous Expense, 59, debit balance of 455. There is a single rule below 455 in the Debit Balances column and on the same row in the Credit Balances column. The total of the Debit Balances column is 43,400. The total of the Credit Balances column is also 43,400. A double rule appears below 43,400 in both columns. ">
            <a:extLst>
              <a:ext uri="{FF2B5EF4-FFF2-40B4-BE49-F238E27FC236}">
                <a16:creationId xmlns:a16="http://schemas.microsoft.com/office/drawing/2014/main" id="{3152B22C-AED3-45A5-A822-806FC20BFC7F}"/>
              </a:ext>
            </a:extLst>
          </p:cNvPr>
          <p:cNvPicPr>
            <a:picLocks noGrp="1" noChangeAspect="1"/>
          </p:cNvPicPr>
          <p:nvPr>
            <p:ph sz="quarter" idx="10"/>
          </p:nvPr>
        </p:nvPicPr>
        <p:blipFill>
          <a:blip r:embed="rId2"/>
          <a:stretch>
            <a:fillRect/>
          </a:stretch>
        </p:blipFill>
        <p:spPr>
          <a:xfrm>
            <a:off x="2928580" y="1173162"/>
            <a:ext cx="6334840" cy="4960938"/>
          </a:xfrm>
        </p:spPr>
      </p:pic>
    </p:spTree>
    <p:extLst>
      <p:ext uri="{BB962C8B-B14F-4D97-AF65-F5344CB8AC3E}">
        <p14:creationId xmlns:p14="http://schemas.microsoft.com/office/powerpoint/2010/main" val="3416686820"/>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1118</TotalTime>
  <Words>1808</Words>
  <Application>Microsoft Office PowerPoint</Application>
  <PresentationFormat>Widescreen</PresentationFormat>
  <Paragraphs>144</Paragraphs>
  <Slides>29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vt:lpstr>
      <vt:lpstr>Calibri</vt:lpstr>
      <vt:lpstr>Courier New</vt:lpstr>
      <vt:lpstr>Helvetica</vt:lpstr>
      <vt:lpstr>Open Sans</vt:lpstr>
      <vt:lpstr>Summer Font</vt:lpstr>
      <vt:lpstr>Wingdings</vt:lpstr>
      <vt:lpstr>Office Theme</vt:lpstr>
      <vt:lpstr>Chapter 3: The Adjusting Process</vt:lpstr>
      <vt:lpstr>Accrual and Cash Bases of Accounting</vt:lpstr>
      <vt:lpstr>Revenue and Expense Recognition (1 of 2)</vt:lpstr>
      <vt:lpstr>Revenue and Expense Recognition (2 of 2)</vt:lpstr>
      <vt:lpstr>Types of Accounts Requiring Adjustment</vt:lpstr>
      <vt:lpstr>Types of Accounts Requiring Adjustment (1 of 2)</vt:lpstr>
      <vt:lpstr>Types of Accounts Requiring Adjustment (2 of 2)</vt:lpstr>
      <vt:lpstr>Adjusting Entries for Accruals (Learning Objective 2)  Exhibit 3 – Unadjusted Trial Balance for NetSolutions</vt:lpstr>
      <vt:lpstr>Exhibit 4 – Expanded Chart of Accounts for NetSolutions</vt:lpstr>
      <vt:lpstr>Accrued Revenues (2 of 3)</vt:lpstr>
      <vt:lpstr>Accrued Expenses (3 of 5)</vt:lpstr>
      <vt:lpstr>Knowledge Check Activity 1</vt:lpstr>
      <vt:lpstr>Knowledge Check Activity 1: Answer</vt:lpstr>
      <vt:lpstr> Adjusting Entries for Deferrals (LO3)  Unearned Revenues (1 of 2)</vt:lpstr>
      <vt:lpstr>Prepaid Expenses </vt:lpstr>
      <vt:lpstr>Prepaid Expenses: Supplies </vt:lpstr>
      <vt:lpstr>Prepaid Expenses – Supplies </vt:lpstr>
      <vt:lpstr>Prepaid Insurance </vt:lpstr>
      <vt:lpstr>Knowledge Check Activity 2</vt:lpstr>
      <vt:lpstr>Knowledge Check Activity 2: Answer</vt:lpstr>
      <vt:lpstr>Depreciation Expense </vt:lpstr>
      <vt:lpstr>Depreciation Expense </vt:lpstr>
      <vt:lpstr>Depreciation Expense </vt:lpstr>
      <vt:lpstr>Adjusting Entries for Depreciation (5 of 8)</vt:lpstr>
      <vt:lpstr>Knowledge Check Activity 3</vt:lpstr>
      <vt:lpstr>Knowledge Check Activity 3: Answer</vt:lpstr>
      <vt:lpstr>Exhibit 7 – Adjusting Entries—NetSolutions</vt:lpstr>
      <vt:lpstr>Adjusted Trial Balance (Learning Objective 6)</vt:lpstr>
      <vt:lpstr>Exhibit 9 – Adjusted Trial Balance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73</cp:revision>
  <dcterms:created xsi:type="dcterms:W3CDTF">2020-07-27T16:46:05Z</dcterms:created>
  <dcterms:modified xsi:type="dcterms:W3CDTF">2026-06-08T11:46:30Z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