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handoutMasterIdLst>
    <p:handoutMasterId r:id="rId20"/>
  </p:handoutMasterIdLst>
  <p:sldIdLst>
    <p:sldId id="264" r:id="rId5"/>
    <p:sldId id="551" r:id="rId6"/>
    <p:sldId id="552" r:id="rId7"/>
    <p:sldId id="1158" r:id="rId8"/>
    <p:sldId id="298" r:id="rId9"/>
    <p:sldId id="299" r:id="rId10"/>
    <p:sldId id="565" r:id="rId11"/>
    <p:sldId id="1124" r:id="rId12"/>
    <p:sldId id="572" r:id="rId13"/>
    <p:sldId id="573" r:id="rId14"/>
    <p:sldId id="1136" r:id="rId15"/>
    <p:sldId id="1137" r:id="rId16"/>
    <p:sldId id="312" r:id="rId17"/>
    <p:sldId id="314" r:id="rId18"/>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Julie Angel" initials="JA" lastIdx="2" clrIdx="1">
    <p:extLst>
      <p:ext uri="{19B8F6BF-5375-455C-9EA6-DF929625EA0E}">
        <p15:presenceInfo xmlns:p15="http://schemas.microsoft.com/office/powerpoint/2012/main" userId="fec48bcc1f869946" providerId="Windows Live"/>
      </p:ext>
    </p:extLst>
  </p:cmAuthor>
  <p:cmAuthor id="3" name="Bowdler, Diane" initials="BD" lastIdx="1" clrIdx="2">
    <p:extLst>
      <p:ext uri="{19B8F6BF-5375-455C-9EA6-DF929625EA0E}">
        <p15:presenceInfo xmlns:p15="http://schemas.microsoft.com/office/powerpoint/2012/main" userId="S::Diane.Bowdler@cengage.com::4844c4c9-0293-48ae-805c-846689e00fa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4A78"/>
    <a:srgbClr val="E9255F"/>
    <a:srgbClr val="006298"/>
    <a:srgbClr val="FF6300"/>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26" autoAdjust="0"/>
    <p:restoredTop sz="73032" autoAdjust="0"/>
  </p:normalViewPr>
  <p:slideViewPr>
    <p:cSldViewPr snapToGrid="0">
      <p:cViewPr varScale="1">
        <p:scale>
          <a:sx n="81" d="100"/>
          <a:sy n="81" d="100"/>
        </p:scale>
        <p:origin x="1710" y="7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7/2/2026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7/2/2026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7115217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11</a:t>
            </a:fld>
            <a:endParaRPr lang="en-US" dirty="0"/>
          </a:p>
        </p:txBody>
      </p:sp>
    </p:spTree>
    <p:extLst>
      <p:ext uri="{BB962C8B-B14F-4D97-AF65-F5344CB8AC3E}">
        <p14:creationId xmlns:p14="http://schemas.microsoft.com/office/powerpoint/2010/main" val="36641506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a:t>Click to edit date</a:t>
            </a:r>
          </a:p>
        </p:txBody>
      </p:sp>
      <p:pic>
        <p:nvPicPr>
          <p:cNvPr id="9"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Dawn Iacobucci, Marketing Management, 6th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Dawn Iacobucci, Marketing Management, 6th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pPr>
              <a:defRPr/>
            </a:pPr>
            <a:r>
              <a:rPr lang="en-US" dirty="0"/>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4" name="Content Placeholder 3">
            <a:extLst>
              <a:ext uri="{FF2B5EF4-FFF2-40B4-BE49-F238E27FC236}">
                <a16:creationId xmlns:a16="http://schemas.microsoft.com/office/drawing/2014/main" id="{E7287522-6EFB-4B6F-A755-2B83B87BF180}"/>
              </a:ext>
            </a:extLst>
          </p:cNvPr>
          <p:cNvSpPr>
            <a:spLocks noGrp="1"/>
          </p:cNvSpPr>
          <p:nvPr>
            <p:ph sz="quarter" idx="10"/>
          </p:nvPr>
        </p:nvSpPr>
        <p:spPr>
          <a:xfrm>
            <a:off x="838200" y="1593273"/>
            <a:ext cx="10515600" cy="4474152"/>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4" name="Content Placeholder 3">
            <a:extLst>
              <a:ext uri="{FF2B5EF4-FFF2-40B4-BE49-F238E27FC236}">
                <a16:creationId xmlns:a16="http://schemas.microsoft.com/office/drawing/2014/main" id="{86311C29-F62B-4AA5-8197-B175712ABE83}"/>
              </a:ext>
            </a:extLst>
          </p:cNvPr>
          <p:cNvSpPr>
            <a:spLocks noGrp="1"/>
          </p:cNvSpPr>
          <p:nvPr>
            <p:ph sz="quarter" idx="16"/>
          </p:nvPr>
        </p:nvSpPr>
        <p:spPr>
          <a:xfrm>
            <a:off x="6207368" y="1607126"/>
            <a:ext cx="5146431" cy="3415724"/>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CBA4F7D5-043F-4B98-992B-40E415A84609}"/>
              </a:ext>
            </a:extLst>
          </p:cNvPr>
          <p:cNvSpPr>
            <a:spLocks noGrp="1"/>
          </p:cNvSpPr>
          <p:nvPr>
            <p:ph sz="quarter" idx="17"/>
          </p:nvPr>
        </p:nvSpPr>
        <p:spPr>
          <a:xfrm>
            <a:off x="838200" y="1607126"/>
            <a:ext cx="5035062" cy="3415723"/>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71940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Sed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Text Placeholder 5"/>
          <p:cNvSpPr>
            <a:spLocks noGrp="1"/>
          </p:cNvSpPr>
          <p:nvPr>
            <p:ph type="body" sz="quarter" idx="18" hasCustomPrompt="1"/>
          </p:nvPr>
        </p:nvSpPr>
        <p:spPr>
          <a:xfrm>
            <a:off x="740228" y="1290690"/>
            <a:ext cx="10711543" cy="1909327"/>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diam </a:t>
            </a:r>
            <a:r>
              <a:rPr lang="en-US" dirty="0" err="1"/>
              <a:t>maecenas</a:t>
            </a:r>
            <a:r>
              <a:rPr lang="en-US" dirty="0"/>
              <a:t> sed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4" name="Content Placeholder 3">
            <a:extLst>
              <a:ext uri="{FF2B5EF4-FFF2-40B4-BE49-F238E27FC236}">
                <a16:creationId xmlns:a16="http://schemas.microsoft.com/office/drawing/2014/main" id="{356DCFCF-A355-4530-967D-8510D0847AE0}"/>
              </a:ext>
            </a:extLst>
          </p:cNvPr>
          <p:cNvSpPr>
            <a:spLocks noGrp="1"/>
          </p:cNvSpPr>
          <p:nvPr>
            <p:ph sz="quarter" idx="19"/>
          </p:nvPr>
        </p:nvSpPr>
        <p:spPr>
          <a:xfrm>
            <a:off x="739775" y="3429000"/>
            <a:ext cx="10712450" cy="2462213"/>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96420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5" name="Content Placeholder 4">
            <a:extLst>
              <a:ext uri="{FF2B5EF4-FFF2-40B4-BE49-F238E27FC236}">
                <a16:creationId xmlns:a16="http://schemas.microsoft.com/office/drawing/2014/main" id="{4FEE8A9E-72B6-46E4-B0B1-E754795B8E50}"/>
              </a:ext>
            </a:extLst>
          </p:cNvPr>
          <p:cNvSpPr>
            <a:spLocks noGrp="1"/>
          </p:cNvSpPr>
          <p:nvPr>
            <p:ph sz="quarter" idx="19"/>
          </p:nvPr>
        </p:nvSpPr>
        <p:spPr>
          <a:xfrm>
            <a:off x="736587" y="1579439"/>
            <a:ext cx="5084763" cy="1374776"/>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AF25995D-5A88-4DEC-8A28-08A28A435080}"/>
              </a:ext>
            </a:extLst>
          </p:cNvPr>
          <p:cNvSpPr>
            <a:spLocks noGrp="1"/>
          </p:cNvSpPr>
          <p:nvPr>
            <p:ph sz="quarter" idx="20"/>
          </p:nvPr>
        </p:nvSpPr>
        <p:spPr>
          <a:xfrm>
            <a:off x="6242050" y="1579439"/>
            <a:ext cx="5213350" cy="1374776"/>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DCABAF4A-7373-4676-9D1D-02B772F47699}"/>
              </a:ext>
            </a:extLst>
          </p:cNvPr>
          <p:cNvSpPr>
            <a:spLocks noGrp="1"/>
          </p:cNvSpPr>
          <p:nvPr>
            <p:ph sz="quarter" idx="21"/>
          </p:nvPr>
        </p:nvSpPr>
        <p:spPr>
          <a:xfrm>
            <a:off x="736600" y="3429000"/>
            <a:ext cx="5084763" cy="137477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4">
            <a:extLst>
              <a:ext uri="{FF2B5EF4-FFF2-40B4-BE49-F238E27FC236}">
                <a16:creationId xmlns:a16="http://schemas.microsoft.com/office/drawing/2014/main" id="{30F57007-B6EC-4836-8EAF-E60DBF94D69E}"/>
              </a:ext>
            </a:extLst>
          </p:cNvPr>
          <p:cNvSpPr>
            <a:spLocks noGrp="1"/>
          </p:cNvSpPr>
          <p:nvPr>
            <p:ph sz="quarter" idx="22"/>
          </p:nvPr>
        </p:nvSpPr>
        <p:spPr>
          <a:xfrm>
            <a:off x="6096000" y="3429000"/>
            <a:ext cx="5359400" cy="1374652"/>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59007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5" name="Content Placeholder 4">
            <a:extLst>
              <a:ext uri="{FF2B5EF4-FFF2-40B4-BE49-F238E27FC236}">
                <a16:creationId xmlns:a16="http://schemas.microsoft.com/office/drawing/2014/main" id="{4FEE8A9E-72B6-46E4-B0B1-E754795B8E50}"/>
              </a:ext>
            </a:extLst>
          </p:cNvPr>
          <p:cNvSpPr>
            <a:spLocks noGrp="1"/>
          </p:cNvSpPr>
          <p:nvPr>
            <p:ph sz="quarter" idx="19"/>
          </p:nvPr>
        </p:nvSpPr>
        <p:spPr>
          <a:xfrm>
            <a:off x="736587" y="1579439"/>
            <a:ext cx="5084763" cy="1374776"/>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AF25995D-5A88-4DEC-8A28-08A28A435080}"/>
              </a:ext>
            </a:extLst>
          </p:cNvPr>
          <p:cNvSpPr>
            <a:spLocks noGrp="1"/>
          </p:cNvSpPr>
          <p:nvPr>
            <p:ph sz="quarter" idx="20"/>
          </p:nvPr>
        </p:nvSpPr>
        <p:spPr>
          <a:xfrm>
            <a:off x="6242050" y="1579439"/>
            <a:ext cx="5213350" cy="1374776"/>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DCABAF4A-7373-4676-9D1D-02B772F47699}"/>
              </a:ext>
            </a:extLst>
          </p:cNvPr>
          <p:cNvSpPr>
            <a:spLocks noGrp="1"/>
          </p:cNvSpPr>
          <p:nvPr>
            <p:ph sz="quarter" idx="21"/>
          </p:nvPr>
        </p:nvSpPr>
        <p:spPr>
          <a:xfrm>
            <a:off x="736587" y="3216398"/>
            <a:ext cx="5084763" cy="137477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4">
            <a:extLst>
              <a:ext uri="{FF2B5EF4-FFF2-40B4-BE49-F238E27FC236}">
                <a16:creationId xmlns:a16="http://schemas.microsoft.com/office/drawing/2014/main" id="{30F57007-B6EC-4836-8EAF-E60DBF94D69E}"/>
              </a:ext>
            </a:extLst>
          </p:cNvPr>
          <p:cNvSpPr>
            <a:spLocks noGrp="1"/>
          </p:cNvSpPr>
          <p:nvPr>
            <p:ph sz="quarter" idx="22"/>
          </p:nvPr>
        </p:nvSpPr>
        <p:spPr>
          <a:xfrm>
            <a:off x="6242050" y="3216398"/>
            <a:ext cx="5213350" cy="1374652"/>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B0858C3-5D54-46C9-9602-DD06588705F5}"/>
              </a:ext>
            </a:extLst>
          </p:cNvPr>
          <p:cNvSpPr>
            <a:spLocks noGrp="1"/>
          </p:cNvSpPr>
          <p:nvPr>
            <p:ph sz="quarter" idx="23"/>
          </p:nvPr>
        </p:nvSpPr>
        <p:spPr>
          <a:xfrm>
            <a:off x="736587" y="4969161"/>
            <a:ext cx="5084776" cy="1543050"/>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8">
            <a:extLst>
              <a:ext uri="{FF2B5EF4-FFF2-40B4-BE49-F238E27FC236}">
                <a16:creationId xmlns:a16="http://schemas.microsoft.com/office/drawing/2014/main" id="{832F93A3-DABD-4B56-9641-51D4E1885264}"/>
              </a:ext>
            </a:extLst>
          </p:cNvPr>
          <p:cNvSpPr>
            <a:spLocks noGrp="1"/>
          </p:cNvSpPr>
          <p:nvPr>
            <p:ph sz="quarter" idx="24"/>
          </p:nvPr>
        </p:nvSpPr>
        <p:spPr>
          <a:xfrm>
            <a:off x="6212919" y="4969161"/>
            <a:ext cx="5359400" cy="137477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09208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 </a:t>
            </a:r>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 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1192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err="1"/>
              <a:t>Sed</a:t>
            </a:r>
            <a:r>
              <a:rPr lang="en-US"/>
              <a:t>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a:t>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G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6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004A78"/>
              </a:buClr>
              <a:buSzTx/>
              <a:buFont typeface="Arial" panose="020B0604020202020204" pitchFamily="34" charset="0"/>
              <a:buChar char="–"/>
              <a:tabLst/>
              <a:defRPr sz="2400" baseline="0">
                <a:solidFill>
                  <a:srgbClr val="000000"/>
                </a:solidFill>
              </a:defRPr>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1"/>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1"/>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8336605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3541624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B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5" name="Table Placeholder 4"/>
          <p:cNvSpPr>
            <a:spLocks noGrp="1"/>
          </p:cNvSpPr>
          <p:nvPr>
            <p:ph type="tbl" sz="quarter" idx="10"/>
          </p:nvPr>
        </p:nvSpPr>
        <p:spPr>
          <a:xfrm>
            <a:off x="1133687" y="1367327"/>
            <a:ext cx="9924626" cy="4871103"/>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878221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GEN_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rgbClr val="C00000"/>
                </a:solidFill>
              </a:defRPr>
            </a:lvl1pPr>
          </a:lstStyle>
          <a:p>
            <a:r>
              <a:rPr lang="en-US" dirty="0"/>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6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004A78"/>
              </a:buClr>
              <a:buSzTx/>
              <a:buFont typeface="Arial" panose="020B0604020202020204" pitchFamily="34" charset="0"/>
              <a:buChar char="–"/>
              <a:tabLst/>
              <a:defRPr sz="2400" baseline="0">
                <a:solidFill>
                  <a:srgbClr val="000000"/>
                </a:solidFill>
              </a:defRPr>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1"/>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1"/>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6614165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6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802289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LO_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rgbClr val="C00000"/>
                </a:solidFill>
              </a:defRPr>
            </a:lvl1pPr>
          </a:lstStyle>
          <a:p>
            <a:r>
              <a:rPr lang="en-US" dirty="0"/>
              <a:t>Click to edit Master title style</a:t>
            </a:r>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6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1652240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58368" y="0"/>
            <a:ext cx="10972800" cy="1143000"/>
          </a:xfrm>
        </p:spPr>
        <p:txBody>
          <a:bodyPr/>
          <a:lstStyle/>
          <a:p>
            <a:r>
              <a:rPr lang="en-US" dirty="0"/>
              <a:t>Click to edit Master title style</a:t>
            </a:r>
          </a:p>
        </p:txBody>
      </p:sp>
      <p:sp>
        <p:nvSpPr>
          <p:cNvPr id="5" name="Content Placeholder 2"/>
          <p:cNvSpPr>
            <a:spLocks noGrp="1"/>
          </p:cNvSpPr>
          <p:nvPr>
            <p:ph idx="1"/>
          </p:nvPr>
        </p:nvSpPr>
        <p:spPr>
          <a:xfrm>
            <a:off x="609600" y="1216152"/>
            <a:ext cx="10972800" cy="5184648"/>
          </a:xfrm>
          <a:prstGeom prst="rect">
            <a:avLst/>
          </a:prstGeom>
        </p:spPr>
        <p:txBody>
          <a:bodyPr/>
          <a:lstStyle>
            <a:lvl1pPr marL="342900" indent="-342900">
              <a:spcBef>
                <a:spcPts val="1200"/>
              </a:spcBef>
              <a:buClr>
                <a:srgbClr val="00375D"/>
              </a:buClr>
              <a:buSzPct val="125000"/>
              <a:buFont typeface="Arial" panose="020B0604020202020204" pitchFamily="34" charset="0"/>
              <a:buChar char="•"/>
              <a:defRPr sz="2800">
                <a:solidFill>
                  <a:schemeClr val="tx2"/>
                </a:solidFill>
                <a:latin typeface="Arial" panose="020B0604020202020204" pitchFamily="34" charset="0"/>
                <a:cs typeface="Arial" panose="020B0604020202020204" pitchFamily="34" charset="0"/>
              </a:defRPr>
            </a:lvl1pPr>
            <a:lvl2pPr marL="742950" indent="-285750">
              <a:spcBef>
                <a:spcPts val="1200"/>
              </a:spcBef>
              <a:buClr>
                <a:srgbClr val="992315"/>
              </a:buClr>
              <a:buSzPct val="75000"/>
              <a:buFont typeface="Courier New" panose="02070309020205020404" pitchFamily="49" charset="0"/>
              <a:buChar char="o"/>
              <a:defRPr sz="2400">
                <a:solidFill>
                  <a:schemeClr val="tx2"/>
                </a:solidFill>
                <a:latin typeface="Arial" panose="020B0604020202020204" pitchFamily="34" charset="0"/>
                <a:cs typeface="Arial" panose="020B0604020202020204" pitchFamily="34" charset="0"/>
              </a:defRPr>
            </a:lvl2pPr>
            <a:lvl3pPr marL="1143000" indent="-228600">
              <a:spcBef>
                <a:spcPts val="1200"/>
              </a:spcBef>
              <a:buClr>
                <a:srgbClr val="00375D"/>
              </a:buClr>
              <a:buFont typeface="Wingdings" charset="2"/>
              <a:buChar char="§"/>
              <a:defRPr sz="2000">
                <a:solidFill>
                  <a:schemeClr val="tx2"/>
                </a:solidFill>
                <a:latin typeface="Arial" panose="020B0604020202020204" pitchFamily="34" charset="0"/>
                <a:cs typeface="Arial" panose="020B0604020202020204" pitchFamily="34" charset="0"/>
              </a:defRPr>
            </a:lvl3pPr>
            <a:lvl4pPr>
              <a:spcBef>
                <a:spcPts val="1200"/>
              </a:spcBef>
              <a:defRPr sz="1800">
                <a:solidFill>
                  <a:schemeClr val="tx2"/>
                </a:solidFill>
                <a:latin typeface="Arial" panose="020B0604020202020204" pitchFamily="34" charset="0"/>
                <a:cs typeface="Arial" panose="020B0604020202020204" pitchFamily="34" charset="0"/>
              </a:defRPr>
            </a:lvl4pPr>
            <a:lvl5pPr marL="2057400" indent="-228600">
              <a:spcBef>
                <a:spcPts val="1200"/>
              </a:spcBef>
              <a:buFont typeface="Wingdings" panose="05000000000000000000" pitchFamily="2" charset="2"/>
              <a:buChar char="§"/>
              <a:defRPr sz="1800">
                <a:solidFill>
                  <a:schemeClr val="tx2"/>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089323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1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Content Placeholder 2"/>
          <p:cNvSpPr>
            <a:spLocks noGrp="1"/>
          </p:cNvSpPr>
          <p:nvPr>
            <p:ph idx="1"/>
          </p:nvPr>
        </p:nvSpPr>
        <p:spPr>
          <a:xfrm>
            <a:off x="609600" y="1216152"/>
            <a:ext cx="10972800" cy="2517648"/>
          </a:xfrm>
          <a:prstGeom prst="rect">
            <a:avLst/>
          </a:prstGeom>
        </p:spPr>
        <p:txBody>
          <a:bodyPr/>
          <a:lstStyle>
            <a:lvl1pPr marL="342900" indent="-342900">
              <a:spcBef>
                <a:spcPts val="1200"/>
              </a:spcBef>
              <a:buClr>
                <a:srgbClr val="00375D"/>
              </a:buClr>
              <a:buSzPct val="125000"/>
              <a:buFont typeface="Arial" panose="020B0604020202020204" pitchFamily="34" charset="0"/>
              <a:buChar char="•"/>
              <a:defRPr sz="2800">
                <a:solidFill>
                  <a:schemeClr val="tx2"/>
                </a:solidFill>
                <a:latin typeface="Arial" panose="020B0604020202020204" pitchFamily="34" charset="0"/>
                <a:cs typeface="Arial" panose="020B0604020202020204" pitchFamily="34" charset="0"/>
              </a:defRPr>
            </a:lvl1pPr>
            <a:lvl2pPr marL="742950" indent="-285750">
              <a:spcBef>
                <a:spcPts val="1200"/>
              </a:spcBef>
              <a:buClr>
                <a:srgbClr val="992315"/>
              </a:buClr>
              <a:buSzPct val="75000"/>
              <a:buFont typeface="Courier New" panose="02070309020205020404" pitchFamily="49" charset="0"/>
              <a:buChar char="o"/>
              <a:defRPr sz="2400">
                <a:solidFill>
                  <a:schemeClr val="tx2"/>
                </a:solidFill>
                <a:latin typeface="Arial" panose="020B0604020202020204" pitchFamily="34" charset="0"/>
                <a:cs typeface="Arial" panose="020B0604020202020204" pitchFamily="34" charset="0"/>
              </a:defRPr>
            </a:lvl2pPr>
            <a:lvl3pPr marL="1143000" indent="-228600">
              <a:spcBef>
                <a:spcPts val="1200"/>
              </a:spcBef>
              <a:buClr>
                <a:srgbClr val="00375D"/>
              </a:buClr>
              <a:buFont typeface="Wingdings" charset="2"/>
              <a:buChar char="§"/>
              <a:defRPr sz="2000">
                <a:solidFill>
                  <a:schemeClr val="tx2"/>
                </a:solidFill>
                <a:latin typeface="Arial" panose="020B0604020202020204" pitchFamily="34" charset="0"/>
                <a:cs typeface="Arial" panose="020B0604020202020204" pitchFamily="34" charset="0"/>
              </a:defRPr>
            </a:lvl3pPr>
            <a:lvl4pPr>
              <a:spcBef>
                <a:spcPts val="1200"/>
              </a:spcBef>
              <a:defRPr sz="1800">
                <a:solidFill>
                  <a:schemeClr val="tx2"/>
                </a:solidFill>
                <a:latin typeface="Arial" panose="020B0604020202020204" pitchFamily="34" charset="0"/>
                <a:cs typeface="Arial" panose="020B0604020202020204" pitchFamily="34" charset="0"/>
              </a:defRPr>
            </a:lvl4pPr>
            <a:lvl5pPr marL="2057400" indent="-228600">
              <a:spcBef>
                <a:spcPts val="1200"/>
              </a:spcBef>
              <a:buFont typeface="Wingdings" panose="05000000000000000000" pitchFamily="2" charset="2"/>
              <a:buChar char="§"/>
              <a:defRPr sz="1800">
                <a:solidFill>
                  <a:schemeClr val="tx2"/>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4"/>
          <p:cNvSpPr>
            <a:spLocks noGrp="1"/>
          </p:cNvSpPr>
          <p:nvPr>
            <p:ph sz="quarter" idx="10"/>
          </p:nvPr>
        </p:nvSpPr>
        <p:spPr>
          <a:xfrm>
            <a:off x="609600" y="3886200"/>
            <a:ext cx="10972800" cy="2514600"/>
          </a:xfrm>
          <a:prstGeom prst="rect">
            <a:avLst/>
          </a:prstGeom>
        </p:spPr>
        <p:txBody>
          <a:bodyPr/>
          <a:lstStyle>
            <a:lvl1pPr marL="342900" indent="-342900">
              <a:defRPr lang="en-US" sz="2800" dirty="0" smtClean="0">
                <a:solidFill>
                  <a:schemeClr val="tx2"/>
                </a:solidFill>
                <a:latin typeface="Arial" panose="020B0604020202020204" pitchFamily="34" charset="0"/>
                <a:ea typeface="+mn-ea"/>
                <a:cs typeface="Arial" panose="020B0604020202020204" pitchFamily="34" charset="0"/>
              </a:defRPr>
            </a:lvl1pPr>
            <a:lvl2pPr marL="742950" indent="-285750">
              <a:defRPr lang="en-US" sz="2400" dirty="0" smtClean="0">
                <a:solidFill>
                  <a:schemeClr val="tx2"/>
                </a:solidFill>
                <a:latin typeface="Arial" panose="020B0604020202020204" pitchFamily="34" charset="0"/>
                <a:ea typeface="Times New Roman" charset="0"/>
                <a:cs typeface="Arial" panose="020B0604020202020204" pitchFamily="34" charset="0"/>
              </a:defRPr>
            </a:lvl2pPr>
            <a:lvl3pPr marL="1143000" indent="-228600">
              <a:defRPr lang="en-US" sz="2000" dirty="0" smtClean="0">
                <a:solidFill>
                  <a:schemeClr val="tx2"/>
                </a:solidFill>
                <a:latin typeface="Arial" panose="020B0604020202020204" pitchFamily="34" charset="0"/>
                <a:ea typeface="Times New Roman" charset="0"/>
                <a:cs typeface="Arial" panose="020B0604020202020204" pitchFamily="34" charset="0"/>
              </a:defRPr>
            </a:lvl3pPr>
            <a:lvl4pPr marL="1600200" indent="-228600">
              <a:defRPr lang="en-US" sz="1800" dirty="0" smtClean="0">
                <a:solidFill>
                  <a:schemeClr val="tx2"/>
                </a:solidFill>
                <a:latin typeface="Arial" panose="020B0604020202020204" pitchFamily="34" charset="0"/>
                <a:ea typeface="Times New Roman" charset="0"/>
                <a:cs typeface="Arial" panose="020B0604020202020204" pitchFamily="34" charset="0"/>
              </a:defRPr>
            </a:lvl4pPr>
            <a:lvl5pPr marL="2057400" indent="-228600">
              <a:defRPr lang="en-US" sz="1800" dirty="0">
                <a:solidFill>
                  <a:schemeClr val="tx2"/>
                </a:solidFill>
                <a:latin typeface="Arial" panose="020B0604020202020204" pitchFamily="34" charset="0"/>
                <a:ea typeface="Times New Roman" charset="0"/>
                <a:cs typeface="Arial" panose="020B0604020202020204" pitchFamily="34" charset="0"/>
              </a:defRPr>
            </a:lvl5pPr>
          </a:lstStyle>
          <a:p>
            <a:pPr marL="342900" lvl="0" indent="-342900" algn="l" rtl="0" eaLnBrk="0" fontAlgn="base" hangingPunct="0">
              <a:spcBef>
                <a:spcPts val="1200"/>
              </a:spcBef>
              <a:spcAft>
                <a:spcPct val="0"/>
              </a:spcAft>
              <a:buClr>
                <a:srgbClr val="00375D"/>
              </a:buClr>
              <a:buSzPct val="125000"/>
              <a:buFont typeface="Arial" panose="020B0604020202020204" pitchFamily="34" charset="0"/>
              <a:buChar char="•"/>
            </a:pPr>
            <a:r>
              <a:rPr lang="en-US" dirty="0"/>
              <a:t>Click to edit Master text styles</a:t>
            </a:r>
          </a:p>
          <a:p>
            <a:pPr marL="742950" lvl="1" indent="-285750" algn="l" rtl="0" eaLnBrk="0" fontAlgn="base" hangingPunct="0">
              <a:spcBef>
                <a:spcPts val="1200"/>
              </a:spcBef>
              <a:spcAft>
                <a:spcPct val="0"/>
              </a:spcAft>
              <a:buClr>
                <a:srgbClr val="992315"/>
              </a:buClr>
              <a:buSzPct val="75000"/>
              <a:buFont typeface="Courier New" panose="02070309020205020404" pitchFamily="49" charset="0"/>
              <a:buChar char="o"/>
            </a:pPr>
            <a:r>
              <a:rPr lang="en-US" dirty="0"/>
              <a:t>Second level</a:t>
            </a:r>
          </a:p>
          <a:p>
            <a:pPr marL="1143000" lvl="2" indent="-228600" algn="l" rtl="0" eaLnBrk="0" fontAlgn="base" hangingPunct="0">
              <a:spcBef>
                <a:spcPts val="1200"/>
              </a:spcBef>
              <a:spcAft>
                <a:spcPct val="0"/>
              </a:spcAft>
              <a:buClr>
                <a:srgbClr val="00375D"/>
              </a:buClr>
              <a:buFont typeface="Wingdings" charset="2"/>
              <a:buChar char="§"/>
            </a:pPr>
            <a:r>
              <a:rPr lang="en-US" dirty="0"/>
              <a:t>Third level</a:t>
            </a:r>
          </a:p>
          <a:p>
            <a:pPr marL="1600200" lvl="3" indent="-228600" algn="l" rtl="0" eaLnBrk="0" fontAlgn="base" hangingPunct="0">
              <a:spcBef>
                <a:spcPts val="1200"/>
              </a:spcBef>
              <a:spcAft>
                <a:spcPct val="0"/>
              </a:spcAft>
              <a:buChar char="–"/>
            </a:pPr>
            <a:r>
              <a:rPr lang="en-US" dirty="0"/>
              <a:t>Fourth level</a:t>
            </a:r>
          </a:p>
          <a:p>
            <a:pPr marL="2057400" lvl="4" indent="-228600" algn="l" rtl="0" eaLnBrk="0" fontAlgn="base" hangingPunct="0">
              <a:spcBef>
                <a:spcPts val="1200"/>
              </a:spcBef>
              <a:spcAft>
                <a:spcPct val="0"/>
              </a:spcAft>
              <a:buFont typeface="Wingdings" panose="05000000000000000000" pitchFamily="2" charset="2"/>
              <a:buChar char="§"/>
            </a:pPr>
            <a:r>
              <a:rPr lang="en-US" dirty="0"/>
              <a:t>Fifth level</a:t>
            </a:r>
          </a:p>
        </p:txBody>
      </p:sp>
    </p:spTree>
    <p:extLst>
      <p:ext uri="{BB962C8B-B14F-4D97-AF65-F5344CB8AC3E}">
        <p14:creationId xmlns:p14="http://schemas.microsoft.com/office/powerpoint/2010/main" val="25578913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a:t>Click to edit Master text styles</a:t>
            </a:r>
          </a:p>
        </p:txBody>
      </p:sp>
      <p:pic>
        <p:nvPicPr>
          <p:cNvPr id="7" name="Picture 6"/>
          <p:cNvPicPr>
            <a:picLocks noChangeAspect="1"/>
          </p:cNvPicPr>
          <p:nvPr userDrawn="1"/>
        </p:nvPicPr>
        <p:blipFill>
          <a:blip r:embed="rId26">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934268"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r>
              <a:rPr lang="en-US" dirty="0"/>
              <a:t>Dawn Iacobucci, Marketing Management, 6th Edition. © 2022 Cengage.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25" r:id="rId5"/>
    <p:sldLayoutId id="2147483718" r:id="rId6"/>
    <p:sldLayoutId id="2147483726" r:id="rId7"/>
    <p:sldLayoutId id="2147483715" r:id="rId8"/>
    <p:sldLayoutId id="2147483727" r:id="rId9"/>
    <p:sldLayoutId id="2147483716" r:id="rId10"/>
    <p:sldLayoutId id="2147483719" r:id="rId11"/>
    <p:sldLayoutId id="2147483720" r:id="rId12"/>
    <p:sldLayoutId id="2147483723" r:id="rId13"/>
    <p:sldLayoutId id="2147483724" r:id="rId14"/>
    <p:sldLayoutId id="2147483713" r:id="rId15"/>
    <p:sldLayoutId id="214748371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840289" y="4035474"/>
            <a:ext cx="6402684" cy="672105"/>
          </a:xfrm>
        </p:spPr>
        <p:txBody>
          <a:bodyPr/>
          <a:lstStyle/>
          <a:p>
            <a:pPr algn="ctr"/>
            <a:r>
              <a:rPr lang="en-US" dirty="0"/>
              <a:t>Chapter 7: Internal Control </a:t>
            </a:r>
            <a:br>
              <a:rPr lang="en-US" dirty="0"/>
            </a:br>
            <a:r>
              <a:rPr lang="en-US" dirty="0"/>
              <a:t>and Cash</a:t>
            </a:r>
          </a:p>
        </p:txBody>
      </p:sp>
      <p:sp>
        <p:nvSpPr>
          <p:cNvPr id="6" name="Text Placeholder 5"/>
          <p:cNvSpPr>
            <a:spLocks noGrp="1"/>
          </p:cNvSpPr>
          <p:nvPr>
            <p:ph type="body" sz="quarter" idx="11"/>
          </p:nvPr>
        </p:nvSpPr>
        <p:spPr>
          <a:xfrm>
            <a:off x="5699483" y="2355562"/>
            <a:ext cx="4684295" cy="1073438"/>
          </a:xfrm>
        </p:spPr>
        <p:txBody>
          <a:bodyPr/>
          <a:lstStyle/>
          <a:p>
            <a:pPr algn="ctr"/>
            <a:r>
              <a:rPr lang="en-US" dirty="0"/>
              <a:t>Financial &amp; Managerial Accounting, 16e</a:t>
            </a:r>
          </a:p>
        </p:txBody>
      </p:sp>
      <p:sp>
        <p:nvSpPr>
          <p:cNvPr id="8" name="Footer Placeholder 7"/>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pic>
        <p:nvPicPr>
          <p:cNvPr id="7" name="Picture 6">
            <a:extLst>
              <a:ext uri="{FF2B5EF4-FFF2-40B4-BE49-F238E27FC236}">
                <a16:creationId xmlns:a16="http://schemas.microsoft.com/office/drawing/2014/main" id="{D5355D43-092C-5F87-937A-1470F50B1F0A}"/>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89109" y="689200"/>
            <a:ext cx="3624303" cy="4214746"/>
          </a:xfrm>
          <a:prstGeom prst="rect">
            <a:avLst/>
          </a:prstGeom>
        </p:spPr>
      </p:pic>
    </p:spTree>
    <p:extLst>
      <p:ext uri="{BB962C8B-B14F-4D97-AF65-F5344CB8AC3E}">
        <p14:creationId xmlns:p14="http://schemas.microsoft.com/office/powerpoint/2010/main" val="1607059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E7E44-9E0A-4213-B987-0A904EFAC12F}"/>
              </a:ext>
            </a:extLst>
          </p:cNvPr>
          <p:cNvSpPr>
            <a:spLocks noGrp="1"/>
          </p:cNvSpPr>
          <p:nvPr>
            <p:ph type="title"/>
          </p:nvPr>
        </p:nvSpPr>
        <p:spPr/>
        <p:txBody>
          <a:bodyPr/>
          <a:lstStyle/>
          <a:p>
            <a:r>
              <a:rPr lang="en-US" dirty="0"/>
              <a:t>Sarbanes-Oxley Act</a:t>
            </a:r>
            <a:br>
              <a:rPr lang="en-US" dirty="0"/>
            </a:br>
            <a:r>
              <a:rPr lang="en-US" sz="2400" dirty="0"/>
              <a:t>(Learning Objective 1)</a:t>
            </a:r>
          </a:p>
        </p:txBody>
      </p:sp>
      <p:sp>
        <p:nvSpPr>
          <p:cNvPr id="3" name="Text Placeholder 2">
            <a:extLst>
              <a:ext uri="{FF2B5EF4-FFF2-40B4-BE49-F238E27FC236}">
                <a16:creationId xmlns:a16="http://schemas.microsoft.com/office/drawing/2014/main" id="{CC2E23BB-E198-4D8B-849A-D5F090CABDFD}"/>
              </a:ext>
            </a:extLst>
          </p:cNvPr>
          <p:cNvSpPr>
            <a:spLocks noGrp="1"/>
          </p:cNvSpPr>
          <p:nvPr>
            <p:ph sz="quarter" idx="10"/>
          </p:nvPr>
        </p:nvSpPr>
        <p:spPr/>
        <p:txBody>
          <a:bodyPr>
            <a:noAutofit/>
          </a:bodyPr>
          <a:lstStyle/>
          <a:p>
            <a:pPr marL="457200" indent="-457200">
              <a:buFont typeface="Arial" panose="020B0604020202020204" pitchFamily="34" charset="0"/>
              <a:buChar char="•"/>
            </a:pPr>
            <a:r>
              <a:rPr lang="en-US" sz="2600" dirty="0"/>
              <a:t>The purpose of the </a:t>
            </a:r>
            <a:r>
              <a:rPr lang="en-US" sz="2600" b="1" dirty="0">
                <a:solidFill>
                  <a:srgbClr val="004A78"/>
                </a:solidFill>
              </a:rPr>
              <a:t>Sarbanes-Oxley Act</a:t>
            </a:r>
            <a:r>
              <a:rPr lang="en-US" sz="2600" dirty="0">
                <a:solidFill>
                  <a:srgbClr val="004A78"/>
                </a:solidFill>
              </a:rPr>
              <a:t> </a:t>
            </a:r>
            <a:r>
              <a:rPr lang="en-US" sz="2600" dirty="0"/>
              <a:t>is to maintain public confidence and trust in the financial reporting of companies.</a:t>
            </a:r>
          </a:p>
          <a:p>
            <a:pPr lvl="1"/>
            <a:r>
              <a:rPr lang="en-US" dirty="0"/>
              <a:t>Sarbanes-Oxley applies only to companies whose stock is traded on public exchanges, referred to as </a:t>
            </a:r>
            <a:r>
              <a:rPr lang="en-US" i="1" dirty="0">
                <a:highlight>
                  <a:srgbClr val="FFFF00"/>
                </a:highlight>
              </a:rPr>
              <a:t>publicly held companies</a:t>
            </a:r>
            <a:r>
              <a:rPr lang="en-US" dirty="0">
                <a:highlight>
                  <a:srgbClr val="FFFF00"/>
                </a:highlight>
              </a:rPr>
              <a:t>.</a:t>
            </a:r>
          </a:p>
          <a:p>
            <a:pPr marL="457200" indent="-457200">
              <a:buFont typeface="Arial" panose="020B0604020202020204" pitchFamily="34" charset="0"/>
              <a:buChar char="•"/>
            </a:pPr>
            <a:r>
              <a:rPr lang="en-US" sz="2600" dirty="0"/>
              <a:t>Sarbanes-Oxley emphasizes the importance of effective internal control.</a:t>
            </a:r>
          </a:p>
          <a:p>
            <a:pPr marL="457200" indent="-457200">
              <a:buClr>
                <a:srgbClr val="000000"/>
              </a:buClr>
              <a:buFont typeface="Arial" panose="020B0604020202020204" pitchFamily="34" charset="0"/>
              <a:buChar char="•"/>
            </a:pPr>
            <a:r>
              <a:rPr lang="en-US" sz="2600" b="1" dirty="0">
                <a:solidFill>
                  <a:srgbClr val="004A78"/>
                </a:solidFill>
              </a:rPr>
              <a:t>The objectives of internal control are</a:t>
            </a:r>
          </a:p>
          <a:p>
            <a:pPr marL="1143000" lvl="1" indent="-457200">
              <a:buClr>
                <a:srgbClr val="000000"/>
              </a:buClr>
              <a:buFont typeface="Arial" panose="020B0604020202020204" pitchFamily="34" charset="0"/>
              <a:buChar char="•"/>
            </a:pPr>
            <a:r>
              <a:rPr lang="en-US" i="1" dirty="0">
                <a:highlight>
                  <a:srgbClr val="FFFF00"/>
                </a:highlight>
              </a:rPr>
              <a:t>provide reasonable assurance that assets are safeguarded and used for business purposes,</a:t>
            </a:r>
          </a:p>
          <a:p>
            <a:pPr marL="1143000" lvl="1" indent="-457200">
              <a:buClr>
                <a:srgbClr val="000000"/>
              </a:buClr>
              <a:buFont typeface="Arial" panose="020B0604020202020204" pitchFamily="34" charset="0"/>
              <a:buChar char="•"/>
            </a:pPr>
            <a:r>
              <a:rPr lang="en-US" i="1" dirty="0">
                <a:highlight>
                  <a:srgbClr val="FFFF00"/>
                </a:highlight>
              </a:rPr>
              <a:t> business information is accurate, </a:t>
            </a:r>
          </a:p>
          <a:p>
            <a:pPr marL="1143000" lvl="1" indent="-457200">
              <a:buClr>
                <a:srgbClr val="000000"/>
              </a:buClr>
              <a:buFont typeface="Arial" panose="020B0604020202020204" pitchFamily="34" charset="0"/>
              <a:buChar char="•"/>
            </a:pPr>
            <a:r>
              <a:rPr lang="en-US" i="1" dirty="0">
                <a:highlight>
                  <a:srgbClr val="FFFF00"/>
                </a:highlight>
              </a:rPr>
              <a:t>and laws and regulations are complied with</a:t>
            </a:r>
          </a:p>
        </p:txBody>
      </p:sp>
    </p:spTree>
    <p:extLst>
      <p:ext uri="{BB962C8B-B14F-4D97-AF65-F5344CB8AC3E}">
        <p14:creationId xmlns:p14="http://schemas.microsoft.com/office/powerpoint/2010/main" val="18776880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35EB5-E1A4-44ED-8A28-14583C30DC98}"/>
              </a:ext>
            </a:extLst>
          </p:cNvPr>
          <p:cNvSpPr>
            <a:spLocks noGrp="1"/>
          </p:cNvSpPr>
          <p:nvPr>
            <p:ph type="title"/>
          </p:nvPr>
        </p:nvSpPr>
        <p:spPr/>
        <p:txBody>
          <a:bodyPr/>
          <a:lstStyle/>
          <a:p>
            <a:r>
              <a:rPr lang="en-US" dirty="0"/>
              <a:t>Internal Control</a:t>
            </a:r>
            <a:br>
              <a:rPr lang="en-US" dirty="0"/>
            </a:br>
            <a:r>
              <a:rPr lang="en-US" sz="2400" dirty="0"/>
              <a:t>(Learning Objective 2)</a:t>
            </a:r>
          </a:p>
        </p:txBody>
      </p:sp>
      <p:sp>
        <p:nvSpPr>
          <p:cNvPr id="3" name="Text Placeholder 2">
            <a:extLst>
              <a:ext uri="{FF2B5EF4-FFF2-40B4-BE49-F238E27FC236}">
                <a16:creationId xmlns:a16="http://schemas.microsoft.com/office/drawing/2014/main" id="{0D3362BF-A624-4C2A-96B1-3D091D9AC834}"/>
              </a:ext>
            </a:extLst>
          </p:cNvPr>
          <p:cNvSpPr>
            <a:spLocks noGrp="1"/>
          </p:cNvSpPr>
          <p:nvPr>
            <p:ph sz="quarter" idx="10"/>
          </p:nvPr>
        </p:nvSpPr>
        <p:spPr/>
        <p:txBody>
          <a:bodyPr>
            <a:noAutofit/>
          </a:bodyPr>
          <a:lstStyle/>
          <a:p>
            <a:pPr marL="457200" indent="-457200">
              <a:buFont typeface="Arial" panose="020B0604020202020204" pitchFamily="34" charset="0"/>
              <a:buChar char="•"/>
            </a:pPr>
            <a:r>
              <a:rPr lang="en-US" sz="2600" i="1" dirty="0"/>
              <a:t>Internal Control—Integrated Framework</a:t>
            </a:r>
            <a:r>
              <a:rPr lang="en-US" sz="2600" dirty="0"/>
              <a:t> is the standard by which companies design, analyze, and evaluate internal control.</a:t>
            </a:r>
          </a:p>
          <a:p>
            <a:pPr marL="457200" indent="-457200">
              <a:buFont typeface="Arial" panose="020B0604020202020204" pitchFamily="34" charset="0"/>
              <a:buChar char="•"/>
            </a:pPr>
            <a:endParaRPr lang="en-US" sz="2600" dirty="0"/>
          </a:p>
          <a:p>
            <a:pPr marL="457200" indent="-457200">
              <a:buFont typeface="Arial" panose="020B0604020202020204" pitchFamily="34" charset="0"/>
              <a:buChar char="•"/>
            </a:pPr>
            <a:r>
              <a:rPr lang="en-US" sz="2600" dirty="0">
                <a:highlight>
                  <a:srgbClr val="FFFF00"/>
                </a:highlight>
              </a:rPr>
              <a:t> </a:t>
            </a:r>
            <a:r>
              <a:rPr lang="en-US" sz="2600" dirty="0">
                <a:solidFill>
                  <a:srgbClr val="FF0000"/>
                </a:solidFill>
                <a:highlight>
                  <a:srgbClr val="FFFF00"/>
                </a:highlight>
              </a:rPr>
              <a:t>objectives of internal control include  </a:t>
            </a:r>
          </a:p>
          <a:p>
            <a:pPr marL="1143000" lvl="1" indent="-457200">
              <a:buFont typeface="Arial" panose="020B0604020202020204" pitchFamily="34" charset="0"/>
              <a:buChar char="•"/>
            </a:pPr>
            <a:r>
              <a:rPr lang="en-US" sz="2200" dirty="0">
                <a:highlight>
                  <a:srgbClr val="FFFF00"/>
                </a:highlight>
              </a:rPr>
              <a:t>provide reasonable assurance that assets are safeguarded and used for business purposes, </a:t>
            </a:r>
          </a:p>
          <a:p>
            <a:pPr marL="1143000" lvl="1" indent="-457200">
              <a:buFont typeface="Arial" panose="020B0604020202020204" pitchFamily="34" charset="0"/>
              <a:buChar char="•"/>
            </a:pPr>
            <a:r>
              <a:rPr lang="en-US" sz="2200" dirty="0">
                <a:highlight>
                  <a:srgbClr val="FFFF00"/>
                </a:highlight>
              </a:rPr>
              <a:t>business information is accurate, and</a:t>
            </a:r>
          </a:p>
          <a:p>
            <a:pPr marL="1143000" lvl="1" indent="-457200">
              <a:buFont typeface="Arial" panose="020B0604020202020204" pitchFamily="34" charset="0"/>
              <a:buChar char="•"/>
            </a:pPr>
            <a:r>
              <a:rPr lang="en-US" sz="2200" dirty="0">
                <a:highlight>
                  <a:srgbClr val="FFFF00"/>
                </a:highlight>
              </a:rPr>
              <a:t>laws and regulations are complied with </a:t>
            </a:r>
          </a:p>
          <a:p>
            <a:pPr marL="457200" indent="-457200">
              <a:buFont typeface="Arial" panose="020B0604020202020204" pitchFamily="34" charset="0"/>
              <a:buChar char="•"/>
            </a:pPr>
            <a:r>
              <a:rPr lang="en-US" sz="2600" dirty="0"/>
              <a:t>A serious concern of internal control is preventing employee fraud.</a:t>
            </a:r>
          </a:p>
          <a:p>
            <a:pPr lvl="1">
              <a:buClr>
                <a:srgbClr val="000000"/>
              </a:buClr>
            </a:pPr>
            <a:r>
              <a:rPr lang="en-US" b="1" dirty="0">
                <a:solidFill>
                  <a:srgbClr val="004A78"/>
                </a:solidFill>
              </a:rPr>
              <a:t>Employee fraud</a:t>
            </a:r>
            <a:r>
              <a:rPr lang="en-US" dirty="0">
                <a:solidFill>
                  <a:srgbClr val="004A78"/>
                </a:solidFill>
              </a:rPr>
              <a:t> </a:t>
            </a:r>
            <a:r>
              <a:rPr lang="en-US" dirty="0"/>
              <a:t>is the intentional act of deceiving an employer for personal gain.</a:t>
            </a:r>
          </a:p>
        </p:txBody>
      </p:sp>
    </p:spTree>
    <p:extLst>
      <p:ext uri="{BB962C8B-B14F-4D97-AF65-F5344CB8AC3E}">
        <p14:creationId xmlns:p14="http://schemas.microsoft.com/office/powerpoint/2010/main" val="972510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Internal Control</a:t>
            </a:r>
            <a:br>
              <a:rPr lang="en-US" dirty="0"/>
            </a:br>
            <a:r>
              <a:rPr lang="en-US" sz="1800" dirty="0"/>
              <a:t> </a:t>
            </a:r>
          </a:p>
        </p:txBody>
      </p:sp>
      <p:sp>
        <p:nvSpPr>
          <p:cNvPr id="3" name="Content Placeholder 2"/>
          <p:cNvSpPr>
            <a:spLocks noGrp="1"/>
          </p:cNvSpPr>
          <p:nvPr>
            <p:ph idx="1"/>
          </p:nvPr>
        </p:nvSpPr>
        <p:spPr/>
        <p:txBody>
          <a:bodyPr/>
          <a:lstStyle/>
          <a:p>
            <a:r>
              <a:rPr lang="en-US" sz="2000" dirty="0"/>
              <a:t>The </a:t>
            </a:r>
            <a:r>
              <a:rPr lang="en-US" sz="2000" b="1" dirty="0">
                <a:solidFill>
                  <a:srgbClr val="00375D"/>
                </a:solidFill>
                <a:highlight>
                  <a:srgbClr val="FFFF00"/>
                </a:highlight>
              </a:rPr>
              <a:t>control environment </a:t>
            </a:r>
            <a:r>
              <a:rPr lang="en-US" sz="2000" dirty="0"/>
              <a:t>is the overall attitude of management and employees about the importance of controls.</a:t>
            </a:r>
          </a:p>
          <a:p>
            <a:r>
              <a:rPr lang="en-US" sz="2000" b="1" dirty="0">
                <a:solidFill>
                  <a:srgbClr val="00375D"/>
                </a:solidFill>
                <a:highlight>
                  <a:srgbClr val="FFFF00"/>
                </a:highlight>
              </a:rPr>
              <a:t>Risk Assessment </a:t>
            </a:r>
            <a:r>
              <a:rPr lang="en-US" sz="2000" dirty="0"/>
              <a:t>:Management should identify such risks, take any necessary actions to minimize them.</a:t>
            </a:r>
          </a:p>
          <a:p>
            <a:r>
              <a:rPr lang="en-US" dirty="0"/>
              <a:t> </a:t>
            </a:r>
            <a:r>
              <a:rPr lang="en-US" sz="2000" b="1" dirty="0">
                <a:solidFill>
                  <a:srgbClr val="00375D"/>
                </a:solidFill>
                <a:highlight>
                  <a:srgbClr val="FFFF00"/>
                </a:highlight>
              </a:rPr>
              <a:t>Control procedures</a:t>
            </a:r>
            <a:r>
              <a:rPr lang="en-US" sz="2000" b="1" dirty="0">
                <a:solidFill>
                  <a:srgbClr val="00375D"/>
                </a:solidFill>
              </a:rPr>
              <a:t>: </a:t>
            </a:r>
            <a:r>
              <a:rPr lang="en-US" sz="2000" dirty="0"/>
              <a:t>provide reasonable assurance that business goals will be achieved, including the prevention of fraud. </a:t>
            </a:r>
          </a:p>
          <a:p>
            <a:r>
              <a:rPr lang="en-US" sz="2000" b="1" dirty="0">
                <a:solidFill>
                  <a:srgbClr val="00375D"/>
                </a:solidFill>
                <a:highlight>
                  <a:srgbClr val="FFFF00"/>
                </a:highlight>
              </a:rPr>
              <a:t>Monitoring</a:t>
            </a:r>
            <a:r>
              <a:rPr lang="en-US" sz="2000" b="1" dirty="0">
                <a:solidFill>
                  <a:srgbClr val="00375D"/>
                </a:solidFill>
              </a:rPr>
              <a:t>:</a:t>
            </a:r>
            <a:r>
              <a:rPr lang="en-US" sz="2000" dirty="0"/>
              <a:t> the internal control system is used to locate weaknesses and improve controls.  </a:t>
            </a:r>
          </a:p>
          <a:p>
            <a:r>
              <a:rPr lang="en-US" sz="2000" b="1" dirty="0">
                <a:solidFill>
                  <a:srgbClr val="00375D"/>
                </a:solidFill>
                <a:highlight>
                  <a:srgbClr val="FFFF00"/>
                </a:highlight>
              </a:rPr>
              <a:t>Information and Communication</a:t>
            </a:r>
            <a:r>
              <a:rPr lang="en-US" sz="2000" b="1" dirty="0">
                <a:solidFill>
                  <a:srgbClr val="00375D"/>
                </a:solidFill>
              </a:rPr>
              <a:t>:</a:t>
            </a:r>
            <a:r>
              <a:rPr lang="en-US" sz="2000" dirty="0"/>
              <a:t> used by management for guiding operations and ensuring compliance with reporting, legal, and regulatory requirements</a:t>
            </a:r>
            <a:endParaRPr lang="en-US" sz="2000" b="1" dirty="0">
              <a:solidFill>
                <a:srgbClr val="00375D"/>
              </a:solidFill>
            </a:endParaRPr>
          </a:p>
        </p:txBody>
      </p:sp>
    </p:spTree>
    <p:extLst>
      <p:ext uri="{BB962C8B-B14F-4D97-AF65-F5344CB8AC3E}">
        <p14:creationId xmlns:p14="http://schemas.microsoft.com/office/powerpoint/2010/main" val="2252210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27214-3B75-4306-8988-B65634D14A20}"/>
              </a:ext>
            </a:extLst>
          </p:cNvPr>
          <p:cNvSpPr>
            <a:spLocks noGrp="1"/>
          </p:cNvSpPr>
          <p:nvPr>
            <p:ph type="title"/>
          </p:nvPr>
        </p:nvSpPr>
        <p:spPr/>
        <p:txBody>
          <a:bodyPr/>
          <a:lstStyle/>
          <a:p>
            <a:r>
              <a:rPr lang="en-US" dirty="0"/>
              <a:t>Bank Accounts</a:t>
            </a:r>
            <a:br>
              <a:rPr lang="en-US" dirty="0"/>
            </a:br>
            <a:r>
              <a:rPr lang="en-US" sz="2400" dirty="0"/>
              <a:t>(Learning Objective 4)</a:t>
            </a:r>
          </a:p>
        </p:txBody>
      </p:sp>
      <p:sp>
        <p:nvSpPr>
          <p:cNvPr id="3" name="Text Placeholder 2">
            <a:extLst>
              <a:ext uri="{FF2B5EF4-FFF2-40B4-BE49-F238E27FC236}">
                <a16:creationId xmlns:a16="http://schemas.microsoft.com/office/drawing/2014/main" id="{98F48E9C-8851-48B7-B319-E1596BC144F3}"/>
              </a:ext>
            </a:extLst>
          </p:cNvPr>
          <p:cNvSpPr>
            <a:spLocks noGrp="1"/>
          </p:cNvSpPr>
          <p:nvPr>
            <p:ph sz="quarter" idx="10"/>
          </p:nvPr>
        </p:nvSpPr>
        <p:spPr/>
        <p:txBody>
          <a:bodyPr>
            <a:noAutofit/>
          </a:bodyPr>
          <a:lstStyle/>
          <a:p>
            <a:pPr marL="457200" indent="-457200">
              <a:buFont typeface="Arial" panose="020B0604020202020204" pitchFamily="34" charset="0"/>
              <a:buChar char="•"/>
            </a:pPr>
            <a:r>
              <a:rPr lang="en-US" sz="2600" dirty="0"/>
              <a:t>A major reason that companies use bank accounts is for internal control. </a:t>
            </a:r>
          </a:p>
          <a:p>
            <a:pPr marL="457200" indent="-457200">
              <a:buFont typeface="Arial" panose="020B0604020202020204" pitchFamily="34" charset="0"/>
              <a:buChar char="•"/>
            </a:pPr>
            <a:r>
              <a:rPr lang="en-US" sz="2600" dirty="0"/>
              <a:t>Some of the control advantages of using bank accounts are as follows:</a:t>
            </a:r>
          </a:p>
          <a:p>
            <a:pPr lvl="1"/>
            <a:r>
              <a:rPr lang="en-US" sz="2600" dirty="0"/>
              <a:t>Bank accounts reduce the amount of cash on hand.</a:t>
            </a:r>
          </a:p>
          <a:p>
            <a:pPr lvl="1"/>
            <a:r>
              <a:rPr lang="en-US" sz="2600" dirty="0"/>
              <a:t>Bank accounts provide an independent recording of cash transactions.</a:t>
            </a:r>
          </a:p>
          <a:p>
            <a:pPr lvl="2"/>
            <a:r>
              <a:rPr lang="en-US" sz="2400" dirty="0"/>
              <a:t>Reconciling the balance of the cash account in the company’s records with the cash balance according to the bank is an important control.</a:t>
            </a:r>
          </a:p>
          <a:p>
            <a:pPr lvl="1"/>
            <a:r>
              <a:rPr lang="en-US" sz="2600" dirty="0"/>
              <a:t>Use of bank accounts facilitates the transfer of funds using EFT systems.</a:t>
            </a:r>
          </a:p>
        </p:txBody>
      </p:sp>
    </p:spTree>
    <p:extLst>
      <p:ext uri="{BB962C8B-B14F-4D97-AF65-F5344CB8AC3E}">
        <p14:creationId xmlns:p14="http://schemas.microsoft.com/office/powerpoint/2010/main" val="1109881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844B0-F24F-4E14-9B5B-B39630911500}"/>
              </a:ext>
            </a:extLst>
          </p:cNvPr>
          <p:cNvSpPr>
            <a:spLocks noGrp="1"/>
          </p:cNvSpPr>
          <p:nvPr>
            <p:ph type="title"/>
          </p:nvPr>
        </p:nvSpPr>
        <p:spPr/>
        <p:txBody>
          <a:bodyPr/>
          <a:lstStyle/>
          <a:p>
            <a:r>
              <a:rPr lang="en-US" dirty="0"/>
              <a:t>Bank Statement</a:t>
            </a:r>
            <a:br>
              <a:rPr lang="en-US" dirty="0"/>
            </a:br>
            <a:r>
              <a:rPr lang="en-US" sz="2400" dirty="0"/>
              <a:t>(1 of 4)</a:t>
            </a:r>
          </a:p>
        </p:txBody>
      </p:sp>
      <p:sp>
        <p:nvSpPr>
          <p:cNvPr id="3" name="Text Placeholder 2">
            <a:extLst>
              <a:ext uri="{FF2B5EF4-FFF2-40B4-BE49-F238E27FC236}">
                <a16:creationId xmlns:a16="http://schemas.microsoft.com/office/drawing/2014/main" id="{C522BBB7-2896-4BA6-B997-46D8BE362F60}"/>
              </a:ext>
            </a:extLst>
          </p:cNvPr>
          <p:cNvSpPr>
            <a:spLocks noGrp="1"/>
          </p:cNvSpPr>
          <p:nvPr>
            <p:ph sz="quarter" idx="10"/>
          </p:nvPr>
        </p:nvSpPr>
        <p:spPr/>
        <p:txBody>
          <a:bodyPr/>
          <a:lstStyle/>
          <a:p>
            <a:pPr marL="457200" indent="-457200">
              <a:buFont typeface="Arial" panose="020B0604020202020204" pitchFamily="34" charset="0"/>
              <a:buChar char="•"/>
            </a:pPr>
            <a:r>
              <a:rPr lang="en-US" sz="2600" dirty="0"/>
              <a:t>Banks maintain a record of all checking account transactions.</a:t>
            </a:r>
          </a:p>
          <a:p>
            <a:pPr marL="457200" indent="-457200">
              <a:buFont typeface="Arial" panose="020B0604020202020204" pitchFamily="34" charset="0"/>
              <a:buChar char="•"/>
            </a:pPr>
            <a:r>
              <a:rPr lang="en-US" sz="2600" dirty="0"/>
              <a:t>A summary of all transactions, called a </a:t>
            </a:r>
            <a:r>
              <a:rPr lang="en-US" sz="2600" b="1" dirty="0">
                <a:solidFill>
                  <a:srgbClr val="004A78"/>
                </a:solidFill>
              </a:rPr>
              <a:t>bank statement</a:t>
            </a:r>
            <a:r>
              <a:rPr lang="en-US" sz="2600" dirty="0"/>
              <a:t>, is mailed, usually each month, to the company (depositor) or made available online. </a:t>
            </a:r>
          </a:p>
          <a:p>
            <a:pPr marL="457200" indent="-457200">
              <a:buFont typeface="Arial" panose="020B0604020202020204" pitchFamily="34" charset="0"/>
              <a:buChar char="•"/>
            </a:pPr>
            <a:r>
              <a:rPr lang="en-US" sz="2600" dirty="0"/>
              <a:t>The bank statement shows the beginning balance, additions, deductions, and the ending balance.</a:t>
            </a:r>
          </a:p>
        </p:txBody>
      </p:sp>
    </p:spTree>
    <p:extLst>
      <p:ext uri="{BB962C8B-B14F-4D97-AF65-F5344CB8AC3E}">
        <p14:creationId xmlns:p14="http://schemas.microsoft.com/office/powerpoint/2010/main" val="1070349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5B49E-77F3-416C-8F3F-1B7EE0D24940}"/>
              </a:ext>
            </a:extLst>
          </p:cNvPr>
          <p:cNvSpPr>
            <a:spLocks noGrp="1"/>
          </p:cNvSpPr>
          <p:nvPr>
            <p:ph type="title"/>
          </p:nvPr>
        </p:nvSpPr>
        <p:spPr/>
        <p:txBody>
          <a:bodyPr/>
          <a:lstStyle/>
          <a:p>
            <a:r>
              <a:rPr lang="en-US" dirty="0"/>
              <a:t>Exhibit 9 </a:t>
            </a:r>
            <a:r>
              <a:rPr lang="en-US" noProof="0" dirty="0"/>
              <a:t>–</a:t>
            </a:r>
            <a:r>
              <a:rPr lang="en-US" dirty="0"/>
              <a:t> Bank Statement</a:t>
            </a:r>
          </a:p>
        </p:txBody>
      </p:sp>
      <p:pic>
        <p:nvPicPr>
          <p:cNvPr id="5" name="Content Placeholder 4" descr="An example of a bank statement is shown. Just off-center, at the top of the bank statement, the words Member F D I C are shown in bold type. In the top-right corner, the words Page 1 are shown. &#10;&#10;In the top-left portion of the bank statement, the name of the bank appears in large, bold letters: Valley National Bank of Los Angeles. Below this, the bank’s address and telephone number are stated in bold: Los Angeles, CA 90020-4253, (310) 555-5151.&#10;&#10;Below the bank’s contact info is the name and address of the company the bank statement is being issued to: Power Networking, 1000 Belkin Street, Los Angeles, CA 90014-1000. &#10;&#10;To the right of names and addresses, below the words Page 1, are two columns of information. The first line says: Account Number 1627042. The second line says: From 6/30/20Y5 to 7/31/20Y5. The third line says: Balance 4,218.60. The fourth line says: 22 Deposits 13,749.75. The fifth line says: 52 Withdrawals 14,698.57. The sixth line says: 3 Other Debits and Credits 90.00C R. The last line says: New Balance 3,359.78.&#10;&#10;Below this information and the bank and company addresses is a table with four column headings: Checks and Other Debits, Deposits, Date, and Balance. The Checks and Other Debits column is expanded into four separate columns of information: The first and third columns list the check numbers or charge type and the second and fourth columns list the amount of each check or charge.&#10;&#10;On the first line, the following information is shown: Checks and Other Debits: No. 850, 819.40; No. 852, 122.54; Deposits, 585.75; Date, 07/01; Balance, 3,862.41. On the second line, the following information is shown: Checks and Other Debits: No. 854, 369.50; No. 853, 20.15; Deposits, 421.53; Date, 07/02; Balance, 3,894.29. On the third line, the following information is shown: Checks and Other Debits: No. 851, 600.00; No. 856, 190.70; Deposits, 781.30; Date, 07/03; Balance, 3,884.89. On the fourth line, the following information is shown: Checks and Other Debits: No. 855, 25.93; No. 857, 52.50; Date, 07/04; Balance, 3,806.46. On the fifth line, the following information is shown: Checks and Other Debits: No. 860, 921.20; No. 858, 160.00; Deposits, 662.50; Date, 07/05; Balance, 3,387.76. On the sixth line, the following information is shown: Checks and Other Debits: No. 862, 91.07; N S F, 300.00; Deposits, 503.18; Date, 07/07; Balance, 3,499.87.&#10;&#10;Below this line, a squiggly line extends across the length of the bank statement. Below the line is an area of blank space and then another squiggly line that extends across the length of the bank statement. This symbolizes that there is information on the bank statement that is not shown here.&#10;&#10;On the next line, the following information is shown: Checks and Other Debits: No. 880, 32.26; No. 877, 535.09; Deposits, A C H 932.00; Date, 07/29; Balance, 4,136.66. On the next line, the following information is shown: Checks and Other Debits: No. 881, 21.10; No. 879, 732.26; Deposits, 705.21; Date, 07/30; Balance, 4,088.51. On the next line, the following information is shown: Checks and Other Debits: No. 882, 126.20; S C, 18.00; Deposits, M S 408.00; Date, 07/30; Balance, 4,352.31. On the next line, the following information is shown: Checks and Other Debits: No. 874, 26.12; A C H, 1,615.13; Deposits, 648.72; Date, 07/31; Balance, 3,359.78.&#10;&#10;Centered below the table is a legend in two columns stating what the various abbreviations on the bank statement stand for. The first column states: E C – Error Correction; M S – Miscellaneous; N S F – Not Sufficient Funds. The second column states: A C H – Automated Clearing House; S C – Service Charge.&#10;&#10;Below the legend, at the bottom of the bank statement, is the following note: The reconcilement of this statement with your records is essential. Any error or exception should be reported immediately.&#10;">
            <a:extLst>
              <a:ext uri="{FF2B5EF4-FFF2-40B4-BE49-F238E27FC236}">
                <a16:creationId xmlns:a16="http://schemas.microsoft.com/office/drawing/2014/main" id="{E4264499-02EE-4B6F-BB9E-5ADE374C9873}"/>
              </a:ext>
            </a:extLst>
          </p:cNvPr>
          <p:cNvPicPr>
            <a:picLocks noGrp="1" noChangeAspect="1"/>
          </p:cNvPicPr>
          <p:nvPr>
            <p:ph sz="quarter" idx="10"/>
          </p:nvPr>
        </p:nvPicPr>
        <p:blipFill>
          <a:blip r:embed="rId2"/>
          <a:stretch>
            <a:fillRect/>
          </a:stretch>
        </p:blipFill>
        <p:spPr>
          <a:xfrm>
            <a:off x="3575636" y="1047926"/>
            <a:ext cx="5040727" cy="5100808"/>
          </a:xfrm>
          <a:prstGeom prst="rect">
            <a:avLst/>
          </a:prstGeom>
        </p:spPr>
      </p:pic>
    </p:spTree>
    <p:extLst>
      <p:ext uri="{BB962C8B-B14F-4D97-AF65-F5344CB8AC3E}">
        <p14:creationId xmlns:p14="http://schemas.microsoft.com/office/powerpoint/2010/main" val="3071731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Bank Statement</a:t>
            </a:r>
            <a:br>
              <a:rPr lang="en-US" dirty="0"/>
            </a:br>
            <a:endParaRPr lang="en-US" sz="1800" dirty="0"/>
          </a:p>
        </p:txBody>
      </p:sp>
      <p:sp>
        <p:nvSpPr>
          <p:cNvPr id="5" name="Content Placeholder 4"/>
          <p:cNvSpPr>
            <a:spLocks noGrp="1"/>
          </p:cNvSpPr>
          <p:nvPr>
            <p:ph idx="1"/>
          </p:nvPr>
        </p:nvSpPr>
        <p:spPr/>
        <p:txBody>
          <a:bodyPr/>
          <a:lstStyle/>
          <a:p>
            <a:r>
              <a:rPr lang="en-US" dirty="0"/>
              <a:t>The company’s checking account balance </a:t>
            </a:r>
            <a:r>
              <a:rPr lang="en-US" i="1" dirty="0"/>
              <a:t>in the bank records</a:t>
            </a:r>
            <a:r>
              <a:rPr lang="en-US" dirty="0"/>
              <a:t> is a liability. Thus, in the bank’s records, the company’s account has a credit balance.</a:t>
            </a:r>
          </a:p>
          <a:p>
            <a:r>
              <a:rPr lang="en-US" dirty="0"/>
              <a:t>Because the bank statement is prepared from the bank’s point of view, a credit memo entry on the bank statement indicates an increase (a credit) to the company’s account.</a:t>
            </a:r>
          </a:p>
          <a:p>
            <a:r>
              <a:rPr lang="en-US" dirty="0"/>
              <a:t>Likewise, a debit memo entry on the bank statement indicates a decrease (a debit) in the company’s account.</a:t>
            </a:r>
          </a:p>
        </p:txBody>
      </p:sp>
    </p:spTree>
    <p:extLst>
      <p:ext uri="{BB962C8B-B14F-4D97-AF65-F5344CB8AC3E}">
        <p14:creationId xmlns:p14="http://schemas.microsoft.com/office/powerpoint/2010/main" val="3588716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2D02A-7E3F-46C3-8414-5A74AD96DBB3}"/>
              </a:ext>
            </a:extLst>
          </p:cNvPr>
          <p:cNvSpPr>
            <a:spLocks noGrp="1"/>
          </p:cNvSpPr>
          <p:nvPr>
            <p:ph type="title"/>
          </p:nvPr>
        </p:nvSpPr>
        <p:spPr/>
        <p:txBody>
          <a:bodyPr/>
          <a:lstStyle/>
          <a:p>
            <a:r>
              <a:rPr lang="en-US" dirty="0"/>
              <a:t>Bank Reconciliation</a:t>
            </a:r>
            <a:br>
              <a:rPr lang="en-US" dirty="0"/>
            </a:br>
            <a:r>
              <a:rPr lang="en-US" sz="2400" dirty="0"/>
              <a:t> (Learning Objective 5)</a:t>
            </a:r>
          </a:p>
        </p:txBody>
      </p:sp>
      <p:sp>
        <p:nvSpPr>
          <p:cNvPr id="3" name="Text Placeholder 2">
            <a:extLst>
              <a:ext uri="{FF2B5EF4-FFF2-40B4-BE49-F238E27FC236}">
                <a16:creationId xmlns:a16="http://schemas.microsoft.com/office/drawing/2014/main" id="{D5285290-874D-4725-975B-0E36B5DD3B0E}"/>
              </a:ext>
            </a:extLst>
          </p:cNvPr>
          <p:cNvSpPr>
            <a:spLocks noGrp="1"/>
          </p:cNvSpPr>
          <p:nvPr>
            <p:ph sz="quarter" idx="10"/>
          </p:nvPr>
        </p:nvSpPr>
        <p:spPr/>
        <p:txBody>
          <a:bodyPr>
            <a:noAutofit/>
          </a:bodyPr>
          <a:lstStyle/>
          <a:p>
            <a:pPr marL="457200" indent="-457200">
              <a:buFont typeface="Arial" panose="020B0604020202020204" pitchFamily="34" charset="0"/>
              <a:buChar char="•"/>
            </a:pPr>
            <a:r>
              <a:rPr lang="en-US" sz="2600" dirty="0"/>
              <a:t>A </a:t>
            </a:r>
            <a:r>
              <a:rPr lang="en-US" sz="2600" b="1" dirty="0">
                <a:solidFill>
                  <a:srgbClr val="004A78"/>
                </a:solidFill>
              </a:rPr>
              <a:t>bank reconciliation</a:t>
            </a:r>
            <a:r>
              <a:rPr lang="en-US" sz="2600" dirty="0">
                <a:solidFill>
                  <a:srgbClr val="004A78"/>
                </a:solidFill>
              </a:rPr>
              <a:t> </a:t>
            </a:r>
            <a:r>
              <a:rPr lang="en-US" sz="2600" dirty="0"/>
              <a:t>is an analysis of the items and amounts creating the difference between the cash balance reported on the bank statement and the balance of the cash account in the ledger.</a:t>
            </a:r>
          </a:p>
          <a:p>
            <a:pPr marL="457200" indent="-457200">
              <a:buFont typeface="Arial" panose="020B0604020202020204" pitchFamily="34" charset="0"/>
              <a:buChar char="•"/>
            </a:pPr>
            <a:r>
              <a:rPr lang="en-US" sz="2600" dirty="0"/>
              <a:t>The adjusted cash balance determined in the bank reconciliation is reported on the balance sheet.</a:t>
            </a:r>
          </a:p>
          <a:p>
            <a:pPr marL="457200" indent="-457200">
              <a:buFont typeface="Arial" panose="020B0604020202020204" pitchFamily="34" charset="0"/>
              <a:buChar char="•"/>
            </a:pPr>
            <a:r>
              <a:rPr lang="en-US" sz="2600" dirty="0"/>
              <a:t>A bank reconciliation is usually divided into two sections as follows:</a:t>
            </a:r>
          </a:p>
          <a:p>
            <a:pPr marL="914400" lvl="1" indent="-457200">
              <a:buFont typeface="+mj-lt"/>
              <a:buAutoNum type="arabicPeriod"/>
            </a:pPr>
            <a:r>
              <a:rPr lang="en-US" sz="2600" dirty="0"/>
              <a:t>The </a:t>
            </a:r>
            <a:r>
              <a:rPr lang="en-US" sz="2600" i="1" dirty="0"/>
              <a:t>bank section </a:t>
            </a:r>
            <a:r>
              <a:rPr lang="en-US" sz="2600" dirty="0"/>
              <a:t>begins with the cash balance according to the bank statement and ends with the </a:t>
            </a:r>
            <a:r>
              <a:rPr lang="en-US" sz="2600" i="1" dirty="0"/>
              <a:t>adjusted balance</a:t>
            </a:r>
            <a:r>
              <a:rPr lang="en-US" sz="2600" dirty="0"/>
              <a:t>.</a:t>
            </a:r>
          </a:p>
          <a:p>
            <a:pPr marL="914400" lvl="1" indent="-457200">
              <a:buFont typeface="+mj-lt"/>
              <a:buAutoNum type="arabicPeriod"/>
            </a:pPr>
            <a:r>
              <a:rPr lang="en-US" sz="2600" dirty="0"/>
              <a:t>The </a:t>
            </a:r>
            <a:r>
              <a:rPr lang="en-US" sz="2600" i="1" dirty="0"/>
              <a:t>company section </a:t>
            </a:r>
            <a:r>
              <a:rPr lang="en-US" sz="2600" dirty="0"/>
              <a:t>begins with the cash balance according to the company’s records and ends with the </a:t>
            </a:r>
            <a:r>
              <a:rPr lang="en-US" sz="2600" i="1" dirty="0"/>
              <a:t>adjusted balance</a:t>
            </a:r>
            <a:r>
              <a:rPr lang="en-US" sz="2600" dirty="0"/>
              <a:t>.</a:t>
            </a:r>
          </a:p>
        </p:txBody>
      </p:sp>
    </p:spTree>
    <p:extLst>
      <p:ext uri="{BB962C8B-B14F-4D97-AF65-F5344CB8AC3E}">
        <p14:creationId xmlns:p14="http://schemas.microsoft.com/office/powerpoint/2010/main" val="3702214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2D02A-7E3F-46C3-8414-5A74AD96DBB3}"/>
              </a:ext>
            </a:extLst>
          </p:cNvPr>
          <p:cNvSpPr>
            <a:spLocks noGrp="1"/>
          </p:cNvSpPr>
          <p:nvPr>
            <p:ph type="title"/>
          </p:nvPr>
        </p:nvSpPr>
        <p:spPr/>
        <p:txBody>
          <a:bodyPr/>
          <a:lstStyle/>
          <a:p>
            <a:r>
              <a:rPr lang="en-US" dirty="0"/>
              <a:t>Bank Reconciliation</a:t>
            </a:r>
            <a:br>
              <a:rPr lang="en-US" dirty="0"/>
            </a:br>
            <a:endParaRPr lang="en-US" sz="2400" dirty="0"/>
          </a:p>
        </p:txBody>
      </p:sp>
      <p:sp>
        <p:nvSpPr>
          <p:cNvPr id="3" name="Text Placeholder 2">
            <a:extLst>
              <a:ext uri="{FF2B5EF4-FFF2-40B4-BE49-F238E27FC236}">
                <a16:creationId xmlns:a16="http://schemas.microsoft.com/office/drawing/2014/main" id="{D5285290-874D-4725-975B-0E36B5DD3B0E}"/>
              </a:ext>
            </a:extLst>
          </p:cNvPr>
          <p:cNvSpPr>
            <a:spLocks noGrp="1"/>
          </p:cNvSpPr>
          <p:nvPr>
            <p:ph sz="quarter" idx="16"/>
          </p:nvPr>
        </p:nvSpPr>
        <p:spPr>
          <a:xfrm>
            <a:off x="838200" y="1607126"/>
            <a:ext cx="10515600" cy="1673103"/>
          </a:xfrm>
        </p:spPr>
        <p:txBody>
          <a:bodyPr>
            <a:noAutofit/>
          </a:bodyPr>
          <a:lstStyle/>
          <a:p>
            <a:pPr marL="457200" indent="-457200">
              <a:buFont typeface="Arial" panose="020B0604020202020204" pitchFamily="34" charset="0"/>
              <a:buChar char="•"/>
            </a:pPr>
            <a:r>
              <a:rPr lang="en-US" sz="2600" dirty="0"/>
              <a:t>The </a:t>
            </a:r>
            <a:r>
              <a:rPr lang="en-US" sz="2600" i="1" dirty="0"/>
              <a:t>adjusted balance </a:t>
            </a:r>
            <a:r>
              <a:rPr lang="en-US" sz="2600" dirty="0"/>
              <a:t>from bank and company sections must be equal. </a:t>
            </a:r>
          </a:p>
          <a:p>
            <a:pPr marL="457200" indent="-457200">
              <a:buFont typeface="Arial" panose="020B0604020202020204" pitchFamily="34" charset="0"/>
              <a:buChar char="•"/>
            </a:pPr>
            <a:r>
              <a:rPr lang="en-US" sz="2600" dirty="0"/>
              <a:t>The format of the bank reconciliation follows:</a:t>
            </a:r>
          </a:p>
        </p:txBody>
      </p:sp>
      <p:pic>
        <p:nvPicPr>
          <p:cNvPr id="6" name="Content Placeholder 5" descr="The basic format of a bank reconciliation is shown. The bank reconciliation is in two sections, represented by two boxes shown vertically. In lieu of numbers, all dollar amounts are represented by an X. &#10;&#10;The entries for the first box are listed as follows: Cash balance according to bank statement; Add: Deposits not recorded by bank (deposits in transit); and Deduct: Outstanding checks not paid by bank. This amount is set in parentheses, and a single rule appears below it. The final line of this section is Adjusted balance. A double rule appears below this amount. &#10;&#10;The entries for the second box are listed as follows: Cash balance according to company; Add: Credit memos that have not been recorded (notes collected by bank); and Deduct: Debit memos that have not been recorded (N S F checks, service charges). This amount is set in parentheses, and a single rule appears below it. The final line of this section is Adjusted balance. A double rule appears below this amount. &#10;&#10;A small arrow pointing to the Adjusted balance is shown outside the first box. A small arrow pointing to the Adjusted balance is shown outside the second box. A line connects the two arrows, with the following note appearing to the right of the line: Must be equal.&#10;">
            <a:extLst>
              <a:ext uri="{FF2B5EF4-FFF2-40B4-BE49-F238E27FC236}">
                <a16:creationId xmlns:a16="http://schemas.microsoft.com/office/drawing/2014/main" id="{17244B81-7C9E-4CF2-B6F7-8F89B5CD3102}"/>
              </a:ext>
            </a:extLst>
          </p:cNvPr>
          <p:cNvPicPr>
            <a:picLocks noGrp="1" noChangeAspect="1"/>
          </p:cNvPicPr>
          <p:nvPr>
            <p:ph sz="quarter" idx="17"/>
          </p:nvPr>
        </p:nvPicPr>
        <p:blipFill>
          <a:blip r:embed="rId2"/>
          <a:stretch>
            <a:fillRect/>
          </a:stretch>
        </p:blipFill>
        <p:spPr>
          <a:xfrm>
            <a:off x="3006725" y="2885692"/>
            <a:ext cx="6178550" cy="3093631"/>
          </a:xfrm>
          <a:prstGeom prst="rect">
            <a:avLst/>
          </a:prstGeom>
        </p:spPr>
      </p:pic>
    </p:spTree>
    <p:extLst>
      <p:ext uri="{BB962C8B-B14F-4D97-AF65-F5344CB8AC3E}">
        <p14:creationId xmlns:p14="http://schemas.microsoft.com/office/powerpoint/2010/main" val="7089252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Bank Reconciliation for Power Networking</a:t>
            </a:r>
            <a:br>
              <a:rPr lang="en-US" dirty="0"/>
            </a:br>
            <a:endParaRPr lang="en-US" sz="1800" dirty="0"/>
          </a:p>
        </p:txBody>
      </p:sp>
      <p:sp>
        <p:nvSpPr>
          <p:cNvPr id="3" name="Content Placeholder 2"/>
          <p:cNvSpPr>
            <a:spLocks noGrp="1"/>
          </p:cNvSpPr>
          <p:nvPr>
            <p:ph idx="1"/>
          </p:nvPr>
        </p:nvSpPr>
        <p:spPr/>
        <p:txBody>
          <a:bodyPr/>
          <a:lstStyle/>
          <a:p>
            <a:pPr fontAlgn="auto">
              <a:defRPr/>
            </a:pPr>
            <a:r>
              <a:rPr lang="en-US" dirty="0"/>
              <a:t>The bank statement shows a balance of $3,359.78 as of July 31. The cash balance in Power Networking’s ledger on the same date is $2,549.99.</a:t>
            </a:r>
          </a:p>
        </p:txBody>
      </p:sp>
    </p:spTree>
    <p:extLst>
      <p:ext uri="{BB962C8B-B14F-4D97-AF65-F5344CB8AC3E}">
        <p14:creationId xmlns:p14="http://schemas.microsoft.com/office/powerpoint/2010/main" val="4166730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7776" y="0"/>
            <a:ext cx="8229600" cy="1143000"/>
          </a:xfrm>
        </p:spPr>
        <p:txBody>
          <a:bodyPr/>
          <a:lstStyle/>
          <a:p>
            <a:r>
              <a:rPr lang="en-US" dirty="0"/>
              <a:t>Bank Reconciliation for Power Networking</a:t>
            </a:r>
            <a:br>
              <a:rPr lang="en-US" dirty="0"/>
            </a:br>
            <a:endParaRPr lang="en-US" sz="1800" dirty="0"/>
          </a:p>
        </p:txBody>
      </p:sp>
      <p:sp>
        <p:nvSpPr>
          <p:cNvPr id="3" name="Content Placeholder 2"/>
          <p:cNvSpPr>
            <a:spLocks noGrp="1"/>
          </p:cNvSpPr>
          <p:nvPr>
            <p:ph idx="1"/>
          </p:nvPr>
        </p:nvSpPr>
        <p:spPr>
          <a:xfrm>
            <a:off x="1981200" y="1216152"/>
            <a:ext cx="8229600" cy="3127248"/>
          </a:xfrm>
        </p:spPr>
        <p:txBody>
          <a:bodyPr/>
          <a:lstStyle/>
          <a:p>
            <a:pPr fontAlgn="auto">
              <a:defRPr/>
            </a:pPr>
            <a:r>
              <a:rPr lang="en-US" dirty="0"/>
              <a:t>The following reconciling items were identified:</a:t>
            </a:r>
          </a:p>
        </p:txBody>
      </p:sp>
      <p:pic>
        <p:nvPicPr>
          <p:cNvPr id="5" name="Picture 4" descr="A listing of reconciling items for Power Networking, along with a corresponding step in preparing a bank reconciliation for July 31 is shown. The following reconciling items for Power Networking are listed: Step 2. Deposit of July 31, not recorded on bank statement: $816.20. Step 3. Outstanding checks. Below this, a table listing the outstanding checks and their amounts are shown. The following checks and amounts are listed: Check No. 812, $1,061.00; Check No. 878, 435.39; Check No. 883, 48.60. A single rule appears below 48.60. Total, $1,544.99. A double rule appears below $1,544.99. Step 6. Note receivable of $400 plus interest of $8 collected by bank not recorded in the journal as indicated by a credit memo of $408. Step 7. Check from customer (Thomas Ivey) for $300 returned by bank because of insufficient funds (NSF) as indicated by a debit memo of $300.00. Bank service charges of $18, not recorded in the journal as indicated by a debit memo of $18.00. "/>
          <p:cNvPicPr>
            <a:picLocks noChangeAspect="1"/>
          </p:cNvPicPr>
          <p:nvPr/>
        </p:nvPicPr>
        <p:blipFill>
          <a:blip r:embed="rId2"/>
          <a:stretch>
            <a:fillRect/>
          </a:stretch>
        </p:blipFill>
        <p:spPr>
          <a:xfrm>
            <a:off x="1769423" y="1828800"/>
            <a:ext cx="7907977" cy="2806056"/>
          </a:xfrm>
          <a:prstGeom prst="rect">
            <a:avLst/>
          </a:prstGeom>
        </p:spPr>
      </p:pic>
      <p:sp>
        <p:nvSpPr>
          <p:cNvPr id="4" name="Content Placeholder 3"/>
          <p:cNvSpPr>
            <a:spLocks noGrp="1"/>
          </p:cNvSpPr>
          <p:nvPr>
            <p:ph sz="quarter" idx="10"/>
          </p:nvPr>
        </p:nvSpPr>
        <p:spPr>
          <a:xfrm>
            <a:off x="2017776" y="4956048"/>
            <a:ext cx="8229600" cy="1444752"/>
          </a:xfrm>
        </p:spPr>
        <p:txBody>
          <a:bodyPr/>
          <a:lstStyle/>
          <a:p>
            <a:pPr fontAlgn="auto">
              <a:spcBef>
                <a:spcPts val="1200"/>
              </a:spcBef>
              <a:buClr>
                <a:srgbClr val="00375D"/>
              </a:buClr>
              <a:buSzPct val="125000"/>
              <a:buFont typeface="Arial" panose="020B0604020202020204" pitchFamily="34" charset="0"/>
              <a:buChar char="•"/>
              <a:defRPr/>
            </a:pPr>
            <a:r>
              <a:rPr lang="en-US" sz="1500" dirty="0">
                <a:solidFill>
                  <a:srgbClr val="000000"/>
                </a:solidFill>
              </a:rPr>
              <a:t>In addition, Check No. 879 for $732.26 to Taylor Co., on account, was recorded in the company’s journal as $723.26.  </a:t>
            </a:r>
          </a:p>
        </p:txBody>
      </p:sp>
    </p:spTree>
    <p:extLst>
      <p:ext uri="{BB962C8B-B14F-4D97-AF65-F5344CB8AC3E}">
        <p14:creationId xmlns:p14="http://schemas.microsoft.com/office/powerpoint/2010/main" val="801784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8B744-7EEC-402F-89D3-49F9ABED2FCE}"/>
              </a:ext>
            </a:extLst>
          </p:cNvPr>
          <p:cNvSpPr>
            <a:spLocks noGrp="1"/>
          </p:cNvSpPr>
          <p:nvPr>
            <p:ph type="title"/>
          </p:nvPr>
        </p:nvSpPr>
        <p:spPr/>
        <p:txBody>
          <a:bodyPr/>
          <a:lstStyle/>
          <a:p>
            <a:r>
              <a:rPr lang="en-US" sz="3200" dirty="0"/>
              <a:t>Exhibit 13 </a:t>
            </a:r>
            <a:r>
              <a:rPr lang="en-US" sz="3200" noProof="0" dirty="0"/>
              <a:t>–</a:t>
            </a:r>
            <a:r>
              <a:rPr lang="en-US" sz="3200" dirty="0"/>
              <a:t> Bank Reconciliation for Power Networking</a:t>
            </a:r>
          </a:p>
        </p:txBody>
      </p:sp>
      <p:pic>
        <p:nvPicPr>
          <p:cNvPr id="5" name="Content Placeholder 4" descr="A bank reconciliation for Power Networking, dated July 31, 20Y5, is shown. &#10;&#10;The first part of the reconciliation is the bank section. On the first line, Cash balance according to bank statement is $3,359.78, which is shown in the second amount column. In the left margin, a small arrow points to this entry, with the words Step 1 appearing to the left of the arrow. On the next line is Add:. Deposit in transit on July 31, 816.20, which is shown in the second amount column. In the left margin, a small arrow points to this entry, with the words Step 2 appearing to the left of the arrow. On the next line is Deduct: Outstanding Check No. 812, $1,061.00, which is shown in the first amount column. In the left margin, a small arrow points to this entry, with the words Step 3 appearing to the left of the arrow. The next adjustment is for Outstanding Check No. 878, 435.39, which is shown in the first amount column, followed by Outstanding Check No. 883, 48.60, which is shown in the first amount column. A single rule appears below 48.60. Total deductions is 1,544.99, set in parentheses, shown in the second amount column. A single rule appears below 1,544.99, set in parentheses. On the next line, Adjusted balance is $2,630.99, which is shown in the second amount column. A double rule appears below $2,630.99. In the left margin, a small arrow points to this entry, with the words Step 4 appearing to the left of the arrow. &#10;&#10;The second part of the reconciliation is the company’s book section. On the first line, Cash balance according to Power Networking is $2,549.99, which is shown in the second amount column. In the left margin, a small arrow points to this entry, with the words Step 5 appearing to the left of the arrow. On the next line, is Add: Note and interest collected by bank, 408.00, which is shown in the second amount column. In the left margin, a small arrow points to this entry, with the words Step 6 appearing to the left of the arrow. On the next line is Deduct: Check returned because of insufficient funds, $300.00, which is shown in the first amount column. In the left margin, a small arrow points to this entry, with the words Step 7 appearing to the left of the arrow. The next adjustment is Bank service charge, 18.00, shown in the first amount column, followed by Error in recording Check No. 879, 9.00, which is shown in the first amount column. A single rule appears below 9.00. Total deductions is 327.00, set in parentheses, shown in the second amount column. A single rule appears below 327.00, set in parentheses. On the next line, Adjusted balance is $2,630.99, which is shown in the second amount column. A double rule appears below $2,630.99. In the left margin, a small arrow points to this entry, with the words Step 8 appearing to the left of the arrow. In the right margin, arrows joined by a connector line point to the Adjusted balance of $2,630.99 in the bank section and the Adjusted balance of $2,630.99 in the company section, with the words Step 9 appearing to the right of the connector line.&#10;">
            <a:extLst>
              <a:ext uri="{FF2B5EF4-FFF2-40B4-BE49-F238E27FC236}">
                <a16:creationId xmlns:a16="http://schemas.microsoft.com/office/drawing/2014/main" id="{4760DCC9-BA83-48DC-936C-16900A27F036}"/>
              </a:ext>
            </a:extLst>
          </p:cNvPr>
          <p:cNvPicPr>
            <a:picLocks noGrp="1" noChangeAspect="1"/>
          </p:cNvPicPr>
          <p:nvPr>
            <p:ph sz="quarter" idx="10"/>
          </p:nvPr>
        </p:nvPicPr>
        <p:blipFill>
          <a:blip r:embed="rId2"/>
          <a:stretch>
            <a:fillRect/>
          </a:stretch>
        </p:blipFill>
        <p:spPr>
          <a:xfrm>
            <a:off x="1541382" y="1593850"/>
            <a:ext cx="9109236" cy="4473575"/>
          </a:xfrm>
          <a:prstGeom prst="rect">
            <a:avLst/>
          </a:prstGeom>
        </p:spPr>
      </p:pic>
    </p:spTree>
    <p:extLst>
      <p:ext uri="{BB962C8B-B14F-4D97-AF65-F5344CB8AC3E}">
        <p14:creationId xmlns:p14="http://schemas.microsoft.com/office/powerpoint/2010/main" val="21979896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2D02A-7E3F-46C3-8414-5A74AD96DBB3}"/>
              </a:ext>
            </a:extLst>
          </p:cNvPr>
          <p:cNvSpPr>
            <a:spLocks noGrp="1"/>
          </p:cNvSpPr>
          <p:nvPr>
            <p:ph type="title"/>
          </p:nvPr>
        </p:nvSpPr>
        <p:spPr/>
        <p:txBody>
          <a:bodyPr/>
          <a:lstStyle/>
          <a:p>
            <a:r>
              <a:rPr lang="en-US" dirty="0"/>
              <a:t>Bank Reconciliation</a:t>
            </a:r>
            <a:br>
              <a:rPr lang="en-US" dirty="0"/>
            </a:br>
            <a:endParaRPr lang="en-US" sz="2400" dirty="0"/>
          </a:p>
        </p:txBody>
      </p:sp>
      <p:sp>
        <p:nvSpPr>
          <p:cNvPr id="3" name="Text Placeholder 2">
            <a:extLst>
              <a:ext uri="{FF2B5EF4-FFF2-40B4-BE49-F238E27FC236}">
                <a16:creationId xmlns:a16="http://schemas.microsoft.com/office/drawing/2014/main" id="{D5285290-874D-4725-975B-0E36B5DD3B0E}"/>
              </a:ext>
            </a:extLst>
          </p:cNvPr>
          <p:cNvSpPr>
            <a:spLocks noGrp="1"/>
          </p:cNvSpPr>
          <p:nvPr>
            <p:ph sz="quarter" idx="16"/>
          </p:nvPr>
        </p:nvSpPr>
        <p:spPr>
          <a:xfrm>
            <a:off x="838200" y="1607126"/>
            <a:ext cx="10515600" cy="845788"/>
          </a:xfrm>
        </p:spPr>
        <p:txBody>
          <a:bodyPr>
            <a:noAutofit/>
          </a:bodyPr>
          <a:lstStyle/>
          <a:p>
            <a:pPr marL="457200" indent="-457200">
              <a:buFont typeface="Arial" panose="020B0604020202020204" pitchFamily="34" charset="0"/>
              <a:buChar char="•"/>
            </a:pPr>
            <a:r>
              <a:rPr lang="en-US" sz="2600" dirty="0"/>
              <a:t>The journal entries for Power Networking, based on the bank reconciliation shown in Exhibit 13, are as follows:</a:t>
            </a:r>
          </a:p>
        </p:txBody>
      </p:sp>
      <p:pic>
        <p:nvPicPr>
          <p:cNvPr id="6" name="Content Placeholder 5" descr="Journal entries for Power Networking are shown in a journal form. July 31 is the date indicated.&#10;&#10;In the first entry, Cash is debited—with 408 shown in the Debit column. Notes Receivable is credited—with 400 shown in the Credit column. Interest Revenue is credited—with 8 shown in the Credit column. &#10;&#10;Below the journal form, the accounting equation impact is illustrated. &#10;&#10;The accounting equation is shown: Assets = Liabilities + Stockholders’ Equity.&#10;&#10;Under Assets in the accounting equation, two T accounts are shown. On the left is a T account for Cash. In the debit column of the Cash T account, an entry of 408 is shown. The credit column of the Cash T account is blank. On the right is a T account for Notes Receivable. In the credit column of the Notes Receivable T account, an entry of 400 is shown. The debit column of the Notes Receivable T account is blank.&#10;&#10;Under Stockholders’ Equity in the accounting equation, a T account for Interest Revenue is shown. In the credit column of the Interest Revenue T account, an entry of 8 is shown. The debit column of the Interest Revenue T account is blank. &#10;&#10;In the second entry, Accounts Receivable—Thomas Ivey is debited—with 300 shown in the Debit column. Miscellaneous Expense is debited—with 18 shown in the Debit column. Accounts Payable—Taylor Co. is debited—with 9 shown in the Debit column. Cash is credited—with 327 shown in the Credit column.&#10;&#10;Below the journal form, the accounting equation impact is illustrated. &#10;&#10;The accounting equation is shown: Assets = Liabilities + Stockholders’ Equity.&#10;&#10;Under Assets in the accounting equation, two T accounts are shown. On the left is a T account for Cash. In the credit column of the Cash T account, an entry of 327 is shown. The debit column of the Cash T account is blank. On the right is a T account for Accounts Receivable. In the debit column of the Accounts Receivable T account, an entry of 300 is shown. The credit column of the Accounts Receivable T account is blank.&#10;&#10;Under Liabilities in the accounting equation, a T account for Accounts Payable is shown. In the debit column of the Accounts Payable T account, an entry of 9 is shown. The credit column of the Accounts Payable T account is blank. &#10;&#10;Under Stockholders’ Equity in the accounting equation, a T account for Miscellaneous Expense is shown. In the debit column of the Miscellaneous T account, an entry of 18 is shown. The credit column of the Miscellaneous Expense T account is blank.">
            <a:extLst>
              <a:ext uri="{FF2B5EF4-FFF2-40B4-BE49-F238E27FC236}">
                <a16:creationId xmlns:a16="http://schemas.microsoft.com/office/drawing/2014/main" id="{25365A6D-1A0D-4B75-9F8C-3E1193D9FF3F}"/>
              </a:ext>
            </a:extLst>
          </p:cNvPr>
          <p:cNvPicPr>
            <a:picLocks noGrp="1" noChangeAspect="1"/>
          </p:cNvPicPr>
          <p:nvPr>
            <p:ph sz="quarter" idx="17"/>
          </p:nvPr>
        </p:nvPicPr>
        <p:blipFill>
          <a:blip r:embed="rId2"/>
          <a:stretch>
            <a:fillRect/>
          </a:stretch>
        </p:blipFill>
        <p:spPr>
          <a:xfrm>
            <a:off x="3578225" y="2580948"/>
            <a:ext cx="5035550" cy="3387680"/>
          </a:xfrm>
          <a:prstGeom prst="rect">
            <a:avLst/>
          </a:prstGeom>
        </p:spPr>
      </p:pic>
    </p:spTree>
    <p:extLst>
      <p:ext uri="{BB962C8B-B14F-4D97-AF65-F5344CB8AC3E}">
        <p14:creationId xmlns:p14="http://schemas.microsoft.com/office/powerpoint/2010/main" val="3226568755"/>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ab864144-ca3b-47ab-a142-93b76c4c492d">
      <UserInfo>
        <DisplayName/>
        <AccountId xsi:nil="true"/>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94B888A8E71149BA1FDF36AA0410F2" ma:contentTypeVersion="11" ma:contentTypeDescription="Create a new document." ma:contentTypeScope="" ma:versionID="a2acd571cfbae07cc1c1b9b4f31a4903">
  <xsd:schema xmlns:xsd="http://www.w3.org/2001/XMLSchema" xmlns:xs="http://www.w3.org/2001/XMLSchema" xmlns:p="http://schemas.microsoft.com/office/2006/metadata/properties" xmlns:ns2="5f8dbb90-e206-4f83-9820-44f04f84401f" xmlns:ns3="ab864144-ca3b-47ab-a142-93b76c4c492d" targetNamespace="http://schemas.microsoft.com/office/2006/metadata/properties" ma:root="true" ma:fieldsID="3c31c27e1b082e584a7e0e139cda3467" ns2:_="" ns3:_="">
    <xsd:import namespace="5f8dbb90-e206-4f83-9820-44f04f84401f"/>
    <xsd:import namespace="ab864144-ca3b-47ab-a142-93b76c4c492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8dbb90-e206-4f83-9820-44f04f8440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864144-ca3b-47ab-a142-93b76c4c492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9BA192-EF86-48DF-982C-2C526A268392}">
  <ds:schemaRefs>
    <ds:schemaRef ds:uri="http://purl.org/dc/dcmitype/"/>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ab864144-ca3b-47ab-a142-93b76c4c492d"/>
    <ds:schemaRef ds:uri="5f8dbb90-e206-4f83-9820-44f04f84401f"/>
    <ds:schemaRef ds:uri="http://www.w3.org/XML/1998/namespace"/>
  </ds:schemaRefs>
</ds:datastoreItem>
</file>

<file path=customXml/itemProps2.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3.xml><?xml version="1.0" encoding="utf-8"?>
<ds:datastoreItem xmlns:ds="http://schemas.openxmlformats.org/officeDocument/2006/customXml" ds:itemID="{CCAA2083-1E27-43BC-8488-C4E35C2DDAF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f8dbb90-e206-4f83-9820-44f04f84401f"/>
    <ds:schemaRef ds:uri="ab864144-ca3b-47ab-a142-93b76c4c492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3664</TotalTime>
  <Words>817</Words>
  <Application>Microsoft Office PowerPoint</Application>
  <PresentationFormat>Widescreen</PresentationFormat>
  <Paragraphs>61</Paragraphs>
  <Slides>14</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vt:lpstr>
      <vt:lpstr>arial</vt:lpstr>
      <vt:lpstr>Calibri</vt:lpstr>
      <vt:lpstr>Courier New</vt:lpstr>
      <vt:lpstr>Helvetica</vt:lpstr>
      <vt:lpstr>Open Sans</vt:lpstr>
      <vt:lpstr>Summer Font</vt:lpstr>
      <vt:lpstr>Wingdings</vt:lpstr>
      <vt:lpstr>Office Theme</vt:lpstr>
      <vt:lpstr>Chapter 7: Internal Control  and Cash</vt:lpstr>
      <vt:lpstr>Sarbanes-Oxley Act (Learning Objective 1)</vt:lpstr>
      <vt:lpstr>Internal Control (Learning Objective 2)</vt:lpstr>
      <vt:lpstr>Elements of Internal Control  </vt:lpstr>
      <vt:lpstr>Bank Accounts (Learning Objective 4)</vt:lpstr>
      <vt:lpstr>Bank Statement (1 of 4)</vt:lpstr>
      <vt:lpstr>Exhibit 9 – Bank Statement</vt:lpstr>
      <vt:lpstr>Bank Statement </vt:lpstr>
      <vt:lpstr>Bank Reconciliation  (Learning Objective 5)</vt:lpstr>
      <vt:lpstr>Bank Reconciliation </vt:lpstr>
      <vt:lpstr>Bank Reconciliation for Power Networking </vt:lpstr>
      <vt:lpstr>Bank Reconciliation for Power Networking </vt:lpstr>
      <vt:lpstr>Exhibit 13 – Bank Reconciliation for Power Networking</vt:lpstr>
      <vt:lpstr>Bank Reconciliation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Constitutional Law</dc:title>
  <dc:creator>Onderdonk, Natalie</dc:creator>
  <cp:lastModifiedBy>Graney, Karla (DTPW)</cp:lastModifiedBy>
  <cp:revision>160</cp:revision>
  <dcterms:created xsi:type="dcterms:W3CDTF">2020-07-27T16:46:05Z</dcterms:created>
  <dcterms:modified xsi:type="dcterms:W3CDTF">2026-07-02T11:42:34Z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0x0101005394B888A8E71149BA1FDF36AA0410F2</vt:lpwstr>
  </property>
  <property fmtid="{D5CDD505-2E9C-101B-9397-08002B2CF9AE}" pid="3" name="Order">
    <vt:r8>21552800</vt:r8>
  </property>
  <property fmtid="{D5CDD505-2E9C-101B-9397-08002B2CF9AE}" pid="4" name="xd_Signature">
    <vt:bool>false</vt:bool>
  </property>
  <property fmtid="{D5CDD505-2E9C-101B-9397-08002B2CF9AE}" pid="5" name="xd_ProgID">
    <vt:lpwstr/>
  </property>
  <property fmtid="{D5CDD505-2E9C-101B-9397-08002B2CF9AE}" pid="6" name="Status">
    <vt:lpwstr>1. In development</vt:lpwstr>
  </property>
  <property fmtid="{D5CDD505-2E9C-101B-9397-08002B2CF9AE}" pid="7" name="ComplianceAssetId">
    <vt:lpwstr/>
  </property>
  <property fmtid="{D5CDD505-2E9C-101B-9397-08002B2CF9AE}" pid="8" name="TemplateUrl">
    <vt:lpwstr/>
  </property>
</Properties>
</file>