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64" r:id="rId5"/>
    <p:sldId id="260" r:id="rId6"/>
    <p:sldId id="581" r:id="rId7"/>
    <p:sldId id="1165" r:id="rId8"/>
    <p:sldId id="588" r:id="rId9"/>
    <p:sldId id="590" r:id="rId10"/>
    <p:sldId id="283" r:id="rId11"/>
    <p:sldId id="594" r:id="rId12"/>
    <p:sldId id="294" r:id="rId13"/>
    <p:sldId id="296" r:id="rId14"/>
    <p:sldId id="1159" r:id="rId15"/>
    <p:sldId id="1228" r:id="rId16"/>
    <p:sldId id="1229" r:id="rId17"/>
    <p:sldId id="601" r:id="rId18"/>
    <p:sldId id="602" r:id="rId1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Julie Angel" initials="JA" lastIdx="2" clrIdx="1">
    <p:extLst>
      <p:ext uri="{19B8F6BF-5375-455C-9EA6-DF929625EA0E}">
        <p15:presenceInfo xmlns:p15="http://schemas.microsoft.com/office/powerpoint/2012/main" userId="fec48bcc1f869946" providerId="Windows Live"/>
      </p:ext>
    </p:extLst>
  </p:cmAuthor>
  <p:cmAuthor id="3" name="Bowdler, Diane" initials="BD" lastIdx="1" clrIdx="2">
    <p:extLst>
      <p:ext uri="{19B8F6BF-5375-455C-9EA6-DF929625EA0E}">
        <p15:presenceInfo xmlns:p15="http://schemas.microsoft.com/office/powerpoint/2012/main" userId="S::Diane.Bowdler@cengage.com::4844c4c9-0293-48ae-805c-846689e00fa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78"/>
    <a:srgbClr val="000000"/>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73290" autoAdjust="0"/>
  </p:normalViewPr>
  <p:slideViewPr>
    <p:cSldViewPr snapToGrid="0">
      <p:cViewPr varScale="1">
        <p:scale>
          <a:sx n="81" d="100"/>
          <a:sy n="81" d="100"/>
        </p:scale>
        <p:origin x="1710" y="8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7/2/2026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7/2/2026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711521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16423323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pPr>
              <a:defRPr/>
            </a:pPr>
            <a:r>
              <a:rPr lang="en-US" dirty="0"/>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E7287522-6EFB-4B6F-A755-2B83B87BF180}"/>
              </a:ext>
            </a:extLst>
          </p:cNvPr>
          <p:cNvSpPr>
            <a:spLocks noGrp="1"/>
          </p:cNvSpPr>
          <p:nvPr>
            <p:ph sz="quarter" idx="10"/>
          </p:nvPr>
        </p:nvSpPr>
        <p:spPr>
          <a:xfrm>
            <a:off x="838200" y="1593273"/>
            <a:ext cx="10515600" cy="447415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86311C29-F62B-4AA5-8197-B175712ABE83}"/>
              </a:ext>
            </a:extLst>
          </p:cNvPr>
          <p:cNvSpPr>
            <a:spLocks noGrp="1"/>
          </p:cNvSpPr>
          <p:nvPr>
            <p:ph sz="quarter" idx="16"/>
          </p:nvPr>
        </p:nvSpPr>
        <p:spPr>
          <a:xfrm>
            <a:off x="6207368" y="1607126"/>
            <a:ext cx="5146431" cy="34157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CBA4F7D5-043F-4B98-992B-40E415A84609}"/>
              </a:ext>
            </a:extLst>
          </p:cNvPr>
          <p:cNvSpPr>
            <a:spLocks noGrp="1"/>
          </p:cNvSpPr>
          <p:nvPr>
            <p:ph sz="quarter" idx="17"/>
          </p:nvPr>
        </p:nvSpPr>
        <p:spPr>
          <a:xfrm>
            <a:off x="838200" y="1607126"/>
            <a:ext cx="5035062" cy="341572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1940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Text Placeholder 5"/>
          <p:cNvSpPr>
            <a:spLocks noGrp="1"/>
          </p:cNvSpPr>
          <p:nvPr>
            <p:ph type="body" sz="quarter" idx="18" hasCustomPrompt="1"/>
          </p:nvPr>
        </p:nvSpPr>
        <p:spPr>
          <a:xfrm>
            <a:off x="740228" y="1290690"/>
            <a:ext cx="10711543" cy="190932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diam </a:t>
            </a:r>
            <a:r>
              <a:rPr lang="en-US" dirty="0" err="1"/>
              <a:t>maecenas</a:t>
            </a:r>
            <a:r>
              <a:rPr lang="en-US" dirty="0"/>
              <a:t> sed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356DCFCF-A355-4530-967D-8510D0847AE0}"/>
              </a:ext>
            </a:extLst>
          </p:cNvPr>
          <p:cNvSpPr>
            <a:spLocks noGrp="1"/>
          </p:cNvSpPr>
          <p:nvPr>
            <p:ph sz="quarter" idx="19"/>
          </p:nvPr>
        </p:nvSpPr>
        <p:spPr>
          <a:xfrm>
            <a:off x="739775" y="3429000"/>
            <a:ext cx="10712450" cy="246221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6420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600" y="3429000"/>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096000" y="3429000"/>
            <a:ext cx="535940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59007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587" y="3216398"/>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242050" y="3216398"/>
            <a:ext cx="521335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B0858C3-5D54-46C9-9602-DD06588705F5}"/>
              </a:ext>
            </a:extLst>
          </p:cNvPr>
          <p:cNvSpPr>
            <a:spLocks noGrp="1"/>
          </p:cNvSpPr>
          <p:nvPr>
            <p:ph sz="quarter" idx="23"/>
          </p:nvPr>
        </p:nvSpPr>
        <p:spPr>
          <a:xfrm>
            <a:off x="736587" y="4969161"/>
            <a:ext cx="5084776" cy="1543050"/>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832F93A3-DABD-4B56-9641-51D4E1885264}"/>
              </a:ext>
            </a:extLst>
          </p:cNvPr>
          <p:cNvSpPr>
            <a:spLocks noGrp="1"/>
          </p:cNvSpPr>
          <p:nvPr>
            <p:ph sz="quarter" idx="24"/>
          </p:nvPr>
        </p:nvSpPr>
        <p:spPr>
          <a:xfrm>
            <a:off x="6212919" y="4969161"/>
            <a:ext cx="5359400"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9208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3541624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B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5" name="Table Placeholder 4"/>
          <p:cNvSpPr>
            <a:spLocks noGrp="1"/>
          </p:cNvSpPr>
          <p:nvPr>
            <p:ph type="tbl" sz="quarter" idx="10"/>
          </p:nvPr>
        </p:nvSpPr>
        <p:spPr>
          <a:xfrm>
            <a:off x="1133687" y="1367327"/>
            <a:ext cx="9924626" cy="4871103"/>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878221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GEN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614165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6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802289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LO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6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1652240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58368" y="0"/>
            <a:ext cx="10972800" cy="1143000"/>
          </a:xfrm>
        </p:spPr>
        <p:txBody>
          <a:bodyPr/>
          <a:lstStyle/>
          <a:p>
            <a:r>
              <a:rPr lang="en-US" dirty="0"/>
              <a:t>Click to edit Master title style</a:t>
            </a:r>
          </a:p>
        </p:txBody>
      </p:sp>
      <p:sp>
        <p:nvSpPr>
          <p:cNvPr id="5" name="Content Placeholder 2"/>
          <p:cNvSpPr>
            <a:spLocks noGrp="1"/>
          </p:cNvSpPr>
          <p:nvPr>
            <p:ph idx="1"/>
          </p:nvPr>
        </p:nvSpPr>
        <p:spPr>
          <a:xfrm>
            <a:off x="609600" y="1216152"/>
            <a:ext cx="10972800" cy="5184648"/>
          </a:xfrm>
          <a:prstGeom prst="rect">
            <a:avLst/>
          </a:prstGeom>
        </p:spPr>
        <p:txBody>
          <a:bodyPr/>
          <a:lstStyle>
            <a:lvl1pPr marL="342900" indent="-342900">
              <a:spcBef>
                <a:spcPts val="1200"/>
              </a:spcBef>
              <a:buClr>
                <a:srgbClr val="00375D"/>
              </a:buClr>
              <a:buSzPct val="125000"/>
              <a:buFont typeface="Arial" panose="020B0604020202020204" pitchFamily="34" charset="0"/>
              <a:buChar char="•"/>
              <a:defRPr sz="2800">
                <a:solidFill>
                  <a:schemeClr val="tx2"/>
                </a:solidFill>
                <a:latin typeface="Arial" panose="020B0604020202020204" pitchFamily="34" charset="0"/>
                <a:cs typeface="Arial" panose="020B0604020202020204" pitchFamily="34" charset="0"/>
              </a:defRPr>
            </a:lvl1pPr>
            <a:lvl2pPr marL="742950" indent="-285750">
              <a:spcBef>
                <a:spcPts val="1200"/>
              </a:spcBef>
              <a:buClr>
                <a:srgbClr val="992315"/>
              </a:buClr>
              <a:buSzPct val="75000"/>
              <a:buFont typeface="Courier New" panose="02070309020205020404" pitchFamily="49" charset="0"/>
              <a:buChar char="o"/>
              <a:defRPr sz="2400">
                <a:solidFill>
                  <a:schemeClr val="tx2"/>
                </a:solidFill>
                <a:latin typeface="Arial" panose="020B0604020202020204" pitchFamily="34" charset="0"/>
                <a:cs typeface="Arial" panose="020B0604020202020204" pitchFamily="34" charset="0"/>
              </a:defRPr>
            </a:lvl2pPr>
            <a:lvl3pPr marL="1143000" indent="-228600">
              <a:spcBef>
                <a:spcPts val="1200"/>
              </a:spcBef>
              <a:buClr>
                <a:srgbClr val="00375D"/>
              </a:buClr>
              <a:buFont typeface="Wingdings" charset="2"/>
              <a:buChar char="§"/>
              <a:defRPr sz="2000">
                <a:solidFill>
                  <a:schemeClr val="tx2"/>
                </a:solidFill>
                <a:latin typeface="Arial" panose="020B0604020202020204" pitchFamily="34" charset="0"/>
                <a:cs typeface="Arial" panose="020B0604020202020204" pitchFamily="34" charset="0"/>
              </a:defRPr>
            </a:lvl3pPr>
            <a:lvl4pPr>
              <a:spcBef>
                <a:spcPts val="1200"/>
              </a:spcBef>
              <a:defRPr sz="1800">
                <a:solidFill>
                  <a:schemeClr val="tx2"/>
                </a:solidFill>
                <a:latin typeface="Arial" panose="020B0604020202020204" pitchFamily="34" charset="0"/>
                <a:cs typeface="Arial" panose="020B0604020202020204" pitchFamily="34" charset="0"/>
              </a:defRPr>
            </a:lvl4pPr>
            <a:lvl5pPr marL="2057400" indent="-228600">
              <a:spcBef>
                <a:spcPts val="1200"/>
              </a:spcBef>
              <a:buFont typeface="Wingdings" panose="05000000000000000000" pitchFamily="2" charset="2"/>
              <a:buChar char="§"/>
              <a:defRPr sz="1800">
                <a:solidFill>
                  <a:schemeClr val="tx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59513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pic>
        <p:nvPicPr>
          <p:cNvPr id="7" name="Picture 6"/>
          <p:cNvPicPr>
            <a:picLocks noChangeAspect="1"/>
          </p:cNvPicPr>
          <p:nvPr userDrawn="1"/>
        </p:nvPicPr>
        <p:blipFill>
          <a:blip r:embed="rId24">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25" r:id="rId5"/>
    <p:sldLayoutId id="2147483718" r:id="rId6"/>
    <p:sldLayoutId id="2147483726" r:id="rId7"/>
    <p:sldLayoutId id="2147483715" r:id="rId8"/>
    <p:sldLayoutId id="2147483727" r:id="rId9"/>
    <p:sldLayoutId id="2147483716" r:id="rId10"/>
    <p:sldLayoutId id="2147483719" r:id="rId11"/>
    <p:sldLayoutId id="2147483720" r:id="rId12"/>
    <p:sldLayoutId id="2147483723" r:id="rId13"/>
    <p:sldLayoutId id="2147483724" r:id="rId14"/>
    <p:sldLayoutId id="2147483713" r:id="rId15"/>
    <p:sldLayoutId id="2147483717" r:id="rId16"/>
    <p:sldLayoutId id="2147483729" r:id="rId17"/>
    <p:sldLayoutId id="2147483730" r:id="rId18"/>
    <p:sldLayoutId id="2147483731" r:id="rId19"/>
    <p:sldLayoutId id="2147483732" r:id="rId20"/>
    <p:sldLayoutId id="2147483733" r:id="rId21"/>
    <p:sldLayoutId id="2147483734" r:id="rId22"/>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840289" y="4035474"/>
            <a:ext cx="6402684" cy="672105"/>
          </a:xfrm>
        </p:spPr>
        <p:txBody>
          <a:bodyPr/>
          <a:lstStyle/>
          <a:p>
            <a:pPr algn="ctr"/>
            <a:r>
              <a:rPr lang="en-US" dirty="0"/>
              <a:t>Chapter 8: Receivables</a:t>
            </a:r>
          </a:p>
        </p:txBody>
      </p:sp>
      <p:sp>
        <p:nvSpPr>
          <p:cNvPr id="6" name="Text Placeholder 5"/>
          <p:cNvSpPr>
            <a:spLocks noGrp="1"/>
          </p:cNvSpPr>
          <p:nvPr>
            <p:ph type="body" sz="quarter" idx="11"/>
          </p:nvPr>
        </p:nvSpPr>
        <p:spPr>
          <a:xfrm>
            <a:off x="5699483" y="2355562"/>
            <a:ext cx="4684295" cy="1073438"/>
          </a:xfrm>
        </p:spPr>
        <p:txBody>
          <a:bodyPr/>
          <a:lstStyle/>
          <a:p>
            <a:pPr algn="ctr"/>
            <a:r>
              <a:rPr lang="en-US" dirty="0"/>
              <a:t>Financial &amp; Managerial Accounting, 16e</a:t>
            </a:r>
          </a:p>
        </p:txBody>
      </p:sp>
      <p:sp>
        <p:nvSpPr>
          <p:cNvPr id="8" name="Footer Placeholder 7"/>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pic>
        <p:nvPicPr>
          <p:cNvPr id="7" name="Picture 6">
            <a:extLst>
              <a:ext uri="{FF2B5EF4-FFF2-40B4-BE49-F238E27FC236}">
                <a16:creationId xmlns:a16="http://schemas.microsoft.com/office/drawing/2014/main" id="{D73D0693-E0C4-A0C3-5CF7-83DB6B52F6A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9109" y="689200"/>
            <a:ext cx="3624303" cy="4214746"/>
          </a:xfrm>
          <a:prstGeom prst="rect">
            <a:avLst/>
          </a:prstGeom>
        </p:spPr>
      </p:pic>
    </p:spTree>
    <p:extLst>
      <p:ext uri="{BB962C8B-B14F-4D97-AF65-F5344CB8AC3E}">
        <p14:creationId xmlns:p14="http://schemas.microsoft.com/office/powerpoint/2010/main" val="1607059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A9368-F7A7-4D8B-9878-C22A66D1C6AA}"/>
              </a:ext>
            </a:extLst>
          </p:cNvPr>
          <p:cNvSpPr>
            <a:spLocks noGrp="1"/>
          </p:cNvSpPr>
          <p:nvPr>
            <p:ph type="title"/>
          </p:nvPr>
        </p:nvSpPr>
        <p:spPr/>
        <p:txBody>
          <a:bodyPr/>
          <a:lstStyle/>
          <a:p>
            <a:r>
              <a:rPr lang="en-US" dirty="0"/>
              <a:t>Accounts Receivable</a:t>
            </a:r>
          </a:p>
        </p:txBody>
      </p:sp>
      <p:sp>
        <p:nvSpPr>
          <p:cNvPr id="3" name="Text Placeholder 2">
            <a:extLst>
              <a:ext uri="{FF2B5EF4-FFF2-40B4-BE49-F238E27FC236}">
                <a16:creationId xmlns:a16="http://schemas.microsoft.com/office/drawing/2014/main" id="{8841E434-7E6D-4FD4-A123-2CC73FC08DD0}"/>
              </a:ext>
            </a:extLst>
          </p:cNvPr>
          <p:cNvSpPr>
            <a:spLocks noGrp="1"/>
          </p:cNvSpPr>
          <p:nvPr>
            <p:ph sz="quarter" idx="10"/>
          </p:nvPr>
        </p:nvSpPr>
        <p:spPr/>
        <p:txBody>
          <a:bodyPr/>
          <a:lstStyle/>
          <a:p>
            <a:pPr marL="457200" indent="-457200">
              <a:buFont typeface="Arial" panose="020B0604020202020204" pitchFamily="34" charset="0"/>
              <a:buChar char="•"/>
            </a:pPr>
            <a:r>
              <a:rPr lang="en-US" sz="2600" dirty="0"/>
              <a:t>The most common transaction creating a receivable is selling merchandise or services on account (on credit).</a:t>
            </a:r>
          </a:p>
          <a:p>
            <a:pPr marL="457200" indent="-457200">
              <a:buFont typeface="Arial" panose="020B0604020202020204" pitchFamily="34" charset="0"/>
              <a:buChar char="•"/>
            </a:pPr>
            <a:r>
              <a:rPr lang="en-US" sz="2600" dirty="0"/>
              <a:t>The receivable is recorded as a debit to Accounts Receivable.</a:t>
            </a:r>
          </a:p>
          <a:p>
            <a:pPr lvl="1"/>
            <a:r>
              <a:rPr lang="en-US" sz="2600" dirty="0"/>
              <a:t>Such </a:t>
            </a:r>
            <a:r>
              <a:rPr lang="en-US" sz="2600" b="1" dirty="0">
                <a:solidFill>
                  <a:srgbClr val="004A78"/>
                </a:solidFill>
              </a:rPr>
              <a:t>accounts receivable</a:t>
            </a:r>
            <a:r>
              <a:rPr lang="en-US" sz="2600" dirty="0">
                <a:solidFill>
                  <a:srgbClr val="004A78"/>
                </a:solidFill>
              </a:rPr>
              <a:t> </a:t>
            </a:r>
            <a:r>
              <a:rPr lang="en-US" sz="2600" dirty="0"/>
              <a:t>are normally collected within a short period, such as 30 or 60 days. </a:t>
            </a:r>
          </a:p>
          <a:p>
            <a:pPr lvl="1"/>
            <a:r>
              <a:rPr lang="en-US" sz="2600" dirty="0"/>
              <a:t>They are classified on the balance sheet as a current asset.</a:t>
            </a:r>
          </a:p>
        </p:txBody>
      </p:sp>
    </p:spTree>
    <p:extLst>
      <p:ext uri="{BB962C8B-B14F-4D97-AF65-F5344CB8AC3E}">
        <p14:creationId xmlns:p14="http://schemas.microsoft.com/office/powerpoint/2010/main" val="2834971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40369-9AEB-4396-B052-4933D9725BC5}"/>
              </a:ext>
            </a:extLst>
          </p:cNvPr>
          <p:cNvSpPr>
            <a:spLocks noGrp="1"/>
          </p:cNvSpPr>
          <p:nvPr>
            <p:ph type="title"/>
          </p:nvPr>
        </p:nvSpPr>
        <p:spPr/>
        <p:txBody>
          <a:bodyPr/>
          <a:lstStyle/>
          <a:p>
            <a:r>
              <a:rPr lang="en-US" dirty="0"/>
              <a:t>Notes Receivable</a:t>
            </a:r>
            <a:br>
              <a:rPr lang="en-US" dirty="0"/>
            </a:br>
            <a:endParaRPr lang="en-US" sz="2000" dirty="0"/>
          </a:p>
        </p:txBody>
      </p:sp>
      <p:sp>
        <p:nvSpPr>
          <p:cNvPr id="3" name="Text Placeholder 2">
            <a:extLst>
              <a:ext uri="{FF2B5EF4-FFF2-40B4-BE49-F238E27FC236}">
                <a16:creationId xmlns:a16="http://schemas.microsoft.com/office/drawing/2014/main" id="{64C51648-E625-46C2-A741-5980FAF81C8C}"/>
              </a:ext>
            </a:extLst>
          </p:cNvPr>
          <p:cNvSpPr>
            <a:spLocks noGrp="1"/>
          </p:cNvSpPr>
          <p:nvPr>
            <p:ph sz="quarter" idx="10"/>
          </p:nvPr>
        </p:nvSpPr>
        <p:spPr/>
        <p:txBody>
          <a:bodyPr/>
          <a:lstStyle/>
          <a:p>
            <a:pPr marL="457200" indent="-457200">
              <a:buClr>
                <a:srgbClr val="000000"/>
              </a:buClr>
              <a:buFont typeface="Arial" panose="020B0604020202020204" pitchFamily="34" charset="0"/>
              <a:buChar char="•"/>
            </a:pPr>
            <a:r>
              <a:rPr lang="en-US" sz="2600" b="1" dirty="0">
                <a:solidFill>
                  <a:srgbClr val="004A78"/>
                </a:solidFill>
              </a:rPr>
              <a:t>Notes receivable </a:t>
            </a:r>
            <a:r>
              <a:rPr lang="en-US" sz="2600" dirty="0"/>
              <a:t>are amounts that customers owe for which a formal, written instrument of credit has been issued.</a:t>
            </a:r>
          </a:p>
          <a:p>
            <a:pPr marL="457200" indent="-457200">
              <a:buFont typeface="Arial" panose="020B0604020202020204" pitchFamily="34" charset="0"/>
              <a:buChar char="•"/>
            </a:pPr>
            <a:r>
              <a:rPr lang="en-US" sz="2600" dirty="0"/>
              <a:t>If notes receivable are expected to be collected within a year, they are classified on the balance sheet as a current asset.</a:t>
            </a:r>
          </a:p>
          <a:p>
            <a:pPr marL="457200" indent="-457200">
              <a:buFont typeface="Arial" panose="020B0604020202020204" pitchFamily="34" charset="0"/>
              <a:buChar char="•"/>
            </a:pPr>
            <a:r>
              <a:rPr lang="en-US" sz="2600" dirty="0"/>
              <a:t>Notes are often used for credit periods of more than 60 days.</a:t>
            </a:r>
          </a:p>
          <a:p>
            <a:pPr marL="457200" indent="-457200">
              <a:buFont typeface="Arial" panose="020B0604020202020204" pitchFamily="34" charset="0"/>
              <a:buChar char="•"/>
            </a:pPr>
            <a:r>
              <a:rPr lang="en-US" sz="2600" dirty="0"/>
              <a:t>Notes may also be used to settle a customer’s account receivable. </a:t>
            </a:r>
          </a:p>
          <a:p>
            <a:pPr marL="457200" indent="-457200">
              <a:buFont typeface="Arial" panose="020B0604020202020204" pitchFamily="34" charset="0"/>
              <a:buChar char="•"/>
            </a:pPr>
            <a:r>
              <a:rPr lang="en-US" sz="2600" dirty="0"/>
              <a:t>Notes and accounts receivable that result from sales transactions are sometimes called </a:t>
            </a:r>
            <a:r>
              <a:rPr lang="en-US" sz="2600" i="1" dirty="0"/>
              <a:t>trade receivables</a:t>
            </a:r>
            <a:r>
              <a:rPr lang="en-US" sz="2600" dirty="0"/>
              <a:t>.</a:t>
            </a:r>
          </a:p>
        </p:txBody>
      </p:sp>
    </p:spTree>
    <p:extLst>
      <p:ext uri="{BB962C8B-B14F-4D97-AF65-F5344CB8AC3E}">
        <p14:creationId xmlns:p14="http://schemas.microsoft.com/office/powerpoint/2010/main" val="592408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Uncollectible Receivables</a:t>
            </a:r>
            <a:br>
              <a:rPr lang="en-US" dirty="0"/>
            </a:br>
            <a:endParaRPr lang="en-US" dirty="0"/>
          </a:p>
        </p:txBody>
      </p:sp>
      <p:sp>
        <p:nvSpPr>
          <p:cNvPr id="3" name="Content Placeholder 2"/>
          <p:cNvSpPr>
            <a:spLocks noGrp="1"/>
          </p:cNvSpPr>
          <p:nvPr>
            <p:ph idx="1"/>
          </p:nvPr>
        </p:nvSpPr>
        <p:spPr/>
        <p:txBody>
          <a:bodyPr/>
          <a:lstStyle/>
          <a:p>
            <a:pPr fontAlgn="auto">
              <a:defRPr/>
            </a:pPr>
            <a:r>
              <a:rPr lang="en-US" sz="2400" dirty="0"/>
              <a:t>Regardless of how careful a company is in granting credit, some credit sales will be uncollectible. </a:t>
            </a:r>
          </a:p>
          <a:p>
            <a:pPr fontAlgn="auto">
              <a:defRPr/>
            </a:pPr>
            <a:r>
              <a:rPr lang="en-US" sz="2400" dirty="0"/>
              <a:t>The two methods of accounting for uncollectible receivables are as follows:</a:t>
            </a:r>
          </a:p>
          <a:p>
            <a:pPr lvl="1" fontAlgn="auto">
              <a:defRPr/>
            </a:pPr>
            <a:r>
              <a:rPr lang="en-US" sz="2000" dirty="0"/>
              <a:t>The </a:t>
            </a:r>
            <a:r>
              <a:rPr lang="en-US" sz="2000" b="1" dirty="0">
                <a:solidFill>
                  <a:srgbClr val="FF0000"/>
                </a:solidFill>
                <a:ea typeface="+mn-ea"/>
              </a:rPr>
              <a:t>direct write-off method</a:t>
            </a:r>
            <a:r>
              <a:rPr lang="en-US" sz="2000" dirty="0">
                <a:solidFill>
                  <a:srgbClr val="FF0000"/>
                </a:solidFill>
              </a:rPr>
              <a:t> </a:t>
            </a:r>
            <a:r>
              <a:rPr lang="en-US" sz="2000" dirty="0">
                <a:highlight>
                  <a:srgbClr val="FFFF00"/>
                </a:highlight>
              </a:rPr>
              <a:t>records bad debt expense only when an account is determined to be worthless. </a:t>
            </a:r>
          </a:p>
          <a:p>
            <a:pPr lvl="2" fontAlgn="auto">
              <a:defRPr/>
            </a:pPr>
            <a:r>
              <a:rPr lang="en-US" sz="1800" dirty="0">
                <a:highlight>
                  <a:srgbClr val="FFFF00"/>
                </a:highlight>
              </a:rPr>
              <a:t>The direct write-off method is often used by small companies and companies with few receivables.</a:t>
            </a:r>
          </a:p>
          <a:p>
            <a:pPr lvl="1" fontAlgn="auto">
              <a:defRPr/>
            </a:pPr>
            <a:r>
              <a:rPr lang="en-US" sz="2000" dirty="0"/>
              <a:t>The </a:t>
            </a:r>
            <a:r>
              <a:rPr lang="en-US" sz="2000" b="1" dirty="0">
                <a:solidFill>
                  <a:srgbClr val="FF0000"/>
                </a:solidFill>
                <a:ea typeface="+mn-ea"/>
              </a:rPr>
              <a:t>allowance method </a:t>
            </a:r>
            <a:r>
              <a:rPr lang="en-US" sz="2000" dirty="0"/>
              <a:t>records bad debt expense by </a:t>
            </a:r>
            <a:r>
              <a:rPr lang="en-US" sz="2000" dirty="0">
                <a:solidFill>
                  <a:srgbClr val="FF0000"/>
                </a:solidFill>
              </a:rPr>
              <a:t>estimating uncollectible account</a:t>
            </a:r>
            <a:r>
              <a:rPr lang="en-US" sz="2000" dirty="0"/>
              <a:t>s at the end of the accounting period. </a:t>
            </a:r>
          </a:p>
          <a:p>
            <a:pPr lvl="2" fontAlgn="auto">
              <a:defRPr/>
            </a:pPr>
            <a:r>
              <a:rPr lang="en-US" sz="1800" dirty="0"/>
              <a:t>Generally accepted accounting principles (GAAP) require companies with a large amount of receivables to use the allowance method.</a:t>
            </a:r>
          </a:p>
          <a:p>
            <a:pPr lvl="2" fontAlgn="auto">
              <a:defRPr/>
            </a:pPr>
            <a:r>
              <a:rPr lang="en-US" sz="1800" dirty="0"/>
              <a:t>The </a:t>
            </a:r>
            <a:r>
              <a:rPr lang="en-US" sz="1600" b="0" i="0" dirty="0">
                <a:solidFill>
                  <a:srgbClr val="333333"/>
                </a:solidFill>
                <a:effectLst/>
                <a:latin typeface="Verdana" panose="020B0604030504040204" pitchFamily="34" charset="0"/>
              </a:rPr>
              <a:t> </a:t>
            </a:r>
            <a:r>
              <a:rPr lang="en-US" b="1" dirty="0">
                <a:solidFill>
                  <a:srgbClr val="FF0000"/>
                </a:solidFill>
                <a:ea typeface="+mn-ea"/>
              </a:rPr>
              <a:t>Allowance for Doubtful Accounts </a:t>
            </a:r>
            <a:r>
              <a:rPr lang="en-US" sz="1800" dirty="0">
                <a:highlight>
                  <a:srgbClr val="FFFF00"/>
                </a:highlight>
              </a:rPr>
              <a:t>is a contra asset account and has normal credit balance </a:t>
            </a:r>
          </a:p>
        </p:txBody>
      </p:sp>
    </p:spTree>
    <p:extLst>
      <p:ext uri="{BB962C8B-B14F-4D97-AF65-F5344CB8AC3E}">
        <p14:creationId xmlns:p14="http://schemas.microsoft.com/office/powerpoint/2010/main" val="2076692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1D556-BA6C-4E0D-B3C5-259439AD0F96}"/>
              </a:ext>
            </a:extLst>
          </p:cNvPr>
          <p:cNvSpPr>
            <a:spLocks noGrp="1"/>
          </p:cNvSpPr>
          <p:nvPr>
            <p:ph type="title"/>
          </p:nvPr>
        </p:nvSpPr>
        <p:spPr/>
        <p:txBody>
          <a:bodyPr/>
          <a:lstStyle/>
          <a:p>
            <a:r>
              <a:rPr lang="en-US" dirty="0"/>
              <a:t>Allowance Method for Uncollectible Accounts</a:t>
            </a:r>
            <a:br>
              <a:rPr lang="en-US" dirty="0"/>
            </a:br>
            <a:endParaRPr lang="en-US" sz="2400" dirty="0"/>
          </a:p>
        </p:txBody>
      </p:sp>
      <p:sp>
        <p:nvSpPr>
          <p:cNvPr id="3" name="Text Placeholder 2">
            <a:extLst>
              <a:ext uri="{FF2B5EF4-FFF2-40B4-BE49-F238E27FC236}">
                <a16:creationId xmlns:a16="http://schemas.microsoft.com/office/drawing/2014/main" id="{05D404D2-557F-469E-950C-DF95EAF54FEE}"/>
              </a:ext>
            </a:extLst>
          </p:cNvPr>
          <p:cNvSpPr>
            <a:spLocks noGrp="1"/>
          </p:cNvSpPr>
          <p:nvPr>
            <p:ph sz="quarter" idx="16"/>
          </p:nvPr>
        </p:nvSpPr>
        <p:spPr>
          <a:xfrm>
            <a:off x="838200" y="1607126"/>
            <a:ext cx="10515599" cy="1220741"/>
          </a:xfrm>
        </p:spPr>
        <p:txBody>
          <a:bodyPr>
            <a:noAutofit/>
          </a:bodyPr>
          <a:lstStyle/>
          <a:p>
            <a:pPr marL="457200" indent="-457200">
              <a:buFont typeface="Arial" panose="020B0604020202020204" pitchFamily="34" charset="0"/>
              <a:buChar char="•"/>
            </a:pPr>
            <a:r>
              <a:rPr lang="en-US" dirty="0"/>
              <a:t>Using the $30,000 estimate, the following adjusting entry is made on December 31, 20Y1:</a:t>
            </a:r>
          </a:p>
        </p:txBody>
      </p:sp>
      <p:pic>
        <p:nvPicPr>
          <p:cNvPr id="6" name="Content Placeholder 5" descr="An adjusting journal entry is shown in a journal form. December 31, 20Y1, is the date indicated. Bad Debt Expense is debited—with 30,000 shown in the Debit column. Allowance for Doubtful Accounts is credited—with 30,000 shown in the Credit column. A journal entry explanation is given below the journal entry: Uncollectible accounts estimate.&#10;&#10;Below the journal form, the accounting equation impact is illustrated. &#10;&#10;The accounting equation is shown: Assets = Liabilities + Stockholders’ Equity.&#10;&#10;Under Assets in the accounting equation, a T account for Allowance for Doubtful Accounts is shown. On the right, in the credit column of the Allowance for Doubtful Accounts T account, an entry of 30,000 is shown. The debit column of the Allowance for Doubtful Accounts T account is blank.&#10;&#10;Under Stockholders’ Equity in the accounting equation, a T account for Bad Debt Expense is shown. On the left, in the debit column of the Bad Debt Expense T account, an entry of 30,000 is shown. The credit column of the Bad Debt Expense T account is blank. &#10;">
            <a:extLst>
              <a:ext uri="{FF2B5EF4-FFF2-40B4-BE49-F238E27FC236}">
                <a16:creationId xmlns:a16="http://schemas.microsoft.com/office/drawing/2014/main" id="{2250CFD9-575C-4963-9C33-BE4CF6BB78A2}"/>
              </a:ext>
            </a:extLst>
          </p:cNvPr>
          <p:cNvPicPr>
            <a:picLocks noGrp="1" noChangeAspect="1"/>
          </p:cNvPicPr>
          <p:nvPr>
            <p:ph sz="quarter" idx="17"/>
          </p:nvPr>
        </p:nvPicPr>
        <p:blipFill>
          <a:blip r:embed="rId2"/>
          <a:stretch>
            <a:fillRect/>
          </a:stretch>
        </p:blipFill>
        <p:spPr>
          <a:xfrm>
            <a:off x="1730669" y="2760134"/>
            <a:ext cx="8730660" cy="2337916"/>
          </a:xfrm>
          <a:prstGeom prst="rect">
            <a:avLst/>
          </a:prstGeom>
        </p:spPr>
      </p:pic>
    </p:spTree>
    <p:extLst>
      <p:ext uri="{BB962C8B-B14F-4D97-AF65-F5344CB8AC3E}">
        <p14:creationId xmlns:p14="http://schemas.microsoft.com/office/powerpoint/2010/main" val="1547766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C175C-AE33-44BE-BF1D-79735EF381D9}"/>
              </a:ext>
            </a:extLst>
          </p:cNvPr>
          <p:cNvSpPr>
            <a:spLocks noGrp="1"/>
          </p:cNvSpPr>
          <p:nvPr>
            <p:ph type="title"/>
          </p:nvPr>
        </p:nvSpPr>
        <p:spPr/>
        <p:txBody>
          <a:bodyPr/>
          <a:lstStyle/>
          <a:p>
            <a:r>
              <a:rPr lang="en-US" dirty="0"/>
              <a:t>Write-Offs to the Allowance Account</a:t>
            </a:r>
            <a:br>
              <a:rPr lang="en-US" dirty="0"/>
            </a:br>
            <a:r>
              <a:rPr lang="en-US" sz="2400" dirty="0"/>
              <a:t> </a:t>
            </a:r>
          </a:p>
        </p:txBody>
      </p:sp>
      <p:sp>
        <p:nvSpPr>
          <p:cNvPr id="3" name="Text Placeholder 2">
            <a:extLst>
              <a:ext uri="{FF2B5EF4-FFF2-40B4-BE49-F238E27FC236}">
                <a16:creationId xmlns:a16="http://schemas.microsoft.com/office/drawing/2014/main" id="{774078DA-F617-4166-919A-44DBC6A5B3C1}"/>
              </a:ext>
            </a:extLst>
          </p:cNvPr>
          <p:cNvSpPr>
            <a:spLocks noGrp="1"/>
          </p:cNvSpPr>
          <p:nvPr>
            <p:ph sz="quarter" idx="16"/>
          </p:nvPr>
        </p:nvSpPr>
        <p:spPr>
          <a:xfrm>
            <a:off x="838200" y="1607126"/>
            <a:ext cx="10515599" cy="3415724"/>
          </a:xfrm>
        </p:spPr>
        <p:txBody>
          <a:bodyPr/>
          <a:lstStyle/>
          <a:p>
            <a:pPr marL="457200" indent="-457200">
              <a:buFont typeface="Arial" panose="020B0604020202020204" pitchFamily="34" charset="0"/>
              <a:buChar char="•"/>
            </a:pPr>
            <a:r>
              <a:rPr lang="en-US" sz="2400" dirty="0"/>
              <a:t>When a customer’s account is identified as uncollectible, it is written off against the allowance account. </a:t>
            </a:r>
          </a:p>
          <a:p>
            <a:pPr marL="457200" indent="-457200">
              <a:buFont typeface="Arial" panose="020B0604020202020204" pitchFamily="34" charset="0"/>
              <a:buChar char="•"/>
            </a:pPr>
            <a:r>
              <a:rPr lang="en-US" sz="2400" dirty="0"/>
              <a:t>This requires the company to remove the specific accounts receivable and an equal amount from the allowance account.</a:t>
            </a:r>
          </a:p>
          <a:p>
            <a:pPr marL="457200" indent="-457200">
              <a:buFont typeface="Arial" panose="020B0604020202020204" pitchFamily="34" charset="0"/>
              <a:buChar char="•"/>
            </a:pPr>
            <a:r>
              <a:rPr lang="en-US" sz="2400" dirty="0"/>
              <a:t>On January 21, 20Y2, John Parker’s account of $6,000 with ExTone Company is written off as follows:</a:t>
            </a:r>
          </a:p>
        </p:txBody>
      </p:sp>
      <p:pic>
        <p:nvPicPr>
          <p:cNvPr id="8" name="Content Placeholder 7" descr="A journal entry is shown in a journal form. January 21, 20Y2, is the date indicated. Allowance for Doubtful Accounts is debited—with 6,000 shown in the Debit column. Accounts Receivable—John Parker is credited—with 6,000 shown in the Credit column.&#10;&#10;Below the journal form, the accounting equation impact is illustrated. &#10;&#10;The accounting equation is shown: Assets = Liabilities + Stockholders’ Equity.&#10;&#10;Under Assets in the accounting equation, two T accounts are shown. On the left, a T account for Accounts Receivable is shown. On the right, in the credit column of the Accounts Receivable T account, an entry of 6,000 is shown. The debit column of the Accounts Receivable T account is blank. On the right, a T account for Allowance for Doubtful Accounts is shown. On the left, in the debit column of the Allowance for Doubtful Accounts T account, an entry of 6,000 is shown. The credit column of the Allowance for Doubtful Accounts T account is blank. &#10;">
            <a:extLst>
              <a:ext uri="{FF2B5EF4-FFF2-40B4-BE49-F238E27FC236}">
                <a16:creationId xmlns:a16="http://schemas.microsoft.com/office/drawing/2014/main" id="{2A4B2134-F3EC-4FCE-8CF5-F70FCD42B60B}"/>
              </a:ext>
            </a:extLst>
          </p:cNvPr>
          <p:cNvPicPr>
            <a:picLocks noGrp="1" noChangeAspect="1"/>
          </p:cNvPicPr>
          <p:nvPr>
            <p:ph sz="quarter" idx="17"/>
          </p:nvPr>
        </p:nvPicPr>
        <p:blipFill>
          <a:blip r:embed="rId2"/>
          <a:stretch>
            <a:fillRect/>
          </a:stretch>
        </p:blipFill>
        <p:spPr>
          <a:xfrm>
            <a:off x="2104089" y="4089879"/>
            <a:ext cx="8648578" cy="2156253"/>
          </a:xfrm>
          <a:prstGeom prst="rect">
            <a:avLst/>
          </a:prstGeom>
        </p:spPr>
      </p:pic>
    </p:spTree>
    <p:extLst>
      <p:ext uri="{BB962C8B-B14F-4D97-AF65-F5344CB8AC3E}">
        <p14:creationId xmlns:p14="http://schemas.microsoft.com/office/powerpoint/2010/main" val="3172809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C175C-AE33-44BE-BF1D-79735EF381D9}"/>
              </a:ext>
            </a:extLst>
          </p:cNvPr>
          <p:cNvSpPr>
            <a:spLocks noGrp="1"/>
          </p:cNvSpPr>
          <p:nvPr>
            <p:ph type="title"/>
          </p:nvPr>
        </p:nvSpPr>
        <p:spPr>
          <a:xfrm>
            <a:off x="838200" y="365125"/>
            <a:ext cx="10515600" cy="672105"/>
          </a:xfrm>
        </p:spPr>
        <p:txBody>
          <a:bodyPr/>
          <a:lstStyle/>
          <a:p>
            <a:r>
              <a:rPr lang="en-US" dirty="0"/>
              <a:t>Write-Offs to the Allowance Account</a:t>
            </a:r>
            <a:br>
              <a:rPr lang="en-US" dirty="0"/>
            </a:br>
            <a:endParaRPr lang="en-US" sz="2400" dirty="0"/>
          </a:p>
        </p:txBody>
      </p:sp>
      <p:sp>
        <p:nvSpPr>
          <p:cNvPr id="3" name="Text Placeholder 2">
            <a:extLst>
              <a:ext uri="{FF2B5EF4-FFF2-40B4-BE49-F238E27FC236}">
                <a16:creationId xmlns:a16="http://schemas.microsoft.com/office/drawing/2014/main" id="{774078DA-F617-4166-919A-44DBC6A5B3C1}"/>
              </a:ext>
            </a:extLst>
          </p:cNvPr>
          <p:cNvSpPr>
            <a:spLocks noGrp="1"/>
          </p:cNvSpPr>
          <p:nvPr>
            <p:ph sz="quarter" idx="16"/>
          </p:nvPr>
        </p:nvSpPr>
        <p:spPr>
          <a:xfrm>
            <a:off x="838201" y="1606550"/>
            <a:ext cx="10515600" cy="1305983"/>
          </a:xfrm>
        </p:spPr>
        <p:txBody>
          <a:bodyPr>
            <a:noAutofit/>
          </a:bodyPr>
          <a:lstStyle/>
          <a:p>
            <a:pPr marL="457200" indent="-457200">
              <a:buFont typeface="Arial" panose="020B0604020202020204" pitchFamily="34" charset="0"/>
              <a:buChar char="•"/>
            </a:pPr>
            <a:r>
              <a:rPr lang="en-US" sz="2600" dirty="0"/>
              <a:t>Assume that Nancy Smith’s account of $5,000, which was written off on April 2, 20Y2, is collected later, on June 10. ExTone Company journalizes the reinstatement and the collection as follows:</a:t>
            </a:r>
          </a:p>
        </p:txBody>
      </p:sp>
      <p:pic>
        <p:nvPicPr>
          <p:cNvPr id="9" name="Content Placeholder 8" descr="Two journal entries are shown in a journal form. June 10, 20Y2, is the date indicated for both entries.&#10;&#10;In the first entry, Accounts Receivable—Nancy Smith is debited—with 5,000 shown in the Debit column. Allowance for Doubtful Accounts is credited—with 5,000 shown in the Credit column.&#10;&#10;Below the journal form, the accounting equation impact is illustrated. &#10;&#10;The accounting equation is shown: Assets = Liabilities + Stockholders’ Equity.&#10;&#10;Under Assets in the accounting equation, two T accounts are shown. On the left, a T account for Accounts Receivable is shown. In the debit column of the Accounts Receivable T account, an entry of 5,000 is shown. The credit column of the Allowance for Doubtful Accounts T account is blank. On the right, a T account for Allowance for Doubtful Accounts is shown. In the credit column of the Allowance for Doubtful Accounts T account, an entry of 5,000 is shown. The debit column of the Allowance for Doubtful Accounts T account is blank. &#10;&#10;In the second entry, Cash is debited—with 5,000 shown in the Debit column. Accounts Receivable—Nancy Smith is credited—with 5,000 shown in the Credit column.&#10;&#10;Below the journal form, the accounting equation impact is illustrated. &#10;&#10;The accounting equation is shown: Assets = Liabilities + Stockholders’ Equity.&#10;&#10;Under Assets in the accounting equation, two T accounts are shown. On the left, a T account for Cash is shown. In the debit column of the Cash T account, an entry of 5,000 is shown. The credit column of the Cash T account is blank. On the right, a T account for Accounts Receivable is shown. In the credit column of the Accounts Receivable T account, an entry of 5,000 is shown. The debit column of the Accounts Receivable T account is blank.">
            <a:extLst>
              <a:ext uri="{FF2B5EF4-FFF2-40B4-BE49-F238E27FC236}">
                <a16:creationId xmlns:a16="http://schemas.microsoft.com/office/drawing/2014/main" id="{FDFDEBCD-341A-4B8F-97DC-DE9A04EE6806}"/>
              </a:ext>
            </a:extLst>
          </p:cNvPr>
          <p:cNvPicPr>
            <a:picLocks noGrp="1" noChangeAspect="1"/>
          </p:cNvPicPr>
          <p:nvPr>
            <p:ph sz="quarter" idx="17"/>
          </p:nvPr>
        </p:nvPicPr>
        <p:blipFill>
          <a:blip r:embed="rId2"/>
          <a:stretch>
            <a:fillRect/>
          </a:stretch>
        </p:blipFill>
        <p:spPr>
          <a:xfrm>
            <a:off x="2410439" y="2912533"/>
            <a:ext cx="7371121" cy="3023542"/>
          </a:xfrm>
          <a:prstGeom prst="rect">
            <a:avLst/>
          </a:prstGeom>
        </p:spPr>
      </p:pic>
    </p:spTree>
    <p:extLst>
      <p:ext uri="{BB962C8B-B14F-4D97-AF65-F5344CB8AC3E}">
        <p14:creationId xmlns:p14="http://schemas.microsoft.com/office/powerpoint/2010/main" val="3030689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21222-52F0-47A9-91D8-223E797E4CBB}"/>
              </a:ext>
            </a:extLst>
          </p:cNvPr>
          <p:cNvSpPr>
            <a:spLocks noGrp="1"/>
          </p:cNvSpPr>
          <p:nvPr>
            <p:ph type="title"/>
          </p:nvPr>
        </p:nvSpPr>
        <p:spPr/>
        <p:txBody>
          <a:bodyPr/>
          <a:lstStyle/>
          <a:p>
            <a:r>
              <a:rPr lang="en-US" dirty="0"/>
              <a:t>Estimating Uncollectibles</a:t>
            </a:r>
          </a:p>
        </p:txBody>
      </p:sp>
      <p:sp>
        <p:nvSpPr>
          <p:cNvPr id="3" name="Text Placeholder 2">
            <a:extLst>
              <a:ext uri="{FF2B5EF4-FFF2-40B4-BE49-F238E27FC236}">
                <a16:creationId xmlns:a16="http://schemas.microsoft.com/office/drawing/2014/main" id="{D2043CA7-FFF9-47DF-B5AA-A73CF014BA49}"/>
              </a:ext>
            </a:extLst>
          </p:cNvPr>
          <p:cNvSpPr>
            <a:spLocks noGrp="1"/>
          </p:cNvSpPr>
          <p:nvPr>
            <p:ph sz="quarter" idx="10"/>
          </p:nvPr>
        </p:nvSpPr>
        <p:spPr/>
        <p:txBody>
          <a:bodyPr/>
          <a:lstStyle/>
          <a:p>
            <a:pPr marL="457200" indent="-457200">
              <a:buFont typeface="Arial" panose="020B0604020202020204" pitchFamily="34" charset="0"/>
              <a:buChar char="•"/>
            </a:pPr>
            <a:r>
              <a:rPr lang="en-US" sz="2600" dirty="0"/>
              <a:t>The allowance method requires an estimate of uncollectible accounts at the end of the period.</a:t>
            </a:r>
          </a:p>
          <a:p>
            <a:pPr lvl="1"/>
            <a:r>
              <a:rPr lang="en-US" sz="2600" dirty="0"/>
              <a:t>This estimate of current expected credit losses is normally based on past experience, industry averages, current economic conditions, and forecasts of the future.</a:t>
            </a:r>
          </a:p>
          <a:p>
            <a:pPr marL="457200" indent="-457200">
              <a:buFont typeface="Arial" panose="020B0604020202020204" pitchFamily="34" charset="0"/>
              <a:buChar char="•"/>
            </a:pPr>
            <a:r>
              <a:rPr lang="en-US" sz="2600" dirty="0"/>
              <a:t>The two methods used to estimate uncollectible accounts are as follows:</a:t>
            </a:r>
          </a:p>
          <a:p>
            <a:pPr lvl="1"/>
            <a:r>
              <a:rPr lang="en-US" sz="2600" dirty="0"/>
              <a:t>Percent of sales method.</a:t>
            </a:r>
          </a:p>
          <a:p>
            <a:pPr lvl="1"/>
            <a:r>
              <a:rPr lang="en-US" sz="2600" dirty="0">
                <a:highlight>
                  <a:srgbClr val="FFFF00"/>
                </a:highlight>
              </a:rPr>
              <a:t>Analysis of receivables method.</a:t>
            </a:r>
          </a:p>
        </p:txBody>
      </p:sp>
    </p:spTree>
    <p:extLst>
      <p:ext uri="{BB962C8B-B14F-4D97-AF65-F5344CB8AC3E}">
        <p14:creationId xmlns:p14="http://schemas.microsoft.com/office/powerpoint/2010/main" val="3671366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A248A-2875-4865-97E1-B913F38DCA16}"/>
              </a:ext>
            </a:extLst>
          </p:cNvPr>
          <p:cNvSpPr>
            <a:spLocks noGrp="1"/>
          </p:cNvSpPr>
          <p:nvPr>
            <p:ph type="title"/>
          </p:nvPr>
        </p:nvSpPr>
        <p:spPr>
          <a:xfrm>
            <a:off x="1055076" y="365125"/>
            <a:ext cx="10298723" cy="502383"/>
          </a:xfrm>
        </p:spPr>
        <p:txBody>
          <a:bodyPr/>
          <a:lstStyle/>
          <a:p>
            <a:r>
              <a:rPr lang="en-US" sz="3200" dirty="0"/>
              <a:t>Aging of Receivables Schedule,  </a:t>
            </a:r>
            <a:br>
              <a:rPr lang="en-US" sz="3200" dirty="0"/>
            </a:br>
            <a:r>
              <a:rPr lang="en-US" sz="3200" dirty="0"/>
              <a:t> December 31, 20Y2</a:t>
            </a:r>
          </a:p>
        </p:txBody>
      </p:sp>
      <p:pic>
        <p:nvPicPr>
          <p:cNvPr id="5" name="Content Placeholder 4" descr="An aging of receivables schedule is presented in spreadsheet form. The table contains the following column headings: Customer, Balance, Not Past Due, and Days Past Due. The Days Past Due column is further expanded into six additional columns: 1 to 30, 31 to 60, 61 to 90, 91 to 180, 181 to 365, and Over 365.&#10;&#10;The following amounts are shown for Customer Ashby and Co.: Balance, 1,500; 31–60 Days Past Due, 1,500.&#10;&#10;The following amounts are shown for Customer B. T. Barr: Balance, 6,100; 91 to 180 Days Past Due, 3,500; 181 to 365 Days Past Due, 2,600.&#10;&#10;The following amounts are shown for Customer Brock Co.: Balance, 4,700; Not Past Due, 4,700.&#10;&#10;Below this line, a squiggly line extends across the length of the spreadsheet. Below the line is an area of blank space and then another squiggly line that extends across the length of the spreadsheet. This symbolizes that there are accounts and amounts that are not shown here.&#10;&#10;Below the second squiggly line, the following amounts are shown for Customer Saxon Woods Co.: Balance, 600; 91 to 180 Days Past Due, 600. A single rule appears below the cells of this row. A bracket is shown to the left of the spreadsheet extending from the Ashby &amp; Co. customer account to the Saxon Woods Co. customer account. There is a callout line from the bracket with the words Steps 1 through 3 appearing to the left of the callout line and bracket.&#10;&#10;On the next line, the following Total amounts are shown: Total Balance, 240,000; Total Not Past Due, 125,000; Total 1 to 30 Days Past Due, 64,000; Total 31 to 60 Days Past Due, 13,100; Total 61 to 90 Days Past Due, 8,900; Total 91 to 180 Days Past Due, 5,000; Total 181 to 365 Days Past Due, 10,000; Total Over 365 Days Past Due, 14,000. A double rule appears below the Total Balance of 240,000. To the left of this row is a small arrow pointing to the right. The words Step 4 are shown to the left of the arrow.&#10;&#10;On the next line, the following percentages for Percent uncollectible are shown: Not Past Due, 2%; 1 to 30 Days Past Due, 5%; 31 to 60 Days Past Due, 10%; 61 to 90 Days Past Due, 20%; 91 to 180 Days Past Due, 30%; 181 to 365 Days Past Due, 50%; Over 365 Days Past Due, 80%. A single rule appears below all of these amounts. To the left of this row is a small arrow pointing to the right. The words Step 5 are shown to the left of the arrow.&#10;&#10;On the next line, the following amounts for Estimate of uncollectible accounts are shown: Balance, 26,490; Not Past Due, 2,500; 1 to 30 Days Past Due, 3,200; 31 to 60 Days Past Due, 1,310; 61 to 90 Days Past Due, 1,780; 91 to 180 Days Past Due, 1,500; 181 to 365 Days Past Due, 5,000; Over 365 Days Past Due, 11,200. A double rule appears below all of these amounts. To the left of this row is a small arrow pointing to the right. The words Step 6 are shown to the left of the arrow.&#10;">
            <a:extLst>
              <a:ext uri="{FF2B5EF4-FFF2-40B4-BE49-F238E27FC236}">
                <a16:creationId xmlns:a16="http://schemas.microsoft.com/office/drawing/2014/main" id="{4E3F6839-C300-4C56-B9E1-73CDC2938962}"/>
              </a:ext>
            </a:extLst>
          </p:cNvPr>
          <p:cNvPicPr>
            <a:picLocks noGrp="1" noChangeAspect="1"/>
          </p:cNvPicPr>
          <p:nvPr>
            <p:ph sz="quarter" idx="10"/>
          </p:nvPr>
        </p:nvPicPr>
        <p:blipFill>
          <a:blip r:embed="rId2"/>
          <a:stretch>
            <a:fillRect/>
          </a:stretch>
        </p:blipFill>
        <p:spPr>
          <a:xfrm>
            <a:off x="2239108" y="2419295"/>
            <a:ext cx="8583202" cy="3140829"/>
          </a:xfrm>
          <a:prstGeom prst="rect">
            <a:avLst/>
          </a:prstGeom>
        </p:spPr>
      </p:pic>
      <p:sp>
        <p:nvSpPr>
          <p:cNvPr id="3" name="Title 1">
            <a:extLst>
              <a:ext uri="{FF2B5EF4-FFF2-40B4-BE49-F238E27FC236}">
                <a16:creationId xmlns:a16="http://schemas.microsoft.com/office/drawing/2014/main" id="{58BD95AC-0A65-0E73-A32F-2DB1C7AD2CD2}"/>
              </a:ext>
            </a:extLst>
          </p:cNvPr>
          <p:cNvSpPr txBox="1">
            <a:spLocks/>
          </p:cNvSpPr>
          <p:nvPr/>
        </p:nvSpPr>
        <p:spPr bwMode="auto">
          <a:xfrm>
            <a:off x="838200" y="1402852"/>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a:lstStyle>
          <a:p>
            <a:pPr marL="457200" indent="-457200">
              <a:spcBef>
                <a:spcPts val="300"/>
              </a:spcBef>
              <a:buFont typeface="Arial" panose="020B0604020202020204" pitchFamily="34" charset="0"/>
              <a:buChar char="•"/>
            </a:pPr>
            <a:r>
              <a:rPr lang="en-US" sz="1800" dirty="0"/>
              <a:t>The analysis of receivables method is based on the assumption that the longer an account receivable is outstanding, the less likely it will be collected.</a:t>
            </a:r>
          </a:p>
        </p:txBody>
      </p:sp>
    </p:spTree>
    <p:extLst>
      <p:ext uri="{BB962C8B-B14F-4D97-AF65-F5344CB8AC3E}">
        <p14:creationId xmlns:p14="http://schemas.microsoft.com/office/powerpoint/2010/main" val="792507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A579F-5AC5-4B6A-B4A6-DFE511A1F1FF}"/>
              </a:ext>
            </a:extLst>
          </p:cNvPr>
          <p:cNvSpPr>
            <a:spLocks noGrp="1"/>
          </p:cNvSpPr>
          <p:nvPr>
            <p:ph type="title"/>
          </p:nvPr>
        </p:nvSpPr>
        <p:spPr/>
        <p:txBody>
          <a:bodyPr/>
          <a:lstStyle/>
          <a:p>
            <a:r>
              <a:rPr lang="en-US" dirty="0"/>
              <a:t>Analysis of Receivables Method</a:t>
            </a:r>
            <a:br>
              <a:rPr lang="en-US" dirty="0"/>
            </a:br>
            <a:endParaRPr lang="en-US" sz="2400" dirty="0"/>
          </a:p>
        </p:txBody>
      </p:sp>
      <p:sp>
        <p:nvSpPr>
          <p:cNvPr id="3" name="Text Placeholder 2">
            <a:extLst>
              <a:ext uri="{FF2B5EF4-FFF2-40B4-BE49-F238E27FC236}">
                <a16:creationId xmlns:a16="http://schemas.microsoft.com/office/drawing/2014/main" id="{A2F15014-A924-4516-8D55-B182F56C58BE}"/>
              </a:ext>
            </a:extLst>
          </p:cNvPr>
          <p:cNvSpPr>
            <a:spLocks noGrp="1"/>
          </p:cNvSpPr>
          <p:nvPr>
            <p:ph sz="quarter" idx="16"/>
          </p:nvPr>
        </p:nvSpPr>
        <p:spPr>
          <a:xfrm>
            <a:off x="838200" y="1607126"/>
            <a:ext cx="10515600" cy="3415724"/>
          </a:xfrm>
        </p:spPr>
        <p:txBody>
          <a:bodyPr>
            <a:noAutofit/>
          </a:bodyPr>
          <a:lstStyle/>
          <a:p>
            <a:pPr marL="457200" indent="-457200">
              <a:buFont typeface="Arial" panose="020B0604020202020204" pitchFamily="34" charset="0"/>
              <a:buChar char="•"/>
            </a:pPr>
            <a:r>
              <a:rPr lang="en-US" sz="2600" dirty="0"/>
              <a:t>For ExTone, the unadjusted balance of the allowance account is a </a:t>
            </a:r>
            <a:r>
              <a:rPr lang="en-US" sz="2600" dirty="0">
                <a:highlight>
                  <a:srgbClr val="FFFF00"/>
                </a:highlight>
              </a:rPr>
              <a:t>credit</a:t>
            </a:r>
            <a:r>
              <a:rPr lang="en-US" sz="2600" dirty="0"/>
              <a:t> balance of $3,250. </a:t>
            </a:r>
          </a:p>
          <a:p>
            <a:pPr marL="457200" indent="-457200">
              <a:buFont typeface="Arial" panose="020B0604020202020204" pitchFamily="34" charset="0"/>
              <a:buChar char="•"/>
            </a:pPr>
            <a:r>
              <a:rPr lang="en-US" sz="2600" dirty="0"/>
              <a:t>The amount to be added to this balance is therefore $23,240 ($26,490 – $3,250). The adjusting entry is as follows:</a:t>
            </a:r>
          </a:p>
        </p:txBody>
      </p:sp>
      <p:pic>
        <p:nvPicPr>
          <p:cNvPr id="6" name="Content Placeholder 5" descr="An adjusting journal entry is shown in a journal form. The date indicated is December 31, 20Y2. Bad Debt Expense is debited—with 23,240 shown in the Debit column. Allowance for Doubtful Accounts is credited—with 23,240 shown in the Credit column. A journal explanation is given below the journal entry: Uncollectible accounts estimate ($26,490 minus $3,250).&#10;&#10;Below the journal form, the accounting equation impact is illustrated. &#10;&#10;The accounting equation is shown: Assets = Liabilities + Stockholders’ Equity.&#10;&#10;Under Assets in the accounting equation, a T account for Allowance for Doubtful Accounts is shown. On the right, in the credit column of the Allowance for Doubtful Accounts T account, an entry of 23,240 is shown. The debit column of the Allowance for Doubtful Accounts T account is blank.&#10;&#10;Under Stockholders’ Equity in the accounting equation, a T account for Bad Debt Expense is shown. On the left, in the debit column of the Bad Debt Expense T account, an entry of 23,240 is shown. The credit column of the Bad Debt Expense T account is blank. &#10;">
            <a:extLst>
              <a:ext uri="{FF2B5EF4-FFF2-40B4-BE49-F238E27FC236}">
                <a16:creationId xmlns:a16="http://schemas.microsoft.com/office/drawing/2014/main" id="{09C5A982-A097-4A59-A7CE-BE10FB83D7C7}"/>
              </a:ext>
            </a:extLst>
          </p:cNvPr>
          <p:cNvPicPr>
            <a:picLocks noGrp="1" noChangeAspect="1"/>
          </p:cNvPicPr>
          <p:nvPr>
            <p:ph sz="quarter" idx="17"/>
          </p:nvPr>
        </p:nvPicPr>
        <p:blipFill>
          <a:blip r:embed="rId2"/>
          <a:stretch>
            <a:fillRect/>
          </a:stretch>
        </p:blipFill>
        <p:spPr>
          <a:xfrm>
            <a:off x="2488900" y="3474119"/>
            <a:ext cx="7214200" cy="2118627"/>
          </a:xfrm>
          <a:prstGeom prst="rect">
            <a:avLst/>
          </a:prstGeom>
        </p:spPr>
      </p:pic>
    </p:spTree>
    <p:extLst>
      <p:ext uri="{BB962C8B-B14F-4D97-AF65-F5344CB8AC3E}">
        <p14:creationId xmlns:p14="http://schemas.microsoft.com/office/powerpoint/2010/main" val="2123522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Notes Receivables</a:t>
            </a:r>
            <a:endParaRPr lang="en-US" sz="1800" dirty="0"/>
          </a:p>
        </p:txBody>
      </p:sp>
      <p:sp>
        <p:nvSpPr>
          <p:cNvPr id="3" name="Content Placeholder 2"/>
          <p:cNvSpPr>
            <a:spLocks noGrp="1"/>
          </p:cNvSpPr>
          <p:nvPr>
            <p:ph idx="1"/>
          </p:nvPr>
        </p:nvSpPr>
        <p:spPr>
          <a:xfrm>
            <a:off x="1981200" y="1292352"/>
            <a:ext cx="8229600" cy="5184648"/>
          </a:xfrm>
        </p:spPr>
        <p:txBody>
          <a:bodyPr/>
          <a:lstStyle/>
          <a:p>
            <a:pPr fontAlgn="auto">
              <a:defRPr/>
            </a:pPr>
            <a:r>
              <a:rPr lang="en-US" b="1" dirty="0">
                <a:solidFill>
                  <a:srgbClr val="00375D"/>
                </a:solidFill>
              </a:rPr>
              <a:t>Notes receivable </a:t>
            </a:r>
            <a:r>
              <a:rPr lang="en-US" dirty="0"/>
              <a:t>are amounts that customers owe for which a formal, written instrument of credit has been issued.</a:t>
            </a:r>
          </a:p>
          <a:p>
            <a:pPr fontAlgn="auto">
              <a:defRPr/>
            </a:pPr>
            <a:r>
              <a:rPr lang="en-US" dirty="0"/>
              <a:t>Notes are often used for credit periods of more than 60 days.</a:t>
            </a:r>
          </a:p>
          <a:p>
            <a:pPr fontAlgn="auto">
              <a:defRPr/>
            </a:pPr>
            <a:r>
              <a:rPr lang="en-US" dirty="0"/>
              <a:t>The amount for which a promissory note is written is called the </a:t>
            </a:r>
            <a:r>
              <a:rPr lang="en-US" dirty="0">
                <a:solidFill>
                  <a:srgbClr val="FF0000"/>
                </a:solidFill>
              </a:rPr>
              <a:t>face value</a:t>
            </a:r>
          </a:p>
          <a:p>
            <a:pPr fontAlgn="auto">
              <a:defRPr/>
            </a:pPr>
            <a:r>
              <a:rPr lang="en-US" dirty="0"/>
              <a:t>The amount of the promissory note plus the interest earned on the due date is called the </a:t>
            </a:r>
            <a:r>
              <a:rPr lang="en-US" dirty="0">
                <a:solidFill>
                  <a:srgbClr val="FF0000"/>
                </a:solidFill>
              </a:rPr>
              <a:t>maturity value</a:t>
            </a:r>
          </a:p>
        </p:txBody>
      </p:sp>
    </p:spTree>
    <p:extLst>
      <p:ext uri="{BB962C8B-B14F-4D97-AF65-F5344CB8AC3E}">
        <p14:creationId xmlns:p14="http://schemas.microsoft.com/office/powerpoint/2010/main" val="4258437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Accounting for Notes Receivable</a:t>
            </a:r>
            <a:br>
              <a:rPr lang="en-US" dirty="0"/>
            </a:br>
            <a:endParaRPr lang="en-US" sz="1800" dirty="0"/>
          </a:p>
        </p:txBody>
      </p:sp>
      <p:sp>
        <p:nvSpPr>
          <p:cNvPr id="6" name="Content Placeholder 5"/>
          <p:cNvSpPr>
            <a:spLocks noGrp="1"/>
          </p:cNvSpPr>
          <p:nvPr>
            <p:ph idx="1"/>
          </p:nvPr>
        </p:nvSpPr>
        <p:spPr/>
        <p:txBody>
          <a:bodyPr/>
          <a:lstStyle/>
          <a:p>
            <a:r>
              <a:rPr lang="en-US" dirty="0"/>
              <a:t>Assume that a company accepts a 30-day, 12% note dated November 21 in settlement of the account of W. A. Bunn Co., which is past due and has a balance of $6,000. The company journalizes the receipt of the note as follows:</a:t>
            </a:r>
          </a:p>
        </p:txBody>
      </p:sp>
      <p:pic>
        <p:nvPicPr>
          <p:cNvPr id="3" name="Picture 2" descr="A journal entry is shown in a journal form. November 21 is the date indicated. Notes Receivable—W. A. Bunn Co. is debited—with 6,000  shown in the Debit column. Accounts Receivable—W. A. Bunn Co. is credited—with 6,000 shown in the Credit column."/>
          <p:cNvPicPr>
            <a:picLocks noChangeAspect="1"/>
          </p:cNvPicPr>
          <p:nvPr/>
        </p:nvPicPr>
        <p:blipFill>
          <a:blip r:embed="rId2"/>
          <a:stretch>
            <a:fillRect/>
          </a:stretch>
        </p:blipFill>
        <p:spPr>
          <a:xfrm>
            <a:off x="2362199" y="3505201"/>
            <a:ext cx="7467602" cy="1066800"/>
          </a:xfrm>
          <a:prstGeom prst="rect">
            <a:avLst/>
          </a:prstGeom>
        </p:spPr>
      </p:pic>
    </p:spTree>
    <p:extLst>
      <p:ext uri="{BB962C8B-B14F-4D97-AF65-F5344CB8AC3E}">
        <p14:creationId xmlns:p14="http://schemas.microsoft.com/office/powerpoint/2010/main" val="1691763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Accounting for Notes Receivable</a:t>
            </a:r>
            <a:br>
              <a:rPr lang="en-US"/>
            </a:br>
            <a:endParaRPr lang="en-US" sz="1800" dirty="0"/>
          </a:p>
        </p:txBody>
      </p:sp>
      <p:sp>
        <p:nvSpPr>
          <p:cNvPr id="6" name="Content Placeholder 5"/>
          <p:cNvSpPr>
            <a:spLocks noGrp="1"/>
          </p:cNvSpPr>
          <p:nvPr>
            <p:ph idx="1"/>
          </p:nvPr>
        </p:nvSpPr>
        <p:spPr/>
        <p:txBody>
          <a:bodyPr/>
          <a:lstStyle/>
          <a:p>
            <a:r>
              <a:rPr lang="en-US" dirty="0">
                <a:solidFill>
                  <a:srgbClr val="00B050"/>
                </a:solidFill>
              </a:rPr>
              <a:t>At the due date, the company journalizes the receipt of $6,060 ($6,000 face amount plus $60 interest) as follows:</a:t>
            </a:r>
          </a:p>
        </p:txBody>
      </p:sp>
      <p:pic>
        <p:nvPicPr>
          <p:cNvPr id="4" name="Picture 3" descr="A journal entry is shown in a journal form. December 21 is the date indicted. Cash is debited—with 6,060 shown in the Debit column. Notes Receivable—W. A. Bunn Co. is credited—with 6,000 shown in the Credit column. Interest Revenue is credited—with 60 shown in the Credit column. The following calculation for the note receivable is shown below the journal entry: [$6,060 = $6,000 + ($6,000 × 12% × 30 ÷ 360)]."/>
          <p:cNvPicPr>
            <a:picLocks noChangeAspect="1"/>
          </p:cNvPicPr>
          <p:nvPr/>
        </p:nvPicPr>
        <p:blipFill>
          <a:blip r:embed="rId2"/>
          <a:stretch>
            <a:fillRect/>
          </a:stretch>
        </p:blipFill>
        <p:spPr>
          <a:xfrm>
            <a:off x="2398775" y="2667001"/>
            <a:ext cx="7467602" cy="1671457"/>
          </a:xfrm>
          <a:prstGeom prst="rect">
            <a:avLst/>
          </a:prstGeom>
        </p:spPr>
      </p:pic>
    </p:spTree>
    <p:extLst>
      <p:ext uri="{BB962C8B-B14F-4D97-AF65-F5344CB8AC3E}">
        <p14:creationId xmlns:p14="http://schemas.microsoft.com/office/powerpoint/2010/main" val="4186296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Activity 3</a:t>
            </a:r>
          </a:p>
        </p:txBody>
      </p:sp>
      <p:sp>
        <p:nvSpPr>
          <p:cNvPr id="3" name="Text Placeholder 2"/>
          <p:cNvSpPr>
            <a:spLocks noGrp="1"/>
          </p:cNvSpPr>
          <p:nvPr>
            <p:ph sz="quarter" idx="10"/>
          </p:nvPr>
        </p:nvSpPr>
        <p:spPr/>
        <p:txBody>
          <a:bodyPr/>
          <a:lstStyle/>
          <a:p>
            <a:pPr marL="0" indent="0">
              <a:buNone/>
            </a:pPr>
            <a:r>
              <a:rPr lang="en-US" dirty="0"/>
              <a:t>Anderson Paper Mills, Inc. signs a 120-day, $8,000 note with their local bank at 9% annual interest. Assuming a 360-day year, how much interest will they pay on this note?</a:t>
            </a:r>
          </a:p>
          <a:p>
            <a:pPr marL="514350" indent="-514350">
              <a:buAutoNum type="alphaLcPeriod"/>
            </a:pPr>
            <a:r>
              <a:rPr lang="en-US" dirty="0"/>
              <a:t>$240</a:t>
            </a:r>
          </a:p>
          <a:p>
            <a:pPr marL="514350" indent="-514350">
              <a:buAutoNum type="alphaLcPeriod"/>
            </a:pPr>
            <a:r>
              <a:rPr lang="en-US" dirty="0"/>
              <a:t>$720</a:t>
            </a:r>
          </a:p>
          <a:p>
            <a:pPr marL="514350" indent="-514350">
              <a:buAutoNum type="alphaLcPeriod"/>
            </a:pPr>
            <a:r>
              <a:rPr lang="en-US" dirty="0"/>
              <a:t>$360</a:t>
            </a:r>
          </a:p>
          <a:p>
            <a:pPr marL="514350" indent="-514350">
              <a:buAutoNum type="alphaLcPeriod"/>
            </a:pPr>
            <a:r>
              <a:rPr lang="en-US" dirty="0"/>
              <a:t>$180</a:t>
            </a:r>
          </a:p>
          <a:p>
            <a:pPr marL="514350" indent="-514350">
              <a:buAutoNum type="alphaLcPeriod"/>
            </a:pPr>
            <a:endParaRPr lang="en-US" dirty="0"/>
          </a:p>
        </p:txBody>
      </p:sp>
    </p:spTree>
    <p:extLst>
      <p:ext uri="{BB962C8B-B14F-4D97-AF65-F5344CB8AC3E}">
        <p14:creationId xmlns:p14="http://schemas.microsoft.com/office/powerpoint/2010/main" val="2666491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Activity 3: Answer</a:t>
            </a:r>
          </a:p>
        </p:txBody>
      </p:sp>
      <p:sp>
        <p:nvSpPr>
          <p:cNvPr id="3" name="Text Placeholder 2"/>
          <p:cNvSpPr>
            <a:spLocks noGrp="1"/>
          </p:cNvSpPr>
          <p:nvPr>
            <p:ph sz="quarter" idx="16"/>
          </p:nvPr>
        </p:nvSpPr>
        <p:spPr>
          <a:xfrm>
            <a:off x="838200" y="1607126"/>
            <a:ext cx="10515600" cy="3415724"/>
          </a:xfrm>
        </p:spPr>
        <p:txBody>
          <a:bodyPr/>
          <a:lstStyle/>
          <a:p>
            <a:pPr marL="0" indent="0">
              <a:buNone/>
            </a:pPr>
            <a:r>
              <a:rPr lang="en-US" sz="2600" dirty="0"/>
              <a:t>Anderson Paper Mills, Inc. signs a 120-day, $8,000 note with their local bank at 9% annual interest. Assuming a 360-day year, how much interest will they pay on this note?</a:t>
            </a:r>
          </a:p>
          <a:p>
            <a:pPr marL="0" indent="0">
              <a:buNone/>
            </a:pPr>
            <a:endParaRPr lang="en-US" sz="2600" dirty="0"/>
          </a:p>
          <a:p>
            <a:pPr marL="0" indent="0">
              <a:buNone/>
            </a:pPr>
            <a:r>
              <a:rPr lang="en-US" sz="2600" b="1" dirty="0"/>
              <a:t>Answer: </a:t>
            </a:r>
            <a:r>
              <a:rPr lang="en-US" sz="2600" dirty="0"/>
              <a:t>a. $240</a:t>
            </a:r>
          </a:p>
          <a:p>
            <a:pPr marL="0" indent="0">
              <a:buNone/>
            </a:pPr>
            <a:endParaRPr lang="en-US" sz="2600" dirty="0"/>
          </a:p>
          <a:p>
            <a:pPr marL="0" indent="0">
              <a:buNone/>
            </a:pPr>
            <a:r>
              <a:rPr lang="en-US" sz="2600" dirty="0"/>
              <a:t>The formula is: </a:t>
            </a:r>
          </a:p>
        </p:txBody>
      </p:sp>
      <p:graphicFrame>
        <p:nvGraphicFramePr>
          <p:cNvPr id="6" name="Content Placeholder 5" descr="Begin equation. Interest equals face amount times interest rate times term divided by 360 days, thus interest equals $8,000 times 9 percent times 120 divided by 360 equals $240. End equation.">
            <a:extLst>
              <a:ext uri="{FF2B5EF4-FFF2-40B4-BE49-F238E27FC236}">
                <a16:creationId xmlns:a16="http://schemas.microsoft.com/office/drawing/2014/main" id="{A9B46C34-6FF6-496B-B174-64ABCBDE23A6}"/>
              </a:ext>
            </a:extLst>
          </p:cNvPr>
          <p:cNvGraphicFramePr>
            <a:graphicFrameLocks noGrp="1" noChangeAspect="1"/>
          </p:cNvGraphicFramePr>
          <p:nvPr>
            <p:ph sz="quarter" idx="17"/>
            <p:extLst>
              <p:ext uri="{D42A27DB-BD31-4B8C-83A1-F6EECF244321}">
                <p14:modId xmlns:p14="http://schemas.microsoft.com/office/powerpoint/2010/main" val="1119647083"/>
              </p:ext>
            </p:extLst>
          </p:nvPr>
        </p:nvGraphicFramePr>
        <p:xfrm>
          <a:off x="1739851" y="4747273"/>
          <a:ext cx="8712297" cy="1007202"/>
        </p:xfrm>
        <a:graphic>
          <a:graphicData uri="http://schemas.openxmlformats.org/presentationml/2006/ole">
            <mc:AlternateContent xmlns:mc="http://schemas.openxmlformats.org/markup-compatibility/2006">
              <mc:Choice xmlns:v="urn:schemas-microsoft-com:vml" Requires="v">
                <p:oleObj name="Equation" r:id="rId3" imgW="4394160" imgH="507960" progId="Equation.DSMT4">
                  <p:embed/>
                </p:oleObj>
              </mc:Choice>
              <mc:Fallback>
                <p:oleObj name="Equation" r:id="rId3" imgW="4394160" imgH="507960" progId="Equation.DSMT4">
                  <p:embed/>
                  <p:pic>
                    <p:nvPicPr>
                      <p:cNvPr id="4" name="Object 3">
                        <a:extLst>
                          <a:ext uri="{FF2B5EF4-FFF2-40B4-BE49-F238E27FC236}">
                            <a16:creationId xmlns:a16="http://schemas.microsoft.com/office/drawing/2014/main" id="{D9720C92-B7B3-432F-8079-5A1940879311}"/>
                          </a:ext>
                        </a:extLst>
                      </p:cNvPr>
                      <p:cNvPicPr/>
                      <p:nvPr/>
                    </p:nvPicPr>
                    <p:blipFill>
                      <a:blip r:embed="rId4"/>
                      <a:stretch>
                        <a:fillRect/>
                      </a:stretch>
                    </p:blipFill>
                    <p:spPr>
                      <a:xfrm>
                        <a:off x="1739851" y="4747273"/>
                        <a:ext cx="8712297" cy="1007202"/>
                      </a:xfrm>
                      <a:prstGeom prst="rect">
                        <a:avLst/>
                      </a:prstGeom>
                    </p:spPr>
                  </p:pic>
                </p:oleObj>
              </mc:Fallback>
            </mc:AlternateContent>
          </a:graphicData>
        </a:graphic>
      </p:graphicFrame>
    </p:spTree>
    <p:extLst>
      <p:ext uri="{BB962C8B-B14F-4D97-AF65-F5344CB8AC3E}">
        <p14:creationId xmlns:p14="http://schemas.microsoft.com/office/powerpoint/2010/main" val="2955791610"/>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94B888A8E71149BA1FDF36AA0410F2" ma:contentTypeVersion="11" ma:contentTypeDescription="Create a new document." ma:contentTypeScope="" ma:versionID="a2acd571cfbae07cc1c1b9b4f31a4903">
  <xsd:schema xmlns:xsd="http://www.w3.org/2001/XMLSchema" xmlns:xs="http://www.w3.org/2001/XMLSchema" xmlns:p="http://schemas.microsoft.com/office/2006/metadata/properties" xmlns:ns2="5f8dbb90-e206-4f83-9820-44f04f84401f" xmlns:ns3="ab864144-ca3b-47ab-a142-93b76c4c492d" targetNamespace="http://schemas.microsoft.com/office/2006/metadata/properties" ma:root="true" ma:fieldsID="3c31c27e1b082e584a7e0e139cda3467" ns2:_="" ns3:_="">
    <xsd:import namespace="5f8dbb90-e206-4f83-9820-44f04f84401f"/>
    <xsd:import namespace="ab864144-ca3b-47ab-a142-93b76c4c492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dbb90-e206-4f83-9820-44f04f8440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864144-ca3b-47ab-a142-93b76c4c492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ab864144-ca3b-47ab-a142-93b76c4c492d">
      <UserInfo>
        <DisplayName/>
        <AccountId xsi:nil="true"/>
        <AccountType/>
      </UserInfo>
    </SharedWithUsers>
  </documentManagement>
</p:properties>
</file>

<file path=customXml/itemProps1.xml><?xml version="1.0" encoding="utf-8"?>
<ds:datastoreItem xmlns:ds="http://schemas.openxmlformats.org/officeDocument/2006/customXml" ds:itemID="{CCAA2083-1E27-43BC-8488-C4E35C2DDA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8dbb90-e206-4f83-9820-44f04f84401f"/>
    <ds:schemaRef ds:uri="ab864144-ca3b-47ab-a142-93b76c4c49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BA9BA192-EF86-48DF-982C-2C526A268392}">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ab864144-ca3b-47ab-a142-93b76c4c492d"/>
    <ds:schemaRef ds:uri="5f8dbb90-e206-4f83-9820-44f04f84401f"/>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3665</TotalTime>
  <Words>870</Words>
  <Application>Microsoft Office PowerPoint</Application>
  <PresentationFormat>Widescreen</PresentationFormat>
  <Paragraphs>64</Paragraphs>
  <Slides>15</Slides>
  <Notes>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6" baseType="lpstr">
      <vt:lpstr>Arial</vt:lpstr>
      <vt:lpstr>Arial</vt:lpstr>
      <vt:lpstr>Calibri</vt:lpstr>
      <vt:lpstr>Courier New</vt:lpstr>
      <vt:lpstr>Helvetica</vt:lpstr>
      <vt:lpstr>Open Sans</vt:lpstr>
      <vt:lpstr>Summer Font</vt:lpstr>
      <vt:lpstr>Verdana</vt:lpstr>
      <vt:lpstr>Wingdings</vt:lpstr>
      <vt:lpstr>Office Theme</vt:lpstr>
      <vt:lpstr>Equation</vt:lpstr>
      <vt:lpstr>Chapter 8: Receivables</vt:lpstr>
      <vt:lpstr>Accounts Receivable</vt:lpstr>
      <vt:lpstr>Notes Receivable </vt:lpstr>
      <vt:lpstr>Uncollectible Receivables </vt:lpstr>
      <vt:lpstr>Allowance Method for Uncollectible Accounts </vt:lpstr>
      <vt:lpstr>Write-Offs to the Allowance Account  </vt:lpstr>
      <vt:lpstr>Write-Offs to the Allowance Account </vt:lpstr>
      <vt:lpstr>Estimating Uncollectibles</vt:lpstr>
      <vt:lpstr>Aging of Receivables Schedule,    December 31, 20Y2</vt:lpstr>
      <vt:lpstr>Analysis of Receivables Method </vt:lpstr>
      <vt:lpstr>Notes Receivables</vt:lpstr>
      <vt:lpstr>Accounting for Notes Receivable </vt:lpstr>
      <vt:lpstr>Accounting for Notes Receivable </vt:lpstr>
      <vt:lpstr>Knowledge Check Activity 3</vt:lpstr>
      <vt:lpstr>Knowledge Check Activity 3: Answer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Graney, Karla (DTPW)</cp:lastModifiedBy>
  <cp:revision>175</cp:revision>
  <dcterms:created xsi:type="dcterms:W3CDTF">2020-07-27T16:46:05Z</dcterms:created>
  <dcterms:modified xsi:type="dcterms:W3CDTF">2026-07-02T11:43:24Z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0x0101005394B888A8E71149BA1FDF36AA0410F2</vt:lpwstr>
  </property>
  <property fmtid="{D5CDD505-2E9C-101B-9397-08002B2CF9AE}" pid="3" name="Order">
    <vt:r8>21552800</vt:r8>
  </property>
  <property fmtid="{D5CDD505-2E9C-101B-9397-08002B2CF9AE}" pid="4" name="xd_Signature">
    <vt:bool>false</vt:bool>
  </property>
  <property fmtid="{D5CDD505-2E9C-101B-9397-08002B2CF9AE}" pid="5" name="xd_ProgID">
    <vt:lpwstr/>
  </property>
  <property fmtid="{D5CDD505-2E9C-101B-9397-08002B2CF9AE}" pid="6" name="Status">
    <vt:lpwstr>1. In development</vt:lpwstr>
  </property>
  <property fmtid="{D5CDD505-2E9C-101B-9397-08002B2CF9AE}" pid="7" name="ComplianceAssetId">
    <vt:lpwstr/>
  </property>
  <property fmtid="{D5CDD505-2E9C-101B-9397-08002B2CF9AE}" pid="8" name="TemplateUrl">
    <vt:lpwstr/>
  </property>
</Properties>
</file>