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7"/>
  </p:notesMasterIdLst>
  <p:handoutMasterIdLst>
    <p:handoutMasterId r:id="rId48"/>
  </p:handoutMasterIdLst>
  <p:sldIdLst>
    <p:sldId id="264" r:id="rId5"/>
    <p:sldId id="260" r:id="rId6"/>
    <p:sldId id="261" r:id="rId7"/>
    <p:sldId id="262" r:id="rId8"/>
    <p:sldId id="382" r:id="rId9"/>
    <p:sldId id="384" r:id="rId10"/>
    <p:sldId id="385" r:id="rId11"/>
    <p:sldId id="386" r:id="rId12"/>
    <p:sldId id="915" r:id="rId13"/>
    <p:sldId id="270" r:id="rId14"/>
    <p:sldId id="271" r:id="rId15"/>
    <p:sldId id="272" r:id="rId16"/>
    <p:sldId id="922" r:id="rId17"/>
    <p:sldId id="281" r:id="rId18"/>
    <p:sldId id="282" r:id="rId19"/>
    <p:sldId id="284" r:id="rId20"/>
    <p:sldId id="285" r:id="rId21"/>
    <p:sldId id="286" r:id="rId22"/>
    <p:sldId id="287" r:id="rId23"/>
    <p:sldId id="288" r:id="rId24"/>
    <p:sldId id="289" r:id="rId25"/>
    <p:sldId id="294" r:id="rId26"/>
    <p:sldId id="297" r:id="rId27"/>
    <p:sldId id="298"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90" r:id="rId43"/>
    <p:sldId id="391" r:id="rId44"/>
    <p:sldId id="888" r:id="rId45"/>
    <p:sldId id="322" r:id="rId4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Bowdler, Diane" initials="BD" lastIdx="2" clrIdx="1">
    <p:extLst>
      <p:ext uri="{19B8F6BF-5375-455C-9EA6-DF929625EA0E}">
        <p15:presenceInfo xmlns:p15="http://schemas.microsoft.com/office/powerpoint/2012/main" userId="S::Diane.Bowdler@cengage.com::4844c4c9-0293-48ae-805c-846689e00fa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419" autoAdjust="0"/>
  </p:normalViewPr>
  <p:slideViewPr>
    <p:cSldViewPr snapToGrid="0">
      <p:cViewPr varScale="1">
        <p:scale>
          <a:sx n="81" d="100"/>
          <a:sy n="81" d="100"/>
        </p:scale>
        <p:origin x="1716" y="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5/15/2026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5/15/2026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3226101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chart of accounts should meet the needs of a company’s managers and other users of its financial statements.</a:t>
            </a:r>
          </a:p>
          <a:p>
            <a:pPr marL="171450" indent="-171450">
              <a:buFont typeface="Arial" panose="020B0604020202020204" pitchFamily="34" charset="0"/>
              <a:buChar char="•"/>
            </a:pPr>
            <a:r>
              <a:rPr lang="en-US" dirty="0"/>
              <a:t>The accounts within the chart of accounts are numbered for use as references. </a:t>
            </a:r>
          </a:p>
          <a:p>
            <a:pPr marL="171450" indent="-171450">
              <a:buFont typeface="Arial" panose="020B0604020202020204" pitchFamily="34" charset="0"/>
              <a:buChar char="•"/>
            </a:pPr>
            <a:r>
              <a:rPr lang="en-US" dirty="0"/>
              <a:t>A numbering system is normally used, so that new accounts can be added without affecting other account numbers.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2156246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35803753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3318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8" r:id="rId17"/>
    <p:sldLayoutId id="2147483729" r:id="rId18"/>
    <p:sldLayoutId id="2147483730" r:id="rId19"/>
    <p:sldLayoutId id="2147483731" r:id="rId20"/>
    <p:sldLayoutId id="2147483732" r:id="rId21"/>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2: Analyzing Transactions</a:t>
            </a:r>
          </a:p>
        </p:txBody>
      </p:sp>
      <p:sp>
        <p:nvSpPr>
          <p:cNvPr id="6" name="Text Placeholder 5"/>
          <p:cNvSpPr>
            <a:spLocks noGrp="1"/>
          </p:cNvSpPr>
          <p:nvPr>
            <p:ph type="body" sz="quarter" idx="11"/>
          </p:nvPr>
        </p:nvSpPr>
        <p:spPr>
          <a:xfrm>
            <a:off x="5691462" y="2355562"/>
            <a:ext cx="4700337"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BCB961B9-F517-0515-1532-9465F83D6BD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C92CB-D467-4687-A5C1-00737D20F133}"/>
              </a:ext>
            </a:extLst>
          </p:cNvPr>
          <p:cNvSpPr>
            <a:spLocks noGrp="1"/>
          </p:cNvSpPr>
          <p:nvPr>
            <p:ph type="title"/>
          </p:nvPr>
        </p:nvSpPr>
        <p:spPr>
          <a:xfrm>
            <a:off x="838200" y="365125"/>
            <a:ext cx="10515600" cy="672105"/>
          </a:xfrm>
        </p:spPr>
        <p:txBody>
          <a:bodyPr/>
          <a:lstStyle/>
          <a:p>
            <a:r>
              <a:rPr lang="en-US" dirty="0"/>
              <a:t>Exhibit 1 </a:t>
            </a:r>
            <a:r>
              <a:rPr kumimoji="0" lang="en-US" sz="3200" b="1" i="0" u="none" strike="noStrike" kern="1200" cap="none" spc="0" normalizeH="0" baseline="0" noProof="0" dirty="0">
                <a:ln>
                  <a:noFill/>
                </a:ln>
                <a:effectLst/>
                <a:uLnTx/>
                <a:uFillTx/>
                <a:latin typeface="Arial" panose="020B0604020202020204" pitchFamily="34" charset="0"/>
                <a:ea typeface="Verdana" pitchFamily="34" charset="0"/>
                <a:cs typeface="Arial" panose="020B0604020202020204" pitchFamily="34" charset="0"/>
              </a:rPr>
              <a:t>–</a:t>
            </a:r>
            <a:r>
              <a:rPr lang="en-US" dirty="0"/>
              <a:t> NetSolutions’ November Transactions</a:t>
            </a:r>
          </a:p>
        </p:txBody>
      </p:sp>
      <p:pic>
        <p:nvPicPr>
          <p:cNvPr id="5" name="Content Placeholder 4" descr="The November transactions for NetSolutions are shown. First, the accounting equation is given: Assets = Liabilities + Stockholders’ Equity. On the second line, the accounting equation is expanded into accounts: assets of Cash + Supplies + Land = liabilities of Accounts Payable + stockholders’ equity of Common Stock minus Dividends + Fees Earned minus Wages Expense minus Rent Expense minus Supplies Expense minus Utilities Expense minus Miscellaneous Expense. The third line shows the effects of Transaction a: Cash is increased by 25,000; and Common Stock is increased by 25,000. The fourth line shows the effects of Transaction b: Cash is decreased by 20,000; and Land is increased by 20,000. A single rule appears below each of these numbers and in the Common Stock column as well. The fifth line shows the resulting balances: 5,000 for Cash; 20,000 for Land; and 25,000 for Common Stock. The sixth line shows the effects of Transaction c: Supplies is increased by 1,350; and Accounts Payable is increased by 1,350. A single rule appears below each of these numbers and in the following columns: Cash; Land; and Common Stock. The seventh line shows the resulting balances: 5,000 for Cash; 1,350 for Supplies; 20,000 for Land; 1,350 for Accounts Payable; and 25,000 for Common Stock. The eighth line shows the effects of Transaction d: Cash is increased by 7,500; and Fees Earned is increased by 7,500. A single rule appears below each of these numbers and in the following columns: Supplies; Land; Accounts Payable; and Common Stock. The ninth line shows the resulting balances: 12,500 for Cash; 1,350 for Supplies; 20,000 for Land; 1,350 for Accounts Payable; 25,000 for Common Stock; and 7,500 for Fees Earned. The tenth line shows the effects of Transaction e: Cash is decreased by 3,650; Wages Expense is decreased by 2,125; Rent Expense is decreased by 800; Utilities Expense is decreased by 450; and Miscellaneous Expense is decreased by 275. A single rule appears below each of these numbers and in the following columns: Supplies; Land; Accounts Payable; Common Stock; and Fees Earned. The eleventh line shows the resulting balances: 8,850 for Cash; 1,350 for Supplies; 20,000 for Land; 1,350 for Accounts Payable; 25,000 for Common Stock; 7,500 for Fees Earned; negative 2,125 for Wages Expense; negative 800 for Rent Expense; negative 450 for Utilities Expense; and negative 275 for Miscellaneous Expense. The twelfth line shows the effects of Transaction f: Cash is decreased by 950; and Accounts Payable is decreased by 950. A single rule appears below each of these numbers and in the following columns: Supplies; Land; Common Stock; Fees Earned; Wages Expense; Rent Expense; Utilities Expense; and Miscellaneous Expense. The thirteenth line shows the resulting balances: 7,900 for Cash; 1,350 for Supplies; 20,000 for Land; 400 for Accounts Payable; 25,000 for Common Stock; 7,500 for Fees Earned; negative 2,125 for Wages Expense; negative 800 for Rent Expense; negative 450 for Utilities Expense; and negative 275 for Miscellaneous Expense. The fourteenth line shows the effects of Transaction g: Supplies is decreased by 800; and Supplies Expense is decreased by 800. A single rule appears below each of these numbers and in the following columns: Cash; Land; Accounts Payable; Common Stock; Fees Earned; Wages Expense; Rent Expense; Utilities Expense; and Miscellaneous Expense. The fifteenth line shows the resulting balances: 7,900 for Cash; 550 for Supplies; 20,000 for Land; 400 for Accounts Payable; 25,000 for Common Stock; 7,500 for Fees Earned; negative 2,125 for Wages Expense; negative 800 for Rent Expense; negative 800 for Supplies Expense; negative 450 for Utilities Expense; and  negative 275 for Miscellaneous Expense. The sixteenth line shows the effects of Transaction h: Cash is decreased by 2,000; and Dividends is decreased by 2,000. A single rule appears below each of these numbers and in the following columns: Supplies; Land; Accounts Payable; Common Stock; Fees Earned; Wages Expense; Rent Expense; Supplies Expense; Utilities Expense; and Miscellaneous Expense. The seventeenth and final line shows the resulting balances: 5,900 for Cash; 550 for Supplies; 20,000 for Land; 400 for Accounts Payable; 25,000 for Common Stock; negative 2,000 for Dividends; 7,500 for Fees Earned; negative 2,125 for Wages Expense; negative 800 for Rent Expense; negative 800 for Supplies Expense; negative 450 for Utilities Expense; and negative 275 for Miscellaneous Expense. A double rule appears below each of these figures.">
            <a:extLst>
              <a:ext uri="{FF2B5EF4-FFF2-40B4-BE49-F238E27FC236}">
                <a16:creationId xmlns:a16="http://schemas.microsoft.com/office/drawing/2014/main" id="{E038A23D-6441-4F9A-B5A5-09CCAA4CBFA9}"/>
              </a:ext>
            </a:extLst>
          </p:cNvPr>
          <p:cNvPicPr>
            <a:picLocks noGrp="1" noChangeAspect="1"/>
          </p:cNvPicPr>
          <p:nvPr>
            <p:ph sz="quarter" idx="10"/>
          </p:nvPr>
        </p:nvPicPr>
        <p:blipFill>
          <a:blip r:embed="rId2"/>
          <a:stretch>
            <a:fillRect/>
          </a:stretch>
        </p:blipFill>
        <p:spPr>
          <a:xfrm>
            <a:off x="642649" y="1241318"/>
            <a:ext cx="10906701" cy="4375363"/>
          </a:xfrm>
        </p:spPr>
      </p:pic>
    </p:spTree>
    <p:extLst>
      <p:ext uri="{BB962C8B-B14F-4D97-AF65-F5344CB8AC3E}">
        <p14:creationId xmlns:p14="http://schemas.microsoft.com/office/powerpoint/2010/main" val="3179378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3DE8D-16E0-4209-8CCF-FC7EB0E38D6B}"/>
              </a:ext>
            </a:extLst>
          </p:cNvPr>
          <p:cNvSpPr>
            <a:spLocks noGrp="1"/>
          </p:cNvSpPr>
          <p:nvPr>
            <p:ph type="title"/>
          </p:nvPr>
        </p:nvSpPr>
        <p:spPr>
          <a:xfrm>
            <a:off x="838200" y="365125"/>
            <a:ext cx="10515600" cy="672105"/>
          </a:xfrm>
        </p:spPr>
        <p:txBody>
          <a:bodyPr/>
          <a:lstStyle/>
          <a:p>
            <a:r>
              <a:rPr lang="en-US" dirty="0"/>
              <a:t>Using Accounts to Record Transactions</a:t>
            </a:r>
            <a:br>
              <a:rPr lang="en-US" dirty="0"/>
            </a:br>
            <a:endParaRPr lang="en-US" sz="2400" dirty="0"/>
          </a:p>
        </p:txBody>
      </p:sp>
      <p:sp>
        <p:nvSpPr>
          <p:cNvPr id="3" name="Text Placeholder 2">
            <a:extLst>
              <a:ext uri="{FF2B5EF4-FFF2-40B4-BE49-F238E27FC236}">
                <a16:creationId xmlns:a16="http://schemas.microsoft.com/office/drawing/2014/main" id="{A083C4ED-9760-403F-8229-98EA01EB8459}"/>
              </a:ext>
            </a:extLst>
          </p:cNvPr>
          <p:cNvSpPr>
            <a:spLocks noGrp="1"/>
          </p:cNvSpPr>
          <p:nvPr>
            <p:ph sz="quarter" idx="16"/>
          </p:nvPr>
        </p:nvSpPr>
        <p:spPr>
          <a:xfrm>
            <a:off x="838201" y="1606550"/>
            <a:ext cx="10515600" cy="1970839"/>
          </a:xfrm>
        </p:spPr>
        <p:txBody>
          <a:bodyPr/>
          <a:lstStyle/>
          <a:p>
            <a:pPr marL="457200" indent="-457200">
              <a:buFont typeface="Arial" panose="020B0604020202020204" pitchFamily="34" charset="0"/>
              <a:buChar char="•"/>
            </a:pPr>
            <a:r>
              <a:rPr lang="en-US" dirty="0"/>
              <a:t>The account form that follows is called a </a:t>
            </a:r>
            <a:r>
              <a:rPr lang="en-US" b="1" dirty="0">
                <a:solidFill>
                  <a:srgbClr val="004A78"/>
                </a:solidFill>
              </a:rPr>
              <a:t>T account </a:t>
            </a:r>
            <a:r>
              <a:rPr lang="en-US" dirty="0"/>
              <a:t>because it resembles the letter T. </a:t>
            </a:r>
          </a:p>
          <a:p>
            <a:pPr marL="457200" indent="-457200">
              <a:buFont typeface="Arial" panose="020B0604020202020204" pitchFamily="34" charset="0"/>
              <a:buChar char="•"/>
            </a:pPr>
            <a:r>
              <a:rPr lang="en-US" dirty="0"/>
              <a:t>The left side of the account is called the debit side, and the right side is called the credit side.</a:t>
            </a:r>
          </a:p>
        </p:txBody>
      </p:sp>
      <p:pic>
        <p:nvPicPr>
          <p:cNvPr id="6" name="Content Placeholder 5" descr="An illustration of a T account is shown. &#10;&#10;The word Title appears at the top of a T account. &#10;On the left of the T account, a note is written: Left side debit.&#10;On the right of the T account, a note is written: Right side credit.">
            <a:extLst>
              <a:ext uri="{FF2B5EF4-FFF2-40B4-BE49-F238E27FC236}">
                <a16:creationId xmlns:a16="http://schemas.microsoft.com/office/drawing/2014/main" id="{4966CDCC-1312-4D4A-AD8E-6C7610831D97}"/>
              </a:ext>
            </a:extLst>
          </p:cNvPr>
          <p:cNvPicPr>
            <a:picLocks noGrp="1" noChangeAspect="1"/>
          </p:cNvPicPr>
          <p:nvPr>
            <p:ph sz="quarter" idx="17"/>
          </p:nvPr>
        </p:nvPicPr>
        <p:blipFill>
          <a:blip r:embed="rId2"/>
          <a:stretch>
            <a:fillRect/>
          </a:stretch>
        </p:blipFill>
        <p:spPr>
          <a:xfrm>
            <a:off x="4291914" y="3577389"/>
            <a:ext cx="3608171" cy="1411893"/>
          </a:xfrm>
        </p:spPr>
      </p:pic>
    </p:spTree>
    <p:extLst>
      <p:ext uri="{BB962C8B-B14F-4D97-AF65-F5344CB8AC3E}">
        <p14:creationId xmlns:p14="http://schemas.microsoft.com/office/powerpoint/2010/main" val="2820245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3DE8D-16E0-4209-8CCF-FC7EB0E38D6B}"/>
              </a:ext>
            </a:extLst>
          </p:cNvPr>
          <p:cNvSpPr>
            <a:spLocks noGrp="1"/>
          </p:cNvSpPr>
          <p:nvPr>
            <p:ph type="title"/>
          </p:nvPr>
        </p:nvSpPr>
        <p:spPr>
          <a:xfrm>
            <a:off x="838200" y="365125"/>
            <a:ext cx="10515600" cy="672105"/>
          </a:xfrm>
        </p:spPr>
        <p:txBody>
          <a:bodyPr/>
          <a:lstStyle/>
          <a:p>
            <a:r>
              <a:rPr lang="en-US" dirty="0"/>
              <a:t>Using Accounts to Record Transactions</a:t>
            </a:r>
            <a:br>
              <a:rPr lang="en-US" dirty="0"/>
            </a:br>
            <a:endParaRPr lang="en-US" sz="2400" dirty="0"/>
          </a:p>
        </p:txBody>
      </p:sp>
      <p:sp>
        <p:nvSpPr>
          <p:cNvPr id="3" name="Text Placeholder 2">
            <a:extLst>
              <a:ext uri="{FF2B5EF4-FFF2-40B4-BE49-F238E27FC236}">
                <a16:creationId xmlns:a16="http://schemas.microsoft.com/office/drawing/2014/main" id="{A083C4ED-9760-403F-8229-98EA01EB8459}"/>
              </a:ext>
            </a:extLst>
          </p:cNvPr>
          <p:cNvSpPr>
            <a:spLocks noGrp="1"/>
          </p:cNvSpPr>
          <p:nvPr>
            <p:ph sz="quarter" idx="16"/>
          </p:nvPr>
        </p:nvSpPr>
        <p:spPr>
          <a:xfrm>
            <a:off x="838201" y="1606550"/>
            <a:ext cx="10515600" cy="1006032"/>
          </a:xfrm>
        </p:spPr>
        <p:txBody>
          <a:bodyPr/>
          <a:lstStyle/>
          <a:p>
            <a:pPr marL="457200" indent="-457200">
              <a:buFont typeface="Arial" panose="020B0604020202020204" pitchFamily="34" charset="0"/>
              <a:buChar char="•"/>
            </a:pPr>
            <a:r>
              <a:rPr lang="en-US" dirty="0"/>
              <a:t>The amounts shown in the Cash column of Exhibit 1 would be recorded in a cash account as follows:</a:t>
            </a:r>
          </a:p>
        </p:txBody>
      </p:sp>
      <p:pic>
        <p:nvPicPr>
          <p:cNvPr id="6" name="Content Placeholder 5" descr="The word Cash appears in black type at the top of a T account. A bracket to the right of the T account is labeled: Credit Side of Account. A bracket to the left side of the T account is labeled Debit Side of Account. Transaction (a) for 25,000 and Transaction (d) for 7,500 are on the debit side of the account. Transaction (b), 20,000; Transaction (e), 3,650; Transaction (f), 950; and Transaction (h), 2,000, are on the credit side of the account. A single rule follows the number 2,000 on the credit side of the account and there is a single rule in line with it on the debit side of the account. The Balance of the account is a debit of 5,900. An arrow points to this amount with the note: Balance of Account.">
            <a:extLst>
              <a:ext uri="{FF2B5EF4-FFF2-40B4-BE49-F238E27FC236}">
                <a16:creationId xmlns:a16="http://schemas.microsoft.com/office/drawing/2014/main" id="{546B579D-6ABB-4373-82C3-4E23749CECE8}"/>
              </a:ext>
            </a:extLst>
          </p:cNvPr>
          <p:cNvPicPr>
            <a:picLocks noGrp="1" noChangeAspect="1"/>
          </p:cNvPicPr>
          <p:nvPr>
            <p:ph sz="quarter" idx="17"/>
          </p:nvPr>
        </p:nvPicPr>
        <p:blipFill>
          <a:blip r:embed="rId2"/>
          <a:stretch>
            <a:fillRect/>
          </a:stretch>
        </p:blipFill>
        <p:spPr>
          <a:xfrm>
            <a:off x="1815332" y="2730558"/>
            <a:ext cx="8561336" cy="2643547"/>
          </a:xfrm>
        </p:spPr>
      </p:pic>
    </p:spTree>
    <p:extLst>
      <p:ext uri="{BB962C8B-B14F-4D97-AF65-F5344CB8AC3E}">
        <p14:creationId xmlns:p14="http://schemas.microsoft.com/office/powerpoint/2010/main" val="2511070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C95B7-9A2A-4C05-976E-5AFA4CE834C1}"/>
              </a:ext>
            </a:extLst>
          </p:cNvPr>
          <p:cNvSpPr>
            <a:spLocks noGrp="1"/>
          </p:cNvSpPr>
          <p:nvPr>
            <p:ph type="title"/>
          </p:nvPr>
        </p:nvSpPr>
        <p:spPr>
          <a:xfrm>
            <a:off x="838200" y="365125"/>
            <a:ext cx="10515600" cy="672105"/>
          </a:xfrm>
        </p:spPr>
        <p:txBody>
          <a:bodyPr/>
          <a:lstStyle/>
          <a:p>
            <a:r>
              <a:rPr lang="en-US" dirty="0"/>
              <a:t>Chart of Accounts</a:t>
            </a:r>
            <a:br>
              <a:rPr lang="en-US" dirty="0"/>
            </a:br>
            <a:endParaRPr lang="en-US" sz="2400" dirty="0"/>
          </a:p>
        </p:txBody>
      </p:sp>
      <p:sp>
        <p:nvSpPr>
          <p:cNvPr id="3" name="Text Placeholder 2">
            <a:extLst>
              <a:ext uri="{FF2B5EF4-FFF2-40B4-BE49-F238E27FC236}">
                <a16:creationId xmlns:a16="http://schemas.microsoft.com/office/drawing/2014/main" id="{C3C849FA-D302-4236-8E73-E049B857A3FF}"/>
              </a:ext>
            </a:extLst>
          </p:cNvPr>
          <p:cNvSpPr>
            <a:spLocks noGrp="1"/>
          </p:cNvSpPr>
          <p:nvPr>
            <p:ph sz="quarter" idx="10"/>
          </p:nvPr>
        </p:nvSpPr>
        <p:spPr>
          <a:xfrm>
            <a:off x="838200" y="1593273"/>
            <a:ext cx="10515600" cy="4474152"/>
          </a:xfrm>
        </p:spPr>
        <p:txBody>
          <a:bodyPr/>
          <a:lstStyle/>
          <a:p>
            <a:pPr marL="457200" indent="-457200">
              <a:buFont typeface="Arial" panose="020B0604020202020204" pitchFamily="34" charset="0"/>
              <a:buChar char="•"/>
            </a:pPr>
            <a:r>
              <a:rPr lang="en-US" sz="4000" dirty="0"/>
              <a:t>A group of accounts for a business entity is called a </a:t>
            </a:r>
            <a:r>
              <a:rPr lang="en-US" sz="4000" b="1" dirty="0">
                <a:solidFill>
                  <a:srgbClr val="004A78"/>
                </a:solidFill>
              </a:rPr>
              <a:t>ledger</a:t>
            </a:r>
            <a:r>
              <a:rPr lang="en-US" sz="4000" dirty="0"/>
              <a:t>. </a:t>
            </a:r>
          </a:p>
          <a:p>
            <a:pPr marL="457200" indent="-457200">
              <a:buFont typeface="Arial" panose="020B0604020202020204" pitchFamily="34" charset="0"/>
              <a:buChar char="•"/>
            </a:pPr>
            <a:r>
              <a:rPr lang="en-US" sz="4000" dirty="0"/>
              <a:t>A list of the accounts in the ledger is called a </a:t>
            </a:r>
            <a:r>
              <a:rPr lang="en-US" sz="4000" b="1" dirty="0">
                <a:solidFill>
                  <a:srgbClr val="004A78"/>
                </a:solidFill>
              </a:rPr>
              <a:t>chart of accounts</a:t>
            </a:r>
            <a:r>
              <a:rPr lang="en-US" sz="4000" dirty="0"/>
              <a:t>.</a:t>
            </a:r>
          </a:p>
          <a:p>
            <a:pPr marL="457200" indent="-457200">
              <a:buFont typeface="Arial" panose="020B0604020202020204" pitchFamily="34" charset="0"/>
              <a:buChar char="•"/>
            </a:pPr>
            <a:r>
              <a:rPr lang="en-US" sz="4000" u="sng" dirty="0">
                <a:solidFill>
                  <a:srgbClr val="FF0000"/>
                </a:solidFill>
              </a:rPr>
              <a:t>The accounts </a:t>
            </a:r>
            <a:r>
              <a:rPr lang="en-US" sz="4000" dirty="0"/>
              <a:t>are normally listed in the order in which they appear in the financial statements.</a:t>
            </a:r>
          </a:p>
        </p:txBody>
      </p:sp>
    </p:spTree>
    <p:extLst>
      <p:ext uri="{BB962C8B-B14F-4D97-AF65-F5344CB8AC3E}">
        <p14:creationId xmlns:p14="http://schemas.microsoft.com/office/powerpoint/2010/main" val="2629453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E9FD-03CE-4571-9DFA-85549063EB3B}"/>
              </a:ext>
            </a:extLst>
          </p:cNvPr>
          <p:cNvSpPr>
            <a:spLocks noGrp="1"/>
          </p:cNvSpPr>
          <p:nvPr>
            <p:ph type="title"/>
          </p:nvPr>
        </p:nvSpPr>
        <p:spPr/>
        <p:txBody>
          <a:bodyPr/>
          <a:lstStyle/>
          <a:p>
            <a:r>
              <a:rPr lang="en-US" dirty="0"/>
              <a:t>Exhibit 2 </a:t>
            </a:r>
            <a:r>
              <a:rPr kumimoji="0" lang="en-US" sz="3600" b="1" i="0" u="none" strike="noStrike" kern="1200" cap="none" spc="0" normalizeH="0" baseline="0" noProof="0" dirty="0">
                <a:ln>
                  <a:noFill/>
                </a:ln>
                <a:effectLst/>
                <a:uLnTx/>
                <a:uFillTx/>
                <a:latin typeface="Arial" panose="020B0604020202020204" pitchFamily="34" charset="0"/>
                <a:ea typeface="Verdana" pitchFamily="34" charset="0"/>
                <a:cs typeface="Arial" panose="020B0604020202020204" pitchFamily="34" charset="0"/>
              </a:rPr>
              <a:t>–</a:t>
            </a:r>
            <a:r>
              <a:rPr lang="en-US" dirty="0"/>
              <a:t> Chart of Accounts for NetSolutions</a:t>
            </a:r>
          </a:p>
        </p:txBody>
      </p:sp>
      <p:graphicFrame>
        <p:nvGraphicFramePr>
          <p:cNvPr id="4" name="Table 4">
            <a:extLst>
              <a:ext uri="{FF2B5EF4-FFF2-40B4-BE49-F238E27FC236}">
                <a16:creationId xmlns:a16="http://schemas.microsoft.com/office/drawing/2014/main" id="{4CC866CF-A723-4D8E-B5C6-DCEC5CD107E2}"/>
              </a:ext>
            </a:extLst>
          </p:cNvPr>
          <p:cNvGraphicFramePr>
            <a:graphicFrameLocks noGrp="1"/>
          </p:cNvGraphicFramePr>
          <p:nvPr>
            <p:ph sz="quarter" idx="10"/>
            <p:extLst>
              <p:ext uri="{D42A27DB-BD31-4B8C-83A1-F6EECF244321}">
                <p14:modId xmlns:p14="http://schemas.microsoft.com/office/powerpoint/2010/main" val="461759467"/>
              </p:ext>
            </p:extLst>
          </p:nvPr>
        </p:nvGraphicFramePr>
        <p:xfrm>
          <a:off x="838200" y="1593850"/>
          <a:ext cx="10515599" cy="4328160"/>
        </p:xfrm>
        <a:graphic>
          <a:graphicData uri="http://schemas.openxmlformats.org/drawingml/2006/table">
            <a:tbl>
              <a:tblPr firstRow="1" bandRow="1">
                <a:tableStyleId>{5C22544A-7EE6-4342-B048-85BDC9FD1C3A}</a:tableStyleId>
              </a:tblPr>
              <a:tblGrid>
                <a:gridCol w="4568385">
                  <a:extLst>
                    <a:ext uri="{9D8B030D-6E8A-4147-A177-3AD203B41FA5}">
                      <a16:colId xmlns:a16="http://schemas.microsoft.com/office/drawing/2014/main" val="762899119"/>
                    </a:ext>
                  </a:extLst>
                </a:gridCol>
                <a:gridCol w="5947214">
                  <a:extLst>
                    <a:ext uri="{9D8B030D-6E8A-4147-A177-3AD203B41FA5}">
                      <a16:colId xmlns:a16="http://schemas.microsoft.com/office/drawing/2014/main" val="546868774"/>
                    </a:ext>
                  </a:extLst>
                </a:gridCol>
              </a:tblGrid>
              <a:tr h="370840">
                <a:tc>
                  <a:txBody>
                    <a:bodyPr/>
                    <a:lstStyle/>
                    <a:p>
                      <a:pPr algn="ctr"/>
                      <a:r>
                        <a:rPr lang="en-US" sz="2000" b="1" i="0" u="none" strike="noStrike" kern="1200" baseline="0" dirty="0">
                          <a:solidFill>
                            <a:srgbClr val="000000"/>
                          </a:solidFill>
                          <a:latin typeface="Arial" panose="020B0604020202020204" pitchFamily="34" charset="0"/>
                          <a:ea typeface="+mn-ea"/>
                          <a:cs typeface="Arial" panose="020B0604020202020204" pitchFamily="34" charset="0"/>
                        </a:rPr>
                        <a:t>Balance Sheet Accounts</a:t>
                      </a:r>
                      <a:endParaRPr lang="en-US" sz="2000" dirty="0">
                        <a:solidFill>
                          <a:srgbClr val="000000"/>
                        </a:solidFill>
                        <a:latin typeface="Arial" panose="020B0604020202020204" pitchFamily="34" charset="0"/>
                        <a:cs typeface="Arial" panose="020B0604020202020204" pitchFamily="34" charset="0"/>
                      </a:endParaRPr>
                    </a:p>
                  </a:txBody>
                  <a:tcPr>
                    <a:lnR w="12700" cap="flat" cmpd="sng" algn="ctr">
                      <a:solidFill>
                        <a:schemeClr val="bg1"/>
                      </a:solidFill>
                      <a:prstDash val="solid"/>
                      <a:round/>
                      <a:headEnd type="none" w="med" len="med"/>
                      <a:tailEnd type="none" w="med" len="med"/>
                    </a:lnR>
                    <a:noFill/>
                  </a:tcPr>
                </a:tc>
                <a:tc>
                  <a:txBody>
                    <a:bodyPr/>
                    <a:lstStyle/>
                    <a:p>
                      <a:pPr algn="ctr"/>
                      <a:r>
                        <a:rPr lang="en-US" sz="2000" b="1" i="0" u="none" strike="noStrike" kern="1200" baseline="0" dirty="0">
                          <a:solidFill>
                            <a:srgbClr val="000000"/>
                          </a:solidFill>
                          <a:latin typeface="Arial" panose="020B0604020202020204" pitchFamily="34" charset="0"/>
                          <a:ea typeface="+mn-ea"/>
                          <a:cs typeface="Arial" panose="020B0604020202020204" pitchFamily="34" charset="0"/>
                        </a:rPr>
                        <a:t>Income Statement Accounts</a:t>
                      </a:r>
                      <a:endParaRPr lang="en-US" sz="2000" dirty="0">
                        <a:solidFill>
                          <a:srgbClr val="000000"/>
                        </a:solidFill>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noFill/>
                  </a:tcPr>
                </a:tc>
                <a:extLst>
                  <a:ext uri="{0D108BD9-81ED-4DB2-BD59-A6C34878D82A}">
                    <a16:rowId xmlns:a16="http://schemas.microsoft.com/office/drawing/2014/main" val="1840202689"/>
                  </a:ext>
                </a:extLst>
              </a:tr>
              <a:tr h="370840">
                <a:tc>
                  <a:txBody>
                    <a:bodyPr/>
                    <a:lstStyle/>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1. Assets</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11   Cash</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12   Accounts Receivable</a:t>
                      </a:r>
                      <a:endParaRPr lang="en-US" sz="1800" b="1" i="0" u="none" strike="noStrike" kern="1200" baseline="0" dirty="0">
                        <a:solidFill>
                          <a:srgbClr val="000000"/>
                        </a:solidFill>
                        <a:latin typeface="Arial" panose="020B0604020202020204" pitchFamily="34" charset="0"/>
                        <a:ea typeface="+mn-ea"/>
                        <a:cs typeface="Arial" panose="020B0604020202020204" pitchFamily="34" charset="0"/>
                      </a:endParaRP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14   Supplies</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15   Prepaid Insurance</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17   Land</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18   Office Equipment</a:t>
                      </a:r>
                    </a:p>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2. Liabilities</a:t>
                      </a:r>
                      <a:endParaRPr lang="en-US" sz="1800" b="0" i="0" u="none" strike="noStrike" kern="1200" baseline="0" dirty="0">
                        <a:solidFill>
                          <a:srgbClr val="000000"/>
                        </a:solidFill>
                        <a:latin typeface="Arial" panose="020B0604020202020204" pitchFamily="34" charset="0"/>
                        <a:ea typeface="+mn-ea"/>
                        <a:cs typeface="Arial" panose="020B0604020202020204" pitchFamily="34" charset="0"/>
                      </a:endParaRP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21   Accounts Payable</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23   Unearned Rent</a:t>
                      </a:r>
                    </a:p>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3. Stockholders’ Equity</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31   Common Stock</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32   Retained Earnings</a:t>
                      </a:r>
                    </a:p>
                    <a:p>
                      <a:pPr marL="233363" indent="0"/>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33   Dividends</a:t>
                      </a:r>
                      <a:endParaRPr lang="en-US" sz="1800" dirty="0">
                        <a:solidFill>
                          <a:srgbClr val="000000"/>
                        </a:solidFill>
                        <a:latin typeface="Arial" panose="020B0604020202020204" pitchFamily="34" charset="0"/>
                        <a:cs typeface="Arial" panose="020B0604020202020204" pitchFamily="34" charset="0"/>
                      </a:endParaRPr>
                    </a:p>
                  </a:txBody>
                  <a:tcPr>
                    <a:lnR w="12700" cap="flat" cmpd="sng" algn="ctr">
                      <a:solidFill>
                        <a:schemeClr val="bg1"/>
                      </a:solidFill>
                      <a:prstDash val="solid"/>
                      <a:round/>
                      <a:headEnd type="none" w="med" len="med"/>
                      <a:tailEnd type="none" w="med" len="med"/>
                    </a:lnR>
                    <a:noFill/>
                  </a:tcPr>
                </a:tc>
                <a:tc>
                  <a:txBody>
                    <a:bodyPr/>
                    <a:lstStyle/>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4. Revenue</a:t>
                      </a:r>
                    </a:p>
                    <a:p>
                      <a:pPr marL="0" indent="233363"/>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41   Fees Earned</a:t>
                      </a:r>
                    </a:p>
                    <a:p>
                      <a:r>
                        <a:rPr lang="en-US" sz="1800" b="1" i="0" u="none" strike="noStrike" kern="1200" baseline="0" dirty="0">
                          <a:solidFill>
                            <a:srgbClr val="000000"/>
                          </a:solidFill>
                          <a:latin typeface="Arial" panose="020B0604020202020204" pitchFamily="34" charset="0"/>
                          <a:ea typeface="+mn-ea"/>
                          <a:cs typeface="Arial" panose="020B0604020202020204" pitchFamily="34" charset="0"/>
                        </a:rPr>
                        <a:t>5. Expenses</a:t>
                      </a:r>
                    </a:p>
                    <a:p>
                      <a:pPr marL="0" indent="233363"/>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51   Wages Expense</a:t>
                      </a:r>
                    </a:p>
                    <a:p>
                      <a:pPr marL="0" indent="233363"/>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52   Supplies Expense</a:t>
                      </a:r>
                    </a:p>
                    <a:p>
                      <a:pPr marL="0" indent="233363"/>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53   Rent Expense</a:t>
                      </a:r>
                    </a:p>
                    <a:p>
                      <a:pPr marL="0" indent="233363"/>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54   Utilities Expense</a:t>
                      </a:r>
                    </a:p>
                    <a:p>
                      <a:pPr marL="0" indent="233363"/>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59   Miscellaneous Expense</a:t>
                      </a:r>
                      <a:endParaRPr lang="en-US" sz="1800" dirty="0">
                        <a:solidFill>
                          <a:srgbClr val="000000"/>
                        </a:solidFill>
                        <a:latin typeface="Arial" panose="020B0604020202020204" pitchFamily="34" charset="0"/>
                        <a:cs typeface="Arial" panose="020B0604020202020204" pitchFamily="34" charset="0"/>
                      </a:endParaRPr>
                    </a:p>
                  </a:txBody>
                  <a:tcPr>
                    <a:lnL w="12700" cap="flat" cmpd="sng" algn="ctr">
                      <a:solidFill>
                        <a:schemeClr val="bg1"/>
                      </a:solidFill>
                      <a:prstDash val="solid"/>
                      <a:round/>
                      <a:headEnd type="none" w="med" len="med"/>
                      <a:tailEnd type="none" w="med" len="med"/>
                    </a:lnL>
                    <a:noFill/>
                  </a:tcPr>
                </a:tc>
                <a:extLst>
                  <a:ext uri="{0D108BD9-81ED-4DB2-BD59-A6C34878D82A}">
                    <a16:rowId xmlns:a16="http://schemas.microsoft.com/office/drawing/2014/main" val="1358915937"/>
                  </a:ext>
                </a:extLst>
              </a:tr>
            </a:tbl>
          </a:graphicData>
        </a:graphic>
      </p:graphicFrame>
    </p:spTree>
    <p:extLst>
      <p:ext uri="{BB962C8B-B14F-4D97-AF65-F5344CB8AC3E}">
        <p14:creationId xmlns:p14="http://schemas.microsoft.com/office/powerpoint/2010/main" val="1498735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Activity 1</a:t>
            </a:r>
          </a:p>
        </p:txBody>
      </p:sp>
      <p:sp>
        <p:nvSpPr>
          <p:cNvPr id="3" name="Text Placeholder 2"/>
          <p:cNvSpPr>
            <a:spLocks noGrp="1"/>
          </p:cNvSpPr>
          <p:nvPr>
            <p:ph sz="quarter" idx="10"/>
          </p:nvPr>
        </p:nvSpPr>
        <p:spPr/>
        <p:txBody>
          <a:bodyPr/>
          <a:lstStyle/>
          <a:p>
            <a:pPr marL="0" indent="0">
              <a:buNone/>
            </a:pPr>
            <a:r>
              <a:rPr lang="en-US" sz="2600" dirty="0"/>
              <a:t>Which of the following would be considered an asset in a company’s chart of accounts?</a:t>
            </a:r>
          </a:p>
          <a:p>
            <a:pPr marL="514350" indent="-514350">
              <a:buAutoNum type="alphaLcPeriod"/>
            </a:pPr>
            <a:r>
              <a:rPr lang="en-US" sz="2600" dirty="0"/>
              <a:t>Accounts Payable</a:t>
            </a:r>
          </a:p>
          <a:p>
            <a:pPr marL="514350" indent="-514350">
              <a:buAutoNum type="alphaLcPeriod"/>
            </a:pPr>
            <a:r>
              <a:rPr lang="en-US" sz="2600" dirty="0"/>
              <a:t>Factory Equipment</a:t>
            </a:r>
          </a:p>
          <a:p>
            <a:pPr marL="514350" indent="-514350">
              <a:buAutoNum type="alphaLcPeriod"/>
            </a:pPr>
            <a:r>
              <a:rPr lang="en-US" sz="2600" dirty="0"/>
              <a:t>Travel Expense</a:t>
            </a:r>
          </a:p>
          <a:p>
            <a:pPr marL="514350" indent="-514350">
              <a:buAutoNum type="alphaLcPeriod"/>
            </a:pPr>
            <a:r>
              <a:rPr lang="en-US" sz="2600" dirty="0"/>
              <a:t>Revenue</a:t>
            </a:r>
          </a:p>
          <a:p>
            <a:pPr marL="0" indent="0">
              <a:buNone/>
            </a:pPr>
            <a:endParaRPr lang="en-US" sz="2600" dirty="0"/>
          </a:p>
        </p:txBody>
      </p:sp>
    </p:spTree>
    <p:extLst>
      <p:ext uri="{BB962C8B-B14F-4D97-AF65-F5344CB8AC3E}">
        <p14:creationId xmlns:p14="http://schemas.microsoft.com/office/powerpoint/2010/main" val="1871738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Activity 1: Answer</a:t>
            </a:r>
          </a:p>
        </p:txBody>
      </p:sp>
      <p:sp>
        <p:nvSpPr>
          <p:cNvPr id="3" name="Text Placeholder 2"/>
          <p:cNvSpPr>
            <a:spLocks noGrp="1"/>
          </p:cNvSpPr>
          <p:nvPr>
            <p:ph sz="quarter" idx="10"/>
          </p:nvPr>
        </p:nvSpPr>
        <p:spPr/>
        <p:txBody>
          <a:bodyPr/>
          <a:lstStyle/>
          <a:p>
            <a:pPr marL="0" indent="0">
              <a:buNone/>
            </a:pPr>
            <a:r>
              <a:rPr lang="en-US" sz="2600" dirty="0"/>
              <a:t>Which of the following would be considered an asset in a company’s chart of accounts?</a:t>
            </a:r>
          </a:p>
          <a:p>
            <a:pPr marL="0" indent="0">
              <a:buNone/>
            </a:pPr>
            <a:endParaRPr lang="en-US" sz="2600" dirty="0"/>
          </a:p>
          <a:p>
            <a:pPr marL="0" indent="0">
              <a:buNone/>
            </a:pPr>
            <a:r>
              <a:rPr lang="en-US" sz="2600" b="1" dirty="0"/>
              <a:t>Answer:  </a:t>
            </a:r>
            <a:r>
              <a:rPr lang="en-US" sz="2600" dirty="0"/>
              <a:t>b. Factory Equipment</a:t>
            </a:r>
            <a:endParaRPr lang="en-US" sz="2600" dirty="0">
              <a:effectLst>
                <a:outerShdw blurRad="38100" dist="38100" dir="2700000" algn="tl">
                  <a:srgbClr val="000000">
                    <a:alpha val="43137"/>
                  </a:srgbClr>
                </a:outerShdw>
              </a:effectLst>
            </a:endParaRPr>
          </a:p>
          <a:p>
            <a:pPr marL="0" indent="0">
              <a:buNone/>
            </a:pPr>
            <a:endParaRPr lang="en-US" sz="2600" b="1" dirty="0"/>
          </a:p>
          <a:p>
            <a:pPr marL="0" indent="0">
              <a:buNone/>
            </a:pPr>
            <a:r>
              <a:rPr lang="en-US" sz="2600" dirty="0"/>
              <a:t>Factory Equipment is a resource owned by business entity.</a:t>
            </a:r>
          </a:p>
        </p:txBody>
      </p:sp>
    </p:spTree>
    <p:extLst>
      <p:ext uri="{BB962C8B-B14F-4D97-AF65-F5344CB8AC3E}">
        <p14:creationId xmlns:p14="http://schemas.microsoft.com/office/powerpoint/2010/main" val="1725116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Double-Entry Accounting System</a:t>
            </a:r>
          </a:p>
        </p:txBody>
      </p:sp>
      <p:sp>
        <p:nvSpPr>
          <p:cNvPr id="3" name="Content Placeholder 2"/>
          <p:cNvSpPr>
            <a:spLocks noGrp="1"/>
          </p:cNvSpPr>
          <p:nvPr>
            <p:ph idx="1"/>
          </p:nvPr>
        </p:nvSpPr>
        <p:spPr/>
        <p:txBody>
          <a:bodyPr/>
          <a:lstStyle/>
          <a:p>
            <a:pPr fontAlgn="auto">
              <a:defRPr/>
            </a:pPr>
            <a:r>
              <a:rPr lang="en-US" dirty="0"/>
              <a:t>All businesses use what is called the double-entry accounting</a:t>
            </a:r>
            <a:r>
              <a:rPr lang="en-US" b="1" dirty="0">
                <a:solidFill>
                  <a:srgbClr val="00375D"/>
                </a:solidFill>
              </a:rPr>
              <a:t> </a:t>
            </a:r>
            <a:r>
              <a:rPr lang="en-US" dirty="0"/>
              <a:t>system. </a:t>
            </a:r>
          </a:p>
          <a:p>
            <a:pPr lvl="1" fontAlgn="auto">
              <a:defRPr/>
            </a:pPr>
            <a:r>
              <a:rPr lang="en-US" sz="2800" dirty="0"/>
              <a:t>Every business transaction to be recorded in at least two accounts.</a:t>
            </a:r>
          </a:p>
          <a:p>
            <a:pPr lvl="1" fontAlgn="auto">
              <a:defRPr/>
            </a:pPr>
            <a:r>
              <a:rPr lang="en-US" sz="2800" dirty="0"/>
              <a:t>The total debits recorded for each transaction to be equal to the total credits recorded.</a:t>
            </a:r>
          </a:p>
        </p:txBody>
      </p:sp>
    </p:spTree>
    <p:extLst>
      <p:ext uri="{BB962C8B-B14F-4D97-AF65-F5344CB8AC3E}">
        <p14:creationId xmlns:p14="http://schemas.microsoft.com/office/powerpoint/2010/main" val="58571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386CA-145E-4B7B-B490-F1E524A465E4}"/>
              </a:ext>
            </a:extLst>
          </p:cNvPr>
          <p:cNvSpPr>
            <a:spLocks noGrp="1"/>
          </p:cNvSpPr>
          <p:nvPr>
            <p:ph type="title"/>
          </p:nvPr>
        </p:nvSpPr>
        <p:spPr>
          <a:xfrm>
            <a:off x="838200" y="365125"/>
            <a:ext cx="10515600" cy="672105"/>
          </a:xfrm>
        </p:spPr>
        <p:txBody>
          <a:bodyPr/>
          <a:lstStyle/>
          <a:p>
            <a:r>
              <a:rPr lang="en-US" dirty="0"/>
              <a:t>Balance Sheet Accounts</a:t>
            </a:r>
          </a:p>
        </p:txBody>
      </p:sp>
      <p:sp>
        <p:nvSpPr>
          <p:cNvPr id="3" name="Text Placeholder 2">
            <a:extLst>
              <a:ext uri="{FF2B5EF4-FFF2-40B4-BE49-F238E27FC236}">
                <a16:creationId xmlns:a16="http://schemas.microsoft.com/office/drawing/2014/main" id="{6F07E9A2-905C-4240-B614-DBCB01CA7F36}"/>
              </a:ext>
            </a:extLst>
          </p:cNvPr>
          <p:cNvSpPr>
            <a:spLocks noGrp="1"/>
          </p:cNvSpPr>
          <p:nvPr>
            <p:ph sz="quarter" idx="16"/>
          </p:nvPr>
        </p:nvSpPr>
        <p:spPr>
          <a:xfrm>
            <a:off x="838201" y="1606550"/>
            <a:ext cx="10515600" cy="919577"/>
          </a:xfrm>
        </p:spPr>
        <p:txBody>
          <a:bodyPr/>
          <a:lstStyle/>
          <a:p>
            <a:pPr marL="457200" indent="-457200">
              <a:buFont typeface="Arial" panose="020B0604020202020204" pitchFamily="34" charset="0"/>
              <a:buChar char="•"/>
            </a:pPr>
            <a:r>
              <a:rPr lang="en-US" sz="2600" dirty="0"/>
              <a:t>The debit and credit rules for balance sheet accounts are as follows:</a:t>
            </a:r>
          </a:p>
        </p:txBody>
      </p:sp>
      <p:pic>
        <p:nvPicPr>
          <p:cNvPr id="6" name="Content Placeholder 5" descr="Balance Sheet Accounts&#10;&#10;An illustration of the debit and credit rules for balance sheet accounts is shown.&#10;&#10;The top line states: Balance Sheet Accounts&#10;Next, the accounting equation appears in capital letters in three columns: Assets = Liabilities + Stockholders’ Equity. &#10;&#10;Under Assets in the accounting equation, a T account is shown. On the title line of the T account is Asset Accounts. On the left, in the debit column of the Asset Accounts T account, Debit for increases (+) is written. On the right, in the credit column of the Asset Accounts T account, Credit for decreases (–) is written. &#10;&#10;Under Liabilities in the accounting equation, a T account is shown. On the title line of the T account is Liability Accounts. On the left, in the debit column of the Liability Accounts T account, Debit for decreases (–) is written. On the right, in the credit column of the Liability Accounts T account, Credit for increases (+) is written. &#10;&#10;Under Stockholders’ Equity in the accounting equation, a T account is shown. On the title line of the T account is Stockholders’ Equity Accounts. On the left, in the debit column of the Owner’s Equity Accounts T account, Debit for decreases (–) is written. On the right, in the credit column of the Owner’s Equity Accounts T account, Credit for increases (+) is written.&#10;">
            <a:extLst>
              <a:ext uri="{FF2B5EF4-FFF2-40B4-BE49-F238E27FC236}">
                <a16:creationId xmlns:a16="http://schemas.microsoft.com/office/drawing/2014/main" id="{FE8AAE22-EE01-42E8-B6F4-4FB559DA895E}"/>
              </a:ext>
            </a:extLst>
          </p:cNvPr>
          <p:cNvPicPr>
            <a:picLocks noGrp="1" noChangeAspect="1"/>
          </p:cNvPicPr>
          <p:nvPr>
            <p:ph sz="quarter" idx="17"/>
          </p:nvPr>
        </p:nvPicPr>
        <p:blipFill>
          <a:blip r:embed="rId2"/>
          <a:stretch>
            <a:fillRect/>
          </a:stretch>
        </p:blipFill>
        <p:spPr>
          <a:xfrm>
            <a:off x="1001815" y="2526127"/>
            <a:ext cx="10188369" cy="1860569"/>
          </a:xfrm>
        </p:spPr>
      </p:pic>
    </p:spTree>
    <p:extLst>
      <p:ext uri="{BB962C8B-B14F-4D97-AF65-F5344CB8AC3E}">
        <p14:creationId xmlns:p14="http://schemas.microsoft.com/office/powerpoint/2010/main" val="1290777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387BA-71AC-45A6-B301-3342122326DA}"/>
              </a:ext>
            </a:extLst>
          </p:cNvPr>
          <p:cNvSpPr>
            <a:spLocks noGrp="1"/>
          </p:cNvSpPr>
          <p:nvPr>
            <p:ph type="title"/>
          </p:nvPr>
        </p:nvSpPr>
        <p:spPr>
          <a:xfrm>
            <a:off x="838200" y="365125"/>
            <a:ext cx="10515600" cy="672105"/>
          </a:xfrm>
        </p:spPr>
        <p:txBody>
          <a:bodyPr/>
          <a:lstStyle/>
          <a:p>
            <a:r>
              <a:rPr lang="en-US" dirty="0"/>
              <a:t>Income Statement Accounts</a:t>
            </a:r>
          </a:p>
        </p:txBody>
      </p:sp>
      <p:sp>
        <p:nvSpPr>
          <p:cNvPr id="3" name="Text Placeholder 2">
            <a:extLst>
              <a:ext uri="{FF2B5EF4-FFF2-40B4-BE49-F238E27FC236}">
                <a16:creationId xmlns:a16="http://schemas.microsoft.com/office/drawing/2014/main" id="{661E2D69-8510-4795-B62B-4ED6CBA1CD14}"/>
              </a:ext>
            </a:extLst>
          </p:cNvPr>
          <p:cNvSpPr>
            <a:spLocks noGrp="1"/>
          </p:cNvSpPr>
          <p:nvPr>
            <p:ph sz="quarter" idx="16"/>
          </p:nvPr>
        </p:nvSpPr>
        <p:spPr>
          <a:xfrm>
            <a:off x="838201" y="1606550"/>
            <a:ext cx="10515600" cy="2314819"/>
          </a:xfrm>
        </p:spPr>
        <p:txBody>
          <a:bodyPr>
            <a:normAutofit/>
          </a:bodyPr>
          <a:lstStyle/>
          <a:p>
            <a:pPr marL="457200" indent="-457200">
              <a:buFont typeface="Arial" panose="020B0604020202020204" pitchFamily="34" charset="0"/>
              <a:buChar char="•"/>
            </a:pPr>
            <a:r>
              <a:rPr lang="en-US" sz="2600" dirty="0"/>
              <a:t>The debit and credit rules for income statement accounts are based on their relationship with stockholders’ equity. </a:t>
            </a:r>
          </a:p>
          <a:p>
            <a:pPr marL="457200" indent="-457200">
              <a:buFont typeface="Arial" panose="020B0604020202020204" pitchFamily="34" charset="0"/>
              <a:buChar char="•"/>
            </a:pPr>
            <a:r>
              <a:rPr lang="en-US" sz="2600" dirty="0"/>
              <a:t>The rules of debit and credit for revenue and expense accounts are as follows:</a:t>
            </a:r>
          </a:p>
        </p:txBody>
      </p:sp>
      <p:pic>
        <p:nvPicPr>
          <p:cNvPr id="6" name="Content Placeholder 5" descr="Income Statement Accounts&#10;&#10;An illustration of the debit and credit rules for income statement accounts is shown. &#10;&#10;There are two T accounts shown side-by-side.&#10;&#10;The T account on the left is titled Revenue Accounts. &#10;On the left, in the debit column of the T account, Debit for decreases (–) is written. On the right, in the credit column, Credit for increases (+) is written.&#10;&#10;The T account on the right is titled Expense Accounts.&#10;On the left, in the debit column of the T account, Debit for increases (+) is written. On the right, in the credit column, Credit for decreases (–) is written.&#10;">
            <a:extLst>
              <a:ext uri="{FF2B5EF4-FFF2-40B4-BE49-F238E27FC236}">
                <a16:creationId xmlns:a16="http://schemas.microsoft.com/office/drawing/2014/main" id="{50053ACF-A1B9-4D6F-8E3A-9403A0ADE47E}"/>
              </a:ext>
            </a:extLst>
          </p:cNvPr>
          <p:cNvPicPr>
            <a:picLocks noGrp="1" noChangeAspect="1"/>
          </p:cNvPicPr>
          <p:nvPr>
            <p:ph sz="quarter" idx="17"/>
          </p:nvPr>
        </p:nvPicPr>
        <p:blipFill>
          <a:blip r:embed="rId2"/>
          <a:stretch>
            <a:fillRect/>
          </a:stretch>
        </p:blipFill>
        <p:spPr>
          <a:xfrm>
            <a:off x="1929419" y="3429000"/>
            <a:ext cx="8333161" cy="1491317"/>
          </a:xfrm>
        </p:spPr>
      </p:pic>
    </p:spTree>
    <p:extLst>
      <p:ext uri="{BB962C8B-B14F-4D97-AF65-F5344CB8AC3E}">
        <p14:creationId xmlns:p14="http://schemas.microsoft.com/office/powerpoint/2010/main" val="372721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D17B3-15E3-40B5-811A-B26ECA409755}"/>
              </a:ext>
            </a:extLst>
          </p:cNvPr>
          <p:cNvSpPr>
            <a:spLocks noGrp="1"/>
          </p:cNvSpPr>
          <p:nvPr>
            <p:ph type="title"/>
          </p:nvPr>
        </p:nvSpPr>
        <p:spPr>
          <a:xfrm>
            <a:off x="838200" y="365125"/>
            <a:ext cx="10515600" cy="672105"/>
          </a:xfrm>
        </p:spPr>
        <p:txBody>
          <a:bodyPr/>
          <a:lstStyle/>
          <a:p>
            <a:r>
              <a:rPr lang="en-US" dirty="0"/>
              <a:t>Statement of Stockholders' Equity Accounts (Dividends)</a:t>
            </a:r>
          </a:p>
        </p:txBody>
      </p:sp>
      <p:sp>
        <p:nvSpPr>
          <p:cNvPr id="3" name="Text Placeholder 2">
            <a:extLst>
              <a:ext uri="{FF2B5EF4-FFF2-40B4-BE49-F238E27FC236}">
                <a16:creationId xmlns:a16="http://schemas.microsoft.com/office/drawing/2014/main" id="{5DBF7DA5-EB9C-4589-AB20-42D6522EF9A0}"/>
              </a:ext>
            </a:extLst>
          </p:cNvPr>
          <p:cNvSpPr>
            <a:spLocks noGrp="1"/>
          </p:cNvSpPr>
          <p:nvPr>
            <p:ph sz="quarter" idx="16"/>
          </p:nvPr>
        </p:nvSpPr>
        <p:spPr>
          <a:xfrm>
            <a:off x="838201" y="1606550"/>
            <a:ext cx="10515600" cy="3416300"/>
          </a:xfrm>
        </p:spPr>
        <p:txBody>
          <a:bodyPr/>
          <a:lstStyle/>
          <a:p>
            <a:pPr marL="457200" indent="-457200">
              <a:buFont typeface="Arial" panose="020B0604020202020204" pitchFamily="34" charset="0"/>
              <a:buChar char="•"/>
            </a:pPr>
            <a:r>
              <a:rPr lang="en-US" sz="2600" dirty="0"/>
              <a:t>The debit and credit rules for recording dividends are based on the effect of dividends on stockholders’ equity (retained earnings). </a:t>
            </a:r>
          </a:p>
          <a:p>
            <a:pPr marL="457200" indent="-457200">
              <a:buFont typeface="Arial" panose="020B0604020202020204" pitchFamily="34" charset="0"/>
              <a:buChar char="•"/>
            </a:pPr>
            <a:r>
              <a:rPr lang="en-US" sz="2600" dirty="0"/>
              <a:t>The rules of debit and credit for the dividends account are as follows:</a:t>
            </a:r>
          </a:p>
        </p:txBody>
      </p:sp>
      <p:pic>
        <p:nvPicPr>
          <p:cNvPr id="6" name="Content Placeholder 5" descr="An illustration of a T account is shown. &#10;&#10;The word Dividends Accounts appears at the top of a T account. &#10;On the left of the T account, a note is written: Debit for increases (+).&#10;On the right of the T account, a note is written: Credit for decreases (–).&#10;">
            <a:extLst>
              <a:ext uri="{FF2B5EF4-FFF2-40B4-BE49-F238E27FC236}">
                <a16:creationId xmlns:a16="http://schemas.microsoft.com/office/drawing/2014/main" id="{1EABE05E-0080-45A6-BBD3-053956BB390A}"/>
              </a:ext>
            </a:extLst>
          </p:cNvPr>
          <p:cNvPicPr>
            <a:picLocks noGrp="1" noChangeAspect="1"/>
          </p:cNvPicPr>
          <p:nvPr>
            <p:ph sz="quarter" idx="17"/>
          </p:nvPr>
        </p:nvPicPr>
        <p:blipFill>
          <a:blip r:embed="rId2"/>
          <a:stretch>
            <a:fillRect/>
          </a:stretch>
        </p:blipFill>
        <p:spPr>
          <a:xfrm>
            <a:off x="3639432" y="3429000"/>
            <a:ext cx="4913135" cy="1208473"/>
          </a:xfrm>
        </p:spPr>
      </p:pic>
    </p:spTree>
    <p:extLst>
      <p:ext uri="{BB962C8B-B14F-4D97-AF65-F5344CB8AC3E}">
        <p14:creationId xmlns:p14="http://schemas.microsoft.com/office/powerpoint/2010/main" val="3203272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Journalizing</a:t>
            </a:r>
            <a:br>
              <a:rPr lang="en-US" dirty="0"/>
            </a:br>
            <a:endParaRPr lang="en-US" sz="1800" dirty="0"/>
          </a:p>
        </p:txBody>
      </p:sp>
      <p:sp>
        <p:nvSpPr>
          <p:cNvPr id="3" name="Content Placeholder 2"/>
          <p:cNvSpPr>
            <a:spLocks noGrp="1"/>
          </p:cNvSpPr>
          <p:nvPr>
            <p:ph idx="1"/>
          </p:nvPr>
        </p:nvSpPr>
        <p:spPr/>
        <p:txBody>
          <a:bodyPr/>
          <a:lstStyle/>
          <a:p>
            <a:pPr fontAlgn="auto">
              <a:defRPr/>
            </a:pPr>
            <a:r>
              <a:rPr lang="en-US" dirty="0"/>
              <a:t>The process of recording a transaction in the journal is called </a:t>
            </a:r>
            <a:r>
              <a:rPr lang="en-US" b="1" dirty="0">
                <a:solidFill>
                  <a:srgbClr val="00375D"/>
                </a:solidFill>
              </a:rPr>
              <a:t>journalizing</a:t>
            </a:r>
            <a:r>
              <a:rPr lang="en-US" dirty="0"/>
              <a:t>.</a:t>
            </a:r>
          </a:p>
          <a:p>
            <a:pPr fontAlgn="auto">
              <a:defRPr/>
            </a:pPr>
            <a:r>
              <a:rPr lang="en-US" dirty="0"/>
              <a:t>The entry in the journal is called a </a:t>
            </a:r>
            <a:r>
              <a:rPr lang="en-US" b="1" dirty="0">
                <a:solidFill>
                  <a:srgbClr val="00375D"/>
                </a:solidFill>
              </a:rPr>
              <a:t>journal entry</a:t>
            </a:r>
            <a:r>
              <a:rPr lang="en-US" dirty="0"/>
              <a:t>.</a:t>
            </a:r>
          </a:p>
        </p:txBody>
      </p:sp>
    </p:spTree>
    <p:extLst>
      <p:ext uri="{BB962C8B-B14F-4D97-AF65-F5344CB8AC3E}">
        <p14:creationId xmlns:p14="http://schemas.microsoft.com/office/powerpoint/2010/main" val="1212108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B7F7B-11A5-4660-A7BD-2F5B442E567F}"/>
              </a:ext>
            </a:extLst>
          </p:cNvPr>
          <p:cNvSpPr>
            <a:spLocks noGrp="1"/>
          </p:cNvSpPr>
          <p:nvPr>
            <p:ph type="title"/>
          </p:nvPr>
        </p:nvSpPr>
        <p:spPr>
          <a:xfrm>
            <a:off x="838200" y="365125"/>
            <a:ext cx="10515600" cy="672105"/>
          </a:xfrm>
        </p:spPr>
        <p:txBody>
          <a:bodyPr/>
          <a:lstStyle/>
          <a:p>
            <a:r>
              <a:rPr lang="en-US" dirty="0"/>
              <a:t>Transaction a</a:t>
            </a:r>
          </a:p>
        </p:txBody>
      </p:sp>
      <p:sp>
        <p:nvSpPr>
          <p:cNvPr id="3" name="Text Placeholder 2">
            <a:extLst>
              <a:ext uri="{FF2B5EF4-FFF2-40B4-BE49-F238E27FC236}">
                <a16:creationId xmlns:a16="http://schemas.microsoft.com/office/drawing/2014/main" id="{54F793ED-313C-4818-83A9-FAC0A111191D}"/>
              </a:ext>
            </a:extLst>
          </p:cNvPr>
          <p:cNvSpPr>
            <a:spLocks noGrp="1"/>
          </p:cNvSpPr>
          <p:nvPr>
            <p:ph sz="quarter" idx="16"/>
          </p:nvPr>
        </p:nvSpPr>
        <p:spPr>
          <a:xfrm>
            <a:off x="838201" y="1606550"/>
            <a:ext cx="10515600" cy="3416300"/>
          </a:xfrm>
        </p:spPr>
        <p:txBody>
          <a:bodyPr/>
          <a:lstStyle/>
          <a:p>
            <a:pPr marL="457200" indent="-457200">
              <a:buFont typeface="Arial" panose="020B0604020202020204" pitchFamily="34" charset="0"/>
              <a:buChar char="•"/>
            </a:pPr>
            <a:r>
              <a:rPr lang="en-US" sz="2600" dirty="0"/>
              <a:t>Nov. 1: Chris Clark deposited $25,000 in a bank account in the name of NetSolutions in exchange for common stock.</a:t>
            </a:r>
          </a:p>
          <a:p>
            <a:pPr marL="457200" indent="-457200">
              <a:buFont typeface="Arial" panose="020B0604020202020204" pitchFamily="34" charset="0"/>
              <a:buChar char="•"/>
            </a:pPr>
            <a:endParaRPr lang="en-US" sz="2600" dirty="0"/>
          </a:p>
        </p:txBody>
      </p:sp>
      <p:pic>
        <p:nvPicPr>
          <p:cNvPr id="9" name="Content Placeholder 8" descr="To illustrate how Transaction a is recorded in a journal entry, a sample journal entry is shown on page 1 of a journal form. November 1, 20Y3, is the date indicated in the Date column. There is a small arrow pointing to November in the Date column with the words Step 1 in bold type below the journal form. In the Description column, Cash is debited, with 25,000 shown in the Debit column. Above the word Cash in the Description column is an arrow with the words Step 2 in bold type above the arrow, and to the right of 25,000 in the Debit column is a small arrow with the words Step 2 in bold type to the right of the journal form. In the Description column, below and to the right of Cash, Common Stock is written, with 25,000 shown in the Credit column. There is an arrow pointing to Common Stock with the words Step 3 in bold type below the journal form, and to the right of 25,000 in the Credit column is a small arrow with the words Step 3 in bold type to the right of the journal form. In the Description column, below and to the right of the credited account, a journal entry explanation is given: Issued common stock for cash. There is a small arrow pointing to the explanation with the words Step 4 in bold type below the journal form. There is another small arrow pointing to the Posting Reference column with the words Step 5 in bold type below the journal form.&#10;&#10;Below the journal form, the accounting equation impact is illustrated. &#10;&#10;The accounting equation is shown: Assets = Liabilities + Stockholders’ Equity. &#10;&#10;Under Assets in the accounting equation, a T account for Cash is shown. On the left, in the debit column of the Cash T account, a November 1 entry of 25,000 is shown. The credit column of the Cash T account is blank.&#10;&#10;Under Stockholders’ Equity in the accounting equation, a T account for Common Stock is shown. On the right, in the credit column of the Common Stock T account, a November 1 entry of 25,000 is shown. The debit column of the Common Stock T account is blank.&#10;">
            <a:extLst>
              <a:ext uri="{FF2B5EF4-FFF2-40B4-BE49-F238E27FC236}">
                <a16:creationId xmlns:a16="http://schemas.microsoft.com/office/drawing/2014/main" id="{13DE64C2-8B49-4FCB-A08B-20D6B57C680A}"/>
              </a:ext>
            </a:extLst>
          </p:cNvPr>
          <p:cNvPicPr>
            <a:picLocks noGrp="1" noChangeAspect="1"/>
          </p:cNvPicPr>
          <p:nvPr>
            <p:ph sz="quarter" idx="17"/>
          </p:nvPr>
        </p:nvPicPr>
        <p:blipFill>
          <a:blip r:embed="rId2"/>
          <a:stretch>
            <a:fillRect/>
          </a:stretch>
        </p:blipFill>
        <p:spPr>
          <a:xfrm>
            <a:off x="1515051" y="2579979"/>
            <a:ext cx="9161897" cy="3416300"/>
          </a:xfrm>
          <a:prstGeom prst="rect">
            <a:avLst/>
          </a:prstGeom>
        </p:spPr>
      </p:pic>
    </p:spTree>
    <p:extLst>
      <p:ext uri="{BB962C8B-B14F-4D97-AF65-F5344CB8AC3E}">
        <p14:creationId xmlns:p14="http://schemas.microsoft.com/office/powerpoint/2010/main" val="3034368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1DCDE-106B-41C4-834C-88FA14B0B52E}"/>
              </a:ext>
            </a:extLst>
          </p:cNvPr>
          <p:cNvSpPr>
            <a:spLocks noGrp="1"/>
          </p:cNvSpPr>
          <p:nvPr>
            <p:ph type="title"/>
          </p:nvPr>
        </p:nvSpPr>
        <p:spPr>
          <a:xfrm>
            <a:off x="838200" y="365125"/>
            <a:ext cx="10515600" cy="672105"/>
          </a:xfrm>
        </p:spPr>
        <p:txBody>
          <a:bodyPr/>
          <a:lstStyle/>
          <a:p>
            <a:r>
              <a:rPr lang="en-US" dirty="0"/>
              <a:t>Transaction b</a:t>
            </a:r>
          </a:p>
        </p:txBody>
      </p:sp>
      <p:sp>
        <p:nvSpPr>
          <p:cNvPr id="3" name="Text Placeholder 2">
            <a:extLst>
              <a:ext uri="{FF2B5EF4-FFF2-40B4-BE49-F238E27FC236}">
                <a16:creationId xmlns:a16="http://schemas.microsoft.com/office/drawing/2014/main" id="{03CD9A9B-08BD-49FB-BBEE-74AA2053E735}"/>
              </a:ext>
            </a:extLst>
          </p:cNvPr>
          <p:cNvSpPr>
            <a:spLocks noGrp="1"/>
          </p:cNvSpPr>
          <p:nvPr>
            <p:ph sz="quarter" idx="16"/>
          </p:nvPr>
        </p:nvSpPr>
        <p:spPr>
          <a:xfrm>
            <a:off x="838201" y="1606550"/>
            <a:ext cx="10515600" cy="1822450"/>
          </a:xfrm>
        </p:spPr>
        <p:txBody>
          <a:bodyPr/>
          <a:lstStyle/>
          <a:p>
            <a:pPr marL="457200" indent="-457200">
              <a:buFont typeface="Arial" panose="020B0604020202020204" pitchFamily="34" charset="0"/>
              <a:buChar char="•"/>
            </a:pPr>
            <a:r>
              <a:rPr lang="en-US" sz="2600" dirty="0"/>
              <a:t>Nov. 5: NetSolutions paid $20,000 for the purchase of land as a future building site.</a:t>
            </a:r>
          </a:p>
        </p:txBody>
      </p:sp>
      <p:pic>
        <p:nvPicPr>
          <p:cNvPr id="9" name="Content Placeholder 8" descr="A journal entry for Transaction B is shown. November 5 is the date indicated. Land is debited—with 20,000 shown in the Debit column. Cash is credited—with 20,000 shown in the Credit column. A journal entry explanation is given below the journal entry: Purchased land for building site.&#10;&#10;Below the journal form, the accounting equation impact is illustrated. &#10;&#10;The accounting equation is shown: Assets = Liabilities + Stockholders’ Equity.&#10;&#10;Under Assets in the accounting equation, a T account for Land is shown. On the left, in the debit column of the Land T account, a November 5 entry of 20,000 is shown. The credit column of the Land T account is blank.&#10;&#10;Under the Land T account, a T account for Cash is shown. On the right, in the credit column of the Cash T account, a November 5 entry of 20,000 is shown. The debit column of the Cash T account is blank.&#10;">
            <a:extLst>
              <a:ext uri="{FF2B5EF4-FFF2-40B4-BE49-F238E27FC236}">
                <a16:creationId xmlns:a16="http://schemas.microsoft.com/office/drawing/2014/main" id="{362BF8F2-F544-4234-9747-377793A840B7}"/>
              </a:ext>
            </a:extLst>
          </p:cNvPr>
          <p:cNvPicPr>
            <a:picLocks noGrp="1" noChangeAspect="1"/>
          </p:cNvPicPr>
          <p:nvPr>
            <p:ph sz="quarter" idx="17"/>
          </p:nvPr>
        </p:nvPicPr>
        <p:blipFill>
          <a:blip r:embed="rId2"/>
          <a:stretch>
            <a:fillRect/>
          </a:stretch>
        </p:blipFill>
        <p:spPr>
          <a:xfrm>
            <a:off x="1143237" y="2517775"/>
            <a:ext cx="10210562" cy="3214810"/>
          </a:xfrm>
          <a:prstGeom prst="rect">
            <a:avLst/>
          </a:prstGeom>
        </p:spPr>
      </p:pic>
    </p:spTree>
    <p:extLst>
      <p:ext uri="{BB962C8B-B14F-4D97-AF65-F5344CB8AC3E}">
        <p14:creationId xmlns:p14="http://schemas.microsoft.com/office/powerpoint/2010/main" val="1604797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F5EB-A1EE-4FCB-9D7B-6BC3FC49E49B}"/>
              </a:ext>
            </a:extLst>
          </p:cNvPr>
          <p:cNvSpPr>
            <a:spLocks noGrp="1"/>
          </p:cNvSpPr>
          <p:nvPr>
            <p:ph type="title"/>
          </p:nvPr>
        </p:nvSpPr>
        <p:spPr>
          <a:xfrm>
            <a:off x="838200" y="365125"/>
            <a:ext cx="10515600" cy="672105"/>
          </a:xfrm>
        </p:spPr>
        <p:txBody>
          <a:bodyPr/>
          <a:lstStyle/>
          <a:p>
            <a:r>
              <a:rPr lang="en-US" dirty="0"/>
              <a:t>Transaction c</a:t>
            </a:r>
          </a:p>
        </p:txBody>
      </p:sp>
      <p:sp>
        <p:nvSpPr>
          <p:cNvPr id="3" name="Text Placeholder 2">
            <a:extLst>
              <a:ext uri="{FF2B5EF4-FFF2-40B4-BE49-F238E27FC236}">
                <a16:creationId xmlns:a16="http://schemas.microsoft.com/office/drawing/2014/main" id="{28C56F57-5E92-48A6-A43E-81F287DA2E07}"/>
              </a:ext>
            </a:extLst>
          </p:cNvPr>
          <p:cNvSpPr>
            <a:spLocks noGrp="1"/>
          </p:cNvSpPr>
          <p:nvPr>
            <p:ph sz="quarter" idx="16"/>
          </p:nvPr>
        </p:nvSpPr>
        <p:spPr>
          <a:xfrm>
            <a:off x="838201" y="1606550"/>
            <a:ext cx="10515600" cy="1576265"/>
          </a:xfrm>
        </p:spPr>
        <p:txBody>
          <a:bodyPr/>
          <a:lstStyle/>
          <a:p>
            <a:pPr marL="457200" indent="-457200">
              <a:buFont typeface="Arial" panose="020B0604020202020204" pitchFamily="34" charset="0"/>
              <a:buChar char="•"/>
            </a:pPr>
            <a:r>
              <a:rPr lang="en-US" sz="2600" dirty="0"/>
              <a:t>Nov. 10: NetSolutions purchased supplies on account for $1,350.</a:t>
            </a:r>
          </a:p>
        </p:txBody>
      </p:sp>
      <p:pic>
        <p:nvPicPr>
          <p:cNvPr id="9" name="Content Placeholder 8" descr="A journal entry for Transaction C is shown. November 10 is the date indicated. Supplies is debited—with 1,350 shown in the Debit column. Accounts Payable is credited—with 1,350 shown in the Credit column. A journal entry explanation is given below the journal entry: Purchased supplies on account.&#10;&#10;Below the journal form, the accounting equation impact is illustrated.&#10;&#10;The accounting equation is shown: Assets = Liabilities + Stockholders’ Equity.&#10;&#10;Under Assets in the accounting equation, a T account for Supplies is shown. On the left, in the debit column of the Supplies T account, a November 10 entry of 1,350 is shown. The credit column of the Supplies T account is blank.&#10;&#10;Under Liabilities in the accounting equation, a T account for Accounts Payable is shown. On the right, in the credit column of the Accounts Payable T account, a November 10 entry of 1,350 is shown. The debit column of the Accounts Payable T account is blank.">
            <a:extLst>
              <a:ext uri="{FF2B5EF4-FFF2-40B4-BE49-F238E27FC236}">
                <a16:creationId xmlns:a16="http://schemas.microsoft.com/office/drawing/2014/main" id="{9C894D82-0373-433E-A021-B83C5595D868}"/>
              </a:ext>
            </a:extLst>
          </p:cNvPr>
          <p:cNvPicPr>
            <a:picLocks noGrp="1" noChangeAspect="1"/>
          </p:cNvPicPr>
          <p:nvPr>
            <p:ph sz="quarter" idx="17"/>
          </p:nvPr>
        </p:nvPicPr>
        <p:blipFill>
          <a:blip r:embed="rId2"/>
          <a:stretch>
            <a:fillRect/>
          </a:stretch>
        </p:blipFill>
        <p:spPr>
          <a:xfrm>
            <a:off x="1058656" y="2324343"/>
            <a:ext cx="10295143" cy="2856767"/>
          </a:xfrm>
          <a:prstGeom prst="rect">
            <a:avLst/>
          </a:prstGeom>
        </p:spPr>
      </p:pic>
    </p:spTree>
    <p:extLst>
      <p:ext uri="{BB962C8B-B14F-4D97-AF65-F5344CB8AC3E}">
        <p14:creationId xmlns:p14="http://schemas.microsoft.com/office/powerpoint/2010/main" val="3792762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84C99-9A39-45BB-ADED-22B527D77BFC}"/>
              </a:ext>
            </a:extLst>
          </p:cNvPr>
          <p:cNvSpPr>
            <a:spLocks noGrp="1"/>
          </p:cNvSpPr>
          <p:nvPr>
            <p:ph type="title"/>
          </p:nvPr>
        </p:nvSpPr>
        <p:spPr/>
        <p:txBody>
          <a:bodyPr/>
          <a:lstStyle/>
          <a:p>
            <a:r>
              <a:rPr lang="en-US" dirty="0"/>
              <a:t>Transaction d</a:t>
            </a:r>
          </a:p>
        </p:txBody>
      </p:sp>
      <p:sp>
        <p:nvSpPr>
          <p:cNvPr id="3" name="Text Placeholder 2">
            <a:extLst>
              <a:ext uri="{FF2B5EF4-FFF2-40B4-BE49-F238E27FC236}">
                <a16:creationId xmlns:a16="http://schemas.microsoft.com/office/drawing/2014/main" id="{29D5F261-9D81-4264-835F-8C44CE992197}"/>
              </a:ext>
            </a:extLst>
          </p:cNvPr>
          <p:cNvSpPr>
            <a:spLocks noGrp="1"/>
          </p:cNvSpPr>
          <p:nvPr>
            <p:ph sz="quarter" idx="16"/>
          </p:nvPr>
        </p:nvSpPr>
        <p:spPr>
          <a:xfrm>
            <a:off x="838200" y="1607126"/>
            <a:ext cx="10515600" cy="872305"/>
          </a:xfrm>
        </p:spPr>
        <p:txBody>
          <a:bodyPr/>
          <a:lstStyle/>
          <a:p>
            <a:pPr marL="457200" indent="-457200">
              <a:buFont typeface="Arial" panose="020B0604020202020204" pitchFamily="34" charset="0"/>
              <a:buChar char="•"/>
            </a:pPr>
            <a:r>
              <a:rPr lang="en-US" sz="2600" dirty="0"/>
              <a:t>Nov. 18: NetSolutions received cash of $7,500 from customers for services provided.</a:t>
            </a:r>
          </a:p>
        </p:txBody>
      </p:sp>
      <p:pic>
        <p:nvPicPr>
          <p:cNvPr id="6" name="Content Placeholder 5" descr="A journal entry for Transaction d is shown. November 18 is the date indicated. Cash is debited—with 7,500 shown in the Debit column. Fees Earned is credited—with 7,500 shown in the Credit column. A journal entry explanation is given below the journal entry: Received fees from customers.&#10;&#10;Below the journal form, the accounting equation impact is illustrated.&#10;&#10;The accounting equation is shown: Assets = Liabilities + Stockholders’ Equity (Revenue).&#10;&#10;Under Assets in the accounting equation, a T account for Cash is shown. On the left, in the debit column of the Cash T account, a November 18 entry of 7,500 is shown. The credit column of the Cash T account is blank.&#10;&#10;Under Stockholders’ Equity (Revenue) in the accounting equation, a T account for Fees Earned is shown. On the right, in the credit column of the Fees Earned T account, a November 18 entry of 7,500 is shown. The debit column of the Fees Earned T account is blank.">
            <a:extLst>
              <a:ext uri="{FF2B5EF4-FFF2-40B4-BE49-F238E27FC236}">
                <a16:creationId xmlns:a16="http://schemas.microsoft.com/office/drawing/2014/main" id="{18A47C99-A0AC-4191-94C3-9EE55EFEBCB8}"/>
              </a:ext>
            </a:extLst>
          </p:cNvPr>
          <p:cNvPicPr>
            <a:picLocks noGrp="1" noChangeAspect="1"/>
          </p:cNvPicPr>
          <p:nvPr>
            <p:ph sz="quarter" idx="17"/>
          </p:nvPr>
        </p:nvPicPr>
        <p:blipFill>
          <a:blip r:embed="rId2"/>
          <a:stretch>
            <a:fillRect/>
          </a:stretch>
        </p:blipFill>
        <p:spPr>
          <a:xfrm>
            <a:off x="661463" y="2562998"/>
            <a:ext cx="10869073" cy="2717267"/>
          </a:xfrm>
          <a:prstGeom prst="rect">
            <a:avLst/>
          </a:prstGeom>
        </p:spPr>
      </p:pic>
    </p:spTree>
    <p:extLst>
      <p:ext uri="{BB962C8B-B14F-4D97-AF65-F5344CB8AC3E}">
        <p14:creationId xmlns:p14="http://schemas.microsoft.com/office/powerpoint/2010/main" val="1546221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F0A77-F558-421C-ACF0-3C220CACEEF0}"/>
              </a:ext>
            </a:extLst>
          </p:cNvPr>
          <p:cNvSpPr>
            <a:spLocks noGrp="1"/>
          </p:cNvSpPr>
          <p:nvPr>
            <p:ph type="title"/>
          </p:nvPr>
        </p:nvSpPr>
        <p:spPr/>
        <p:txBody>
          <a:bodyPr/>
          <a:lstStyle/>
          <a:p>
            <a:r>
              <a:rPr lang="en-US" dirty="0"/>
              <a:t>Transaction e</a:t>
            </a:r>
          </a:p>
        </p:txBody>
      </p:sp>
      <p:sp>
        <p:nvSpPr>
          <p:cNvPr id="3" name="Text Placeholder 2">
            <a:extLst>
              <a:ext uri="{FF2B5EF4-FFF2-40B4-BE49-F238E27FC236}">
                <a16:creationId xmlns:a16="http://schemas.microsoft.com/office/drawing/2014/main" id="{6D0D000C-1610-4677-851C-3A457FAAC1B1}"/>
              </a:ext>
            </a:extLst>
          </p:cNvPr>
          <p:cNvSpPr>
            <a:spLocks noGrp="1"/>
          </p:cNvSpPr>
          <p:nvPr>
            <p:ph sz="quarter" idx="16"/>
          </p:nvPr>
        </p:nvSpPr>
        <p:spPr>
          <a:xfrm>
            <a:off x="838200" y="1607126"/>
            <a:ext cx="10515599" cy="995397"/>
          </a:xfrm>
        </p:spPr>
        <p:txBody>
          <a:bodyPr/>
          <a:lstStyle/>
          <a:p>
            <a:pPr marL="457200" indent="-457200">
              <a:buFont typeface="Arial" panose="020B0604020202020204" pitchFamily="34" charset="0"/>
              <a:buChar char="•"/>
            </a:pPr>
            <a:r>
              <a:rPr lang="en-US" sz="2600" dirty="0"/>
              <a:t>Nov. 30: NetSolutions incurred the following expenses: wages, $2,125; rent, $800; utilities, $450; and miscellaneous, $275.</a:t>
            </a:r>
          </a:p>
        </p:txBody>
      </p:sp>
      <p:pic>
        <p:nvPicPr>
          <p:cNvPr id="6" name="Content Placeholder 5" descr="A journal entry for Transaction E is shown. November 30 is the date indicated. Wages Expense is debited—with 2,125 shown in the Debit column. Rent Expense is debited—with 800 shown in the Debit column. Utilities Expense is debited—with 450 shown in the Debit column. Miscellaneous Expense is debited—with 275 shown in the Debit column. Cash is credited—with 3,650 shown in the Credit column. A journal entry explanation is given below the journal entry: Paid expenses.&#10;&#10;Below the journal form, the accounting equation impact is illustrated.&#10;&#10;The accounting equation is shown: Assets = Liabilities + Stockholders’ Equity (Expense).&#10;&#10;Under Assets in the accounting equation, a T account for Cash is shown. On the right, in the credit column of the Cash T account, a November 30 entry of 3,650 is shown. The debit column of the Cash T account is blank.&#10;&#10;Under Stockholders’ Equity (Expense) in the accounting equation, a T account for Wages Expense is shown. On the left, in the debit column of the Wages Expense T account, a November 30 entry of 2,125 is shown. The credit column of the Wages Expense T account is blank. &#10;&#10;Under the Wages Expense T account, a T account for Rent Expense is shown. On the left, in the debit column of the Rent Expense T account, a November 30 entry of 800 is shown. The credit column of the Rent Expense T account is blank. &#10;&#10;Under the Rent Expense T account, a T account for Utilities Expense is shown. On the left, in the debit column of the Utilities Expense T account, a November 30 entry of 450 is shown. The credit column of the Utilities Expense T account is blank. &#10;&#10;Under the Utilities Expense T account, a T account for Miscellaneous Expense is shown. On the left, in the debit column of the Miscellaneous Expense T account, a November 30 entry of 275 is shown. The credit column of the Miscellaneous Expense T account is blank.">
            <a:extLst>
              <a:ext uri="{FF2B5EF4-FFF2-40B4-BE49-F238E27FC236}">
                <a16:creationId xmlns:a16="http://schemas.microsoft.com/office/drawing/2014/main" id="{F37325FA-597F-45DF-AD03-A4B95EB0A3F4}"/>
              </a:ext>
            </a:extLst>
          </p:cNvPr>
          <p:cNvPicPr>
            <a:picLocks noGrp="1" noChangeAspect="1"/>
          </p:cNvPicPr>
          <p:nvPr>
            <p:ph sz="quarter" idx="17"/>
          </p:nvPr>
        </p:nvPicPr>
        <p:blipFill>
          <a:blip r:embed="rId2"/>
          <a:stretch>
            <a:fillRect/>
          </a:stretch>
        </p:blipFill>
        <p:spPr>
          <a:xfrm>
            <a:off x="2549769" y="2490298"/>
            <a:ext cx="6700227" cy="3778220"/>
          </a:xfrm>
          <a:prstGeom prst="rect">
            <a:avLst/>
          </a:prstGeom>
        </p:spPr>
      </p:pic>
    </p:spTree>
    <p:extLst>
      <p:ext uri="{BB962C8B-B14F-4D97-AF65-F5344CB8AC3E}">
        <p14:creationId xmlns:p14="http://schemas.microsoft.com/office/powerpoint/2010/main" val="4142262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7EF3-4D18-48FE-89E2-2D53D7E28216}"/>
              </a:ext>
            </a:extLst>
          </p:cNvPr>
          <p:cNvSpPr>
            <a:spLocks noGrp="1"/>
          </p:cNvSpPr>
          <p:nvPr>
            <p:ph type="title"/>
          </p:nvPr>
        </p:nvSpPr>
        <p:spPr/>
        <p:txBody>
          <a:bodyPr/>
          <a:lstStyle/>
          <a:p>
            <a:r>
              <a:rPr lang="en-US" dirty="0"/>
              <a:t>Transaction f</a:t>
            </a:r>
          </a:p>
        </p:txBody>
      </p:sp>
      <p:sp>
        <p:nvSpPr>
          <p:cNvPr id="3" name="Text Placeholder 2">
            <a:extLst>
              <a:ext uri="{FF2B5EF4-FFF2-40B4-BE49-F238E27FC236}">
                <a16:creationId xmlns:a16="http://schemas.microsoft.com/office/drawing/2014/main" id="{103D1AA0-FC9E-4ABB-9939-7CA3E2A60684}"/>
              </a:ext>
            </a:extLst>
          </p:cNvPr>
          <p:cNvSpPr>
            <a:spLocks noGrp="1"/>
          </p:cNvSpPr>
          <p:nvPr>
            <p:ph sz="quarter" idx="16"/>
          </p:nvPr>
        </p:nvSpPr>
        <p:spPr>
          <a:xfrm>
            <a:off x="838200" y="1607126"/>
            <a:ext cx="10515600" cy="889889"/>
          </a:xfrm>
        </p:spPr>
        <p:txBody>
          <a:bodyPr/>
          <a:lstStyle/>
          <a:p>
            <a:pPr marL="457200" indent="-457200">
              <a:buFont typeface="Arial" panose="020B0604020202020204" pitchFamily="34" charset="0"/>
              <a:buChar char="•"/>
            </a:pPr>
            <a:r>
              <a:rPr lang="en-US" sz="2600" dirty="0"/>
              <a:t>Nov. 30: NetSolutions paid creditors on account, $950.</a:t>
            </a:r>
          </a:p>
        </p:txBody>
      </p:sp>
      <p:pic>
        <p:nvPicPr>
          <p:cNvPr id="6" name="Content Placeholder 5" descr="A journal entry for Transaction f is shown. November 30 is the date indicated. Accounts Payable is debited—with 950 shown in the Debit column. Cash is credited—with 950 shown in the Credit column. A journal entry explanation is given below the journal entry: Paid creditors on account.&#10;&#10;Below the journal form, the accounting equation impact is illustrated.&#10;&#10;The accounting equation is shown: Assets = Liabilities + Stockholders’ Equity.&#10;&#10;Under Assets in the accounting equation, a T account for Cash is shown. On the right, in the credit column of the Cash T account, a November 30 entry of 950 is shown. The debit column of the Cash T account is blank.&#10;&#10;Under Liabilities in the accounting equation, a T account for Accounts Payable is shown. On the left, in the debit column of the Accounts Payable T account, a November 30 entry of 950 is shown. The credit column of the Accounts Payable T account is blank.">
            <a:extLst>
              <a:ext uri="{FF2B5EF4-FFF2-40B4-BE49-F238E27FC236}">
                <a16:creationId xmlns:a16="http://schemas.microsoft.com/office/drawing/2014/main" id="{AF0B7909-5736-4844-B907-D1362C4499A6}"/>
              </a:ext>
            </a:extLst>
          </p:cNvPr>
          <p:cNvPicPr>
            <a:picLocks noGrp="1" noChangeAspect="1"/>
          </p:cNvPicPr>
          <p:nvPr>
            <p:ph sz="quarter" idx="17"/>
          </p:nvPr>
        </p:nvPicPr>
        <p:blipFill>
          <a:blip r:embed="rId2"/>
          <a:stretch>
            <a:fillRect/>
          </a:stretch>
        </p:blipFill>
        <p:spPr>
          <a:xfrm>
            <a:off x="838200" y="2497015"/>
            <a:ext cx="10930116" cy="2515662"/>
          </a:xfrm>
          <a:prstGeom prst="rect">
            <a:avLst/>
          </a:prstGeom>
        </p:spPr>
      </p:pic>
    </p:spTree>
    <p:extLst>
      <p:ext uri="{BB962C8B-B14F-4D97-AF65-F5344CB8AC3E}">
        <p14:creationId xmlns:p14="http://schemas.microsoft.com/office/powerpoint/2010/main" val="1625570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21702-EEF1-4F63-A9F8-9E64438B3365}"/>
              </a:ext>
            </a:extLst>
          </p:cNvPr>
          <p:cNvSpPr>
            <a:spLocks noGrp="1"/>
          </p:cNvSpPr>
          <p:nvPr>
            <p:ph type="title"/>
          </p:nvPr>
        </p:nvSpPr>
        <p:spPr/>
        <p:txBody>
          <a:bodyPr/>
          <a:lstStyle/>
          <a:p>
            <a:r>
              <a:rPr lang="en-US" dirty="0"/>
              <a:t>Transaction g</a:t>
            </a:r>
          </a:p>
        </p:txBody>
      </p:sp>
      <p:sp>
        <p:nvSpPr>
          <p:cNvPr id="3" name="Text Placeholder 2">
            <a:extLst>
              <a:ext uri="{FF2B5EF4-FFF2-40B4-BE49-F238E27FC236}">
                <a16:creationId xmlns:a16="http://schemas.microsoft.com/office/drawing/2014/main" id="{50D2A3DD-D71C-4818-8C12-CEDE8F80BF8E}"/>
              </a:ext>
            </a:extLst>
          </p:cNvPr>
          <p:cNvSpPr>
            <a:spLocks noGrp="1"/>
          </p:cNvSpPr>
          <p:nvPr>
            <p:ph sz="quarter" idx="16"/>
          </p:nvPr>
        </p:nvSpPr>
        <p:spPr>
          <a:xfrm>
            <a:off x="838200" y="1607126"/>
            <a:ext cx="10515599" cy="819551"/>
          </a:xfrm>
        </p:spPr>
        <p:txBody>
          <a:bodyPr/>
          <a:lstStyle/>
          <a:p>
            <a:pPr marL="457200" indent="-457200">
              <a:buFont typeface="Arial" panose="020B0604020202020204" pitchFamily="34" charset="0"/>
              <a:buChar char="•"/>
            </a:pPr>
            <a:r>
              <a:rPr lang="en-US" sz="2600" dirty="0"/>
              <a:t>Nov. 30: NetSolutions determined that the cost of supplies on hand at November 30 was $550.</a:t>
            </a:r>
          </a:p>
        </p:txBody>
      </p:sp>
      <p:pic>
        <p:nvPicPr>
          <p:cNvPr id="6" name="Content Placeholder 5" descr="A journal entry for Transaction g is shown. November 30 is the date indicated. Supplies Expense is debited—with 800 shown in the Debit column. Supplies is credited—with 800 shown in the Credit column. A journal entry explanation is given below the journal entry: Supplies used during November.&#10;&#10;Below the journal form, the accounting equation impact is illustrated.&#10;&#10;The accounting equation is shown: Assets = Liabilities + Stockholders’ Equity (Expense).&#10;&#10;Under Assets in the accounting equation, a T account for Supplies is shown. On the right, in the credit column of the Supplies T account, a November 30 entry of 800 is shown. The debit column of the Supplies T account is blank.&#10;&#10;Under Stockholders’ Equity (Expense) in the accounting equation, a T account for Supplies Expense is shown. On the left, in the debit column of the Supplies Expense T account, a November 30 entry of 800 is shown. The credit column of the Supplies Expense T account is blank.">
            <a:extLst>
              <a:ext uri="{FF2B5EF4-FFF2-40B4-BE49-F238E27FC236}">
                <a16:creationId xmlns:a16="http://schemas.microsoft.com/office/drawing/2014/main" id="{FA5B6295-86C2-42A9-BE3D-10463DDF910F}"/>
              </a:ext>
            </a:extLst>
          </p:cNvPr>
          <p:cNvPicPr>
            <a:picLocks noGrp="1" noChangeAspect="1"/>
          </p:cNvPicPr>
          <p:nvPr>
            <p:ph sz="quarter" idx="17"/>
          </p:nvPr>
        </p:nvPicPr>
        <p:blipFill>
          <a:blip r:embed="rId2"/>
          <a:stretch>
            <a:fillRect/>
          </a:stretch>
        </p:blipFill>
        <p:spPr>
          <a:xfrm>
            <a:off x="1295400" y="2676530"/>
            <a:ext cx="10156590" cy="2574343"/>
          </a:xfrm>
          <a:prstGeom prst="rect">
            <a:avLst/>
          </a:prstGeom>
        </p:spPr>
      </p:pic>
    </p:spTree>
    <p:extLst>
      <p:ext uri="{BB962C8B-B14F-4D97-AF65-F5344CB8AC3E}">
        <p14:creationId xmlns:p14="http://schemas.microsoft.com/office/powerpoint/2010/main" val="3817499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5404C-F499-4C60-BD78-5457582B03DA}"/>
              </a:ext>
            </a:extLst>
          </p:cNvPr>
          <p:cNvSpPr>
            <a:spLocks noGrp="1"/>
          </p:cNvSpPr>
          <p:nvPr>
            <p:ph type="title"/>
          </p:nvPr>
        </p:nvSpPr>
        <p:spPr/>
        <p:txBody>
          <a:bodyPr/>
          <a:lstStyle/>
          <a:p>
            <a:r>
              <a:rPr lang="en-US" dirty="0"/>
              <a:t>Transaction h</a:t>
            </a:r>
          </a:p>
        </p:txBody>
      </p:sp>
      <p:sp>
        <p:nvSpPr>
          <p:cNvPr id="3" name="Text Placeholder 2">
            <a:extLst>
              <a:ext uri="{FF2B5EF4-FFF2-40B4-BE49-F238E27FC236}">
                <a16:creationId xmlns:a16="http://schemas.microsoft.com/office/drawing/2014/main" id="{7A8AD592-92CA-4E74-B585-2C8AA9091B0D}"/>
              </a:ext>
            </a:extLst>
          </p:cNvPr>
          <p:cNvSpPr>
            <a:spLocks noGrp="1"/>
          </p:cNvSpPr>
          <p:nvPr>
            <p:ph sz="quarter" idx="16"/>
          </p:nvPr>
        </p:nvSpPr>
        <p:spPr>
          <a:xfrm>
            <a:off x="838200" y="1607126"/>
            <a:ext cx="10515599" cy="845048"/>
          </a:xfrm>
        </p:spPr>
        <p:txBody>
          <a:bodyPr/>
          <a:lstStyle/>
          <a:p>
            <a:pPr marL="457200" indent="-457200">
              <a:buFont typeface="Arial" panose="020B0604020202020204" pitchFamily="34" charset="0"/>
              <a:buChar char="•"/>
            </a:pPr>
            <a:r>
              <a:rPr lang="en-US" sz="2600" dirty="0"/>
              <a:t>Nov. 30: Paid dividends, $2,000.</a:t>
            </a:r>
          </a:p>
        </p:txBody>
      </p:sp>
      <p:pic>
        <p:nvPicPr>
          <p:cNvPr id="6" name="Content Placeholder 5" descr="A journal entry is shown on page 2 of a journal form. November 30, 20Y3, is the date indicated. Dividends is debited—with 2,000 shown in the Debit column. Cash is credited—with 2,000 shown in the Credit column. A journal entry explanation is given below the journal entry: Paid dividends.&#10;&#10;Below the journal form, the accounting equation impact is illustrated.&#10;&#10;The accounting equation is shown: Assets = Liabilities + Stockholders’ Equity (Dividends).&#10;&#10;Under Assets in the accounting equation, a T account for Cash is shown. On the right, in the credit column of the Cash T account, a November 30 entry of 2,000 is shown. The debit column of the Cash T account is blank.&#10;&#10;Under Stockholders’ Equity (Dividends) in the accounting equation, a T account for Dividends is shown. On the left, in the debit column of the Dividends T account, a November 30 entry of 2,000 is shown. The credit column of the Dividends T account is blank.">
            <a:extLst>
              <a:ext uri="{FF2B5EF4-FFF2-40B4-BE49-F238E27FC236}">
                <a16:creationId xmlns:a16="http://schemas.microsoft.com/office/drawing/2014/main" id="{1C2E894C-9FB8-4500-920D-BFD0638DA61D}"/>
              </a:ext>
            </a:extLst>
          </p:cNvPr>
          <p:cNvPicPr>
            <a:picLocks noGrp="1" noChangeAspect="1"/>
          </p:cNvPicPr>
          <p:nvPr>
            <p:ph sz="quarter" idx="17"/>
          </p:nvPr>
        </p:nvPicPr>
        <p:blipFill>
          <a:blip r:embed="rId2"/>
          <a:stretch>
            <a:fillRect/>
          </a:stretch>
        </p:blipFill>
        <p:spPr>
          <a:xfrm>
            <a:off x="838200" y="2241159"/>
            <a:ext cx="10602381" cy="3632103"/>
          </a:xfrm>
          <a:prstGeom prst="rect">
            <a:avLst/>
          </a:prstGeom>
        </p:spPr>
      </p:pic>
    </p:spTree>
    <p:extLst>
      <p:ext uri="{BB962C8B-B14F-4D97-AF65-F5344CB8AC3E}">
        <p14:creationId xmlns:p14="http://schemas.microsoft.com/office/powerpoint/2010/main" val="1141027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E4E4-C9D0-4007-9FD8-997D92011066}"/>
              </a:ext>
            </a:extLst>
          </p:cNvPr>
          <p:cNvSpPr>
            <a:spLocks noGrp="1"/>
          </p:cNvSpPr>
          <p:nvPr>
            <p:ph type="title"/>
          </p:nvPr>
        </p:nvSpPr>
        <p:spPr/>
        <p:txBody>
          <a:bodyPr/>
          <a:lstStyle/>
          <a:p>
            <a:r>
              <a:rPr lang="en-US" dirty="0"/>
              <a:t>Transaction 1</a:t>
            </a:r>
          </a:p>
        </p:txBody>
      </p:sp>
      <p:sp>
        <p:nvSpPr>
          <p:cNvPr id="3" name="Text Placeholder 2">
            <a:extLst>
              <a:ext uri="{FF2B5EF4-FFF2-40B4-BE49-F238E27FC236}">
                <a16:creationId xmlns:a16="http://schemas.microsoft.com/office/drawing/2014/main" id="{C720C0CE-13FD-4A9A-8959-CE8236903130}"/>
              </a:ext>
            </a:extLst>
          </p:cNvPr>
          <p:cNvSpPr>
            <a:spLocks noGrp="1"/>
          </p:cNvSpPr>
          <p:nvPr>
            <p:ph sz="quarter" idx="16"/>
          </p:nvPr>
        </p:nvSpPr>
        <p:spPr>
          <a:xfrm>
            <a:off x="838199" y="1607126"/>
            <a:ext cx="10515600" cy="1505351"/>
          </a:xfrm>
        </p:spPr>
        <p:txBody>
          <a:bodyPr/>
          <a:lstStyle/>
          <a:p>
            <a:pPr marL="457200" indent="-457200">
              <a:buFont typeface="Arial" panose="020B0604020202020204" pitchFamily="34" charset="0"/>
              <a:buChar char="•"/>
            </a:pPr>
            <a:r>
              <a:rPr lang="en-US" sz="2600" dirty="0"/>
              <a:t>NetSolutions paid a premium of $2,400 for an insurance policy for liability, theft, and fire. The policy covers a one-year period.</a:t>
            </a:r>
          </a:p>
        </p:txBody>
      </p:sp>
      <p:pic>
        <p:nvPicPr>
          <p:cNvPr id="6" name="Content Placeholder 5" descr="An analysis for the transaction reads: Advance payments of expenses, such as for insurance premiums, are assets called prepaid expenses. For NetSolutions, the asset purchased is insurance protection for 12 months. This transaction is recorded as a $2,400 increase (debit) to Prepaid Insurance and a $2,400 decrease (credit) to Cash.&#10;&#10;Below the Analysis, a journal entry is shown. December 1 is the date indicated. Prepaid Insurance is debited—with 15 shown in the Posting Reference column and 2,400 shown in the Debit column. Cash is credited—with 11 shown in the Posting Reference column and 2,400 shown in the Credit column. A journal entry explanation is given below the journal entry: Paid premium on one-year policy.&#10;&#10;Below the journal form, the accounting equation impact is illustrated.&#10;&#10;The accounting equation is shown: Assets = Liabilities + Stockholders’ Equity.&#10;&#10;Under Assets in the accounting equation, a T account for Cash is shown. The account number, 11, is shown in the top-right corner of the T account. On the right, in the credit column of the Cash T account, a December 1 entry of 2,400 is shown. The debit column of the Cash T account is blank. &#10;&#10;Under the Cash T account, a T account for Prepaid Insurance is shown. The account number, 15, is shown in the top-right corner of the T account. On the left, in the debit column of the Prepaid Insurance T account, a December 1 entry of 2,400 is shown. The credit column of the Prepaid Insurance T account is blank.&#10;">
            <a:extLst>
              <a:ext uri="{FF2B5EF4-FFF2-40B4-BE49-F238E27FC236}">
                <a16:creationId xmlns:a16="http://schemas.microsoft.com/office/drawing/2014/main" id="{C7E05B06-F21C-4D7B-B07A-71A2428F3030}"/>
              </a:ext>
            </a:extLst>
          </p:cNvPr>
          <p:cNvPicPr>
            <a:picLocks noGrp="1" noChangeAspect="1"/>
          </p:cNvPicPr>
          <p:nvPr>
            <p:ph sz="quarter" idx="17"/>
          </p:nvPr>
        </p:nvPicPr>
        <p:blipFill>
          <a:blip r:embed="rId2"/>
          <a:stretch>
            <a:fillRect/>
          </a:stretch>
        </p:blipFill>
        <p:spPr>
          <a:xfrm>
            <a:off x="1051464" y="2567353"/>
            <a:ext cx="10302335" cy="3464169"/>
          </a:xfrm>
          <a:prstGeom prst="rect">
            <a:avLst/>
          </a:prstGeom>
        </p:spPr>
      </p:pic>
    </p:spTree>
    <p:extLst>
      <p:ext uri="{BB962C8B-B14F-4D97-AF65-F5344CB8AC3E}">
        <p14:creationId xmlns:p14="http://schemas.microsoft.com/office/powerpoint/2010/main" val="3030193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3E8F2-7755-49EB-8177-9920AB79395B}"/>
              </a:ext>
            </a:extLst>
          </p:cNvPr>
          <p:cNvSpPr>
            <a:spLocks noGrp="1"/>
          </p:cNvSpPr>
          <p:nvPr>
            <p:ph type="title"/>
          </p:nvPr>
        </p:nvSpPr>
        <p:spPr/>
        <p:txBody>
          <a:bodyPr/>
          <a:lstStyle/>
          <a:p>
            <a:r>
              <a:rPr lang="en-US" dirty="0"/>
              <a:t>Transaction 2</a:t>
            </a:r>
          </a:p>
        </p:txBody>
      </p:sp>
      <p:sp>
        <p:nvSpPr>
          <p:cNvPr id="3" name="Text Placeholder 2">
            <a:extLst>
              <a:ext uri="{FF2B5EF4-FFF2-40B4-BE49-F238E27FC236}">
                <a16:creationId xmlns:a16="http://schemas.microsoft.com/office/drawing/2014/main" id="{3C6EA0DE-642B-4E3F-9EE4-5BC4B6AEA7BA}"/>
              </a:ext>
            </a:extLst>
          </p:cNvPr>
          <p:cNvSpPr>
            <a:spLocks noGrp="1"/>
          </p:cNvSpPr>
          <p:nvPr>
            <p:ph sz="quarter" idx="16"/>
          </p:nvPr>
        </p:nvSpPr>
        <p:spPr>
          <a:xfrm>
            <a:off x="838199" y="1607126"/>
            <a:ext cx="10515600" cy="1259166"/>
          </a:xfrm>
        </p:spPr>
        <p:txBody>
          <a:bodyPr>
            <a:normAutofit fontScale="92500"/>
          </a:bodyPr>
          <a:lstStyle/>
          <a:p>
            <a:pPr marL="342900" indent="-342900">
              <a:buFont typeface="Arial" panose="020B0604020202020204" pitchFamily="34" charset="0"/>
              <a:buChar char="•"/>
            </a:pPr>
            <a:r>
              <a:rPr lang="en-US" sz="2400" dirty="0"/>
              <a:t>Dec. 1: NetSolutions paid rent for December, $800. </a:t>
            </a:r>
          </a:p>
          <a:p>
            <a:pPr marL="342900" indent="-342900">
              <a:buFont typeface="Arial" panose="020B0604020202020204" pitchFamily="34" charset="0"/>
              <a:buChar char="•"/>
            </a:pPr>
            <a:r>
              <a:rPr lang="en-US" sz="2400" dirty="0"/>
              <a:t>The company from which NetSolutions is renting its office space now requires the payment of rent on the first of each month, rather than at the end of the month.</a:t>
            </a:r>
          </a:p>
        </p:txBody>
      </p:sp>
      <p:pic>
        <p:nvPicPr>
          <p:cNvPr id="6" name="Content Placeholder 5" descr="An analysis for the transaction reads: The advance payment of rent is an asset, much like the advance payment of the insurance premium in the preceding transaction. However, unlike the insurance premium, this prepaid rent will expire in one month. When an asset is purchased with the expectation that it will be used up in a short period of time, such as a month, it is normal to debit an expense account initially. This avoids having to transfer the balance from an asset account (Prepaid Rent) to an expense account (Rent Expense) at the end of the month. Thus, this transaction is recorded as an $800 increase (debit) to Rent Expense and an $800 decrease (credit) to Cash.&#10;&#10;Under the analysis, a journal entry is shown. December 1 is the date indicated. Rent Expense is debited—with 53 shown in the Posting Reference column and 800 shown in the Debit column. Cash is credited—with 11 shown in the Posting Reference column and 800 shown in the Credit column. A journal entry explanation is given below the journal entry: Paid rent for December.&#10;&#10;Below the journal form, the accounting equation impact is illustrated.&#10;&#10;The accounting equation is shown: Assets = Liabilities + Stockholders’ Equity (Expense).&#10;&#10;Under Assets in the accounting equation, a T account for Cash is shown. The account number, 11, is shown in the top-right corner of the T account. On the right, in the credit column of the Cash T account, a December 1 entry of 800 is shown. The debit column of the Cash T account is blank.&#10;&#10;Under Stockholders’ Equity (Expense) in the accounting equation, a T account for Rent Expense is shown. On the left, in the debit column of the Rent Expense T account, a December 1 entry of 800 is shown. The credit column of the Rent Expense T account is blank.">
            <a:extLst>
              <a:ext uri="{FF2B5EF4-FFF2-40B4-BE49-F238E27FC236}">
                <a16:creationId xmlns:a16="http://schemas.microsoft.com/office/drawing/2014/main" id="{1DD7A087-D43A-4FEF-884C-E1B5097FD269}"/>
              </a:ext>
            </a:extLst>
          </p:cNvPr>
          <p:cNvPicPr>
            <a:picLocks noGrp="1" noChangeAspect="1"/>
          </p:cNvPicPr>
          <p:nvPr>
            <p:ph sz="quarter" idx="17"/>
          </p:nvPr>
        </p:nvPicPr>
        <p:blipFill rotWithShape="1">
          <a:blip r:embed="rId2"/>
          <a:srcRect t="-6209"/>
          <a:stretch/>
        </p:blipFill>
        <p:spPr>
          <a:xfrm>
            <a:off x="1859371" y="2866292"/>
            <a:ext cx="8473257" cy="3201958"/>
          </a:xfrm>
          <a:prstGeom prst="rect">
            <a:avLst/>
          </a:prstGeom>
        </p:spPr>
      </p:pic>
    </p:spTree>
    <p:extLst>
      <p:ext uri="{BB962C8B-B14F-4D97-AF65-F5344CB8AC3E}">
        <p14:creationId xmlns:p14="http://schemas.microsoft.com/office/powerpoint/2010/main" val="536305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8F75-7314-4861-BF57-0C75B4328A01}"/>
              </a:ext>
            </a:extLst>
          </p:cNvPr>
          <p:cNvSpPr>
            <a:spLocks noGrp="1"/>
          </p:cNvSpPr>
          <p:nvPr>
            <p:ph type="title"/>
          </p:nvPr>
        </p:nvSpPr>
        <p:spPr/>
        <p:txBody>
          <a:bodyPr/>
          <a:lstStyle/>
          <a:p>
            <a:r>
              <a:rPr lang="en-US" dirty="0"/>
              <a:t>Transaction 3</a:t>
            </a:r>
            <a:br>
              <a:rPr lang="en-US" dirty="0"/>
            </a:br>
            <a:r>
              <a:rPr lang="en-US" sz="2400" dirty="0"/>
              <a:t>(1 of 2)</a:t>
            </a:r>
          </a:p>
        </p:txBody>
      </p:sp>
      <p:sp>
        <p:nvSpPr>
          <p:cNvPr id="3" name="Text Placeholder 2">
            <a:extLst>
              <a:ext uri="{FF2B5EF4-FFF2-40B4-BE49-F238E27FC236}">
                <a16:creationId xmlns:a16="http://schemas.microsoft.com/office/drawing/2014/main" id="{F08DAF53-6295-4908-9FDB-BAB341B7998E}"/>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Dec. 1: NetSolutions received an offer from a local retailer to rent the land purchased on November 5.</a:t>
            </a:r>
          </a:p>
          <a:p>
            <a:pPr marL="457200" indent="-457200">
              <a:buFont typeface="Arial" panose="020B0604020202020204" pitchFamily="34" charset="0"/>
              <a:buChar char="•"/>
            </a:pPr>
            <a:r>
              <a:rPr lang="en-US" sz="2600" dirty="0"/>
              <a:t>The retailer plans to use the land as a parking lot for its employees and customers.</a:t>
            </a:r>
          </a:p>
          <a:p>
            <a:pPr marL="457200" indent="-457200">
              <a:buFont typeface="Arial" panose="020B0604020202020204" pitchFamily="34" charset="0"/>
              <a:buChar char="•"/>
            </a:pPr>
            <a:r>
              <a:rPr lang="en-US" sz="2600" dirty="0"/>
              <a:t>NetSolutions agreed to rent the land to the retailer for three months, with the rent payable in advance.</a:t>
            </a:r>
          </a:p>
          <a:p>
            <a:pPr marL="457200" indent="-457200">
              <a:buFont typeface="Arial" panose="020B0604020202020204" pitchFamily="34" charset="0"/>
              <a:buChar char="•"/>
            </a:pPr>
            <a:r>
              <a:rPr lang="en-US" sz="2600" dirty="0"/>
              <a:t>NetSolutions received $360 for three months’ rent beginning December 1.</a:t>
            </a:r>
          </a:p>
        </p:txBody>
      </p:sp>
    </p:spTree>
    <p:extLst>
      <p:ext uri="{BB962C8B-B14F-4D97-AF65-F5344CB8AC3E}">
        <p14:creationId xmlns:p14="http://schemas.microsoft.com/office/powerpoint/2010/main" val="407401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1DCA3-8543-4010-8E86-36B7EE7C3204}"/>
              </a:ext>
            </a:extLst>
          </p:cNvPr>
          <p:cNvSpPr>
            <a:spLocks noGrp="1"/>
          </p:cNvSpPr>
          <p:nvPr>
            <p:ph type="title"/>
          </p:nvPr>
        </p:nvSpPr>
        <p:spPr/>
        <p:txBody>
          <a:bodyPr/>
          <a:lstStyle/>
          <a:p>
            <a:r>
              <a:rPr lang="en-US" dirty="0"/>
              <a:t>Transaction 3</a:t>
            </a:r>
            <a:br>
              <a:rPr lang="en-US" dirty="0"/>
            </a:br>
            <a:br>
              <a:rPr lang="en-US" dirty="0"/>
            </a:br>
            <a:endParaRPr lang="en-US" sz="2400" dirty="0"/>
          </a:p>
        </p:txBody>
      </p:sp>
      <p:pic>
        <p:nvPicPr>
          <p:cNvPr id="5" name="Content Placeholder 4" descr="An analysis for the transaction reads: By agreeing to rent the land and accepting the $360, NetSolutions has incurred an obligation (liability) to the retailer. This obligation is to make the land available for use for three months and not to interfere with its use. The liability created by receiving the cash in advance of providing the service is called unearned revenue. As time passes, the unearned rent liability will decrease and will become revenue. Thus, this transaction is recorded as a $360 increase (debit) to Cash and a $360 increase (credit) to Unearned Rent.&#10;&#10;Under the analysis, a journal entry is shown. December 1 is the date indicated. Cash is debited—with 11 shown in the Posting Reference column and 360 shown in the Debit column. Unearned Rent is credited—with 23 shown in the Posting Reference column and 360 shown in the Credit column. A journal entry explanation is given below the journal entry: Received advance payment for three months’ rent on land.&#10;&#10;Below the journal form, the accounting equation impact is illustrated.&#10;&#10;The accounting equation is shown: Assets = Liabilities + Stockholders’ Equity.&#10;&#10;Under Assets in the accounting equation, a T account for Cash is shown. The account number, 11, is shown in the top-right corner of the T account. On the left, in the debit column of the Cash T account, a December 1 entry of 360 is shown. The credit column of the Cash T account is blank.&#10;&#10;Under Liabilities in the accounting equation, a T account for Unearned Rent is shown. The account number, 23, is shown in the top-right corner of the T account. On the right, in the credit column of the Unearned Rent T account, a December 1 entry of 360 is shown. The debit column of the Unearned Rent T account is blank.&#10;">
            <a:extLst>
              <a:ext uri="{FF2B5EF4-FFF2-40B4-BE49-F238E27FC236}">
                <a16:creationId xmlns:a16="http://schemas.microsoft.com/office/drawing/2014/main" id="{EA119CDD-59FB-4048-B69D-1789EB469E4C}"/>
              </a:ext>
            </a:extLst>
          </p:cNvPr>
          <p:cNvPicPr>
            <a:picLocks noGrp="1" noChangeAspect="1"/>
          </p:cNvPicPr>
          <p:nvPr>
            <p:ph sz="quarter" idx="10"/>
          </p:nvPr>
        </p:nvPicPr>
        <p:blipFill>
          <a:blip r:embed="rId2"/>
          <a:stretch>
            <a:fillRect/>
          </a:stretch>
        </p:blipFill>
        <p:spPr>
          <a:xfrm>
            <a:off x="838200" y="1740877"/>
            <a:ext cx="10372586" cy="3821479"/>
          </a:xfrm>
          <a:prstGeom prst="rect">
            <a:avLst/>
          </a:prstGeom>
        </p:spPr>
      </p:pic>
    </p:spTree>
    <p:extLst>
      <p:ext uri="{BB962C8B-B14F-4D97-AF65-F5344CB8AC3E}">
        <p14:creationId xmlns:p14="http://schemas.microsoft.com/office/powerpoint/2010/main" val="1586534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1E11-4F36-44B9-BCE7-0B6ABC9EFBE3}"/>
              </a:ext>
            </a:extLst>
          </p:cNvPr>
          <p:cNvSpPr>
            <a:spLocks noGrp="1"/>
          </p:cNvSpPr>
          <p:nvPr>
            <p:ph type="title"/>
          </p:nvPr>
        </p:nvSpPr>
        <p:spPr/>
        <p:txBody>
          <a:bodyPr/>
          <a:lstStyle/>
          <a:p>
            <a:r>
              <a:rPr lang="en-US" dirty="0"/>
              <a:t>Transaction 4</a:t>
            </a:r>
          </a:p>
        </p:txBody>
      </p:sp>
      <p:sp>
        <p:nvSpPr>
          <p:cNvPr id="3" name="Text Placeholder 2">
            <a:extLst>
              <a:ext uri="{FF2B5EF4-FFF2-40B4-BE49-F238E27FC236}">
                <a16:creationId xmlns:a16="http://schemas.microsoft.com/office/drawing/2014/main" id="{8EB39209-EB4B-46B1-BEEB-E22C7BF4B401}"/>
              </a:ext>
            </a:extLst>
          </p:cNvPr>
          <p:cNvSpPr>
            <a:spLocks noGrp="1"/>
          </p:cNvSpPr>
          <p:nvPr>
            <p:ph sz="quarter" idx="16"/>
          </p:nvPr>
        </p:nvSpPr>
        <p:spPr>
          <a:xfrm>
            <a:off x="838200" y="1607126"/>
            <a:ext cx="10515600" cy="925059"/>
          </a:xfrm>
        </p:spPr>
        <p:txBody>
          <a:bodyPr/>
          <a:lstStyle/>
          <a:p>
            <a:pPr marL="457200" indent="-457200">
              <a:buFont typeface="Arial" panose="020B0604020202020204" pitchFamily="34" charset="0"/>
              <a:buChar char="•"/>
            </a:pPr>
            <a:r>
              <a:rPr lang="en-US" sz="2600" dirty="0"/>
              <a:t>Dec. 4: NetSolutions purchased office equipment on account from Executive Supply Co. for $1,800.</a:t>
            </a:r>
          </a:p>
        </p:txBody>
      </p:sp>
      <p:pic>
        <p:nvPicPr>
          <p:cNvPr id="6" name="Content Placeholder 5" descr="An analysis for the transaction reads: The asset (Office Equipment) and liability accounts (Accounts Payable) increase. This transaction is recorded as an $1,800 increase (debit) to Office Equipment and an $1,800 increase (credit) to Accounts Payable.&#10;&#10;Under the analysis, a journal entry is shown. December 4 is the date indicated. Office Equipment is debited—with 18 shown in the Posting Reference column and 1,800 shown in the Debit column. Accounts Payable is credited—with 21 shown in the Posting Reference column and 1,800 shown in the Credit column. A journal entry explanation is given below the journal entry: Purchased office equipment on account.&#10;&#10;Below the journal form, the accounting equation impact is illustrated.&#10;&#10;The accounting equation is shown: Assets = Liabilities + Stockholders’ Equity.&#10;&#10;Under Assets in the accounting equation, a T account for Office Equipment is shown. The account number, 18, is shown in the top-right corner of the T account. On the left, in the debit column of the Office Equipment T account, a December 4 entry of 1,800 is shown. The credit column of the Office Equipment T account is blank.&#10;&#10;Under Liabilities in the accounting equation, a T account for Accounts Payable is shown. The account number, 21, is shown in the top-right corner of the T account. On the right, in the credit column of the Accounts Payable T account, a December 4 entry of 1,800 is shown. The debit column of the Accounts Payable T account is blank.&#10;">
            <a:extLst>
              <a:ext uri="{FF2B5EF4-FFF2-40B4-BE49-F238E27FC236}">
                <a16:creationId xmlns:a16="http://schemas.microsoft.com/office/drawing/2014/main" id="{B89462AE-37A0-4414-A182-4B470521676C}"/>
              </a:ext>
            </a:extLst>
          </p:cNvPr>
          <p:cNvPicPr>
            <a:picLocks noGrp="1" noChangeAspect="1"/>
          </p:cNvPicPr>
          <p:nvPr>
            <p:ph sz="quarter" idx="17"/>
          </p:nvPr>
        </p:nvPicPr>
        <p:blipFill>
          <a:blip r:embed="rId2"/>
          <a:stretch>
            <a:fillRect/>
          </a:stretch>
        </p:blipFill>
        <p:spPr>
          <a:xfrm>
            <a:off x="1112881" y="2736274"/>
            <a:ext cx="10240919" cy="2514600"/>
          </a:xfrm>
          <a:prstGeom prst="rect">
            <a:avLst/>
          </a:prstGeom>
        </p:spPr>
      </p:pic>
    </p:spTree>
    <p:extLst>
      <p:ext uri="{BB962C8B-B14F-4D97-AF65-F5344CB8AC3E}">
        <p14:creationId xmlns:p14="http://schemas.microsoft.com/office/powerpoint/2010/main" val="3124559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CB788-FC93-4892-B9D9-B9B9EA07ADEC}"/>
              </a:ext>
            </a:extLst>
          </p:cNvPr>
          <p:cNvSpPr>
            <a:spLocks noGrp="1"/>
          </p:cNvSpPr>
          <p:nvPr>
            <p:ph type="title"/>
          </p:nvPr>
        </p:nvSpPr>
        <p:spPr/>
        <p:txBody>
          <a:bodyPr/>
          <a:lstStyle/>
          <a:p>
            <a:r>
              <a:rPr lang="en-US" dirty="0"/>
              <a:t>Transaction 5</a:t>
            </a:r>
          </a:p>
        </p:txBody>
      </p:sp>
      <p:sp>
        <p:nvSpPr>
          <p:cNvPr id="3" name="Text Placeholder 2">
            <a:extLst>
              <a:ext uri="{FF2B5EF4-FFF2-40B4-BE49-F238E27FC236}">
                <a16:creationId xmlns:a16="http://schemas.microsoft.com/office/drawing/2014/main" id="{38401A23-92C2-40CB-985E-164C9BACC4FB}"/>
              </a:ext>
            </a:extLst>
          </p:cNvPr>
          <p:cNvSpPr>
            <a:spLocks noGrp="1"/>
          </p:cNvSpPr>
          <p:nvPr>
            <p:ph sz="quarter" idx="16"/>
          </p:nvPr>
        </p:nvSpPr>
        <p:spPr>
          <a:xfrm>
            <a:off x="838200" y="1607127"/>
            <a:ext cx="10515600" cy="672106"/>
          </a:xfrm>
        </p:spPr>
        <p:txBody>
          <a:bodyPr/>
          <a:lstStyle/>
          <a:p>
            <a:pPr marL="457200" indent="-457200">
              <a:buFont typeface="Arial" panose="020B0604020202020204" pitchFamily="34" charset="0"/>
              <a:buChar char="•"/>
            </a:pPr>
            <a:r>
              <a:rPr lang="en-US" sz="2600" dirty="0"/>
              <a:t>Dec. 6: NetSolutions paid $180 for a newspaper advertisement.</a:t>
            </a:r>
          </a:p>
        </p:txBody>
      </p:sp>
      <p:pic>
        <p:nvPicPr>
          <p:cNvPr id="6" name="Content Placeholder 5" descr="An analysis for the transaction reads: An expense increases, and an asset (Cash) decreases. Expense items that are expected to be minor&#10;in amount are normally included as part of the miscellaneous expense. This transaction is recorded&#10;as a $180 increase (debit) to Miscellaneous Expense and a $180 decrease (credit) to Cash.&#10;&#10;Under the analysis, a journal entry is shown. December 6 is the date indicated. Miscellaneous Expense is debited—with 59 shown in the Posting Reference column and 180 shown in the Debit column. Cash is credited—with 11 shown in the Posting Reference column and 180 shown in the Credit column. A journal entry explanation is given below the journal entry: Paid for newspaper advertisement.&#10;&#10;Below the journal form, the accounting equation impact is illustrated.&#10;&#10;The accounting equation is shown: Assets = Liabilities + Stockholders’ Equity (Expense).&#10;&#10;Under Assets in the accounting equation, a T account for Cash is shown. The account number, 11, is shown in the top-right corner of the T account. On the right, in the credit column of the Cash T account, a December 6 entry of 180 is shown. The debit column of the Cash T account is blank.&#10;&#10;Under Stockholders’ Equity (Expense) in the accounting equation, a T account for Miscellaneous Expense is shown. The account number, 59, is shown in the top-right corner of the T account. On the left, in the debit column of the Miscellaneous Expense T account, a December 6 entry of 180 is shown. The credit column of the Miscellaneous Expense T account is blank.&#10;">
            <a:extLst>
              <a:ext uri="{FF2B5EF4-FFF2-40B4-BE49-F238E27FC236}">
                <a16:creationId xmlns:a16="http://schemas.microsoft.com/office/drawing/2014/main" id="{B8036D19-E5D7-4E24-BE4D-2B3AE60F3825}"/>
              </a:ext>
            </a:extLst>
          </p:cNvPr>
          <p:cNvPicPr>
            <a:picLocks noGrp="1" noChangeAspect="1"/>
          </p:cNvPicPr>
          <p:nvPr>
            <p:ph sz="quarter" idx="17"/>
          </p:nvPr>
        </p:nvPicPr>
        <p:blipFill>
          <a:blip r:embed="rId2"/>
          <a:stretch>
            <a:fillRect/>
          </a:stretch>
        </p:blipFill>
        <p:spPr>
          <a:xfrm>
            <a:off x="1080510" y="2279233"/>
            <a:ext cx="10438121" cy="2743616"/>
          </a:xfrm>
          <a:prstGeom prst="rect">
            <a:avLst/>
          </a:prstGeom>
        </p:spPr>
      </p:pic>
    </p:spTree>
    <p:extLst>
      <p:ext uri="{BB962C8B-B14F-4D97-AF65-F5344CB8AC3E}">
        <p14:creationId xmlns:p14="http://schemas.microsoft.com/office/powerpoint/2010/main" val="811684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00500-4F88-4E7D-A112-6AAB92FD93E3}"/>
              </a:ext>
            </a:extLst>
          </p:cNvPr>
          <p:cNvSpPr>
            <a:spLocks noGrp="1"/>
          </p:cNvSpPr>
          <p:nvPr>
            <p:ph type="title"/>
          </p:nvPr>
        </p:nvSpPr>
        <p:spPr/>
        <p:txBody>
          <a:bodyPr/>
          <a:lstStyle/>
          <a:p>
            <a:r>
              <a:rPr lang="en-US" dirty="0"/>
              <a:t>Transaction 6</a:t>
            </a:r>
          </a:p>
        </p:txBody>
      </p:sp>
      <p:sp>
        <p:nvSpPr>
          <p:cNvPr id="3" name="Text Placeholder 2">
            <a:extLst>
              <a:ext uri="{FF2B5EF4-FFF2-40B4-BE49-F238E27FC236}">
                <a16:creationId xmlns:a16="http://schemas.microsoft.com/office/drawing/2014/main" id="{9D6F26B4-5791-4330-9CBF-AAFF9AB9EC15}"/>
              </a:ext>
            </a:extLst>
          </p:cNvPr>
          <p:cNvSpPr>
            <a:spLocks noGrp="1"/>
          </p:cNvSpPr>
          <p:nvPr>
            <p:ph sz="quarter" idx="16"/>
          </p:nvPr>
        </p:nvSpPr>
        <p:spPr>
          <a:xfrm>
            <a:off x="838200" y="1607126"/>
            <a:ext cx="10515599" cy="672105"/>
          </a:xfrm>
        </p:spPr>
        <p:txBody>
          <a:bodyPr/>
          <a:lstStyle/>
          <a:p>
            <a:pPr marL="457200" indent="-457200">
              <a:buFont typeface="Arial" panose="020B0604020202020204" pitchFamily="34" charset="0"/>
              <a:buChar char="•"/>
            </a:pPr>
            <a:r>
              <a:rPr lang="en-US" sz="2600" dirty="0"/>
              <a:t>Dec. 11: NetSolutions paid creditors $400.</a:t>
            </a:r>
          </a:p>
        </p:txBody>
      </p:sp>
      <p:pic>
        <p:nvPicPr>
          <p:cNvPr id="6" name="Content Placeholder 5" descr="An analysis for the transaction reads: A liability (Accounts Payable) and an asset (Cash) decrease. This transaction is recorded as a $400 decrease (debit) to Accounts Payable and a $400 decrease (credit) to Cash.&#10;&#10;Under the analysis, A journal entry is shown. December 11 is the date indicated. Accounts Payable is debited—with 21 shown in the Posting Reference column and 400 shown in the Debit column. Cash is credited—with 11 shown in the Posting Reference column and 400 shown in the Credit column. A journal entry explanation is given below the journal entry: Paid creditors on account.&#10;&#10;Below the journal form, the accounting equation impact is illustrated.&#10;&#10;The accounting equation is shown: Assets = Liabilities + Stockholders’ Equity.&#10;&#10;Under Assets in the accounting equation, a T account for Cash is shown. The account number, 11, is shown in the top-right corner of the T account. On the right, in the credit column of the Cash T account, a December 11 entry of 400 is shown. The debit column of the Cash T account is blank.&#10;&#10;Under Liabilities in the accounting equation, a T account for Accounts Payable is shown. The account number, 21, is shown in the top-right corner of the T account. On the left, in the debit column of the Accounts Payable T account, a December 11 entry of 400 is shown. The credit column of the Accounts Payable T account is blank.&#10;">
            <a:extLst>
              <a:ext uri="{FF2B5EF4-FFF2-40B4-BE49-F238E27FC236}">
                <a16:creationId xmlns:a16="http://schemas.microsoft.com/office/drawing/2014/main" id="{3C282DB0-8784-4E3A-855F-0BFADCA8F7AD}"/>
              </a:ext>
            </a:extLst>
          </p:cNvPr>
          <p:cNvPicPr>
            <a:picLocks noGrp="1" noChangeAspect="1"/>
          </p:cNvPicPr>
          <p:nvPr>
            <p:ph sz="quarter" idx="17"/>
          </p:nvPr>
        </p:nvPicPr>
        <p:blipFill>
          <a:blip r:embed="rId2"/>
          <a:stretch>
            <a:fillRect/>
          </a:stretch>
        </p:blipFill>
        <p:spPr>
          <a:xfrm>
            <a:off x="715814" y="2433053"/>
            <a:ext cx="10637985" cy="2490639"/>
          </a:xfrm>
          <a:prstGeom prst="rect">
            <a:avLst/>
          </a:prstGeom>
        </p:spPr>
      </p:pic>
    </p:spTree>
    <p:extLst>
      <p:ext uri="{BB962C8B-B14F-4D97-AF65-F5344CB8AC3E}">
        <p14:creationId xmlns:p14="http://schemas.microsoft.com/office/powerpoint/2010/main" val="3943418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0233-84A8-494E-B4B1-694ADCA7A934}"/>
              </a:ext>
            </a:extLst>
          </p:cNvPr>
          <p:cNvSpPr>
            <a:spLocks noGrp="1"/>
          </p:cNvSpPr>
          <p:nvPr>
            <p:ph type="title"/>
          </p:nvPr>
        </p:nvSpPr>
        <p:spPr/>
        <p:txBody>
          <a:bodyPr/>
          <a:lstStyle/>
          <a:p>
            <a:r>
              <a:rPr lang="en-US" dirty="0"/>
              <a:t>Transaction 7</a:t>
            </a:r>
          </a:p>
        </p:txBody>
      </p:sp>
      <p:sp>
        <p:nvSpPr>
          <p:cNvPr id="3" name="Text Placeholder 2">
            <a:extLst>
              <a:ext uri="{FF2B5EF4-FFF2-40B4-BE49-F238E27FC236}">
                <a16:creationId xmlns:a16="http://schemas.microsoft.com/office/drawing/2014/main" id="{E70CD2DA-61DD-4C81-BE42-951EE3240C6A}"/>
              </a:ext>
            </a:extLst>
          </p:cNvPr>
          <p:cNvSpPr>
            <a:spLocks noGrp="1"/>
          </p:cNvSpPr>
          <p:nvPr>
            <p:ph sz="quarter" idx="16"/>
          </p:nvPr>
        </p:nvSpPr>
        <p:spPr>
          <a:xfrm>
            <a:off x="838200" y="1607126"/>
            <a:ext cx="10515600" cy="672105"/>
          </a:xfrm>
        </p:spPr>
        <p:txBody>
          <a:bodyPr/>
          <a:lstStyle/>
          <a:p>
            <a:pPr marL="457200" indent="-457200">
              <a:buFont typeface="Arial" panose="020B0604020202020204" pitchFamily="34" charset="0"/>
              <a:buChar char="•"/>
            </a:pPr>
            <a:r>
              <a:rPr lang="en-US" sz="2600" dirty="0"/>
              <a:t>Dec. 13: NetSolutions paid a receptionist and a part-time assistant $950 for two weeks’ wages.</a:t>
            </a:r>
          </a:p>
        </p:txBody>
      </p:sp>
      <p:pic>
        <p:nvPicPr>
          <p:cNvPr id="6" name="Content Placeholder 5" descr="An analysis for the transaction reads: This transaction is similar to the December 6 transaction, where an expense account is increased and Cash is decreased. This transaction is recorded as a $950 increase (debit) to Wages Expense and a $950 decrease (credit) to Cash.&#10;&#10;Under the analysis, A journal entry is shown on page 3 of a journal form. December 13, 20Y3, is the date indicated. Wages Expense is debited—with 51 shown in the Posting Reference column and 950 shown in the Debit column. Cash is credited—with 11 shown in the Posting Reference column and 950 shown in the Credit column. A journal entry explanation is given below the journal entry: Paid two weeks’ wages.&#10;&#10;Below the journal form, the accounting equation impact is illustrated.&#10;&#10;The accounting equation is shown: Assets = Liabilities + Stockholders’ Equity (Expense).&#10;&#10;Under Assets in the accounting equation, a T account for Cash is shown. The account number, 11, is shown in the top-right corner of the T account. On the right, in the credit column of the Cash T account, a December 13 entry of 950 is shown. The debit column of the Cash T account is blank.&#10;&#10;Under Stockholders’ Equity (Expense) in the accounting equation, a T account for Wages Expense is shown. The account number, 51, is shown in the top-right corner of the T account. On the left, in the debit column of the Wages Expense T account, a December 13 entry of 950 is shown. The credit column of the Wages Expense T account is blank.&#10;">
            <a:extLst>
              <a:ext uri="{FF2B5EF4-FFF2-40B4-BE49-F238E27FC236}">
                <a16:creationId xmlns:a16="http://schemas.microsoft.com/office/drawing/2014/main" id="{29CBDEF2-177B-48DA-A062-8B7A1A049EAC}"/>
              </a:ext>
            </a:extLst>
          </p:cNvPr>
          <p:cNvPicPr>
            <a:picLocks noGrp="1" noChangeAspect="1"/>
          </p:cNvPicPr>
          <p:nvPr>
            <p:ph sz="quarter" idx="17"/>
          </p:nvPr>
        </p:nvPicPr>
        <p:blipFill>
          <a:blip r:embed="rId2"/>
          <a:stretch>
            <a:fillRect/>
          </a:stretch>
        </p:blipFill>
        <p:spPr>
          <a:xfrm>
            <a:off x="1017008" y="2495722"/>
            <a:ext cx="10157983" cy="3658893"/>
          </a:xfrm>
          <a:prstGeom prst="rect">
            <a:avLst/>
          </a:prstGeom>
        </p:spPr>
      </p:pic>
    </p:spTree>
    <p:extLst>
      <p:ext uri="{BB962C8B-B14F-4D97-AF65-F5344CB8AC3E}">
        <p14:creationId xmlns:p14="http://schemas.microsoft.com/office/powerpoint/2010/main" val="2440179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CA15-75C8-4215-8EAA-7279D8A26728}"/>
              </a:ext>
            </a:extLst>
          </p:cNvPr>
          <p:cNvSpPr>
            <a:spLocks noGrp="1"/>
          </p:cNvSpPr>
          <p:nvPr>
            <p:ph type="title"/>
          </p:nvPr>
        </p:nvSpPr>
        <p:spPr/>
        <p:txBody>
          <a:bodyPr/>
          <a:lstStyle/>
          <a:p>
            <a:r>
              <a:rPr lang="en-US" dirty="0"/>
              <a:t>Transaction 8</a:t>
            </a:r>
          </a:p>
        </p:txBody>
      </p:sp>
      <p:sp>
        <p:nvSpPr>
          <p:cNvPr id="3" name="Text Placeholder 2">
            <a:extLst>
              <a:ext uri="{FF2B5EF4-FFF2-40B4-BE49-F238E27FC236}">
                <a16:creationId xmlns:a16="http://schemas.microsoft.com/office/drawing/2014/main" id="{B4339429-A653-4EEA-8CC1-693214480B56}"/>
              </a:ext>
            </a:extLst>
          </p:cNvPr>
          <p:cNvSpPr>
            <a:spLocks noGrp="1"/>
          </p:cNvSpPr>
          <p:nvPr>
            <p:ph sz="quarter" idx="16"/>
          </p:nvPr>
        </p:nvSpPr>
        <p:spPr>
          <a:xfrm>
            <a:off x="838200" y="1607126"/>
            <a:ext cx="10515600" cy="837136"/>
          </a:xfrm>
        </p:spPr>
        <p:txBody>
          <a:bodyPr/>
          <a:lstStyle/>
          <a:p>
            <a:pPr marL="457200" indent="-457200">
              <a:buFont typeface="Arial" panose="020B0604020202020204" pitchFamily="34" charset="0"/>
              <a:buChar char="•"/>
            </a:pPr>
            <a:r>
              <a:rPr lang="en-US" sz="2600" dirty="0"/>
              <a:t>Dec. 16: NetSolutions received $3,100 from fees earned for the first half of December.</a:t>
            </a:r>
          </a:p>
        </p:txBody>
      </p:sp>
      <p:pic>
        <p:nvPicPr>
          <p:cNvPr id="6" name="Content Placeholder 5" descr="An analysis for the transaction reads: An asset account (Cash) and a revenue account (Fees Earned) increase. This transaction is recorded as a $3,100 increase (debit) to Cash and a $3,100 increase (credit) to Fees Earned.&#10;&#10;Under the analysis, A journal entry is shown. December 16 is the date indicated. Cash is debited—with 11 shown in the Posting Reference column and 3,100 shown in the Debit column. Fees Earned is credited—with 41 shown in the Posting Reference column and 3,100 shown in the Credit column. A journal entry explanation is given below the journal entry: Received fees from customers.&#10;&#10;Below the journal form, the accounting equation impact is illustrated.&#10;&#10;The accounting equation is shown: Assets = Liabilities + Stockholders’ Equity (Revenue).&#10;&#10;Under Assets in the accounting equation, a T account for Cash is shown. The account number, 11, is shown in the top-right corner of the T account. On the left, in the debit column of the Cash T account, a December 16 entry of 3,100 is shown. The credit column of the Cash T account is blank.&#10;&#10;Under Stockholders’ Equity (Revenue) in the accounting equation, a T account for Fees Earned is shown. The account number, 41, is shown in the top-right corner of the T account. On the right, in the credit column of the Fees Earned T account, a December 16 entry of 3,100 is shown. The debit column of the Fees Earned T account is blank.&#10;">
            <a:extLst>
              <a:ext uri="{FF2B5EF4-FFF2-40B4-BE49-F238E27FC236}">
                <a16:creationId xmlns:a16="http://schemas.microsoft.com/office/drawing/2014/main" id="{10E68FC3-2DD8-4CE1-83D3-2840FD4FBF51}"/>
              </a:ext>
            </a:extLst>
          </p:cNvPr>
          <p:cNvPicPr>
            <a:picLocks noGrp="1" noChangeAspect="1"/>
          </p:cNvPicPr>
          <p:nvPr>
            <p:ph sz="quarter" idx="17"/>
          </p:nvPr>
        </p:nvPicPr>
        <p:blipFill>
          <a:blip r:embed="rId2"/>
          <a:stretch>
            <a:fillRect/>
          </a:stretch>
        </p:blipFill>
        <p:spPr>
          <a:xfrm>
            <a:off x="838199" y="2707134"/>
            <a:ext cx="10541349" cy="2543740"/>
          </a:xfrm>
          <a:prstGeom prst="rect">
            <a:avLst/>
          </a:prstGeom>
        </p:spPr>
      </p:pic>
    </p:spTree>
    <p:extLst>
      <p:ext uri="{BB962C8B-B14F-4D97-AF65-F5344CB8AC3E}">
        <p14:creationId xmlns:p14="http://schemas.microsoft.com/office/powerpoint/2010/main" val="2439706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62A8-A7E5-4D1D-92B6-22F2703F36F9}"/>
              </a:ext>
            </a:extLst>
          </p:cNvPr>
          <p:cNvSpPr>
            <a:spLocks noGrp="1"/>
          </p:cNvSpPr>
          <p:nvPr>
            <p:ph type="title"/>
          </p:nvPr>
        </p:nvSpPr>
        <p:spPr/>
        <p:txBody>
          <a:bodyPr/>
          <a:lstStyle/>
          <a:p>
            <a:r>
              <a:rPr lang="en-US" dirty="0"/>
              <a:t>Transaction 9</a:t>
            </a:r>
          </a:p>
        </p:txBody>
      </p:sp>
      <p:sp>
        <p:nvSpPr>
          <p:cNvPr id="3" name="Text Placeholder 2">
            <a:extLst>
              <a:ext uri="{FF2B5EF4-FFF2-40B4-BE49-F238E27FC236}">
                <a16:creationId xmlns:a16="http://schemas.microsoft.com/office/drawing/2014/main" id="{EDA39BC4-F261-4CE1-9957-8F2A89C26BDA}"/>
              </a:ext>
            </a:extLst>
          </p:cNvPr>
          <p:cNvSpPr>
            <a:spLocks noGrp="1"/>
          </p:cNvSpPr>
          <p:nvPr>
            <p:ph sz="quarter" idx="16"/>
          </p:nvPr>
        </p:nvSpPr>
        <p:spPr>
          <a:xfrm>
            <a:off x="838200" y="1607126"/>
            <a:ext cx="10515600" cy="921708"/>
          </a:xfrm>
        </p:spPr>
        <p:txBody>
          <a:bodyPr/>
          <a:lstStyle/>
          <a:p>
            <a:pPr marL="457200" indent="-457200">
              <a:buFont typeface="Arial" panose="020B0604020202020204" pitchFamily="34" charset="0"/>
              <a:buChar char="•"/>
            </a:pPr>
            <a:r>
              <a:rPr lang="en-US" sz="2600" dirty="0"/>
              <a:t>Dec. 16: Fees earned on account totaled $1,750 for the first half of December.</a:t>
            </a:r>
          </a:p>
        </p:txBody>
      </p:sp>
      <p:pic>
        <p:nvPicPr>
          <p:cNvPr id="6" name="Content Placeholder 5" descr="An analysis for the transaction reads: When a business agrees that a customer may pay for services provided at a later date, an account receivable is created. An account receivable is a claim against the customer. An account receivable is an asset, and the revenue is earned even though no cash has been received. Thus, this transaction is recorded as a $1,750 increase (debit) to Accounts Receivable and a $1,750 increase (credit) to Fees Earned.&#10;&#10;Under the analysis, a journal entry is shown. December 16 is the date indicated. Accounts Receivable is debited—with 12 shown in the Posting Reference column and 1,750 shown in the Debit column. Fees Earned is credited—with 41 shown in the Posting Reference column and 1,750 shown in the Credit column. A journal entry explanation is given below the journal entry: Fees earned on account.&#10;&#10;Below the journal form, the accounting equation impact is illustrated.&#10;&#10;The accounting equation is shown: Assets = Liabilities + Stockholders’ Equity (Revenue).&#10;&#10;Under Assets in the accounting equation, a T account for Accounts Receivable is shown. The account number, 12, is shown in the top-right corner of the T account. On the left, in the debit column of the Accounts Receivable T account, a December 16 entry of 1,750 is shown. The credit column of the Accounts Receivable T account is blank.&#10;&#10;Under Stockholders’ Equity (Revenue) in the accounting equation, a T account for Fees Earned is shown. The account number, 41, is shown in the top-right corner of the T account. On the right, in the credit column of the Fees Earned T account, a December 16 entry of 1,750 is shown. The debit column of the Fees Earned T account is blank.&#10;">
            <a:extLst>
              <a:ext uri="{FF2B5EF4-FFF2-40B4-BE49-F238E27FC236}">
                <a16:creationId xmlns:a16="http://schemas.microsoft.com/office/drawing/2014/main" id="{077D657B-DC8D-436E-9481-6DF56EA65575}"/>
              </a:ext>
            </a:extLst>
          </p:cNvPr>
          <p:cNvPicPr>
            <a:picLocks noGrp="1" noChangeAspect="1"/>
          </p:cNvPicPr>
          <p:nvPr>
            <p:ph sz="quarter" idx="17"/>
          </p:nvPr>
        </p:nvPicPr>
        <p:blipFill>
          <a:blip r:embed="rId2"/>
          <a:stretch>
            <a:fillRect/>
          </a:stretch>
        </p:blipFill>
        <p:spPr>
          <a:xfrm>
            <a:off x="682186" y="2528834"/>
            <a:ext cx="10827628" cy="3379597"/>
          </a:xfrm>
          <a:prstGeom prst="rect">
            <a:avLst/>
          </a:prstGeom>
        </p:spPr>
      </p:pic>
    </p:spTree>
    <p:extLst>
      <p:ext uri="{BB962C8B-B14F-4D97-AF65-F5344CB8AC3E}">
        <p14:creationId xmlns:p14="http://schemas.microsoft.com/office/powerpoint/2010/main" val="2548911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B5AE-EB18-4BFB-9E3D-49F8E91AF0DB}"/>
              </a:ext>
            </a:extLst>
          </p:cNvPr>
          <p:cNvSpPr>
            <a:spLocks noGrp="1"/>
          </p:cNvSpPr>
          <p:nvPr>
            <p:ph type="title"/>
          </p:nvPr>
        </p:nvSpPr>
        <p:spPr/>
        <p:txBody>
          <a:bodyPr/>
          <a:lstStyle/>
          <a:p>
            <a:r>
              <a:rPr lang="en-US" dirty="0"/>
              <a:t>Transaction 10</a:t>
            </a:r>
          </a:p>
        </p:txBody>
      </p:sp>
      <p:sp>
        <p:nvSpPr>
          <p:cNvPr id="3" name="Text Placeholder 2">
            <a:extLst>
              <a:ext uri="{FF2B5EF4-FFF2-40B4-BE49-F238E27FC236}">
                <a16:creationId xmlns:a16="http://schemas.microsoft.com/office/drawing/2014/main" id="{539270EB-4FB1-40A2-B813-30EBECD9D336}"/>
              </a:ext>
            </a:extLst>
          </p:cNvPr>
          <p:cNvSpPr>
            <a:spLocks noGrp="1"/>
          </p:cNvSpPr>
          <p:nvPr>
            <p:ph sz="quarter" idx="16"/>
          </p:nvPr>
        </p:nvSpPr>
        <p:spPr>
          <a:xfrm>
            <a:off x="838200" y="1607126"/>
            <a:ext cx="10515600" cy="1311920"/>
          </a:xfrm>
        </p:spPr>
        <p:txBody>
          <a:bodyPr/>
          <a:lstStyle/>
          <a:p>
            <a:pPr marL="457200" indent="-457200">
              <a:buFont typeface="Arial" panose="020B0604020202020204" pitchFamily="34" charset="0"/>
              <a:buChar char="•"/>
            </a:pPr>
            <a:r>
              <a:rPr lang="en-US" sz="2600" dirty="0"/>
              <a:t>Dec. 20: NetSolutions paid $900 to Executive Supply Co. on the $1,800 debt owed from the December 4 transaction.</a:t>
            </a:r>
          </a:p>
        </p:txBody>
      </p:sp>
      <p:pic>
        <p:nvPicPr>
          <p:cNvPr id="6" name="Content Placeholder 5" descr="An analysis for the transaction reads: This is similar to the transaction of December 11. This transaction is recorded as a $900 decrease (debit) to Accounts Payable and a $900 decrease (credit) to Cash.&#10;&#10;Under the analysis, a journal entry is shown. December 20 is the date indicated. Accounts Payable is debited—with 21 shown in the Posting Reference column and 900 shown in the Debit column. Cash is credited—with 11 shown in the Posting Reference column and 900 shown in the Credit column. A journal entry explanation is given below the journal entry: Paid creditors on account.&#10;&#10;Below the journal form, the accounting equation impact is illustrated.&#10;&#10;The accounting equation is shown: Assets = Liabilities + Stockholders’ Equity.&#10;&#10;Under Assets in the accounting equation, a T account for Cash is shown. The account number, 11, is shown in the top-right corner of the T account. On the right, in the credit column of the Cash T account, a December 20 entry of 900 is shown. The debit column of the Cash T account is blank.&#10;&#10;Under Liabilities in the accounting equation, a T account for Accounts Payable is shown. The account number, 21, is shown in the top-right corner of the T account. On the left, in the debit column of the Accounts Payable T account, a December 20 entry of 900 is shown. The credit column of the Accounts Payable T account is blank.&#10;">
            <a:extLst>
              <a:ext uri="{FF2B5EF4-FFF2-40B4-BE49-F238E27FC236}">
                <a16:creationId xmlns:a16="http://schemas.microsoft.com/office/drawing/2014/main" id="{EA9E3B17-2D06-474D-ADF7-4C3EC5BAB126}"/>
              </a:ext>
            </a:extLst>
          </p:cNvPr>
          <p:cNvPicPr>
            <a:picLocks noGrp="1" noChangeAspect="1"/>
          </p:cNvPicPr>
          <p:nvPr>
            <p:ph sz="quarter" idx="17"/>
          </p:nvPr>
        </p:nvPicPr>
        <p:blipFill>
          <a:blip r:embed="rId2"/>
          <a:stretch>
            <a:fillRect/>
          </a:stretch>
        </p:blipFill>
        <p:spPr>
          <a:xfrm>
            <a:off x="1031299" y="2734153"/>
            <a:ext cx="10322501" cy="2409603"/>
          </a:xfrm>
          <a:prstGeom prst="rect">
            <a:avLst/>
          </a:prstGeom>
        </p:spPr>
      </p:pic>
    </p:spTree>
    <p:extLst>
      <p:ext uri="{BB962C8B-B14F-4D97-AF65-F5344CB8AC3E}">
        <p14:creationId xmlns:p14="http://schemas.microsoft.com/office/powerpoint/2010/main" val="2840323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6742-A91B-44B3-88CE-D3C87AE1316F}"/>
              </a:ext>
            </a:extLst>
          </p:cNvPr>
          <p:cNvSpPr>
            <a:spLocks noGrp="1"/>
          </p:cNvSpPr>
          <p:nvPr>
            <p:ph type="title"/>
          </p:nvPr>
        </p:nvSpPr>
        <p:spPr/>
        <p:txBody>
          <a:bodyPr/>
          <a:lstStyle/>
          <a:p>
            <a:r>
              <a:rPr lang="en-US" dirty="0"/>
              <a:t>Transaction 11</a:t>
            </a:r>
          </a:p>
        </p:txBody>
      </p:sp>
      <p:sp>
        <p:nvSpPr>
          <p:cNvPr id="3" name="Text Placeholder 2">
            <a:extLst>
              <a:ext uri="{FF2B5EF4-FFF2-40B4-BE49-F238E27FC236}">
                <a16:creationId xmlns:a16="http://schemas.microsoft.com/office/drawing/2014/main" id="{42FFC55E-F8A0-480A-A61D-10A4A685372F}"/>
              </a:ext>
            </a:extLst>
          </p:cNvPr>
          <p:cNvSpPr>
            <a:spLocks noGrp="1"/>
          </p:cNvSpPr>
          <p:nvPr>
            <p:ph sz="quarter" idx="16"/>
          </p:nvPr>
        </p:nvSpPr>
        <p:spPr>
          <a:xfrm>
            <a:off x="838200" y="1607126"/>
            <a:ext cx="10515600" cy="928084"/>
          </a:xfrm>
        </p:spPr>
        <p:txBody>
          <a:bodyPr/>
          <a:lstStyle/>
          <a:p>
            <a:pPr marL="457200" indent="-457200">
              <a:buFont typeface="Arial" panose="020B0604020202020204" pitchFamily="34" charset="0"/>
              <a:buChar char="•"/>
            </a:pPr>
            <a:r>
              <a:rPr lang="en-US" sz="2600" dirty="0"/>
              <a:t>Dec. 21: NetSolutions received $650 from customers in payment of their accounts.</a:t>
            </a:r>
          </a:p>
        </p:txBody>
      </p:sp>
      <p:pic>
        <p:nvPicPr>
          <p:cNvPr id="6" name="Content Placeholder 5" descr="An analysis for the transaction reads: When customers pay amounts owed for services they have previously received, one asset increases and another asset decreases. This transaction is recorded as a $650 increase (debit) to Cash and a $650 decrease (credit) to Accounts Receivable.&#10;&#10;Under the analysis, a journal entry is shown. December 21 is the date indicated. Cash is debited—with 11 shown in the Posting Reference column and 650 shown in the Debit column. Accounts Receivable is credited—with 12 shown in the Posting Reference column and 650 shown in the Credit column. A journal entry explanation is given below the journal entry: Received cash from customers on account.&#10;&#10;Below the journal form, the accounting equation impact is illustrated.&#10;&#10;The accounting equation is shown: Assets = Liabilities + Stockholders’ Equity.&#10;&#10;Under Assets in the accounting equation, a T account for Cash is shown. The account number, 11, is shown in the top-right corner of the T account. On the left, in the debit column of the Cash T account, a December 21 entry of 650 is shown. The credit column of the Cash T account is blank.&#10;&#10;Under the Cash T account, a T account for Accounts Receivable is shown. The account number, 12, is shown in the top-right corner of the T account. On the right, in the credit column of the Accounts Receivable T account, a December 21 entry of 650 is shown. The debit column of the Accounts Receivable T account is blank.&#10;">
            <a:extLst>
              <a:ext uri="{FF2B5EF4-FFF2-40B4-BE49-F238E27FC236}">
                <a16:creationId xmlns:a16="http://schemas.microsoft.com/office/drawing/2014/main" id="{43153AE6-3CF5-4301-B665-9782B079EA7D}"/>
              </a:ext>
            </a:extLst>
          </p:cNvPr>
          <p:cNvPicPr>
            <a:picLocks noGrp="1" noChangeAspect="1"/>
          </p:cNvPicPr>
          <p:nvPr>
            <p:ph sz="quarter" idx="17"/>
          </p:nvPr>
        </p:nvPicPr>
        <p:blipFill>
          <a:blip r:embed="rId2"/>
          <a:stretch>
            <a:fillRect/>
          </a:stretch>
        </p:blipFill>
        <p:spPr>
          <a:xfrm>
            <a:off x="838199" y="2535210"/>
            <a:ext cx="11032897" cy="3415723"/>
          </a:xfrm>
          <a:prstGeom prst="rect">
            <a:avLst/>
          </a:prstGeom>
        </p:spPr>
      </p:pic>
    </p:spTree>
    <p:extLst>
      <p:ext uri="{BB962C8B-B14F-4D97-AF65-F5344CB8AC3E}">
        <p14:creationId xmlns:p14="http://schemas.microsoft.com/office/powerpoint/2010/main" val="3998471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ADD41-6429-4F6F-9214-F1D67ABB40AB}"/>
              </a:ext>
            </a:extLst>
          </p:cNvPr>
          <p:cNvSpPr>
            <a:spLocks noGrp="1"/>
          </p:cNvSpPr>
          <p:nvPr>
            <p:ph type="title"/>
          </p:nvPr>
        </p:nvSpPr>
        <p:spPr/>
        <p:txBody>
          <a:bodyPr/>
          <a:lstStyle/>
          <a:p>
            <a:r>
              <a:rPr lang="en-US" dirty="0"/>
              <a:t>Transaction 12</a:t>
            </a:r>
          </a:p>
        </p:txBody>
      </p:sp>
      <p:sp>
        <p:nvSpPr>
          <p:cNvPr id="3" name="Text Placeholder 2">
            <a:extLst>
              <a:ext uri="{FF2B5EF4-FFF2-40B4-BE49-F238E27FC236}">
                <a16:creationId xmlns:a16="http://schemas.microsoft.com/office/drawing/2014/main" id="{ACE0CEA6-1D30-4342-B5C8-8B2605A0582E}"/>
              </a:ext>
            </a:extLst>
          </p:cNvPr>
          <p:cNvSpPr>
            <a:spLocks noGrp="1"/>
          </p:cNvSpPr>
          <p:nvPr>
            <p:ph sz="quarter" idx="16"/>
          </p:nvPr>
        </p:nvSpPr>
        <p:spPr>
          <a:xfrm>
            <a:off x="838200" y="1607126"/>
            <a:ext cx="10515600" cy="837136"/>
          </a:xfrm>
        </p:spPr>
        <p:txBody>
          <a:bodyPr/>
          <a:lstStyle/>
          <a:p>
            <a:pPr marL="457200" indent="-457200">
              <a:buFont typeface="Arial" panose="020B0604020202020204" pitchFamily="34" charset="0"/>
              <a:buChar char="•"/>
            </a:pPr>
            <a:r>
              <a:rPr lang="en-US" sz="2600" dirty="0"/>
              <a:t>Dec. 23: NetSolutions paid $1,450 for supplies.</a:t>
            </a:r>
          </a:p>
        </p:txBody>
      </p:sp>
      <p:pic>
        <p:nvPicPr>
          <p:cNvPr id="6" name="Content Placeholder 5" descr="An analysis for the transaction reads: One asset account (Supplies) increases, and another asset account (Cash) decreases. This transaction is recorded as a $1,450 increase (debit) to Supplies and a $1,450 decrease (credit) to Cash.&#10;&#10;Under the analysis, A journal entry is shown. December 23 is the date indicated. Supplies is debited—with 14 shown in the Posting Reference column and 1,450 shown in the Debit column. Cash is credited—with 11 shown in the Posting Reference column and 1,450 shown in the Credit column. A journal entry explanation is given below the journal entry: Purchased supplies.&#10;&#10;Below the journal form, the accounting equation impact is illustrated.&#10;&#10;The accounting equation is shown: Assets = Liabilities + Stockholders’ Equity.&#10;&#10;Under Assets in the accounting equation, a T account for Cash is shown. The account number, 11, is shown in the top-right corner of the T account. On the right, in the credit column of the Cash T account, a December 23 entry of 1,450 is shown. The debit column of the Cash T account is blank. &#10;&#10;Under the Cash T account, a T account for Supplies is shown. The account number, 14, is shown in the top-right corner of the T account. On the left, in the debit column of the Supplies T account, a December 23 entry of 1,450 is shown. The credit column of the Supplies T account is blank.&#10;">
            <a:extLst>
              <a:ext uri="{FF2B5EF4-FFF2-40B4-BE49-F238E27FC236}">
                <a16:creationId xmlns:a16="http://schemas.microsoft.com/office/drawing/2014/main" id="{CB66C64F-4AF0-4089-82E6-7321AB9E50A0}"/>
              </a:ext>
            </a:extLst>
          </p:cNvPr>
          <p:cNvPicPr>
            <a:picLocks noGrp="1" noChangeAspect="1"/>
          </p:cNvPicPr>
          <p:nvPr>
            <p:ph sz="quarter" idx="17"/>
          </p:nvPr>
        </p:nvPicPr>
        <p:blipFill>
          <a:blip r:embed="rId2"/>
          <a:stretch>
            <a:fillRect/>
          </a:stretch>
        </p:blipFill>
        <p:spPr>
          <a:xfrm>
            <a:off x="838199" y="2609623"/>
            <a:ext cx="10649515" cy="2982285"/>
          </a:xfrm>
          <a:prstGeom prst="rect">
            <a:avLst/>
          </a:prstGeom>
        </p:spPr>
      </p:pic>
    </p:spTree>
    <p:extLst>
      <p:ext uri="{BB962C8B-B14F-4D97-AF65-F5344CB8AC3E}">
        <p14:creationId xmlns:p14="http://schemas.microsoft.com/office/powerpoint/2010/main" val="409543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00B8E-79FD-4896-AC62-C098EE548B1E}"/>
              </a:ext>
            </a:extLst>
          </p:cNvPr>
          <p:cNvSpPr>
            <a:spLocks noGrp="1"/>
          </p:cNvSpPr>
          <p:nvPr>
            <p:ph type="title"/>
          </p:nvPr>
        </p:nvSpPr>
        <p:spPr/>
        <p:txBody>
          <a:bodyPr/>
          <a:lstStyle/>
          <a:p>
            <a:r>
              <a:rPr lang="en-US" dirty="0"/>
              <a:t>Transaction 13</a:t>
            </a:r>
          </a:p>
        </p:txBody>
      </p:sp>
      <p:sp>
        <p:nvSpPr>
          <p:cNvPr id="3" name="Text Placeholder 2">
            <a:extLst>
              <a:ext uri="{FF2B5EF4-FFF2-40B4-BE49-F238E27FC236}">
                <a16:creationId xmlns:a16="http://schemas.microsoft.com/office/drawing/2014/main" id="{F45AEF7B-30F7-4035-A01C-7D8B589B05DD}"/>
              </a:ext>
            </a:extLst>
          </p:cNvPr>
          <p:cNvSpPr>
            <a:spLocks noGrp="1"/>
          </p:cNvSpPr>
          <p:nvPr>
            <p:ph sz="quarter" idx="16"/>
          </p:nvPr>
        </p:nvSpPr>
        <p:spPr>
          <a:xfrm>
            <a:off x="838200" y="1607126"/>
            <a:ext cx="10515600" cy="837136"/>
          </a:xfrm>
        </p:spPr>
        <p:txBody>
          <a:bodyPr/>
          <a:lstStyle/>
          <a:p>
            <a:pPr marL="457200" indent="-457200">
              <a:buFont typeface="Arial" panose="020B0604020202020204" pitchFamily="34" charset="0"/>
              <a:buChar char="•"/>
            </a:pPr>
            <a:r>
              <a:rPr lang="en-US" sz="2600" dirty="0"/>
              <a:t>Dec. 27: NetSolutions paid the receptionist and the part-time assistant $1,200 for two weeks’ wages.</a:t>
            </a:r>
          </a:p>
        </p:txBody>
      </p:sp>
      <p:pic>
        <p:nvPicPr>
          <p:cNvPr id="6" name="Content Placeholder 5" descr="An analysis for the transaction reads: This transaction is similar to the transaction of December 13. This transaction is recorded as a $1,200 increase (debit) to Wages Expense and a $1,200 decrease (credit) to Cash.&#10;&#10;Under the analysis, a journal entry is shown. December 27 is the date indicated. Wages Expense is debited—with 51 shown in the Posting Reference column and 1,200 shown in the Debit column. Cash is credited—with 11 shown in the Posting Reference column and 1,200 shown in the Credit column. A journal entry explanation is given below the journal entry: Paid two weeks’ wages.&#10;&#10;Below the journal form, the accounting equation impact is illustrated.&#10;&#10;The accounting equation is shown: Assets = Liabilities + Stockholders’ Equity (Expense).&#10;&#10;Under Assets in the accounting equation, a T account for Cash is shown. The account number, 11, is shown in the top-right corner of the T account. On the right, in the credit column of the Cash T account, a December 27 entry of 1,200 is shown. The debit column of the Cash T account is blank.&#10;&#10;Under Stockholders’ Equity (Expense) in the accounting equation, a T account for Wages Expense is shown. The account number, 51, is shown in the top-right corner of the T account. On the left, in the debit column of the Wages Expense T account, a December 27 entry of 1,200 is shown. The credit column of the Wages Expense T account is blank.&#10;">
            <a:extLst>
              <a:ext uri="{FF2B5EF4-FFF2-40B4-BE49-F238E27FC236}">
                <a16:creationId xmlns:a16="http://schemas.microsoft.com/office/drawing/2014/main" id="{789797DC-0B1F-46AA-A3F6-F4ABE1E03BB5}"/>
              </a:ext>
            </a:extLst>
          </p:cNvPr>
          <p:cNvPicPr>
            <a:picLocks noGrp="1" noChangeAspect="1"/>
          </p:cNvPicPr>
          <p:nvPr>
            <p:ph sz="quarter" idx="17"/>
          </p:nvPr>
        </p:nvPicPr>
        <p:blipFill>
          <a:blip r:embed="rId2"/>
          <a:stretch>
            <a:fillRect/>
          </a:stretch>
        </p:blipFill>
        <p:spPr>
          <a:xfrm>
            <a:off x="838200" y="2703167"/>
            <a:ext cx="10489308" cy="2547707"/>
          </a:xfrm>
          <a:prstGeom prst="rect">
            <a:avLst/>
          </a:prstGeom>
        </p:spPr>
      </p:pic>
    </p:spTree>
    <p:extLst>
      <p:ext uri="{BB962C8B-B14F-4D97-AF65-F5344CB8AC3E}">
        <p14:creationId xmlns:p14="http://schemas.microsoft.com/office/powerpoint/2010/main" val="3961903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074C-6440-4A9C-B0B0-979E38FB589A}"/>
              </a:ext>
            </a:extLst>
          </p:cNvPr>
          <p:cNvSpPr>
            <a:spLocks noGrp="1"/>
          </p:cNvSpPr>
          <p:nvPr>
            <p:ph type="title"/>
          </p:nvPr>
        </p:nvSpPr>
        <p:spPr/>
        <p:txBody>
          <a:bodyPr/>
          <a:lstStyle/>
          <a:p>
            <a:r>
              <a:rPr lang="en-US" dirty="0"/>
              <a:t>Transaction 14</a:t>
            </a:r>
          </a:p>
        </p:txBody>
      </p:sp>
      <p:sp>
        <p:nvSpPr>
          <p:cNvPr id="3" name="Text Placeholder 2">
            <a:extLst>
              <a:ext uri="{FF2B5EF4-FFF2-40B4-BE49-F238E27FC236}">
                <a16:creationId xmlns:a16="http://schemas.microsoft.com/office/drawing/2014/main" id="{709A4A61-B3A5-4EFE-BAA6-E2B37B3156D8}"/>
              </a:ext>
            </a:extLst>
          </p:cNvPr>
          <p:cNvSpPr>
            <a:spLocks noGrp="1"/>
          </p:cNvSpPr>
          <p:nvPr>
            <p:ph sz="quarter" idx="16"/>
          </p:nvPr>
        </p:nvSpPr>
        <p:spPr>
          <a:xfrm>
            <a:off x="838200" y="1607126"/>
            <a:ext cx="10515600" cy="854720"/>
          </a:xfrm>
        </p:spPr>
        <p:txBody>
          <a:bodyPr/>
          <a:lstStyle/>
          <a:p>
            <a:pPr marL="457200" indent="-457200">
              <a:buFont typeface="Arial" panose="020B0604020202020204" pitchFamily="34" charset="0"/>
              <a:buChar char="•"/>
            </a:pPr>
            <a:r>
              <a:rPr lang="en-US" sz="2600" dirty="0"/>
              <a:t>Dec. 31: NetSolutions paid its $310 telephone bill for the month.</a:t>
            </a:r>
          </a:p>
        </p:txBody>
      </p:sp>
      <p:pic>
        <p:nvPicPr>
          <p:cNvPr id="6" name="Content Placeholder 5" descr="An analysis for the transaction reads: This is similar to the transaction of December 6. This transaction is recorded as a $310 increase (debit) to Utilities Expense and a $310 decrease (credit) to Cash.&#10;&#10;Under the analysis, a journal entry is shown. December 31 is the date indicated. Utilities Expense is debited—with 54 shown in the Posting Reference column and 310 shown in the Debit column. Cash is credited—with 11 shown in the Posting Reference column and 310 shown in the Credit column. A journal entry explanation is given below the journal entry: Paid telephone bill.&#10;&#10;Below the journal form, the accounting equation impact is illustrated.&#10;&#10;The accounting equation is shown: Assets = Liabilities + Stockholders’ Equity (Expense).&#10;&#10;Under Assets in the accounting equation, a T account for Cash is shown. The account number, 11, is shown in the top-right corner of the T account. On the right, in the credit column of the Cash T account, a December 31 entry of 310 is shown. The debit column of the Cash T account is blank.&#10;&#10;Under Stockholders’ Equity (Expense) in the accounting equation, a T account for Utilities Expense is shown. The account number, 54, is shown in the top-right corner of the T account. On the left, in the debit column of the Utilities Expense T account, a December 31 entry of 310 is shown. The credit column of the Utilities Expense T account is blank.&#10;">
            <a:extLst>
              <a:ext uri="{FF2B5EF4-FFF2-40B4-BE49-F238E27FC236}">
                <a16:creationId xmlns:a16="http://schemas.microsoft.com/office/drawing/2014/main" id="{64687806-E66F-41CE-9537-C5203257C896}"/>
              </a:ext>
            </a:extLst>
          </p:cNvPr>
          <p:cNvPicPr>
            <a:picLocks noGrp="1" noChangeAspect="1"/>
          </p:cNvPicPr>
          <p:nvPr>
            <p:ph sz="quarter" idx="17"/>
          </p:nvPr>
        </p:nvPicPr>
        <p:blipFill>
          <a:blip r:embed="rId2"/>
          <a:stretch>
            <a:fillRect/>
          </a:stretch>
        </p:blipFill>
        <p:spPr>
          <a:xfrm>
            <a:off x="838199" y="2660997"/>
            <a:ext cx="10543575" cy="2737479"/>
          </a:xfrm>
          <a:prstGeom prst="rect">
            <a:avLst/>
          </a:prstGeom>
        </p:spPr>
      </p:pic>
    </p:spTree>
    <p:extLst>
      <p:ext uri="{BB962C8B-B14F-4D97-AF65-F5344CB8AC3E}">
        <p14:creationId xmlns:p14="http://schemas.microsoft.com/office/powerpoint/2010/main" val="2952183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9A9C-1CF2-4093-8CAD-D50F2A8EAFB7}"/>
              </a:ext>
            </a:extLst>
          </p:cNvPr>
          <p:cNvSpPr>
            <a:spLocks noGrp="1"/>
          </p:cNvSpPr>
          <p:nvPr>
            <p:ph type="title"/>
          </p:nvPr>
        </p:nvSpPr>
        <p:spPr/>
        <p:txBody>
          <a:bodyPr/>
          <a:lstStyle/>
          <a:p>
            <a:r>
              <a:rPr lang="en-US" dirty="0"/>
              <a:t>Transaction 15</a:t>
            </a:r>
          </a:p>
        </p:txBody>
      </p:sp>
      <p:sp>
        <p:nvSpPr>
          <p:cNvPr id="3" name="Text Placeholder 2">
            <a:extLst>
              <a:ext uri="{FF2B5EF4-FFF2-40B4-BE49-F238E27FC236}">
                <a16:creationId xmlns:a16="http://schemas.microsoft.com/office/drawing/2014/main" id="{C85FB00B-FAE4-409F-86BE-28C0CC4F492C}"/>
              </a:ext>
            </a:extLst>
          </p:cNvPr>
          <p:cNvSpPr>
            <a:spLocks noGrp="1"/>
          </p:cNvSpPr>
          <p:nvPr>
            <p:ph sz="quarter" idx="16"/>
          </p:nvPr>
        </p:nvSpPr>
        <p:spPr>
          <a:xfrm>
            <a:off x="838200" y="1607126"/>
            <a:ext cx="10515600" cy="891274"/>
          </a:xfrm>
        </p:spPr>
        <p:txBody>
          <a:bodyPr/>
          <a:lstStyle/>
          <a:p>
            <a:pPr marL="457200" indent="-457200">
              <a:buFont typeface="Arial" panose="020B0604020202020204" pitchFamily="34" charset="0"/>
              <a:buChar char="•"/>
            </a:pPr>
            <a:r>
              <a:rPr lang="en-US" sz="2600" dirty="0"/>
              <a:t>Dec. 31: NetSolutions paid its $225 electric bill for the month.</a:t>
            </a:r>
          </a:p>
        </p:txBody>
      </p:sp>
      <p:pic>
        <p:nvPicPr>
          <p:cNvPr id="6" name="Content Placeholder 5" descr="An analysis for the transaction reads: This is similar to the preceding transaction. This transaction is recorded as a $225 increase (debit) to Utilities Expense and a $225 decrease (credit) to Cash.&#10;&#10;Under the analysis, a journal entry is shown on page 4 of a journal form. December 31, 20Y3, is the date indicated. Utilities Expense is debited—with 54 shown in the Posting Reference column and 225 shown in the Debit column. Cash is credited—with 11 shown in the Posting Reference column and 225 shown in the Credit column. A journal entry explanation is given below the journal entry: Paid electric bill.&#10;&#10;Below the journal form, the accounting equation impact is illustrated.&#10;&#10;The accounting equation is shown: Assets = Liabilities + Stockholders’ Equity (Expense).&#10;&#10;Under Assets in the accounting equation, a T account for Cash is shown. The account number, 11, is shown in the top-right corner of the T account. On the right, in the credit column of the Cash T account, a December 31 entry of 225 is shown. The debit column of the Cash T account is blank.&#10;&#10;Under Stockholders’ Equity (Expense) in the accounting equation, a T account for Utilities Expense is shown. The account number, 54, is shown in the top-right corner of the T account. On the left, in the debit column of the Utilities Expense T account, a December 31 entry of 225 is shown. The credit column of the Utilities Expense T account is blank.&#10;">
            <a:extLst>
              <a:ext uri="{FF2B5EF4-FFF2-40B4-BE49-F238E27FC236}">
                <a16:creationId xmlns:a16="http://schemas.microsoft.com/office/drawing/2014/main" id="{4528318E-94F9-4827-9F8D-D8D8210A7C60}"/>
              </a:ext>
            </a:extLst>
          </p:cNvPr>
          <p:cNvPicPr>
            <a:picLocks noGrp="1" noChangeAspect="1"/>
          </p:cNvPicPr>
          <p:nvPr>
            <p:ph sz="quarter" idx="17"/>
          </p:nvPr>
        </p:nvPicPr>
        <p:blipFill>
          <a:blip r:embed="rId2"/>
          <a:stretch>
            <a:fillRect/>
          </a:stretch>
        </p:blipFill>
        <p:spPr>
          <a:xfrm>
            <a:off x="838200" y="2498400"/>
            <a:ext cx="10626294" cy="3445200"/>
          </a:xfrm>
          <a:prstGeom prst="rect">
            <a:avLst/>
          </a:prstGeom>
        </p:spPr>
      </p:pic>
    </p:spTree>
    <p:extLst>
      <p:ext uri="{BB962C8B-B14F-4D97-AF65-F5344CB8AC3E}">
        <p14:creationId xmlns:p14="http://schemas.microsoft.com/office/powerpoint/2010/main" val="23145519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661D1-AB07-4DFE-8116-FE835D23F908}"/>
              </a:ext>
            </a:extLst>
          </p:cNvPr>
          <p:cNvSpPr>
            <a:spLocks noGrp="1"/>
          </p:cNvSpPr>
          <p:nvPr>
            <p:ph type="title"/>
          </p:nvPr>
        </p:nvSpPr>
        <p:spPr/>
        <p:txBody>
          <a:bodyPr/>
          <a:lstStyle/>
          <a:p>
            <a:r>
              <a:rPr lang="en-US" dirty="0"/>
              <a:t>Transaction 16</a:t>
            </a:r>
          </a:p>
        </p:txBody>
      </p:sp>
      <p:sp>
        <p:nvSpPr>
          <p:cNvPr id="3" name="Text Placeholder 2">
            <a:extLst>
              <a:ext uri="{FF2B5EF4-FFF2-40B4-BE49-F238E27FC236}">
                <a16:creationId xmlns:a16="http://schemas.microsoft.com/office/drawing/2014/main" id="{C3D10834-869F-4B06-A733-4D3995B77B1C}"/>
              </a:ext>
            </a:extLst>
          </p:cNvPr>
          <p:cNvSpPr>
            <a:spLocks noGrp="1"/>
          </p:cNvSpPr>
          <p:nvPr>
            <p:ph sz="quarter" idx="16"/>
          </p:nvPr>
        </p:nvSpPr>
        <p:spPr>
          <a:xfrm>
            <a:off x="838200" y="1607126"/>
            <a:ext cx="10515600" cy="854720"/>
          </a:xfrm>
        </p:spPr>
        <p:txBody>
          <a:bodyPr/>
          <a:lstStyle/>
          <a:p>
            <a:pPr marL="457200" indent="-457200">
              <a:buFont typeface="Arial" panose="020B0604020202020204" pitchFamily="34" charset="0"/>
              <a:buChar char="•"/>
            </a:pPr>
            <a:r>
              <a:rPr lang="en-US" sz="2600" dirty="0"/>
              <a:t>Dec. 31: NetSolutions received $2,870 from fees earned for the second half of December.</a:t>
            </a:r>
            <a:endParaRPr lang="en-US" sz="2600" dirty="0">
              <a:highlight>
                <a:srgbClr val="FFFF00"/>
              </a:highlight>
            </a:endParaRPr>
          </a:p>
        </p:txBody>
      </p:sp>
      <p:pic>
        <p:nvPicPr>
          <p:cNvPr id="6" name="Content Placeholder 5" descr="An analysis for the transaction reads: This is similar to the transaction of December 16. This transaction is recorded as a $2,870 increase (debit) to Cash and a $2,870 increase (credit) to Fees Earned.&#10;&#10;Under the analysis, a journal entry is shown. December 31 is the date indicated. Cash is debited—with 11 shown in the Posting Reference column and 2,870 shown in the Debit column. Fees Earned is credited—with 41 shown in the Posting Reference column and 2,870 shown in the Credit column. A journal entry explanation is given below the journal entry: Received fees from customers.&#10;&#10;The accounting equation is shown: Assets = Liabilities + Stockholders’ Equity (Revenue).&#10;&#10;Under Assets in the accounting equation, a T account for Cash is shown. The account number, 11, is shown in the top-right corner of the T account. On the left, in the debit column of the Cash T account, a December 31 entry of 2,870 is shown. The credit column of the Cash T account is blank.&#10;&#10;Under Stockholders’ Equity (Revenue) in the accounting equation, a T account for Fees Earned is shown. The account number, 41, is shown in the top-right corner of the T account. On the right, in the credit column of the Fees Earned T account, a December 31 entry of 2,870 is shown. The debit column of the Fees Earned T account is blank.&#10;">
            <a:extLst>
              <a:ext uri="{FF2B5EF4-FFF2-40B4-BE49-F238E27FC236}">
                <a16:creationId xmlns:a16="http://schemas.microsoft.com/office/drawing/2014/main" id="{2AD33B03-A22D-48CD-B4F9-2154610388DE}"/>
              </a:ext>
            </a:extLst>
          </p:cNvPr>
          <p:cNvPicPr>
            <a:picLocks noGrp="1" noChangeAspect="1"/>
          </p:cNvPicPr>
          <p:nvPr>
            <p:ph sz="quarter" idx="17"/>
          </p:nvPr>
        </p:nvPicPr>
        <p:blipFill>
          <a:blip r:embed="rId2"/>
          <a:stretch>
            <a:fillRect/>
          </a:stretch>
        </p:blipFill>
        <p:spPr>
          <a:xfrm>
            <a:off x="838199" y="2682586"/>
            <a:ext cx="10229767" cy="2568287"/>
          </a:xfrm>
          <a:prstGeom prst="rect">
            <a:avLst/>
          </a:prstGeom>
        </p:spPr>
      </p:pic>
    </p:spTree>
    <p:extLst>
      <p:ext uri="{BB962C8B-B14F-4D97-AF65-F5344CB8AC3E}">
        <p14:creationId xmlns:p14="http://schemas.microsoft.com/office/powerpoint/2010/main" val="599948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C6A8-E1A2-4DC6-A2C5-D1738A7A82CC}"/>
              </a:ext>
            </a:extLst>
          </p:cNvPr>
          <p:cNvSpPr>
            <a:spLocks noGrp="1"/>
          </p:cNvSpPr>
          <p:nvPr>
            <p:ph type="title"/>
          </p:nvPr>
        </p:nvSpPr>
        <p:spPr/>
        <p:txBody>
          <a:bodyPr/>
          <a:lstStyle/>
          <a:p>
            <a:r>
              <a:rPr lang="en-US" dirty="0"/>
              <a:t>Transaction 17</a:t>
            </a:r>
          </a:p>
        </p:txBody>
      </p:sp>
      <p:sp>
        <p:nvSpPr>
          <p:cNvPr id="3" name="Text Placeholder 2">
            <a:extLst>
              <a:ext uri="{FF2B5EF4-FFF2-40B4-BE49-F238E27FC236}">
                <a16:creationId xmlns:a16="http://schemas.microsoft.com/office/drawing/2014/main" id="{E158E8D6-7495-45AF-8E4C-35292F50A4B3}"/>
              </a:ext>
            </a:extLst>
          </p:cNvPr>
          <p:cNvSpPr>
            <a:spLocks noGrp="1"/>
          </p:cNvSpPr>
          <p:nvPr>
            <p:ph sz="quarter" idx="16"/>
          </p:nvPr>
        </p:nvSpPr>
        <p:spPr>
          <a:xfrm>
            <a:off x="838200" y="1607126"/>
            <a:ext cx="10515600" cy="672105"/>
          </a:xfrm>
        </p:spPr>
        <p:txBody>
          <a:bodyPr/>
          <a:lstStyle/>
          <a:p>
            <a:pPr marL="457200" indent="-457200">
              <a:buFont typeface="Arial" panose="020B0604020202020204" pitchFamily="34" charset="0"/>
              <a:buChar char="•"/>
            </a:pPr>
            <a:r>
              <a:rPr lang="en-US" sz="2600" dirty="0"/>
              <a:t>Dec. 31: Fees earned on account totaled $1,120 for the second half of December.</a:t>
            </a:r>
          </a:p>
        </p:txBody>
      </p:sp>
      <p:pic>
        <p:nvPicPr>
          <p:cNvPr id="6" name="Content Placeholder 5" descr="An analysis for the transaction reads: This is similar to the transaction of December 16. This transaction is recorded as a $1,120 increase (debit) to Accounts Receivable and a $1,120 increase (credit) to Fees Earned.&#10;&#10;Under the analysis, a journal entry is shown. December 31 is the date indicated. Accounts Receivable is debited—with 12 shown in the Posting Reference column and 1,120 shown in the Debit column. Fees Earned is credited—with 41 shown in the Posting Reference column and 1,120 shown in the Credit column. A journal entry explanation is given below the journal entry: Fees earned on account.&#10;&#10;The accounting equation is shown: Assets = Liabilities + Stockholders’ Equity (Revenue).&#10;&#10;Under Assets in the accounting equation, a T account for Accounts Receivable is shown. The account number, 12, is shown in the top-right corner of the T account. On the left, in the debit column of the Accounts Receivable T account, a December 31 entry of 1,120 is shown. The credit column of the Accounts Receivable T account is blank.&#10;&#10;Under Stockholders’ Equity (Revenue) in the accounting equation, a T account for Fees Earned is shown. The account number, 41, is shown in the top-right corner of the T account. On the right, in the credit column of the Fees Earned T account, a December 31 entry of 1,120 is shown. The debit column of the Fees Earned T account is blank.&#10;">
            <a:extLst>
              <a:ext uri="{FF2B5EF4-FFF2-40B4-BE49-F238E27FC236}">
                <a16:creationId xmlns:a16="http://schemas.microsoft.com/office/drawing/2014/main" id="{0127B00A-4768-494F-BFFD-04957846D9D7}"/>
              </a:ext>
            </a:extLst>
          </p:cNvPr>
          <p:cNvPicPr>
            <a:picLocks noGrp="1" noChangeAspect="1"/>
          </p:cNvPicPr>
          <p:nvPr>
            <p:ph sz="quarter" idx="17"/>
          </p:nvPr>
        </p:nvPicPr>
        <p:blipFill>
          <a:blip r:embed="rId2"/>
          <a:stretch>
            <a:fillRect/>
          </a:stretch>
        </p:blipFill>
        <p:spPr>
          <a:xfrm>
            <a:off x="838199" y="2702740"/>
            <a:ext cx="10483751" cy="2548133"/>
          </a:xfrm>
          <a:prstGeom prst="rect">
            <a:avLst/>
          </a:prstGeom>
        </p:spPr>
      </p:pic>
    </p:spTree>
    <p:extLst>
      <p:ext uri="{BB962C8B-B14F-4D97-AF65-F5344CB8AC3E}">
        <p14:creationId xmlns:p14="http://schemas.microsoft.com/office/powerpoint/2010/main" val="2189814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8D36A-1122-4FDC-8CB4-951AAED68DB3}"/>
              </a:ext>
            </a:extLst>
          </p:cNvPr>
          <p:cNvSpPr>
            <a:spLocks noGrp="1"/>
          </p:cNvSpPr>
          <p:nvPr>
            <p:ph type="title"/>
          </p:nvPr>
        </p:nvSpPr>
        <p:spPr/>
        <p:txBody>
          <a:bodyPr/>
          <a:lstStyle/>
          <a:p>
            <a:r>
              <a:rPr lang="en-US" dirty="0"/>
              <a:t>Transaction 18</a:t>
            </a:r>
          </a:p>
        </p:txBody>
      </p:sp>
      <p:sp>
        <p:nvSpPr>
          <p:cNvPr id="3" name="Text Placeholder 2">
            <a:extLst>
              <a:ext uri="{FF2B5EF4-FFF2-40B4-BE49-F238E27FC236}">
                <a16:creationId xmlns:a16="http://schemas.microsoft.com/office/drawing/2014/main" id="{3A1DACB9-AD78-47D1-9D17-9AFB53AAF2B6}"/>
              </a:ext>
            </a:extLst>
          </p:cNvPr>
          <p:cNvSpPr>
            <a:spLocks noGrp="1"/>
          </p:cNvSpPr>
          <p:nvPr>
            <p:ph sz="quarter" idx="16"/>
          </p:nvPr>
        </p:nvSpPr>
        <p:spPr>
          <a:xfrm>
            <a:off x="838200" y="1607126"/>
            <a:ext cx="10515600" cy="672105"/>
          </a:xfrm>
        </p:spPr>
        <p:txBody>
          <a:bodyPr/>
          <a:lstStyle/>
          <a:p>
            <a:pPr marL="457200" indent="-457200">
              <a:buFont typeface="Arial" panose="020B0604020202020204" pitchFamily="34" charset="0"/>
              <a:buChar char="•"/>
            </a:pPr>
            <a:r>
              <a:rPr lang="en-US" sz="2600" dirty="0"/>
              <a:t>Dec. 31: Paid dividends, $2,000.</a:t>
            </a:r>
          </a:p>
        </p:txBody>
      </p:sp>
      <p:pic>
        <p:nvPicPr>
          <p:cNvPr id="6" name="Content Placeholder 5" descr="An analysis for the transaction reads: This transaction decreases stockholders’ equity and assets. This transaction is recorded as a $2,000 increase (debit) to Dividends and a $2,000 decrease (credit) to Cash.&#10;&#10;Under the analysis, a journal entry is shown. December 31 is the date indicated. Dividends is debited—with 33 shown in the Posting Reference column and 2,000 shown in the Debit column. Cash is credited—with 11 shown in the Posting Reference column and 2,000 shown in the Credit column. A journal entry explanation is given below the journal entry: Paid dividends.&#10;&#10;Below the journal form, the accounting equation impact is illustrated.&#10;&#10;The accounting equation is shown: Assets = Liabilities + Stockholders’ Equity (Dividends).&#10;&#10;Under Assets in the accounting equation, a T account for Cash is shown. The account number, 11, is shown in the top-right corner of the T account. On the right, in the credit column of the Cash T account, a December 31 entry of 2,000 is shown. The debit column of the Cash T account is blank.&#10;&#10;Under Stockholders’ Equity (Dividends) in the accounting equation, a T account for Dividends is shown. The account number, 33, is shown in the top-right corner of the T account. On the left, in the debit column of the Dividends T account, a December 31 entry of 2,000 is shown. The credit column of the Dividends T account is blank.&#10;">
            <a:extLst>
              <a:ext uri="{FF2B5EF4-FFF2-40B4-BE49-F238E27FC236}">
                <a16:creationId xmlns:a16="http://schemas.microsoft.com/office/drawing/2014/main" id="{9A0F25F8-CF38-478E-90BB-5EFD076A08AB}"/>
              </a:ext>
            </a:extLst>
          </p:cNvPr>
          <p:cNvPicPr>
            <a:picLocks noGrp="1" noChangeAspect="1"/>
          </p:cNvPicPr>
          <p:nvPr>
            <p:ph sz="quarter" idx="17"/>
          </p:nvPr>
        </p:nvPicPr>
        <p:blipFill>
          <a:blip r:embed="rId2"/>
          <a:stretch>
            <a:fillRect/>
          </a:stretch>
        </p:blipFill>
        <p:spPr>
          <a:xfrm>
            <a:off x="838199" y="2702133"/>
            <a:ext cx="10475853" cy="2548741"/>
          </a:xfrm>
          <a:prstGeom prst="rect">
            <a:avLst/>
          </a:prstGeom>
        </p:spPr>
      </p:pic>
    </p:spTree>
    <p:extLst>
      <p:ext uri="{BB962C8B-B14F-4D97-AF65-F5344CB8AC3E}">
        <p14:creationId xmlns:p14="http://schemas.microsoft.com/office/powerpoint/2010/main" val="3498800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Trial Balance</a:t>
            </a:r>
            <a:br>
              <a:rPr lang="en-US" dirty="0"/>
            </a:br>
            <a:endParaRPr lang="en-US" sz="1800" dirty="0"/>
          </a:p>
        </p:txBody>
      </p:sp>
      <p:sp>
        <p:nvSpPr>
          <p:cNvPr id="3" name="Content Placeholder 2"/>
          <p:cNvSpPr>
            <a:spLocks noGrp="1"/>
          </p:cNvSpPr>
          <p:nvPr>
            <p:ph idx="1"/>
          </p:nvPr>
        </p:nvSpPr>
        <p:spPr/>
        <p:txBody>
          <a:bodyPr/>
          <a:lstStyle/>
          <a:p>
            <a:r>
              <a:rPr lang="en-US" dirty="0"/>
              <a:t>An </a:t>
            </a:r>
            <a:r>
              <a:rPr lang="en-US" b="1" dirty="0">
                <a:solidFill>
                  <a:srgbClr val="00375D"/>
                </a:solidFill>
              </a:rPr>
              <a:t>unadjusted trial balance </a:t>
            </a:r>
            <a:r>
              <a:rPr lang="en-US" dirty="0"/>
              <a:t>is distinguished from an adjusted trial balance and a post-closing trial balance. (The latter two are prepared in later chapters and include additional information.)</a:t>
            </a:r>
          </a:p>
        </p:txBody>
      </p:sp>
    </p:spTree>
    <p:extLst>
      <p:ext uri="{BB962C8B-B14F-4D97-AF65-F5344CB8AC3E}">
        <p14:creationId xmlns:p14="http://schemas.microsoft.com/office/powerpoint/2010/main" val="34921834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27BE6-69B2-471D-82AE-F3312879FB8B}"/>
              </a:ext>
            </a:extLst>
          </p:cNvPr>
          <p:cNvSpPr>
            <a:spLocks noGrp="1"/>
          </p:cNvSpPr>
          <p:nvPr>
            <p:ph type="title"/>
          </p:nvPr>
        </p:nvSpPr>
        <p:spPr/>
        <p:txBody>
          <a:bodyPr/>
          <a:lstStyle/>
          <a:p>
            <a:r>
              <a:rPr lang="en-US" dirty="0"/>
              <a:t>Exhibit 7 </a:t>
            </a:r>
            <a:r>
              <a:rPr lang="en-US" noProof="0" dirty="0"/>
              <a:t>–</a:t>
            </a:r>
            <a:r>
              <a:rPr lang="en-US" dirty="0"/>
              <a:t> Trial Balance</a:t>
            </a:r>
          </a:p>
        </p:txBody>
      </p:sp>
      <p:pic>
        <p:nvPicPr>
          <p:cNvPr id="5" name="Content Placeholder 4" descr="An unadjusted trial balance for NetSolutions is shown. A three-line heading is set centered at the top of the trial balance. The first line lists the company name, NetSolutions. The second line lists the type of financial statement, Unadjusted Trial Balance. The third line lists the date, December 31, 20Y3. The words Step 1 appear in bold type to the left of the trial balance heading with a line that extends to the words Unadjusted Trial Balance. The trial balance shows the following accounts, account numbers, and debit and credit balances: Cash, 11, debit balance of 2,065; Accounts Receivable, 12, debit balance of 2,220; Supplies, 14, debit balance of 2,000; Prepaid Insurance, 15, debit balance of 2,400; Land, 17, debit balance of 20,000; Office Equipment, 18, debit balance of 1,800; Accounts Payable, 21, credit balance of 900; Unearned Rent, 23, credit balance of 360; Common Stock, 31, credit balance of 25,000; Dividends, 33, debit balance of 4,000; Fees Earned, 41, credit balance of 16,340; Wages Expense, 51, debit balance of 4,275; Supplies Expense, 52, debit balance of 800; Rent Expense, 53, debit balance of 1,600; Utilities Expense, 54, debit balance of 985; and Miscellaneous Expense, 59, debit balance of 455. A single rule appears below 455 in the Debit Balances column and on this line in the Credit Balances column as well. To the left of the listing of the accounts, account numbers, and amounts is a bracket with the words Step 2 in bold type. The total of the Debit Balances column is 42,600. The total of the Credit Balances column is also 42,600. Double rules appear below each of these numbers. Below these numbers is a bracket with the words Steps 3–4 in bold type below the bracket.">
            <a:extLst>
              <a:ext uri="{FF2B5EF4-FFF2-40B4-BE49-F238E27FC236}">
                <a16:creationId xmlns:a16="http://schemas.microsoft.com/office/drawing/2014/main" id="{7C8E86B1-95DC-44CF-86E9-44EEB70CFE5C}"/>
              </a:ext>
            </a:extLst>
          </p:cNvPr>
          <p:cNvPicPr>
            <a:picLocks noGrp="1" noChangeAspect="1"/>
          </p:cNvPicPr>
          <p:nvPr>
            <p:ph sz="quarter" idx="10"/>
          </p:nvPr>
        </p:nvPicPr>
        <p:blipFill>
          <a:blip r:embed="rId2"/>
          <a:stretch>
            <a:fillRect/>
          </a:stretch>
        </p:blipFill>
        <p:spPr>
          <a:xfrm>
            <a:off x="2598632" y="1593850"/>
            <a:ext cx="6994735" cy="4473575"/>
          </a:xfrm>
          <a:prstGeom prst="rect">
            <a:avLst/>
          </a:prstGeom>
        </p:spPr>
      </p:pic>
    </p:spTree>
    <p:extLst>
      <p:ext uri="{BB962C8B-B14F-4D97-AF65-F5344CB8AC3E}">
        <p14:creationId xmlns:p14="http://schemas.microsoft.com/office/powerpoint/2010/main" val="2973564472"/>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813</TotalTime>
  <Words>1185</Words>
  <Application>Microsoft Office PowerPoint</Application>
  <PresentationFormat>Widescreen</PresentationFormat>
  <Paragraphs>131</Paragraphs>
  <Slides>42</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Arial</vt:lpstr>
      <vt:lpstr>Arial</vt:lpstr>
      <vt:lpstr>Calibri</vt:lpstr>
      <vt:lpstr>Courier New</vt:lpstr>
      <vt:lpstr>Helvetica</vt:lpstr>
      <vt:lpstr>Open Sans</vt:lpstr>
      <vt:lpstr>Summer Font</vt:lpstr>
      <vt:lpstr>Wingdings</vt:lpstr>
      <vt:lpstr>Office Theme</vt:lpstr>
      <vt:lpstr>Chapter 2: Analyzing Transactions</vt:lpstr>
      <vt:lpstr>Exhibit 1 – NetSolutions’ November Transactions</vt:lpstr>
      <vt:lpstr>Using Accounts to Record Transactions </vt:lpstr>
      <vt:lpstr>Using Accounts to Record Transactions </vt:lpstr>
      <vt:lpstr>Chart of Accounts </vt:lpstr>
      <vt:lpstr>Exhibit 2 – Chart of Accounts for NetSolutions</vt:lpstr>
      <vt:lpstr>Knowledge Check Activity 1</vt:lpstr>
      <vt:lpstr>Knowledge Check Activity 1: Answer</vt:lpstr>
      <vt:lpstr>Double-Entry Accounting System</vt:lpstr>
      <vt:lpstr>Balance Sheet Accounts</vt:lpstr>
      <vt:lpstr>Income Statement Accounts</vt:lpstr>
      <vt:lpstr>Statement of Stockholders' Equity Accounts (Dividends)</vt:lpstr>
      <vt:lpstr>Journalizing </vt:lpstr>
      <vt:lpstr>Transaction a</vt:lpstr>
      <vt:lpstr>Transaction b</vt:lpstr>
      <vt:lpstr>Transaction c</vt:lpstr>
      <vt:lpstr>Transaction d</vt:lpstr>
      <vt:lpstr>Transaction e</vt:lpstr>
      <vt:lpstr>Transaction f</vt:lpstr>
      <vt:lpstr>Transaction g</vt:lpstr>
      <vt:lpstr>Transaction h</vt:lpstr>
      <vt:lpstr>Transaction 1</vt:lpstr>
      <vt:lpstr>Transaction 2</vt:lpstr>
      <vt:lpstr>Transaction 3 (1 of 2)</vt:lpstr>
      <vt:lpstr>Transaction 3  </vt:lpstr>
      <vt:lpstr>Transaction 4</vt:lpstr>
      <vt:lpstr>Transaction 5</vt:lpstr>
      <vt:lpstr>Transaction 6</vt:lpstr>
      <vt:lpstr>Transaction 7</vt:lpstr>
      <vt:lpstr>Transaction 8</vt:lpstr>
      <vt:lpstr>Transaction 9</vt:lpstr>
      <vt:lpstr>Transaction 10</vt:lpstr>
      <vt:lpstr>Transaction 11</vt:lpstr>
      <vt:lpstr>Transaction 12</vt:lpstr>
      <vt:lpstr>Transaction 13</vt:lpstr>
      <vt:lpstr>Transaction 14</vt:lpstr>
      <vt:lpstr>Transaction 15</vt:lpstr>
      <vt:lpstr>Transaction 16</vt:lpstr>
      <vt:lpstr>Transaction 17</vt:lpstr>
      <vt:lpstr>Transaction 18</vt:lpstr>
      <vt:lpstr>Trial Balance </vt:lpstr>
      <vt:lpstr>Exhibit 7 – Trial Balance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54</cp:revision>
  <dcterms:created xsi:type="dcterms:W3CDTF">2020-07-27T16:46:05Z</dcterms:created>
  <dcterms:modified xsi:type="dcterms:W3CDTF">2026-05-15T13:50:44Z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