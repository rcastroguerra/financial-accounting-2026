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264" r:id="rId5"/>
    <p:sldId id="1046" r:id="rId6"/>
    <p:sldId id="1047" r:id="rId7"/>
    <p:sldId id="468" r:id="rId8"/>
    <p:sldId id="469" r:id="rId9"/>
    <p:sldId id="524" r:id="rId10"/>
    <p:sldId id="275" r:id="rId11"/>
    <p:sldId id="1060" r:id="rId12"/>
    <p:sldId id="1061" r:id="rId13"/>
    <p:sldId id="473" r:id="rId14"/>
    <p:sldId id="479" r:id="rId15"/>
    <p:sldId id="480" r:id="rId16"/>
    <p:sldId id="481" r:id="rId17"/>
    <p:sldId id="1094" r:id="rId18"/>
    <p:sldId id="322" r:id="rId19"/>
    <p:sldId id="1096" r:id="rId20"/>
    <p:sldId id="1156" r:id="rId21"/>
    <p:sldId id="325" r:id="rId22"/>
    <p:sldId id="1098" r:id="rId23"/>
    <p:sldId id="1165" r:id="rId24"/>
    <p:sldId id="327" r:id="rId25"/>
    <p:sldId id="1100" r:id="rId2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Julie Angel" initials="JA" lastIdx="1" clrIdx="1">
    <p:extLst>
      <p:ext uri="{19B8F6BF-5375-455C-9EA6-DF929625EA0E}">
        <p15:presenceInfo xmlns:p15="http://schemas.microsoft.com/office/powerpoint/2012/main" userId="fec48bcc1f869946" providerId="Windows Live"/>
      </p:ext>
    </p:extLst>
  </p:cmAuthor>
  <p:cmAuthor id="3" name="Bowdler, Diane" initials="BD" lastIdx="2" clrIdx="2">
    <p:extLst>
      <p:ext uri="{19B8F6BF-5375-455C-9EA6-DF929625EA0E}">
        <p15:presenceInfo xmlns:p15="http://schemas.microsoft.com/office/powerpoint/2012/main" userId="S::Diane.Bowdler@cengage.com::4844c4c9-0293-48ae-805c-846689e00fa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0000"/>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71226" autoAdjust="0"/>
  </p:normalViewPr>
  <p:slideViewPr>
    <p:cSldViewPr snapToGrid="0">
      <p:cViewPr varScale="1">
        <p:scale>
          <a:sx n="53" d="100"/>
          <a:sy n="53" d="100"/>
        </p:scale>
        <p:origin x="1148" y="5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6/13/2026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6/13/2026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16009450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pPr>
              <a:defRPr/>
            </a:pPr>
            <a:r>
              <a:rPr lang="en-US" dirty="0"/>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E7287522-6EFB-4B6F-A755-2B83B87BF180}"/>
              </a:ext>
            </a:extLst>
          </p:cNvPr>
          <p:cNvSpPr>
            <a:spLocks noGrp="1"/>
          </p:cNvSpPr>
          <p:nvPr>
            <p:ph sz="quarter" idx="10"/>
          </p:nvPr>
        </p:nvSpPr>
        <p:spPr>
          <a:xfrm>
            <a:off x="838200" y="1593273"/>
            <a:ext cx="10515600" cy="447415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86311C29-F62B-4AA5-8197-B175712ABE83}"/>
              </a:ext>
            </a:extLst>
          </p:cNvPr>
          <p:cNvSpPr>
            <a:spLocks noGrp="1"/>
          </p:cNvSpPr>
          <p:nvPr>
            <p:ph sz="quarter" idx="16"/>
          </p:nvPr>
        </p:nvSpPr>
        <p:spPr>
          <a:xfrm>
            <a:off x="6207368" y="1607126"/>
            <a:ext cx="5146431" cy="34157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CBA4F7D5-043F-4B98-992B-40E415A84609}"/>
              </a:ext>
            </a:extLst>
          </p:cNvPr>
          <p:cNvSpPr>
            <a:spLocks noGrp="1"/>
          </p:cNvSpPr>
          <p:nvPr>
            <p:ph sz="quarter" idx="17"/>
          </p:nvPr>
        </p:nvSpPr>
        <p:spPr>
          <a:xfrm>
            <a:off x="838200" y="1607126"/>
            <a:ext cx="5035062" cy="341572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194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Text Placeholder 5"/>
          <p:cNvSpPr>
            <a:spLocks noGrp="1"/>
          </p:cNvSpPr>
          <p:nvPr>
            <p:ph type="body" sz="quarter" idx="18" hasCustomPrompt="1"/>
          </p:nvPr>
        </p:nvSpPr>
        <p:spPr>
          <a:xfrm>
            <a:off x="740228" y="1290690"/>
            <a:ext cx="10711543" cy="190932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356DCFCF-A355-4530-967D-8510D0847AE0}"/>
              </a:ext>
            </a:extLst>
          </p:cNvPr>
          <p:cNvSpPr>
            <a:spLocks noGrp="1"/>
          </p:cNvSpPr>
          <p:nvPr>
            <p:ph sz="quarter" idx="19"/>
          </p:nvPr>
        </p:nvSpPr>
        <p:spPr>
          <a:xfrm>
            <a:off x="739775" y="3429000"/>
            <a:ext cx="10712450" cy="246221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642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600" y="3429000"/>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096000" y="3429000"/>
            <a:ext cx="535940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9007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7" y="3216398"/>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3216398"/>
            <a:ext cx="521335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969161"/>
            <a:ext cx="5084776" cy="1543050"/>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12919" y="4969161"/>
            <a:ext cx="5359400"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9208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G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33660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541624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B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5" name="Table Placeholder 4"/>
          <p:cNvSpPr>
            <a:spLocks noGrp="1"/>
          </p:cNvSpPr>
          <p:nvPr>
            <p:ph type="tbl" sz="quarter" idx="10"/>
          </p:nvPr>
        </p:nvSpPr>
        <p:spPr>
          <a:xfrm>
            <a:off x="1133687" y="1367327"/>
            <a:ext cx="9924626" cy="4871103"/>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878221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GEN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614165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6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802289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58368" y="0"/>
            <a:ext cx="10972800" cy="1143000"/>
          </a:xfrm>
        </p:spPr>
        <p:txBody>
          <a:bodyPr/>
          <a:lstStyle/>
          <a:p>
            <a:r>
              <a:rPr lang="en-US" dirty="0"/>
              <a:t>Click to edit Master title style</a:t>
            </a:r>
          </a:p>
        </p:txBody>
      </p:sp>
      <p:sp>
        <p:nvSpPr>
          <p:cNvPr id="5" name="Content Placeholder 2"/>
          <p:cNvSpPr>
            <a:spLocks noGrp="1"/>
          </p:cNvSpPr>
          <p:nvPr>
            <p:ph idx="1"/>
          </p:nvPr>
        </p:nvSpPr>
        <p:spPr>
          <a:xfrm>
            <a:off x="609600" y="1216152"/>
            <a:ext cx="10972800" cy="5184648"/>
          </a:xfrm>
          <a:prstGeom prst="rect">
            <a:avLst/>
          </a:prstGeom>
        </p:spPr>
        <p:txBody>
          <a:bodyPr/>
          <a:lstStyle>
            <a:lvl1pPr marL="342900" indent="-342900">
              <a:spcBef>
                <a:spcPts val="1200"/>
              </a:spcBef>
              <a:buClr>
                <a:srgbClr val="00375D"/>
              </a:buClr>
              <a:buSzPct val="125000"/>
              <a:buFont typeface="Arial" panose="020B0604020202020204" pitchFamily="34" charset="0"/>
              <a:buChar char="•"/>
              <a:defRPr sz="2800">
                <a:solidFill>
                  <a:schemeClr val="tx2"/>
                </a:solidFill>
                <a:latin typeface="Arial" panose="020B0604020202020204" pitchFamily="34" charset="0"/>
                <a:cs typeface="Arial" panose="020B0604020202020204" pitchFamily="34" charset="0"/>
              </a:defRPr>
            </a:lvl1pPr>
            <a:lvl2pPr marL="742950" indent="-285750">
              <a:spcBef>
                <a:spcPts val="1200"/>
              </a:spcBef>
              <a:buClr>
                <a:srgbClr val="992315"/>
              </a:buClr>
              <a:buSzPct val="75000"/>
              <a:buFont typeface="Courier New" panose="02070309020205020404" pitchFamily="49" charset="0"/>
              <a:buChar char="o"/>
              <a:defRPr sz="2400">
                <a:solidFill>
                  <a:schemeClr val="tx2"/>
                </a:solidFill>
                <a:latin typeface="Arial" panose="020B0604020202020204" pitchFamily="34" charset="0"/>
                <a:cs typeface="Arial" panose="020B0604020202020204" pitchFamily="34" charset="0"/>
              </a:defRPr>
            </a:lvl2pPr>
            <a:lvl3pPr marL="1143000" indent="-228600">
              <a:spcBef>
                <a:spcPts val="1200"/>
              </a:spcBef>
              <a:buClr>
                <a:srgbClr val="00375D"/>
              </a:buClr>
              <a:buFont typeface="Wingdings" charset="2"/>
              <a:buChar char="§"/>
              <a:defRPr sz="2000">
                <a:solidFill>
                  <a:schemeClr val="tx2"/>
                </a:solidFill>
                <a:latin typeface="Arial" panose="020B0604020202020204" pitchFamily="34" charset="0"/>
                <a:cs typeface="Arial" panose="020B0604020202020204" pitchFamily="34" charset="0"/>
              </a:defRPr>
            </a:lvl3pPr>
            <a:lvl4pPr>
              <a:spcBef>
                <a:spcPts val="1200"/>
              </a:spcBef>
              <a:defRPr sz="1800">
                <a:solidFill>
                  <a:schemeClr val="tx2"/>
                </a:solidFill>
                <a:latin typeface="Arial" panose="020B0604020202020204" pitchFamily="34" charset="0"/>
                <a:cs typeface="Arial" panose="020B0604020202020204" pitchFamily="34" charset="0"/>
              </a:defRPr>
            </a:lvl4pPr>
            <a:lvl5pPr marL="2057400" indent="-228600">
              <a:spcBef>
                <a:spcPts val="1200"/>
              </a:spcBef>
              <a:buFont typeface="Wingdings" panose="05000000000000000000" pitchFamily="2" charset="2"/>
              <a:buChar char="§"/>
              <a:defRPr sz="1800">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13442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58368" y="0"/>
            <a:ext cx="10972800" cy="1143000"/>
          </a:xfrm>
        </p:spPr>
        <p:txBody>
          <a:bodyPr/>
          <a:lstStyle>
            <a:lvl1pPr>
              <a:defRPr lang="en-US" sz="2800" b="1" smtClean="0">
                <a:solidFill>
                  <a:schemeClr val="bg1"/>
                </a:solidFill>
                <a:latin typeface="Arial" panose="020B0604020202020204" pitchFamily="34" charset="0"/>
                <a:ea typeface="+mj-ea"/>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2522503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25" r:id="rId5"/>
    <p:sldLayoutId id="2147483718" r:id="rId6"/>
    <p:sldLayoutId id="2147483726" r:id="rId7"/>
    <p:sldLayoutId id="2147483715" r:id="rId8"/>
    <p:sldLayoutId id="2147483727" r:id="rId9"/>
    <p:sldLayoutId id="2147483716" r:id="rId10"/>
    <p:sldLayoutId id="2147483719" r:id="rId11"/>
    <p:sldLayoutId id="2147483720" r:id="rId12"/>
    <p:sldLayoutId id="2147483723" r:id="rId13"/>
    <p:sldLayoutId id="2147483724" r:id="rId14"/>
    <p:sldLayoutId id="2147483713" r:id="rId15"/>
    <p:sldLayoutId id="2147483717" r:id="rId16"/>
    <p:sldLayoutId id="2147483728" r:id="rId17"/>
    <p:sldLayoutId id="2147483729" r:id="rId18"/>
    <p:sldLayoutId id="2147483730" r:id="rId19"/>
    <p:sldLayoutId id="2147483731" r:id="rId20"/>
    <p:sldLayoutId id="2147483732" r:id="rId21"/>
    <p:sldLayoutId id="2147483733" r:id="rId22"/>
    <p:sldLayoutId id="2147483734" r:id="rId23"/>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840289" y="4035474"/>
            <a:ext cx="6402684" cy="672105"/>
          </a:xfrm>
        </p:spPr>
        <p:txBody>
          <a:bodyPr/>
          <a:lstStyle/>
          <a:p>
            <a:pPr algn="ctr"/>
            <a:r>
              <a:rPr lang="en-US" dirty="0"/>
              <a:t>Chapter 5: Accounting for Retail Businesses</a:t>
            </a:r>
          </a:p>
        </p:txBody>
      </p:sp>
      <p:sp>
        <p:nvSpPr>
          <p:cNvPr id="6" name="Text Placeholder 5"/>
          <p:cNvSpPr>
            <a:spLocks noGrp="1"/>
          </p:cNvSpPr>
          <p:nvPr>
            <p:ph type="body" sz="quarter" idx="11"/>
          </p:nvPr>
        </p:nvSpPr>
        <p:spPr>
          <a:xfrm>
            <a:off x="5707504" y="2355562"/>
            <a:ext cx="4668253" cy="1073438"/>
          </a:xfrm>
        </p:spPr>
        <p:txBody>
          <a:bodyPr/>
          <a:lstStyle/>
          <a:p>
            <a:pPr algn="ctr"/>
            <a:r>
              <a:rPr lang="en-US" dirty="0"/>
              <a:t>Financial &amp; Managerial Accounting, 16e</a:t>
            </a:r>
          </a:p>
        </p:txBody>
      </p:sp>
      <p:sp>
        <p:nvSpPr>
          <p:cNvPr id="8" name="Footer Placeholder 7"/>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pic>
        <p:nvPicPr>
          <p:cNvPr id="7" name="Picture 6">
            <a:extLst>
              <a:ext uri="{FF2B5EF4-FFF2-40B4-BE49-F238E27FC236}">
                <a16:creationId xmlns:a16="http://schemas.microsoft.com/office/drawing/2014/main" id="{16DFFFAD-C072-38E4-5D29-473D6F2456B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9109" y="689200"/>
            <a:ext cx="3624303" cy="4214746"/>
          </a:xfrm>
          <a:prstGeom prst="rect">
            <a:avLst/>
          </a:prstGeom>
        </p:spPr>
      </p:pic>
    </p:spTree>
    <p:extLst>
      <p:ext uri="{BB962C8B-B14F-4D97-AF65-F5344CB8AC3E}">
        <p14:creationId xmlns:p14="http://schemas.microsoft.com/office/powerpoint/2010/main" val="160705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Statements</a:t>
            </a:r>
            <a:br>
              <a:rPr lang="en-US" dirty="0"/>
            </a:br>
            <a:endParaRPr lang="en-US" sz="1800" dirty="0"/>
          </a:p>
        </p:txBody>
      </p:sp>
      <p:sp>
        <p:nvSpPr>
          <p:cNvPr id="3" name="Content Placeholder 2"/>
          <p:cNvSpPr>
            <a:spLocks noGrp="1"/>
          </p:cNvSpPr>
          <p:nvPr>
            <p:ph idx="1"/>
          </p:nvPr>
        </p:nvSpPr>
        <p:spPr>
          <a:xfrm>
            <a:off x="1981200" y="1292352"/>
            <a:ext cx="8229600" cy="5184648"/>
          </a:xfrm>
        </p:spPr>
        <p:txBody>
          <a:bodyPr/>
          <a:lstStyle/>
          <a:p>
            <a:pPr>
              <a:defRPr/>
            </a:pPr>
            <a:r>
              <a:rPr lang="en-US" sz="2400" dirty="0"/>
              <a:t>The revenue activities of a merchandising business involve the buying and selling of merchandise.</a:t>
            </a:r>
          </a:p>
          <a:p>
            <a:pPr lvl="1">
              <a:defRPr/>
            </a:pPr>
            <a:r>
              <a:rPr lang="en-US" sz="2000" dirty="0"/>
              <a:t>A merchandising business first purchases merchandise to sell to its customers.</a:t>
            </a:r>
          </a:p>
          <a:p>
            <a:pPr lvl="1">
              <a:defRPr/>
            </a:pPr>
            <a:r>
              <a:rPr lang="en-US" sz="2000" dirty="0">
                <a:solidFill>
                  <a:srgbClr val="FF0000"/>
                </a:solidFill>
              </a:rPr>
              <a:t>When this merchandise is sold, the revenue is reported as </a:t>
            </a:r>
            <a:r>
              <a:rPr lang="en-US" sz="2000" b="1" dirty="0">
                <a:solidFill>
                  <a:srgbClr val="FF0000"/>
                </a:solidFill>
                <a:highlight>
                  <a:srgbClr val="FFFF00"/>
                </a:highlight>
              </a:rPr>
              <a:t>sales</a:t>
            </a:r>
            <a:r>
              <a:rPr lang="en-US" sz="2000" dirty="0">
                <a:solidFill>
                  <a:srgbClr val="FF0000"/>
                </a:solidFill>
                <a:highlight>
                  <a:srgbClr val="FFFF00"/>
                </a:highlight>
              </a:rPr>
              <a:t>, </a:t>
            </a:r>
            <a:r>
              <a:rPr lang="en-US" sz="2000" dirty="0">
                <a:solidFill>
                  <a:srgbClr val="FF0000"/>
                </a:solidFill>
              </a:rPr>
              <a:t>and its cost is recognized as an expense called </a:t>
            </a:r>
            <a:r>
              <a:rPr lang="en-US" sz="2000" b="1" dirty="0">
                <a:solidFill>
                  <a:srgbClr val="FF0000"/>
                </a:solidFill>
                <a:highlight>
                  <a:srgbClr val="FFFF00"/>
                </a:highlight>
              </a:rPr>
              <a:t>cost of goods sold</a:t>
            </a:r>
            <a:r>
              <a:rPr lang="en-US" sz="2000" dirty="0">
                <a:solidFill>
                  <a:srgbClr val="FF0000"/>
                </a:solidFill>
                <a:highlight>
                  <a:srgbClr val="FFFF00"/>
                </a:highlight>
              </a:rPr>
              <a:t> or </a:t>
            </a:r>
            <a:r>
              <a:rPr lang="en-US" sz="2000" i="1" dirty="0">
                <a:solidFill>
                  <a:srgbClr val="FF0000"/>
                </a:solidFill>
                <a:highlight>
                  <a:srgbClr val="FFFF00"/>
                </a:highlight>
              </a:rPr>
              <a:t>cost of merchandise sold</a:t>
            </a:r>
            <a:r>
              <a:rPr lang="en-US" sz="2000" dirty="0">
                <a:solidFill>
                  <a:srgbClr val="FF0000"/>
                </a:solidFill>
                <a:highlight>
                  <a:srgbClr val="FFFF00"/>
                </a:highlight>
              </a:rPr>
              <a:t>.</a:t>
            </a:r>
          </a:p>
          <a:p>
            <a:pPr lvl="2">
              <a:defRPr/>
            </a:pPr>
            <a:r>
              <a:rPr lang="en-US" sz="2400" dirty="0">
                <a:ea typeface="+mn-ea"/>
              </a:rPr>
              <a:t>The cost of goods sold is subtracted from sales to arrive at </a:t>
            </a:r>
            <a:r>
              <a:rPr lang="en-US" sz="2400" dirty="0">
                <a:highlight>
                  <a:srgbClr val="FFFF00"/>
                </a:highlight>
                <a:ea typeface="+mn-ea"/>
              </a:rPr>
              <a:t>gross profit</a:t>
            </a:r>
            <a:r>
              <a:rPr lang="en-US" sz="2400" dirty="0">
                <a:ea typeface="+mn-ea"/>
              </a:rPr>
              <a:t>, which is the profit before deducting operating expenses.</a:t>
            </a:r>
          </a:p>
        </p:txBody>
      </p:sp>
    </p:spTree>
    <p:extLst>
      <p:ext uri="{BB962C8B-B14F-4D97-AF65-F5344CB8AC3E}">
        <p14:creationId xmlns:p14="http://schemas.microsoft.com/office/powerpoint/2010/main" val="1427583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Statements</a:t>
            </a:r>
            <a:br>
              <a:rPr lang="en-US" dirty="0"/>
            </a:br>
            <a:endParaRPr lang="en-US" sz="1800" dirty="0"/>
          </a:p>
        </p:txBody>
      </p:sp>
      <p:sp>
        <p:nvSpPr>
          <p:cNvPr id="3" name="Content Placeholder 2"/>
          <p:cNvSpPr>
            <a:spLocks noGrp="1"/>
          </p:cNvSpPr>
          <p:nvPr>
            <p:ph idx="1"/>
          </p:nvPr>
        </p:nvSpPr>
        <p:spPr>
          <a:xfrm>
            <a:off x="1981200" y="1292352"/>
            <a:ext cx="8229600" cy="5184648"/>
          </a:xfrm>
        </p:spPr>
        <p:txBody>
          <a:bodyPr/>
          <a:lstStyle/>
          <a:p>
            <a:pPr>
              <a:defRPr/>
            </a:pPr>
            <a:r>
              <a:rPr lang="en-US" dirty="0">
                <a:solidFill>
                  <a:srgbClr val="FF0000"/>
                </a:solidFill>
              </a:rPr>
              <a:t>Merchandise on hand (not sold) at the end of an accounting period is called </a:t>
            </a:r>
            <a:r>
              <a:rPr lang="en-US" b="1" dirty="0">
                <a:solidFill>
                  <a:srgbClr val="FF0000"/>
                </a:solidFill>
              </a:rPr>
              <a:t>inventory </a:t>
            </a:r>
            <a:r>
              <a:rPr lang="en-US" dirty="0">
                <a:solidFill>
                  <a:srgbClr val="FF0000"/>
                </a:solidFill>
              </a:rPr>
              <a:t>or </a:t>
            </a:r>
            <a:r>
              <a:rPr lang="en-US" i="1" dirty="0">
                <a:solidFill>
                  <a:srgbClr val="FF0000"/>
                </a:solidFill>
              </a:rPr>
              <a:t>merchandise inventory</a:t>
            </a:r>
            <a:r>
              <a:rPr lang="en-US" dirty="0"/>
              <a:t>.  </a:t>
            </a:r>
          </a:p>
          <a:p>
            <a:pPr lvl="1">
              <a:defRPr/>
            </a:pPr>
            <a:r>
              <a:rPr lang="en-US" dirty="0"/>
              <a:t>Inventory is reported as a current asset on the balance sheet.</a:t>
            </a:r>
          </a:p>
        </p:txBody>
      </p:sp>
    </p:spTree>
    <p:extLst>
      <p:ext uri="{BB962C8B-B14F-4D97-AF65-F5344CB8AC3E}">
        <p14:creationId xmlns:p14="http://schemas.microsoft.com/office/powerpoint/2010/main" val="2868609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DEE0B-D19F-445D-BD61-9FD431E8347F}"/>
              </a:ext>
            </a:extLst>
          </p:cNvPr>
          <p:cNvSpPr>
            <a:spLocks noGrp="1"/>
          </p:cNvSpPr>
          <p:nvPr>
            <p:ph type="title"/>
          </p:nvPr>
        </p:nvSpPr>
        <p:spPr>
          <a:xfrm>
            <a:off x="838192" y="368384"/>
            <a:ext cx="10515600" cy="672105"/>
          </a:xfrm>
        </p:spPr>
        <p:txBody>
          <a:bodyPr/>
          <a:lstStyle/>
          <a:p>
            <a:r>
              <a:rPr lang="en-US" dirty="0"/>
              <a:t>Purchases Transactions</a:t>
            </a:r>
            <a:br>
              <a:rPr lang="en-US" dirty="0"/>
            </a:br>
            <a:endParaRPr lang="en-US" sz="2400" dirty="0"/>
          </a:p>
        </p:txBody>
      </p:sp>
      <p:sp>
        <p:nvSpPr>
          <p:cNvPr id="3" name="Text Placeholder 2">
            <a:extLst>
              <a:ext uri="{FF2B5EF4-FFF2-40B4-BE49-F238E27FC236}">
                <a16:creationId xmlns:a16="http://schemas.microsoft.com/office/drawing/2014/main" id="{EA4F1601-3779-4976-A6B7-BE97CEA8CAB0}"/>
              </a:ext>
            </a:extLst>
          </p:cNvPr>
          <p:cNvSpPr>
            <a:spLocks noGrp="1"/>
          </p:cNvSpPr>
          <p:nvPr>
            <p:ph sz="quarter" idx="19"/>
          </p:nvPr>
        </p:nvSpPr>
        <p:spPr>
          <a:xfrm>
            <a:off x="736587" y="1579439"/>
            <a:ext cx="10718813" cy="672105"/>
          </a:xfrm>
        </p:spPr>
        <p:txBody>
          <a:bodyPr>
            <a:noAutofit/>
          </a:bodyPr>
          <a:lstStyle/>
          <a:p>
            <a:pPr marL="463550" indent="-463550">
              <a:buFont typeface="Arial" panose="020B0604020202020204" pitchFamily="34" charset="0"/>
              <a:buChar char="•"/>
            </a:pPr>
            <a:r>
              <a:rPr lang="en-US" sz="2400" dirty="0"/>
              <a:t>Under the perpetual inventory system, cash purchases of merchandise are recorded as follows:</a:t>
            </a:r>
          </a:p>
        </p:txBody>
      </p:sp>
      <p:pic>
        <p:nvPicPr>
          <p:cNvPr id="9" name="Content Placeholder 8" descr="A journal entry is given in a journal form. January 3, 20Y8, is the date indicated. Inventory is debited—with 2,510 shown in the Debit column. Cash is credited—with 2,510 shown in the Credit column. A journal entry explanation is given below the journal entry: Purchased inventory from Bowen Co.">
            <a:extLst>
              <a:ext uri="{FF2B5EF4-FFF2-40B4-BE49-F238E27FC236}">
                <a16:creationId xmlns:a16="http://schemas.microsoft.com/office/drawing/2014/main" id="{E973A6CD-3B7E-41FB-A734-691D16AFCE29}"/>
              </a:ext>
            </a:extLst>
          </p:cNvPr>
          <p:cNvPicPr>
            <a:picLocks noGrp="1" noChangeAspect="1"/>
          </p:cNvPicPr>
          <p:nvPr>
            <p:ph sz="quarter" idx="20"/>
          </p:nvPr>
        </p:nvPicPr>
        <p:blipFill>
          <a:blip r:embed="rId2"/>
          <a:stretch>
            <a:fillRect/>
          </a:stretch>
        </p:blipFill>
        <p:spPr>
          <a:xfrm>
            <a:off x="1275396" y="2437307"/>
            <a:ext cx="9641207" cy="1442574"/>
          </a:xfrm>
          <a:prstGeom prst="rect">
            <a:avLst/>
          </a:prstGeom>
        </p:spPr>
      </p:pic>
      <p:sp>
        <p:nvSpPr>
          <p:cNvPr id="7" name="Content Placeholder 6">
            <a:extLst>
              <a:ext uri="{FF2B5EF4-FFF2-40B4-BE49-F238E27FC236}">
                <a16:creationId xmlns:a16="http://schemas.microsoft.com/office/drawing/2014/main" id="{DA7B0CE8-ADCF-487A-86C9-74D862425906}"/>
              </a:ext>
            </a:extLst>
          </p:cNvPr>
          <p:cNvSpPr>
            <a:spLocks noGrp="1"/>
          </p:cNvSpPr>
          <p:nvPr>
            <p:ph sz="quarter" idx="21"/>
          </p:nvPr>
        </p:nvSpPr>
        <p:spPr>
          <a:xfrm>
            <a:off x="736600" y="4301050"/>
            <a:ext cx="10718800" cy="610813"/>
          </a:xfrm>
        </p:spPr>
        <p:txBody>
          <a:bodyPr/>
          <a:lstStyle/>
          <a:p>
            <a:pPr marL="457200" indent="-457200">
              <a:buFont typeface="Arial" panose="020B0604020202020204" pitchFamily="34" charset="0"/>
              <a:buChar char="•"/>
            </a:pPr>
            <a:r>
              <a:rPr lang="en-US" sz="2400" dirty="0"/>
              <a:t>The T account postings for the preceding journal entry are as follows:</a:t>
            </a:r>
          </a:p>
        </p:txBody>
      </p:sp>
      <p:pic>
        <p:nvPicPr>
          <p:cNvPr id="10" name="Content Placeholder 9" descr="An illustration of how a journal entry impacts the accounting equation and financial statement elements using T account postings is given. The accounting equation is Assets = Liabilities + Stockholders’ Equity. Below Assets are two T accounts: one for Cash and one for Inventory. The Cash T account has no debit entry and a credit entry of 2,510. The Inventory T account has a debit entry of 2,510 and no credit entry.">
            <a:extLst>
              <a:ext uri="{FF2B5EF4-FFF2-40B4-BE49-F238E27FC236}">
                <a16:creationId xmlns:a16="http://schemas.microsoft.com/office/drawing/2014/main" id="{B1705589-A7C2-409A-B595-729A4EF161D4}"/>
              </a:ext>
            </a:extLst>
          </p:cNvPr>
          <p:cNvPicPr>
            <a:picLocks noGrp="1" noChangeAspect="1"/>
          </p:cNvPicPr>
          <p:nvPr>
            <p:ph sz="quarter" idx="22"/>
          </p:nvPr>
        </p:nvPicPr>
        <p:blipFill>
          <a:blip r:embed="rId3"/>
          <a:stretch>
            <a:fillRect/>
          </a:stretch>
        </p:blipFill>
        <p:spPr>
          <a:xfrm>
            <a:off x="601711" y="4706846"/>
            <a:ext cx="10988563" cy="1252371"/>
          </a:xfrm>
          <a:prstGeom prst="rect">
            <a:avLst/>
          </a:prstGeom>
        </p:spPr>
      </p:pic>
    </p:spTree>
    <p:extLst>
      <p:ext uri="{BB962C8B-B14F-4D97-AF65-F5344CB8AC3E}">
        <p14:creationId xmlns:p14="http://schemas.microsoft.com/office/powerpoint/2010/main" val="3580036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DEE0B-D19F-445D-BD61-9FD431E8347F}"/>
              </a:ext>
            </a:extLst>
          </p:cNvPr>
          <p:cNvSpPr>
            <a:spLocks noGrp="1"/>
          </p:cNvSpPr>
          <p:nvPr>
            <p:ph type="title"/>
          </p:nvPr>
        </p:nvSpPr>
        <p:spPr>
          <a:xfrm>
            <a:off x="838200" y="365125"/>
            <a:ext cx="10515600" cy="672105"/>
          </a:xfrm>
        </p:spPr>
        <p:txBody>
          <a:bodyPr/>
          <a:lstStyle/>
          <a:p>
            <a:r>
              <a:rPr lang="en-US" dirty="0"/>
              <a:t>Purchases Transactions</a:t>
            </a:r>
            <a:br>
              <a:rPr lang="en-US" dirty="0"/>
            </a:br>
            <a:endParaRPr lang="en-US" sz="2400" dirty="0"/>
          </a:p>
        </p:txBody>
      </p:sp>
      <p:sp>
        <p:nvSpPr>
          <p:cNvPr id="3" name="Text Placeholder 2">
            <a:extLst>
              <a:ext uri="{FF2B5EF4-FFF2-40B4-BE49-F238E27FC236}">
                <a16:creationId xmlns:a16="http://schemas.microsoft.com/office/drawing/2014/main" id="{EA4F1601-3779-4976-A6B7-BE97CEA8CAB0}"/>
              </a:ext>
            </a:extLst>
          </p:cNvPr>
          <p:cNvSpPr>
            <a:spLocks noGrp="1"/>
          </p:cNvSpPr>
          <p:nvPr>
            <p:ph sz="quarter" idx="19"/>
          </p:nvPr>
        </p:nvSpPr>
        <p:spPr>
          <a:xfrm>
            <a:off x="736600" y="1579564"/>
            <a:ext cx="10718800" cy="527184"/>
          </a:xfrm>
        </p:spPr>
        <p:txBody>
          <a:bodyPr>
            <a:noAutofit/>
          </a:bodyPr>
          <a:lstStyle/>
          <a:p>
            <a:pPr marL="457200" indent="-457200">
              <a:buFont typeface="Arial" panose="020B0604020202020204" pitchFamily="34" charset="0"/>
              <a:buChar char="•"/>
            </a:pPr>
            <a:r>
              <a:rPr lang="en-US" sz="2200" dirty="0"/>
              <a:t>Purchases of inventory on account are recorded as follows:</a:t>
            </a:r>
          </a:p>
        </p:txBody>
      </p:sp>
      <p:pic>
        <p:nvPicPr>
          <p:cNvPr id="11" name="Content Placeholder 10" descr="A journal entry is given in a journal form. January 4 is the date indicated. Inventory is debited—with 9,250 shown in the Debit column. Accounts Payable—Thomas Corporation is credited—with 9,250 shown in the Credit column. A journal entry explanation is given below the journal entry: Purchased inventory on account.">
            <a:extLst>
              <a:ext uri="{FF2B5EF4-FFF2-40B4-BE49-F238E27FC236}">
                <a16:creationId xmlns:a16="http://schemas.microsoft.com/office/drawing/2014/main" id="{23B96353-0EB2-4F49-BBAD-BFAC1A31B74D}"/>
              </a:ext>
            </a:extLst>
          </p:cNvPr>
          <p:cNvPicPr>
            <a:picLocks noGrp="1" noChangeAspect="1"/>
          </p:cNvPicPr>
          <p:nvPr>
            <p:ph sz="quarter" idx="20"/>
          </p:nvPr>
        </p:nvPicPr>
        <p:blipFill>
          <a:blip r:embed="rId2"/>
          <a:stretch>
            <a:fillRect/>
          </a:stretch>
        </p:blipFill>
        <p:spPr>
          <a:xfrm>
            <a:off x="1838748" y="1943212"/>
            <a:ext cx="8625911" cy="1292271"/>
          </a:xfrm>
        </p:spPr>
      </p:pic>
      <p:sp>
        <p:nvSpPr>
          <p:cNvPr id="10" name="Content Placeholder 9">
            <a:extLst>
              <a:ext uri="{FF2B5EF4-FFF2-40B4-BE49-F238E27FC236}">
                <a16:creationId xmlns:a16="http://schemas.microsoft.com/office/drawing/2014/main" id="{1CD9FEE9-55E0-443E-8CF6-B55750D632B2}"/>
              </a:ext>
            </a:extLst>
          </p:cNvPr>
          <p:cNvSpPr>
            <a:spLocks noGrp="1"/>
          </p:cNvSpPr>
          <p:nvPr>
            <p:ph sz="quarter" idx="24"/>
          </p:nvPr>
        </p:nvSpPr>
        <p:spPr>
          <a:xfrm>
            <a:off x="736600" y="3453870"/>
            <a:ext cx="10617200" cy="602857"/>
          </a:xfrm>
        </p:spPr>
        <p:txBody>
          <a:bodyPr/>
          <a:lstStyle/>
          <a:p>
            <a:pPr marL="457200" indent="-457200">
              <a:buFont typeface="Arial" panose="020B0604020202020204" pitchFamily="34" charset="0"/>
              <a:buChar char="•"/>
            </a:pPr>
            <a:r>
              <a:rPr lang="en-US" sz="2200" dirty="0"/>
              <a:t>The T account postings for the preceding journal entry are as follows:</a:t>
            </a:r>
          </a:p>
        </p:txBody>
      </p:sp>
      <p:pic>
        <p:nvPicPr>
          <p:cNvPr id="12" name="Content Placeholder 11" descr="Below the journal entry, an illustration of how this journal entry impacts the accounting equation and financial statement elements using T account postings is given. The accounting equation is Assets = Liabilities + Stockholders’ Equity. Below Assets is a T account for Inventory, and below Liabilities is a T account for Accounts Payable. The Inventory T account has a debit entry of 9,250 and no credit entry. The Accounts Payable T account has no debit entry and a credit entry of 9,250.">
            <a:extLst>
              <a:ext uri="{FF2B5EF4-FFF2-40B4-BE49-F238E27FC236}">
                <a16:creationId xmlns:a16="http://schemas.microsoft.com/office/drawing/2014/main" id="{B2857B02-573C-45BF-8429-26FD790500F1}"/>
              </a:ext>
            </a:extLst>
          </p:cNvPr>
          <p:cNvPicPr>
            <a:picLocks noGrp="1" noChangeAspect="1"/>
          </p:cNvPicPr>
          <p:nvPr>
            <p:ph sz="quarter" idx="22"/>
          </p:nvPr>
        </p:nvPicPr>
        <p:blipFill>
          <a:blip r:embed="rId3"/>
          <a:stretch>
            <a:fillRect/>
          </a:stretch>
        </p:blipFill>
        <p:spPr>
          <a:xfrm>
            <a:off x="1181523" y="4014456"/>
            <a:ext cx="10273877" cy="1188042"/>
          </a:xfrm>
        </p:spPr>
      </p:pic>
      <p:sp>
        <p:nvSpPr>
          <p:cNvPr id="9" name="Content Placeholder 8">
            <a:extLst>
              <a:ext uri="{FF2B5EF4-FFF2-40B4-BE49-F238E27FC236}">
                <a16:creationId xmlns:a16="http://schemas.microsoft.com/office/drawing/2014/main" id="{9E0870A0-6BA1-4BA0-A8AB-B1077C97F0FB}"/>
              </a:ext>
            </a:extLst>
          </p:cNvPr>
          <p:cNvSpPr>
            <a:spLocks noGrp="1"/>
          </p:cNvSpPr>
          <p:nvPr>
            <p:ph sz="quarter" idx="23"/>
          </p:nvPr>
        </p:nvSpPr>
        <p:spPr>
          <a:xfrm>
            <a:off x="736600" y="5403850"/>
            <a:ext cx="10617200" cy="1089025"/>
          </a:xfrm>
        </p:spPr>
        <p:txBody>
          <a:bodyPr/>
          <a:lstStyle/>
          <a:p>
            <a:pPr marL="457200" indent="-457200">
              <a:buFont typeface="Arial" panose="020B0604020202020204" pitchFamily="34" charset="0"/>
              <a:buChar char="•"/>
            </a:pPr>
            <a:r>
              <a:rPr lang="en-US" sz="2200" dirty="0"/>
              <a:t>The terms of purchases on account are normally indicated on the invoice or bill that the seller sends the buyer.</a:t>
            </a:r>
          </a:p>
        </p:txBody>
      </p:sp>
    </p:spTree>
    <p:extLst>
      <p:ext uri="{BB962C8B-B14F-4D97-AF65-F5344CB8AC3E}">
        <p14:creationId xmlns:p14="http://schemas.microsoft.com/office/powerpoint/2010/main" val="1679891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DEE0B-D19F-445D-BD61-9FD431E8347F}"/>
              </a:ext>
            </a:extLst>
          </p:cNvPr>
          <p:cNvSpPr>
            <a:spLocks noGrp="1"/>
          </p:cNvSpPr>
          <p:nvPr>
            <p:ph type="title"/>
          </p:nvPr>
        </p:nvSpPr>
        <p:spPr>
          <a:xfrm>
            <a:off x="838200" y="365125"/>
            <a:ext cx="10515600" cy="1085723"/>
          </a:xfrm>
        </p:spPr>
        <p:txBody>
          <a:bodyPr/>
          <a:lstStyle/>
          <a:p>
            <a:r>
              <a:rPr lang="en-US" dirty="0"/>
              <a:t>Purchases Transactions</a:t>
            </a:r>
            <a:br>
              <a:rPr lang="en-US" dirty="0"/>
            </a:br>
            <a:endParaRPr lang="en-US" sz="2400" dirty="0"/>
          </a:p>
        </p:txBody>
      </p:sp>
      <p:sp>
        <p:nvSpPr>
          <p:cNvPr id="3" name="Text Placeholder 2">
            <a:extLst>
              <a:ext uri="{FF2B5EF4-FFF2-40B4-BE49-F238E27FC236}">
                <a16:creationId xmlns:a16="http://schemas.microsoft.com/office/drawing/2014/main" id="{EA4F1601-3779-4976-A6B7-BE97CEA8CAB0}"/>
              </a:ext>
            </a:extLst>
          </p:cNvPr>
          <p:cNvSpPr>
            <a:spLocks noGrp="1"/>
          </p:cNvSpPr>
          <p:nvPr>
            <p:ph sz="quarter" idx="10"/>
          </p:nvPr>
        </p:nvSpPr>
        <p:spPr>
          <a:xfrm>
            <a:off x="838200" y="1593273"/>
            <a:ext cx="10515600" cy="4474152"/>
          </a:xfrm>
        </p:spPr>
        <p:txBody>
          <a:bodyPr>
            <a:noAutofit/>
          </a:bodyPr>
          <a:lstStyle/>
          <a:p>
            <a:pPr marL="457200" indent="-457200">
              <a:spcBef>
                <a:spcPts val="600"/>
              </a:spcBef>
              <a:buFont typeface="Arial" panose="020B0604020202020204" pitchFamily="34" charset="0"/>
              <a:buChar char="•"/>
            </a:pPr>
            <a:r>
              <a:rPr lang="en-US" sz="3200" dirty="0"/>
              <a:t>The terms for when payments for merchandise are to be made are called the </a:t>
            </a:r>
            <a:r>
              <a:rPr lang="en-US" sz="3200" b="1" dirty="0">
                <a:solidFill>
                  <a:srgbClr val="004A78"/>
                </a:solidFill>
              </a:rPr>
              <a:t>credit terms</a:t>
            </a:r>
            <a:r>
              <a:rPr lang="en-US" sz="3200" dirty="0"/>
              <a:t>.</a:t>
            </a:r>
          </a:p>
          <a:p>
            <a:pPr lvl="1">
              <a:spcBef>
                <a:spcPts val="600"/>
              </a:spcBef>
            </a:pPr>
            <a:r>
              <a:rPr lang="en-US" sz="3200" dirty="0"/>
              <a:t>If payment is required on delivery, the terms are cash or net cash.</a:t>
            </a:r>
          </a:p>
          <a:p>
            <a:pPr marL="457200" indent="-457200">
              <a:spcBef>
                <a:spcPts val="600"/>
              </a:spcBef>
              <a:buFont typeface="Arial" panose="020B0604020202020204" pitchFamily="34" charset="0"/>
              <a:buChar char="•"/>
            </a:pPr>
            <a:r>
              <a:rPr lang="en-US" sz="3200" dirty="0"/>
              <a:t>Otherwise, the buyer is allowed an amount of time, known as the </a:t>
            </a:r>
            <a:r>
              <a:rPr lang="en-US" sz="3200" b="1" dirty="0">
                <a:solidFill>
                  <a:srgbClr val="004A78"/>
                </a:solidFill>
              </a:rPr>
              <a:t>credit period</a:t>
            </a:r>
            <a:r>
              <a:rPr lang="en-US" sz="3200" dirty="0"/>
              <a:t>, in which to pay.</a:t>
            </a:r>
          </a:p>
          <a:p>
            <a:pPr lvl="1">
              <a:spcBef>
                <a:spcPts val="600"/>
              </a:spcBef>
            </a:pPr>
            <a:r>
              <a:rPr lang="en-US" sz="3200" dirty="0"/>
              <a:t>The credit period usually begins with the date of the sale as shown on the invoice.</a:t>
            </a:r>
          </a:p>
        </p:txBody>
      </p:sp>
    </p:spTree>
    <p:extLst>
      <p:ext uri="{BB962C8B-B14F-4D97-AF65-F5344CB8AC3E}">
        <p14:creationId xmlns:p14="http://schemas.microsoft.com/office/powerpoint/2010/main" val="3049267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4203F-AC69-4547-B754-5548DF08E0A4}"/>
              </a:ext>
            </a:extLst>
          </p:cNvPr>
          <p:cNvSpPr>
            <a:spLocks noGrp="1"/>
          </p:cNvSpPr>
          <p:nvPr>
            <p:ph type="title"/>
          </p:nvPr>
        </p:nvSpPr>
        <p:spPr/>
        <p:txBody>
          <a:bodyPr/>
          <a:lstStyle/>
          <a:p>
            <a:r>
              <a:rPr lang="en-US" dirty="0"/>
              <a:t>Purchases Discounts</a:t>
            </a:r>
            <a:br>
              <a:rPr lang="en-US" dirty="0"/>
            </a:br>
            <a:r>
              <a:rPr lang="en-US" sz="2400" dirty="0"/>
              <a:t> </a:t>
            </a:r>
          </a:p>
        </p:txBody>
      </p:sp>
      <p:sp>
        <p:nvSpPr>
          <p:cNvPr id="3" name="Text Placeholder 2">
            <a:extLst>
              <a:ext uri="{FF2B5EF4-FFF2-40B4-BE49-F238E27FC236}">
                <a16:creationId xmlns:a16="http://schemas.microsoft.com/office/drawing/2014/main" id="{A6C519A3-743F-4404-9305-E8E1567D46B4}"/>
              </a:ext>
            </a:extLst>
          </p:cNvPr>
          <p:cNvSpPr>
            <a:spLocks noGrp="1"/>
          </p:cNvSpPr>
          <p:nvPr>
            <p:ph sz="quarter" idx="10"/>
          </p:nvPr>
        </p:nvSpPr>
        <p:spPr/>
        <p:txBody>
          <a:bodyPr>
            <a:noAutofit/>
          </a:bodyPr>
          <a:lstStyle/>
          <a:p>
            <a:pPr lvl="1"/>
            <a:r>
              <a:rPr lang="en-US" sz="3600" dirty="0"/>
              <a:t>For example, a supplier may offer a </a:t>
            </a:r>
            <a:r>
              <a:rPr lang="en-US" sz="3600" dirty="0">
                <a:highlight>
                  <a:srgbClr val="FFFF00"/>
                </a:highlight>
              </a:rPr>
              <a:t>2%</a:t>
            </a:r>
            <a:r>
              <a:rPr lang="en-US" sz="3600" dirty="0"/>
              <a:t> discount if the buyer pays within </a:t>
            </a:r>
            <a:r>
              <a:rPr lang="en-US" sz="3600" dirty="0">
                <a:highlight>
                  <a:srgbClr val="FFFF00"/>
                </a:highlight>
              </a:rPr>
              <a:t>10</a:t>
            </a:r>
            <a:r>
              <a:rPr lang="en-US" sz="3600" dirty="0"/>
              <a:t> days of the invoice date. If the buyer does not take the discount, the total invoice amount is due within </a:t>
            </a:r>
            <a:r>
              <a:rPr lang="en-US" sz="3600" dirty="0">
                <a:highlight>
                  <a:srgbClr val="FFFF00"/>
                </a:highlight>
              </a:rPr>
              <a:t>30 days</a:t>
            </a:r>
            <a:r>
              <a:rPr lang="en-US" sz="3600" dirty="0"/>
              <a:t>. </a:t>
            </a:r>
          </a:p>
          <a:p>
            <a:pPr lvl="2"/>
            <a:r>
              <a:rPr lang="en-US" sz="3600" dirty="0"/>
              <a:t>These terms are expressed as </a:t>
            </a:r>
            <a:r>
              <a:rPr lang="en-US" sz="3600" dirty="0">
                <a:highlight>
                  <a:srgbClr val="FFFF00"/>
                </a:highlight>
              </a:rPr>
              <a:t>2/10, n/30 </a:t>
            </a:r>
            <a:r>
              <a:rPr lang="en-US" sz="3600" dirty="0"/>
              <a:t>and are read as “2% discount if paid within 10 days, net amount due within 30 days.”</a:t>
            </a:r>
          </a:p>
        </p:txBody>
      </p:sp>
    </p:spTree>
    <p:extLst>
      <p:ext uri="{BB962C8B-B14F-4D97-AF65-F5344CB8AC3E}">
        <p14:creationId xmlns:p14="http://schemas.microsoft.com/office/powerpoint/2010/main" val="3203099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Purchases Discounts</a:t>
            </a:r>
            <a:br>
              <a:rPr lang="en-US" dirty="0"/>
            </a:br>
            <a:endParaRPr lang="en-US" sz="1800" dirty="0"/>
          </a:p>
        </p:txBody>
      </p:sp>
      <p:sp>
        <p:nvSpPr>
          <p:cNvPr id="3" name="Content Placeholder 2"/>
          <p:cNvSpPr>
            <a:spLocks noGrp="1"/>
          </p:cNvSpPr>
          <p:nvPr>
            <p:ph idx="1"/>
          </p:nvPr>
        </p:nvSpPr>
        <p:spPr/>
        <p:txBody>
          <a:bodyPr/>
          <a:lstStyle/>
          <a:p>
            <a:r>
              <a:rPr lang="en-US" dirty="0"/>
              <a:t>Assume that NetSolutions places an order for $3,000 from Alpha Technologies on </a:t>
            </a:r>
            <a:r>
              <a:rPr lang="en-US" dirty="0">
                <a:highlight>
                  <a:srgbClr val="FFFF00"/>
                </a:highlight>
              </a:rPr>
              <a:t>January 5 </a:t>
            </a:r>
            <a:r>
              <a:rPr lang="en-US" dirty="0"/>
              <a:t>with terms of </a:t>
            </a:r>
            <a:r>
              <a:rPr lang="en-US" dirty="0">
                <a:highlight>
                  <a:srgbClr val="FFFF00"/>
                </a:highlight>
              </a:rPr>
              <a:t>2/10, n/30. </a:t>
            </a:r>
          </a:p>
          <a:p>
            <a:endParaRPr lang="en-US" dirty="0">
              <a:highlight>
                <a:srgbClr val="FFFF00"/>
              </a:highlight>
            </a:endParaRPr>
          </a:p>
          <a:p>
            <a:endParaRPr lang="en-US" dirty="0">
              <a:highlight>
                <a:srgbClr val="FFFF00"/>
              </a:highlight>
            </a:endParaRPr>
          </a:p>
          <a:p>
            <a:endParaRPr lang="en-US" dirty="0">
              <a:highlight>
                <a:srgbClr val="FFFF00"/>
              </a:highlight>
            </a:endParaRPr>
          </a:p>
        </p:txBody>
      </p:sp>
      <p:pic>
        <p:nvPicPr>
          <p:cNvPr id="4" name="Content Placeholder 5" descr="Two journal entries are given in a journal form.&#10;&#10;In the first entry, January 5 is the date indicated. Inventory is debited—with 3,000 shown in the Debit column. Accounts Payable—Alpha Technologies is credited—with 3,000 shown in the Credit column. Below the journal entry, an illustration of how this journal entry impacts the accounting equation and financial statement elements using T account postings is given. The accounting equation is Assets = Liabilities + Stockholders’ Equity. Below Assets is a T account for Inventory. The Inventory T account has a debit entry of 3,000 and no credit entry. Below Liabilities is a T account for Accounts Payable. The Accounts Payable T account has no debit entry and a credit entry of 3,000. &#10;In the second entry, January 15 is the date indicated. Accounts Payable—Alpha Technologies is debited—with 3,000 shown in the Debit column. Cash is credited—with 2,940 shown in the Credit column. Inventory is credited—with 60 shown in the Credit column. Below the journal entry, an illustration of how this journal entry impacts the accounting equation and financial statement elements using T account postings is given. The accounting equation is Assets = Liabilities + Stockholders’ Equity. Below Assets are two T accounts: one for Cash and one for Inventory. The Cash T account has no debit entry and a credit entry of 2,940. The Inventory T account has no debit entry and a credit entry of 60. Below Liabilities is a T account for Accounts Payable. The Accounts Payable T account has a debit entry of 3,000 and no credit entry.&#10;">
            <a:extLst>
              <a:ext uri="{FF2B5EF4-FFF2-40B4-BE49-F238E27FC236}">
                <a16:creationId xmlns:a16="http://schemas.microsoft.com/office/drawing/2014/main" id="{C4B22BBE-84E6-3694-2F58-E19EA7FCB61C}"/>
              </a:ext>
            </a:extLst>
          </p:cNvPr>
          <p:cNvPicPr>
            <a:picLocks noChangeAspect="1"/>
          </p:cNvPicPr>
          <p:nvPr/>
        </p:nvPicPr>
        <p:blipFill rotWithShape="1">
          <a:blip r:embed="rId2"/>
          <a:srcRect r="2333" b="51708"/>
          <a:stretch/>
        </p:blipFill>
        <p:spPr>
          <a:xfrm>
            <a:off x="1424701" y="2558143"/>
            <a:ext cx="8353284" cy="1928513"/>
          </a:xfrm>
          <a:prstGeom prst="rect">
            <a:avLst/>
          </a:prstGeom>
        </p:spPr>
      </p:pic>
    </p:spTree>
    <p:extLst>
      <p:ext uri="{BB962C8B-B14F-4D97-AF65-F5344CB8AC3E}">
        <p14:creationId xmlns:p14="http://schemas.microsoft.com/office/powerpoint/2010/main" val="305459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Purchases Discounts</a:t>
            </a:r>
            <a:br>
              <a:rPr lang="en-US" dirty="0"/>
            </a:br>
            <a:endParaRPr lang="en-US" sz="1800" dirty="0"/>
          </a:p>
        </p:txBody>
      </p:sp>
      <p:sp>
        <p:nvSpPr>
          <p:cNvPr id="3" name="Content Placeholder 2"/>
          <p:cNvSpPr>
            <a:spLocks noGrp="1"/>
          </p:cNvSpPr>
          <p:nvPr>
            <p:ph idx="1"/>
          </p:nvPr>
        </p:nvSpPr>
        <p:spPr/>
        <p:txBody>
          <a:bodyPr/>
          <a:lstStyle/>
          <a:p>
            <a:r>
              <a:rPr lang="en-US" dirty="0"/>
              <a:t>In order to pay the invoice on January 15 (the last day of the discount period), </a:t>
            </a:r>
            <a:r>
              <a:rPr lang="en-US" dirty="0" err="1"/>
              <a:t>NetSolutions</a:t>
            </a:r>
            <a:r>
              <a:rPr lang="en-US" dirty="0"/>
              <a:t> pays $2,940, which is $3,000 less the discount of $60 ($3,000 × 2%). </a:t>
            </a:r>
          </a:p>
        </p:txBody>
      </p:sp>
      <p:pic>
        <p:nvPicPr>
          <p:cNvPr id="5" name="Content Placeholder 5" descr="Two journal entries are given in a journal form.&#10;&#10;In the first entry, January 5 is the date indicated. Inventory is debited—with 3,000 shown in the Debit column. Accounts Payable—Alpha Technologies is credited—with 3,000 shown in the Credit column. Below the journal entry, an illustration of how this journal entry impacts the accounting equation and financial statement elements using T account postings is given. The accounting equation is Assets = Liabilities + Stockholders’ Equity. Below Assets is a T account for Inventory. The Inventory T account has a debit entry of 3,000 and no credit entry. Below Liabilities is a T account for Accounts Payable. The Accounts Payable T account has no debit entry and a credit entry of 3,000. &#10;In the second entry, January 15 is the date indicated. Accounts Payable—Alpha Technologies is debited—with 3,000 shown in the Debit column. Cash is credited—with 2,940 shown in the Credit column. Inventory is credited—with 60 shown in the Credit column. Below the journal entry, an illustration of how this journal entry impacts the accounting equation and financial statement elements using T account postings is given. The accounting equation is Assets = Liabilities + Stockholders’ Equity. Below Assets are two T accounts: one for Cash and one for Inventory. The Cash T account has no debit entry and a credit entry of 2,940. The Inventory T account has no debit entry and a credit entry of 60. Below Liabilities is a T account for Accounts Payable. The Accounts Payable T account has a debit entry of 3,000 and no credit entry.&#10;">
            <a:extLst>
              <a:ext uri="{FF2B5EF4-FFF2-40B4-BE49-F238E27FC236}">
                <a16:creationId xmlns:a16="http://schemas.microsoft.com/office/drawing/2014/main" id="{809E757A-F2B0-9C77-2424-74A7D5AC71E5}"/>
              </a:ext>
            </a:extLst>
          </p:cNvPr>
          <p:cNvPicPr>
            <a:picLocks noChangeAspect="1"/>
          </p:cNvPicPr>
          <p:nvPr/>
        </p:nvPicPr>
        <p:blipFill rotWithShape="1">
          <a:blip r:embed="rId2"/>
          <a:srcRect t="46602"/>
          <a:stretch/>
        </p:blipFill>
        <p:spPr>
          <a:xfrm>
            <a:off x="1599832" y="2877311"/>
            <a:ext cx="8251303" cy="2057258"/>
          </a:xfrm>
          <a:prstGeom prst="rect">
            <a:avLst/>
          </a:prstGeom>
        </p:spPr>
      </p:pic>
    </p:spTree>
    <p:extLst>
      <p:ext uri="{BB962C8B-B14F-4D97-AF65-F5344CB8AC3E}">
        <p14:creationId xmlns:p14="http://schemas.microsoft.com/office/powerpoint/2010/main" val="3387523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4203F-AC69-4547-B754-5548DF08E0A4}"/>
              </a:ext>
            </a:extLst>
          </p:cNvPr>
          <p:cNvSpPr>
            <a:spLocks noGrp="1"/>
          </p:cNvSpPr>
          <p:nvPr>
            <p:ph type="title"/>
          </p:nvPr>
        </p:nvSpPr>
        <p:spPr>
          <a:xfrm>
            <a:off x="1097551" y="207327"/>
            <a:ext cx="10515600" cy="672105"/>
          </a:xfrm>
        </p:spPr>
        <p:txBody>
          <a:bodyPr/>
          <a:lstStyle/>
          <a:p>
            <a:r>
              <a:rPr lang="en-US" dirty="0"/>
              <a:t>Purchases Discounts</a:t>
            </a:r>
            <a:br>
              <a:rPr lang="en-US" dirty="0"/>
            </a:br>
            <a:endParaRPr lang="en-US" sz="2400" dirty="0"/>
          </a:p>
        </p:txBody>
      </p:sp>
      <p:sp>
        <p:nvSpPr>
          <p:cNvPr id="3" name="Text Placeholder 2">
            <a:extLst>
              <a:ext uri="{FF2B5EF4-FFF2-40B4-BE49-F238E27FC236}">
                <a16:creationId xmlns:a16="http://schemas.microsoft.com/office/drawing/2014/main" id="{A6C519A3-743F-4404-9305-E8E1567D46B4}"/>
              </a:ext>
            </a:extLst>
          </p:cNvPr>
          <p:cNvSpPr>
            <a:spLocks noGrp="1"/>
          </p:cNvSpPr>
          <p:nvPr>
            <p:ph sz="quarter" idx="16"/>
          </p:nvPr>
        </p:nvSpPr>
        <p:spPr>
          <a:xfrm>
            <a:off x="838200" y="1607126"/>
            <a:ext cx="10515600" cy="1571503"/>
          </a:xfrm>
        </p:spPr>
        <p:txBody>
          <a:bodyPr>
            <a:noAutofit/>
          </a:bodyPr>
          <a:lstStyle/>
          <a:p>
            <a:pPr marL="457200" indent="-457200">
              <a:buFont typeface="Arial" panose="020B0604020202020204" pitchFamily="34" charset="0"/>
              <a:buChar char="•"/>
            </a:pPr>
            <a:r>
              <a:rPr lang="en-US" sz="2600" dirty="0"/>
              <a:t>Assume that NetSolutions does not take the discount, but instead pays the invoice on February 4. In this case, NetSolutions would record the payment as follows:</a:t>
            </a:r>
          </a:p>
        </p:txBody>
      </p:sp>
      <p:pic>
        <p:nvPicPr>
          <p:cNvPr id="6" name="Content Placeholder 5" descr="A journal entry is given in a journal form. February 4 is the date indicated. Accounts Payable—Alpha Technologies is debited—with 3,000 shown in the Debit column. Cash is credited—with 3,000 shown in the Credit column. Below the journal entry, an illustration of how this journal entry impacts the accounting equation and financial statement elements using T account postings is given. The accounting equation is Assets = Liabilities + Stockholders’ Equity. Below Assets is a T account for Cash. The Cash T account has no debit entry and a credit entry of 3,000. Below Liabilities is a T account for Accounts Payable. The Accounts Payable T account has a debit entry of 3,000 and no credit entry.">
            <a:extLst>
              <a:ext uri="{FF2B5EF4-FFF2-40B4-BE49-F238E27FC236}">
                <a16:creationId xmlns:a16="http://schemas.microsoft.com/office/drawing/2014/main" id="{6248A850-07FA-4443-927F-3E5F273E39BE}"/>
              </a:ext>
            </a:extLst>
          </p:cNvPr>
          <p:cNvPicPr>
            <a:picLocks noGrp="1" noChangeAspect="1"/>
          </p:cNvPicPr>
          <p:nvPr>
            <p:ph sz="quarter" idx="17"/>
          </p:nvPr>
        </p:nvPicPr>
        <p:blipFill>
          <a:blip r:embed="rId2"/>
          <a:stretch>
            <a:fillRect/>
          </a:stretch>
        </p:blipFill>
        <p:spPr>
          <a:xfrm>
            <a:off x="1097551" y="3062514"/>
            <a:ext cx="9996897" cy="2071764"/>
          </a:xfrm>
          <a:prstGeom prst="rect">
            <a:avLst/>
          </a:prstGeom>
        </p:spPr>
      </p:pic>
    </p:spTree>
    <p:extLst>
      <p:ext uri="{BB962C8B-B14F-4D97-AF65-F5344CB8AC3E}">
        <p14:creationId xmlns:p14="http://schemas.microsoft.com/office/powerpoint/2010/main" val="553890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B947C-1037-4310-890C-779F9672B409}"/>
              </a:ext>
            </a:extLst>
          </p:cNvPr>
          <p:cNvSpPr>
            <a:spLocks noGrp="1"/>
          </p:cNvSpPr>
          <p:nvPr>
            <p:ph type="title"/>
          </p:nvPr>
        </p:nvSpPr>
        <p:spPr/>
        <p:txBody>
          <a:bodyPr/>
          <a:lstStyle/>
          <a:p>
            <a:r>
              <a:rPr lang="en-US" dirty="0"/>
              <a:t>Sales on Account</a:t>
            </a:r>
            <a:br>
              <a:rPr lang="en-US" dirty="0"/>
            </a:br>
            <a:endParaRPr lang="en-US" sz="2400" dirty="0"/>
          </a:p>
        </p:txBody>
      </p:sp>
      <p:sp>
        <p:nvSpPr>
          <p:cNvPr id="3" name="Text Placeholder 2">
            <a:extLst>
              <a:ext uri="{FF2B5EF4-FFF2-40B4-BE49-F238E27FC236}">
                <a16:creationId xmlns:a16="http://schemas.microsoft.com/office/drawing/2014/main" id="{116E9C00-A897-4860-B967-189E3AEF8D10}"/>
              </a:ext>
            </a:extLst>
          </p:cNvPr>
          <p:cNvSpPr>
            <a:spLocks noGrp="1"/>
          </p:cNvSpPr>
          <p:nvPr>
            <p:ph sz="quarter" idx="10"/>
          </p:nvPr>
        </p:nvSpPr>
        <p:spPr/>
        <p:txBody>
          <a:bodyPr/>
          <a:lstStyle/>
          <a:p>
            <a:pPr marL="457200" indent="-457200">
              <a:buFont typeface="Arial" panose="020B0604020202020204" pitchFamily="34" charset="0"/>
              <a:buChar char="•"/>
            </a:pPr>
            <a:r>
              <a:rPr lang="en-US" sz="2600" dirty="0"/>
              <a:t>A retail business may sell merchandise on account.</a:t>
            </a:r>
          </a:p>
          <a:p>
            <a:pPr marL="457200" indent="-457200">
              <a:buFont typeface="Arial" panose="020B0604020202020204" pitchFamily="34" charset="0"/>
              <a:buChar char="•"/>
            </a:pPr>
            <a:r>
              <a:rPr lang="en-US" sz="2600" dirty="0"/>
              <a:t>The seller records such sales as a debit to Accounts Receivable and a credit to Sales.</a:t>
            </a:r>
          </a:p>
        </p:txBody>
      </p:sp>
    </p:spTree>
    <p:extLst>
      <p:ext uri="{BB962C8B-B14F-4D97-AF65-F5344CB8AC3E}">
        <p14:creationId xmlns:p14="http://schemas.microsoft.com/office/powerpoint/2010/main" val="1621732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B947C-1037-4310-890C-779F9672B409}"/>
              </a:ext>
            </a:extLst>
          </p:cNvPr>
          <p:cNvSpPr>
            <a:spLocks noGrp="1"/>
          </p:cNvSpPr>
          <p:nvPr>
            <p:ph type="title"/>
          </p:nvPr>
        </p:nvSpPr>
        <p:spPr/>
        <p:txBody>
          <a:bodyPr/>
          <a:lstStyle/>
          <a:p>
            <a:r>
              <a:rPr lang="en-US" dirty="0"/>
              <a:t>Sales on Account</a:t>
            </a:r>
            <a:br>
              <a:rPr lang="en-US" dirty="0"/>
            </a:br>
            <a:endParaRPr lang="en-US" sz="2400" dirty="0"/>
          </a:p>
        </p:txBody>
      </p:sp>
      <p:sp>
        <p:nvSpPr>
          <p:cNvPr id="3" name="Text Placeholder 2">
            <a:extLst>
              <a:ext uri="{FF2B5EF4-FFF2-40B4-BE49-F238E27FC236}">
                <a16:creationId xmlns:a16="http://schemas.microsoft.com/office/drawing/2014/main" id="{116E9C00-A897-4860-B967-189E3AEF8D10}"/>
              </a:ext>
            </a:extLst>
          </p:cNvPr>
          <p:cNvSpPr>
            <a:spLocks noGrp="1"/>
          </p:cNvSpPr>
          <p:nvPr>
            <p:ph sz="quarter" idx="16"/>
          </p:nvPr>
        </p:nvSpPr>
        <p:spPr>
          <a:xfrm>
            <a:off x="838200" y="1607126"/>
            <a:ext cx="10515599" cy="1339274"/>
          </a:xfrm>
        </p:spPr>
        <p:txBody>
          <a:bodyPr>
            <a:noAutofit/>
          </a:bodyPr>
          <a:lstStyle/>
          <a:p>
            <a:pPr marL="465138" indent="-465138">
              <a:buFont typeface="Arial" panose="020B0604020202020204" pitchFamily="34" charset="0"/>
              <a:buChar char="•"/>
            </a:pPr>
            <a:r>
              <a:rPr lang="en-US" sz="2200" dirty="0"/>
              <a:t>To illustrate, assume that NetSolutions sold merchandise on account to Digital Technologies for $18,000, terms n/30. </a:t>
            </a:r>
          </a:p>
          <a:p>
            <a:pPr marL="465138" indent="-465138">
              <a:buFont typeface="Arial" panose="020B0604020202020204" pitchFamily="34" charset="0"/>
              <a:buChar char="•"/>
            </a:pPr>
            <a:r>
              <a:rPr lang="en-US" sz="2200" dirty="0"/>
              <a:t>The cost of the merchandise sold was $10,800. NetSolutions would record the sale on account as follows:</a:t>
            </a:r>
          </a:p>
        </p:txBody>
      </p:sp>
      <p:pic>
        <p:nvPicPr>
          <p:cNvPr id="6" name="Content Placeholder 5" descr="Two journal entries are given in a journal form.&#10;&#10;In the first entry, March 10 is the date indicated. Accounts Receivable—Digital Technologies is debited—with 18,000 shown in the Debit column. Sales is credited—with 18,000 shown in the Credit column. A journal entry explanation is given below the journal entry: Invoice No. 7172. Below the journal entry, an illustration of how this journal entry impacts the accounting equation and financial statement elements using T account postings is given. The accounting equation is Assets = Liabilities + Stockholders’ Equity. Below Assets is a T account for Accounts Receivable. The Accounts Receivable T account has a debit entry of 18,000 and no credit entry. Below Stockholders’ Equity is a T account for Sales. The Sales T account has no debit entry and a credit entry of 18,000. &#10;&#10;In the second entry, March 10 is the date indicated. Cost of Goods Sold is debited—with 10,800 shown in the Debit column. Inventory is credited—with 10,800 shown in the Credit column. A journal entry explanation is given below the journal entry: Cost of merchandise sold on Invoice No. 7172. Below the journal entry, an illustration of how this journal entry impacts the accounting equation and financial statement elements using T account postings is given. The accounting equation is Assets = Liabilities + Stockholders’ Equity. Below Assets is a T account for Inventory. The Inventory T account has no debit entry and a credit entry of 10,800. Below Stockholders’ Equity is a T account for Cost of Goods Sold. The Cost of Goods Sold T account has a debit entry of 10,800 and no credit entry.&#10;">
            <a:extLst>
              <a:ext uri="{FF2B5EF4-FFF2-40B4-BE49-F238E27FC236}">
                <a16:creationId xmlns:a16="http://schemas.microsoft.com/office/drawing/2014/main" id="{A14A92D8-DD9A-4493-833C-AEA5193A5CCE}"/>
              </a:ext>
            </a:extLst>
          </p:cNvPr>
          <p:cNvPicPr>
            <a:picLocks noGrp="1" noChangeAspect="1"/>
          </p:cNvPicPr>
          <p:nvPr>
            <p:ph sz="quarter" idx="17"/>
          </p:nvPr>
        </p:nvPicPr>
        <p:blipFill>
          <a:blip r:embed="rId2"/>
          <a:stretch>
            <a:fillRect/>
          </a:stretch>
        </p:blipFill>
        <p:spPr>
          <a:xfrm>
            <a:off x="3220356" y="3121884"/>
            <a:ext cx="5751285" cy="3059654"/>
          </a:xfrm>
          <a:prstGeom prst="rect">
            <a:avLst/>
          </a:prstGeom>
        </p:spPr>
      </p:pic>
    </p:spTree>
    <p:extLst>
      <p:ext uri="{BB962C8B-B14F-4D97-AF65-F5344CB8AC3E}">
        <p14:creationId xmlns:p14="http://schemas.microsoft.com/office/powerpoint/2010/main" val="2341896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B947C-1037-4310-890C-779F9672B409}"/>
              </a:ext>
            </a:extLst>
          </p:cNvPr>
          <p:cNvSpPr>
            <a:spLocks noGrp="1"/>
          </p:cNvSpPr>
          <p:nvPr>
            <p:ph type="title"/>
          </p:nvPr>
        </p:nvSpPr>
        <p:spPr/>
        <p:txBody>
          <a:bodyPr/>
          <a:lstStyle/>
          <a:p>
            <a:r>
              <a:rPr lang="en-US" dirty="0"/>
              <a:t>Sales on Account</a:t>
            </a:r>
            <a:br>
              <a:rPr lang="en-US" dirty="0"/>
            </a:br>
            <a:r>
              <a:rPr lang="en-US" sz="2400" dirty="0"/>
              <a:t>(3 of 3)</a:t>
            </a:r>
          </a:p>
        </p:txBody>
      </p:sp>
      <p:sp>
        <p:nvSpPr>
          <p:cNvPr id="3" name="Text Placeholder 2">
            <a:extLst>
              <a:ext uri="{FF2B5EF4-FFF2-40B4-BE49-F238E27FC236}">
                <a16:creationId xmlns:a16="http://schemas.microsoft.com/office/drawing/2014/main" id="{116E9C00-A897-4860-B967-189E3AEF8D10}"/>
              </a:ext>
            </a:extLst>
          </p:cNvPr>
          <p:cNvSpPr>
            <a:spLocks noGrp="1"/>
          </p:cNvSpPr>
          <p:nvPr>
            <p:ph sz="quarter" idx="16"/>
          </p:nvPr>
        </p:nvSpPr>
        <p:spPr>
          <a:xfrm>
            <a:off x="838200" y="1607126"/>
            <a:ext cx="10515599" cy="540988"/>
          </a:xfrm>
        </p:spPr>
        <p:txBody>
          <a:bodyPr>
            <a:noAutofit/>
          </a:bodyPr>
          <a:lstStyle/>
          <a:p>
            <a:pPr marL="457200" indent="-457200">
              <a:buFont typeface="Arial" panose="020B0604020202020204" pitchFamily="34" charset="0"/>
              <a:buChar char="•"/>
            </a:pPr>
            <a:r>
              <a:rPr lang="en-US" sz="2600" dirty="0"/>
              <a:t>NetSolutions would record the receipt of Digital Technologies’ payment on April 9 as follows:</a:t>
            </a:r>
          </a:p>
        </p:txBody>
      </p:sp>
      <p:pic>
        <p:nvPicPr>
          <p:cNvPr id="6" name="Content Placeholder 5" descr="A journal entry is given in a journal form. April 9, 20Y8 is the date indicated. Cash is debited—with 18,000 shown in the Debit column. Accounts Receivable—Digital Technologies is credited—with 18,000 shown in the Credit column. Below the journal entry, an illustration of how this journal entry impacts the accounting equation and financial statement elements using T account postings is given. The accounting equation is Assets = Liabilities + Stockholders’ Equity. Below Assets are two T accounts: one for Cash and one for Accounts Receivable. The Cash T account has a debit entry of 18,000 and no credit entry. The Accounts Receivable T account has no debit entry and a credit entry of 18,000.">
            <a:extLst>
              <a:ext uri="{FF2B5EF4-FFF2-40B4-BE49-F238E27FC236}">
                <a16:creationId xmlns:a16="http://schemas.microsoft.com/office/drawing/2014/main" id="{2D4B5958-3DCB-42EB-9354-75F8E6F87588}"/>
              </a:ext>
            </a:extLst>
          </p:cNvPr>
          <p:cNvPicPr>
            <a:picLocks noGrp="1" noChangeAspect="1"/>
          </p:cNvPicPr>
          <p:nvPr>
            <p:ph sz="quarter" idx="17"/>
          </p:nvPr>
        </p:nvPicPr>
        <p:blipFill>
          <a:blip r:embed="rId2"/>
          <a:stretch>
            <a:fillRect/>
          </a:stretch>
        </p:blipFill>
        <p:spPr>
          <a:xfrm>
            <a:off x="1091245" y="2935724"/>
            <a:ext cx="10009507" cy="1991877"/>
          </a:xfrm>
          <a:prstGeom prst="rect">
            <a:avLst/>
          </a:prstGeom>
        </p:spPr>
      </p:pic>
    </p:spTree>
    <p:extLst>
      <p:ext uri="{BB962C8B-B14F-4D97-AF65-F5344CB8AC3E}">
        <p14:creationId xmlns:p14="http://schemas.microsoft.com/office/powerpoint/2010/main" val="3293599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8229600" cy="1143000"/>
          </a:xfrm>
        </p:spPr>
        <p:txBody>
          <a:bodyPr/>
          <a:lstStyle/>
          <a:p>
            <a:r>
              <a:rPr lang="en-US" dirty="0"/>
              <a:t>Freight</a:t>
            </a:r>
            <a:br>
              <a:rPr lang="en-US" dirty="0"/>
            </a:br>
            <a:endParaRPr lang="en-US" sz="1800" dirty="0"/>
          </a:p>
        </p:txBody>
      </p:sp>
      <p:sp>
        <p:nvSpPr>
          <p:cNvPr id="3" name="Content Placeholder 2"/>
          <p:cNvSpPr>
            <a:spLocks noGrp="1"/>
          </p:cNvSpPr>
          <p:nvPr>
            <p:ph idx="1"/>
          </p:nvPr>
        </p:nvSpPr>
        <p:spPr/>
        <p:txBody>
          <a:bodyPr/>
          <a:lstStyle/>
          <a:p>
            <a:r>
              <a:rPr lang="en-US" dirty="0"/>
              <a:t>The ownership of the merchandise may pass to the buyer when the seller delivers the merchandise to the freight carrier.</a:t>
            </a:r>
          </a:p>
          <a:p>
            <a:pPr lvl="1"/>
            <a:r>
              <a:rPr lang="en-US" dirty="0"/>
              <a:t>In this case, the terms are said to be </a:t>
            </a:r>
            <a:r>
              <a:rPr lang="en-US" b="1" dirty="0">
                <a:solidFill>
                  <a:srgbClr val="00375D"/>
                </a:solidFill>
              </a:rPr>
              <a:t>FOB (free on board) shipping point</a:t>
            </a:r>
            <a:r>
              <a:rPr lang="en-US" dirty="0"/>
              <a:t>.</a:t>
            </a:r>
          </a:p>
          <a:p>
            <a:pPr lvl="2"/>
            <a:r>
              <a:rPr lang="en-US" dirty="0"/>
              <a:t>This term means that the buyer pays the freight costs from the shipping point to the final destination.</a:t>
            </a:r>
          </a:p>
          <a:p>
            <a:pPr lvl="3"/>
            <a:r>
              <a:rPr lang="en-US" dirty="0"/>
              <a:t>Such costs are part of the buyer’s total cost of purchasing inventory and are added to the cost of the inventory by debiting Inventory.</a:t>
            </a:r>
          </a:p>
        </p:txBody>
      </p:sp>
    </p:spTree>
    <p:extLst>
      <p:ext uri="{BB962C8B-B14F-4D97-AF65-F5344CB8AC3E}">
        <p14:creationId xmlns:p14="http://schemas.microsoft.com/office/powerpoint/2010/main" val="414586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8D29A-6B59-4934-AA07-C867FC49C693}"/>
              </a:ext>
            </a:extLst>
          </p:cNvPr>
          <p:cNvSpPr>
            <a:spLocks noGrp="1"/>
          </p:cNvSpPr>
          <p:nvPr>
            <p:ph type="title"/>
          </p:nvPr>
        </p:nvSpPr>
        <p:spPr/>
        <p:txBody>
          <a:bodyPr/>
          <a:lstStyle/>
          <a:p>
            <a:r>
              <a:rPr lang="en-US" dirty="0"/>
              <a:t>Freight</a:t>
            </a:r>
            <a:br>
              <a:rPr lang="en-US" dirty="0"/>
            </a:br>
            <a:endParaRPr lang="en-US" sz="2400" dirty="0"/>
          </a:p>
        </p:txBody>
      </p:sp>
      <p:sp>
        <p:nvSpPr>
          <p:cNvPr id="3" name="Text Placeholder 2">
            <a:extLst>
              <a:ext uri="{FF2B5EF4-FFF2-40B4-BE49-F238E27FC236}">
                <a16:creationId xmlns:a16="http://schemas.microsoft.com/office/drawing/2014/main" id="{E87C9D39-E190-4AE4-A6C5-CE196F44D533}"/>
              </a:ext>
            </a:extLst>
          </p:cNvPr>
          <p:cNvSpPr>
            <a:spLocks noGrp="1"/>
          </p:cNvSpPr>
          <p:nvPr>
            <p:ph sz="quarter" idx="16"/>
          </p:nvPr>
        </p:nvSpPr>
        <p:spPr>
          <a:xfrm>
            <a:off x="838200" y="1607126"/>
            <a:ext cx="10515599" cy="1440874"/>
          </a:xfrm>
        </p:spPr>
        <p:txBody>
          <a:bodyPr>
            <a:noAutofit/>
          </a:bodyPr>
          <a:lstStyle/>
          <a:p>
            <a:pPr marL="465138" indent="-465138">
              <a:spcAft>
                <a:spcPts val="1200"/>
              </a:spcAft>
              <a:buFont typeface="Arial" panose="020B0604020202020204" pitchFamily="34" charset="0"/>
              <a:buChar char="•"/>
            </a:pPr>
            <a:r>
              <a:rPr lang="en-US" sz="2000" dirty="0"/>
              <a:t>To illustrate, assume that on June 10, NetSolutions purchased merchandise as follows:</a:t>
            </a:r>
          </a:p>
          <a:p>
            <a:pPr marL="573088" lvl="1" indent="117475">
              <a:buNone/>
            </a:pPr>
            <a:r>
              <a:rPr lang="en-US" sz="2000" dirty="0"/>
              <a:t>June 10. Purchased merchandise from Magna Data, $1,200 terms FOB shipping point.</a:t>
            </a:r>
          </a:p>
          <a:p>
            <a:pPr marL="573088" lvl="1" indent="0">
              <a:spcAft>
                <a:spcPts val="1200"/>
              </a:spcAft>
              <a:buNone/>
              <a:tabLst>
                <a:tab pos="1317625" algn="l"/>
              </a:tabLst>
            </a:pPr>
            <a:r>
              <a:rPr lang="en-US" sz="2000" dirty="0"/>
              <a:t>	10. Paid freight of $50 on June 10 purchase from Magna Data.</a:t>
            </a:r>
          </a:p>
          <a:p>
            <a:pPr marL="465138" indent="-465138">
              <a:buFont typeface="Arial" panose="020B0604020202020204" pitchFamily="34" charset="0"/>
              <a:buChar char="•"/>
            </a:pPr>
            <a:r>
              <a:rPr lang="en-US" sz="2000" dirty="0"/>
              <a:t>NetSolutions would record these two transactions as follows:</a:t>
            </a:r>
          </a:p>
        </p:txBody>
      </p:sp>
      <p:pic>
        <p:nvPicPr>
          <p:cNvPr id="6" name="Content Placeholder 5" descr="Two journal entries are given in a journal form.&#10;&#10;In the first entry, June 10 is the date indicated. Inventory is debited—with 1,200 shown in the Debit column. Accounts Payable—Magna Data is credited—with 1,200 shown in the Credit column. A journal entry explanation is given below the journal entry: Purchased merchandise, terms FOB shipping point.&#10;&#10;Below the journal entry, an illustration of how a journal entry impacts the accounting equation and financial statement elements using T account postings is given. The accounting equation is Assets = Liabilities + Stockholders’ Equity. Below Assets is a T accounts for Inventory. The Inventory T account has a debit entry of 1,200 and no credit entry. Below Liabilities is a T account for Accounts Payable. The Accounts Payable T account has no debit entry and a credit entry of 1,200. &#10;&#10;In the second entry, June 10 is the date indicated. Inventory is debited—with 50 shown in the Debit column. Cash is credited—with 50 shown in the Credit column. A journal entry explanation is given below the journal entry: Paid shipping cost on merchandise purchased.&#10;&#10;Below the journal entry, an illustration of how a journal entry impacts the accounting equation and financial statement elements using T account postings is given. The accounting equation is Assets = Liabilities + Stockholders’ Equity. Below Assets are two T accounts: one for Cash and one for Inventory. The Cash T account has no debit entries and a credit entry of 50. The Inventory T account has a debit entry of 50 and no credit entry.&#10;">
            <a:extLst>
              <a:ext uri="{FF2B5EF4-FFF2-40B4-BE49-F238E27FC236}">
                <a16:creationId xmlns:a16="http://schemas.microsoft.com/office/drawing/2014/main" id="{AC7207C8-E444-4A55-A1F1-74A3FCB0A49B}"/>
              </a:ext>
            </a:extLst>
          </p:cNvPr>
          <p:cNvPicPr>
            <a:picLocks noGrp="1" noChangeAspect="1"/>
          </p:cNvPicPr>
          <p:nvPr>
            <p:ph sz="quarter" idx="17"/>
          </p:nvPr>
        </p:nvPicPr>
        <p:blipFill>
          <a:blip r:embed="rId2"/>
          <a:stretch>
            <a:fillRect/>
          </a:stretch>
        </p:blipFill>
        <p:spPr>
          <a:xfrm>
            <a:off x="3478439" y="3429000"/>
            <a:ext cx="5235121" cy="2809089"/>
          </a:xfrm>
          <a:prstGeom prst="rect">
            <a:avLst/>
          </a:prstGeom>
        </p:spPr>
      </p:pic>
    </p:spTree>
    <p:extLst>
      <p:ext uri="{BB962C8B-B14F-4D97-AF65-F5344CB8AC3E}">
        <p14:creationId xmlns:p14="http://schemas.microsoft.com/office/powerpoint/2010/main" val="2389206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Freight</a:t>
            </a:r>
            <a:br>
              <a:rPr lang="en-US" dirty="0"/>
            </a:br>
            <a:endParaRPr lang="en-US" sz="1800" dirty="0"/>
          </a:p>
        </p:txBody>
      </p:sp>
      <p:sp>
        <p:nvSpPr>
          <p:cNvPr id="3" name="Content Placeholder 2"/>
          <p:cNvSpPr>
            <a:spLocks noGrp="1"/>
          </p:cNvSpPr>
          <p:nvPr>
            <p:ph idx="1"/>
          </p:nvPr>
        </p:nvSpPr>
        <p:spPr/>
        <p:txBody>
          <a:bodyPr/>
          <a:lstStyle/>
          <a:p>
            <a:r>
              <a:rPr lang="en-US" dirty="0"/>
              <a:t>The ownership of the merchandise may pass to the buyer when the buyer receives the merchandise.</a:t>
            </a:r>
          </a:p>
          <a:p>
            <a:pPr lvl="1"/>
            <a:r>
              <a:rPr lang="en-US" dirty="0"/>
              <a:t>In this case, the terms are said to be </a:t>
            </a:r>
            <a:r>
              <a:rPr lang="en-US" b="1" dirty="0">
                <a:solidFill>
                  <a:srgbClr val="00375D"/>
                </a:solidFill>
              </a:rPr>
              <a:t>FOB (free on board) destination</a:t>
            </a:r>
            <a:r>
              <a:rPr lang="en-US" dirty="0"/>
              <a:t>.</a:t>
            </a:r>
          </a:p>
          <a:p>
            <a:pPr lvl="2"/>
            <a:r>
              <a:rPr lang="en-US" dirty="0"/>
              <a:t>This term means that the seller pays the freight costs from the shipping point to the buyer’s final destination.</a:t>
            </a:r>
          </a:p>
          <a:p>
            <a:pPr lvl="3"/>
            <a:r>
              <a:rPr lang="en-US" dirty="0"/>
              <a:t>When the seller pays the delivery charges, the seller debits Delivery Expense or Freight Out.</a:t>
            </a:r>
          </a:p>
          <a:p>
            <a:pPr lvl="4"/>
            <a:r>
              <a:rPr lang="en-US" dirty="0"/>
              <a:t>Delivery Expense is reported on the seller’s income statement as a selling expense.</a:t>
            </a:r>
          </a:p>
        </p:txBody>
      </p:sp>
    </p:spTree>
    <p:extLst>
      <p:ext uri="{BB962C8B-B14F-4D97-AF65-F5344CB8AC3E}">
        <p14:creationId xmlns:p14="http://schemas.microsoft.com/office/powerpoint/2010/main" val="1396014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Freight</a:t>
            </a:r>
            <a:br>
              <a:rPr lang="en-US" dirty="0"/>
            </a:br>
            <a:endParaRPr lang="en-US" dirty="0"/>
          </a:p>
        </p:txBody>
      </p:sp>
      <p:sp>
        <p:nvSpPr>
          <p:cNvPr id="3" name="Content Placeholder 2"/>
          <p:cNvSpPr>
            <a:spLocks noGrp="1"/>
          </p:cNvSpPr>
          <p:nvPr>
            <p:ph idx="1"/>
          </p:nvPr>
        </p:nvSpPr>
        <p:spPr/>
        <p:txBody>
          <a:bodyPr/>
          <a:lstStyle/>
          <a:p>
            <a:r>
              <a:rPr lang="en-US" sz="2500" dirty="0"/>
              <a:t>Assume that NetSolutions sells merchandise as follows:</a:t>
            </a:r>
          </a:p>
          <a:p>
            <a:pPr marL="1033463" indent="-690563">
              <a:spcBef>
                <a:spcPts val="600"/>
              </a:spcBef>
              <a:buNone/>
              <a:tabLst>
                <a:tab pos="914400" algn="r"/>
                <a:tab pos="1033463" algn="l"/>
              </a:tabLst>
            </a:pPr>
            <a:r>
              <a:rPr lang="en-US" sz="2500" dirty="0"/>
              <a:t>June	15. 	Sold merchandise to Kranz Company on account, $700, terms FOB destination. The cost of the goods sold is $480.</a:t>
            </a:r>
          </a:p>
          <a:p>
            <a:pPr marL="228600" indent="0">
              <a:spcBef>
                <a:spcPts val="600"/>
              </a:spcBef>
              <a:buNone/>
              <a:tabLst>
                <a:tab pos="914400" algn="r"/>
                <a:tab pos="1033463" algn="l"/>
              </a:tabLst>
            </a:pPr>
            <a:r>
              <a:rPr lang="en-US" sz="2500" dirty="0"/>
              <a:t>	15. 	NetSolutions pays freight of $40 on the sale of June 15.</a:t>
            </a:r>
          </a:p>
          <a:p>
            <a:r>
              <a:rPr lang="en-US" sz="2500" dirty="0"/>
              <a:t>NetSolutions records the sale, the cost of the sale, and the freight cost as follows:</a:t>
            </a:r>
          </a:p>
        </p:txBody>
      </p:sp>
    </p:spTree>
    <p:extLst>
      <p:ext uri="{BB962C8B-B14F-4D97-AF65-F5344CB8AC3E}">
        <p14:creationId xmlns:p14="http://schemas.microsoft.com/office/powerpoint/2010/main" val="1430979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B419-6B4C-45D2-B751-0C210DA29FA9}"/>
              </a:ext>
            </a:extLst>
          </p:cNvPr>
          <p:cNvSpPr>
            <a:spLocks noGrp="1"/>
          </p:cNvSpPr>
          <p:nvPr>
            <p:ph type="title"/>
          </p:nvPr>
        </p:nvSpPr>
        <p:spPr>
          <a:xfrm>
            <a:off x="838200" y="365125"/>
            <a:ext cx="10515600" cy="671513"/>
          </a:xfrm>
        </p:spPr>
        <p:txBody>
          <a:bodyPr/>
          <a:lstStyle/>
          <a:p>
            <a:r>
              <a:rPr lang="en-US" noProof="0" dirty="0"/>
              <a:t>Freight</a:t>
            </a:r>
            <a:br>
              <a:rPr lang="en-US" noProof="0" dirty="0"/>
            </a:br>
            <a:r>
              <a:rPr lang="en-US" sz="2400" noProof="0" dirty="0"/>
              <a:t>(4 of 6)</a:t>
            </a:r>
            <a:endParaRPr lang="en-US" sz="2400" dirty="0"/>
          </a:p>
        </p:txBody>
      </p:sp>
      <p:pic>
        <p:nvPicPr>
          <p:cNvPr id="5" name="Content Placeholder 4" descr="Three journal entries are given in a journal form.&#10;&#10;In the first entry, June 15 is the date indicated. Accounts Receivable—Kranz Company is debited—with 700 shown in the Debit column. Sales is credited—with 700 shown in the Credit column. A journal entry explanation is given below the journal entry: Sold merchandise, terms FOB destination.&#10;&#10;Below the journal entry, an illustration of how a journal entry impacts the accounting equation and financial statement elements using T account postings is given. The accounting equation is Assets = Liabilities + Stockholders’ Equity. Below Assets is a T account for Accounts Receivable. The Accounts Receivable T account has a debit entry of 700 and no credit entry. Below Stockholders’ Equity is a T account for Sales. The Sales T account has no debit entry and a credit entry of 700. &#10;&#10;In the second entry, June 15 is the date indicated. Cost of Goods Sold is debited—with 480 shown in the Debit column. Inventory is credited—with 480 shown in the Credit column. A journal entry explanation is given below the journal entry: Recorded cost of goods sold to Kranz Company.&#10;&#10;Below the journal entry, an illustration of how a journal entry impacts the accounting equation and financial statement elements using T account postings is given. The accounting equation is Assets = Liabilities + Stockholders’ Equity. Below Assets is a T account for Inventory. The Inventory T account has no debit entry and a credit entry of 480. Below Stockholders’ Equity is a T account for Cost of Goods Sold. The Cost of Goods Sold T account has a debit entry of 480 and no credit entry. &#10;&#10;In the third entry, June 15 is the date indicated. Delivery Expense is debited—with 40 shown in the Debit column. Cash is credited—with 40 shown in the Credit column. A journal entry explanation is given below the journal entry: Paid shipping cost on merchandise sold.&#10;&#10;Below the journal entry, an illustration of how a journal entry impacts the accounting equation and financial statement elements using T account postings is given. The accounting equation is Assets = Liabilities + Stockholders’ Equity. Below Assets is a T account for Cash. The Cash T account has no debit entry and a credit entry of 40. Below Stockholders’ Equity is a T account for Delivery Expense. The Delivery Expense T account has a debit entry of 40 and no credit entry.&#10;">
            <a:extLst>
              <a:ext uri="{FF2B5EF4-FFF2-40B4-BE49-F238E27FC236}">
                <a16:creationId xmlns:a16="http://schemas.microsoft.com/office/drawing/2014/main" id="{BAD113B4-CBEB-43D2-981A-8FC861E577BB}"/>
              </a:ext>
            </a:extLst>
          </p:cNvPr>
          <p:cNvPicPr>
            <a:picLocks noGrp="1" noChangeAspect="1"/>
          </p:cNvPicPr>
          <p:nvPr>
            <p:ph sz="quarter" idx="10"/>
          </p:nvPr>
        </p:nvPicPr>
        <p:blipFill>
          <a:blip r:embed="rId2"/>
          <a:stretch>
            <a:fillRect/>
          </a:stretch>
        </p:blipFill>
        <p:spPr>
          <a:xfrm>
            <a:off x="3146473" y="1593850"/>
            <a:ext cx="5899053" cy="4473575"/>
          </a:xfrm>
        </p:spPr>
      </p:pic>
    </p:spTree>
    <p:extLst>
      <p:ext uri="{BB962C8B-B14F-4D97-AF65-F5344CB8AC3E}">
        <p14:creationId xmlns:p14="http://schemas.microsoft.com/office/powerpoint/2010/main" val="1278754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Freight</a:t>
            </a:r>
            <a:br>
              <a:rPr lang="en-US" dirty="0"/>
            </a:br>
            <a:endParaRPr lang="en-US" sz="1800" dirty="0"/>
          </a:p>
        </p:txBody>
      </p:sp>
      <p:sp>
        <p:nvSpPr>
          <p:cNvPr id="3" name="Content Placeholder 2"/>
          <p:cNvSpPr>
            <a:spLocks noGrp="1"/>
          </p:cNvSpPr>
          <p:nvPr>
            <p:ph idx="1"/>
          </p:nvPr>
        </p:nvSpPr>
        <p:spPr/>
        <p:txBody>
          <a:bodyPr/>
          <a:lstStyle/>
          <a:p>
            <a:r>
              <a:rPr lang="en-US" dirty="0"/>
              <a:t>The seller may prepay the freight, even though the terms are FOB shipping point. The seller will then add the freight to the invoice. </a:t>
            </a:r>
          </a:p>
          <a:p>
            <a:pPr lvl="1"/>
            <a:r>
              <a:rPr lang="en-US" dirty="0"/>
              <a:t>The buyer debits Inventory for the total amount of the invoice, including the freight.</a:t>
            </a:r>
          </a:p>
          <a:p>
            <a:pPr lvl="1"/>
            <a:r>
              <a:rPr lang="en-US" dirty="0"/>
              <a:t>Any discount terms would not apply to the prepaid freight.</a:t>
            </a:r>
          </a:p>
        </p:txBody>
      </p:sp>
    </p:spTree>
    <p:extLst>
      <p:ext uri="{BB962C8B-B14F-4D97-AF65-F5344CB8AC3E}">
        <p14:creationId xmlns:p14="http://schemas.microsoft.com/office/powerpoint/2010/main" val="2130266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Freight</a:t>
            </a:r>
            <a:br>
              <a:rPr lang="en-US" dirty="0"/>
            </a:br>
            <a:endParaRPr lang="en-US" dirty="0"/>
          </a:p>
        </p:txBody>
      </p:sp>
      <p:sp>
        <p:nvSpPr>
          <p:cNvPr id="3" name="Content Placeholder 2"/>
          <p:cNvSpPr>
            <a:spLocks noGrp="1"/>
          </p:cNvSpPr>
          <p:nvPr>
            <p:ph idx="1"/>
          </p:nvPr>
        </p:nvSpPr>
        <p:spPr/>
        <p:txBody>
          <a:bodyPr/>
          <a:lstStyle/>
          <a:p>
            <a:r>
              <a:rPr lang="en-US" sz="2500" dirty="0"/>
              <a:t>Assume that NetSolutions sells merchandise as follows:</a:t>
            </a:r>
          </a:p>
          <a:p>
            <a:pPr marL="1371600" indent="-1028700">
              <a:spcBef>
                <a:spcPts val="600"/>
              </a:spcBef>
              <a:buNone/>
              <a:tabLst>
                <a:tab pos="1143000" algn="r"/>
                <a:tab pos="1371600" algn="l"/>
              </a:tabLst>
            </a:pPr>
            <a:r>
              <a:rPr lang="en-US" sz="2500" dirty="0"/>
              <a:t>June	20. 	Sold merchandise to Planter Company on account, $800, terms FOB shipping point. NetSolutions paid freight of $45, which was added to the invoice. The cost of the goods sold is $360.</a:t>
            </a:r>
          </a:p>
          <a:p>
            <a:r>
              <a:rPr lang="en-US" sz="2500" dirty="0"/>
              <a:t>NetSolutions records the sale, the cost of the sale, and the freight as follows:</a:t>
            </a:r>
          </a:p>
        </p:txBody>
      </p:sp>
    </p:spTree>
    <p:extLst>
      <p:ext uri="{BB962C8B-B14F-4D97-AF65-F5344CB8AC3E}">
        <p14:creationId xmlns:p14="http://schemas.microsoft.com/office/powerpoint/2010/main" val="2271927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B419-6B4C-45D2-B751-0C210DA29FA9}"/>
              </a:ext>
            </a:extLst>
          </p:cNvPr>
          <p:cNvSpPr>
            <a:spLocks noGrp="1"/>
          </p:cNvSpPr>
          <p:nvPr>
            <p:ph type="title"/>
          </p:nvPr>
        </p:nvSpPr>
        <p:spPr>
          <a:xfrm>
            <a:off x="838200" y="365125"/>
            <a:ext cx="10515600" cy="672105"/>
          </a:xfrm>
        </p:spPr>
        <p:txBody>
          <a:bodyPr/>
          <a:lstStyle/>
          <a:p>
            <a:r>
              <a:rPr lang="en-US" noProof="0" dirty="0"/>
              <a:t>Freight</a:t>
            </a:r>
            <a:br>
              <a:rPr lang="en-US" noProof="0" dirty="0"/>
            </a:br>
            <a:r>
              <a:rPr lang="en-US" sz="2400" noProof="0" dirty="0"/>
              <a:t>(6 of 6)</a:t>
            </a:r>
            <a:endParaRPr lang="en-US" sz="2400" dirty="0"/>
          </a:p>
        </p:txBody>
      </p:sp>
      <p:pic>
        <p:nvPicPr>
          <p:cNvPr id="5" name="Content Placeholder 4" descr="Three journal entries are given in a journal form.&#10;&#10;In the first entry, June 20 is the date indicated. Accounts Receivable—Planter Company is debited—with 800 shown in the Debit column. Sales is credited—with 800 shown in the Credit column. A journal entry explanation is given below the journal entry: Sold merchandise, terms FOB shipping point.&#10;&#10;Below the journal entry, an illustration of how a journal entry impacts the accounting equation and financial statement elements using T account postings is given. The accounting equation is Assets = Liabilities + Stockholders’ Equity. Below Assets is a T account for Accounts Receivable. The Accounts Receivable T account has a debit entry of 800 and no credit entry. Below Stockholders’ Equity is a T account for Sales. The Sales T account has no debit entry and a credit entry of 800. &#10;&#10;In the second entry, June 20 is the date indicated. Cost of Goods Sold is debited—with 360 shown in the Debit column. Inventory is credited—with 360 shown in the Credit column. A journal entry explanation is given below the journal entry: Recorded cost of goods sold to Planter Company.&#10;&#10;Below the journal entry, an illustration of how a journal entry impacts the accounting equation and financial statement elements using T account postings is given. The accounting equation is Assets = Liabilities + Stockholders’ Equity. Below Assets is a T account for Inventory. The Inventory T account has no debit entry and a credit entry of 360. Below Stockholders’ Equity is a T account for Cost of Goods Sold. The Cost of Goods Sold T account has a debit entry of 360 and no credit entry. &#10;&#10;In the third entry, June 20 is the date indicated. Accounts Receivable—Planter Company is debited—with 45 shown in the Debit column. Cash is credited—with 45 shown in the Credit column. A journal entry explanation is given below the journal entry: Prepaid shipping cost on merchandise sold.&#10;&#10;Below the journal entry, an illustration of how a journal entry impacts the accounting equation and financial statement elements using T account postings is given. The accounting equation is Assets = Liabilities + Stockholders’ Equity. Below Assets are two T accounts: one for Cash and one for Accounts Receivable. The Cash T account has no debit entry and a credit entry of 45. The Accounts Receivable T account has a debit entry of 45 and no credit entry.&#10;">
            <a:extLst>
              <a:ext uri="{FF2B5EF4-FFF2-40B4-BE49-F238E27FC236}">
                <a16:creationId xmlns:a16="http://schemas.microsoft.com/office/drawing/2014/main" id="{C3CFC279-5192-4C2B-A984-419FD4F7958C}"/>
              </a:ext>
            </a:extLst>
          </p:cNvPr>
          <p:cNvPicPr>
            <a:picLocks noGrp="1" noChangeAspect="1"/>
          </p:cNvPicPr>
          <p:nvPr>
            <p:ph sz="quarter" idx="10"/>
          </p:nvPr>
        </p:nvPicPr>
        <p:blipFill>
          <a:blip r:embed="rId2"/>
          <a:stretch>
            <a:fillRect/>
          </a:stretch>
        </p:blipFill>
        <p:spPr>
          <a:xfrm>
            <a:off x="3018911" y="1295003"/>
            <a:ext cx="6154177" cy="4888537"/>
          </a:xfrm>
        </p:spPr>
      </p:pic>
    </p:spTree>
    <p:extLst>
      <p:ext uri="{BB962C8B-B14F-4D97-AF65-F5344CB8AC3E}">
        <p14:creationId xmlns:p14="http://schemas.microsoft.com/office/powerpoint/2010/main" val="1385395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Freight Terms</a:t>
            </a:r>
            <a:endParaRPr lang="en-US" sz="1800" dirty="0"/>
          </a:p>
        </p:txBody>
      </p:sp>
      <p:pic>
        <p:nvPicPr>
          <p:cNvPr id="3" name="Picture 2" descr="An illustration summarizing the FOB shipping point and FOB destination terms is shown. The illustration is divided into two parts.&#10;&#10;The top part of the illustration is labeled Terms: FOB Shipping Point. On the left and right sides of the illustration are computer graphic images of buildings. The building on the left is labeled SELLER; the building on the right is labeled BUYER. To the right of the building labeled SELLER is a text box shaded yellow and labeled TITLE (CONTROL). The words passes to buyer are shown below TITLE (CONTROL) in the text box. A broken arrow extends from the right side of the text box and points to the right to the building labeled BUYER. In the middle of the broken arrow is a computer graphic image of a delivery truck. The word Freight is shown on the side of the truck. Below the building labeled BUYER, the words Buyer pays freight are shown. Below the images of the buildings are the journal entries that must be recorded by the seller and buyer when shipping terms are FOB shipping point. For the seller, the words No journal entry for freight are shown. For the buyer, the following journal entry is shown: Inventory is debited—with XXX shown in the Debit column. Cash is credited—with XXX shown in the Credit column.&#10;&#10;The bottom part of the illustration is labeled Terms: FOB Destination. On the left and right sides of the illustration are computer graphic images of buildings. The building on the left is labeled SELLER; the building on the right is labeled BUYER. To the left of the building labeled BUYER is a text box shaded yellow and labeled TITLE (CONTROL). The words passes to buyer are shown below TITLE (CONTROL) in the text box. A broken arrow extends from the right side of the building labeled SELLER and points to the right to the text box and building labeled BUYER. In the middle of the broken arrow is a computer graphic image of a delivery truck. The word Freight is shown on the side of the truck. Below the images of the buildings are the journal entries that must be recorded by the seller and buyer when shipping terms are FOB destination. For the seller, the following journal entry is shown: Delivery Expense is debited—with XXX shown in the Debit column. Cash is credited—with XXX shown in the Credit column. For the buyer, the words No journal entry for freight are shown."/>
          <p:cNvPicPr>
            <a:picLocks noChangeAspect="1"/>
          </p:cNvPicPr>
          <p:nvPr/>
        </p:nvPicPr>
        <p:blipFill>
          <a:blip r:embed="rId2"/>
          <a:stretch>
            <a:fillRect/>
          </a:stretch>
        </p:blipFill>
        <p:spPr>
          <a:xfrm>
            <a:off x="2723388" y="1447801"/>
            <a:ext cx="6818376" cy="4800601"/>
          </a:xfrm>
          <a:prstGeom prst="rect">
            <a:avLst/>
          </a:prstGeom>
        </p:spPr>
      </p:pic>
    </p:spTree>
    <p:extLst>
      <p:ext uri="{BB962C8B-B14F-4D97-AF65-F5344CB8AC3E}">
        <p14:creationId xmlns:p14="http://schemas.microsoft.com/office/powerpoint/2010/main" val="3400869192"/>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ab864144-ca3b-47ab-a142-93b76c4c492d">
      <UserInfo>
        <DisplayName/>
        <AccountId xsi:nil="true"/>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394B888A8E71149BA1FDF36AA0410F2" ma:contentTypeVersion="11" ma:contentTypeDescription="Create a new document." ma:contentTypeScope="" ma:versionID="a2acd571cfbae07cc1c1b9b4f31a4903">
  <xsd:schema xmlns:xsd="http://www.w3.org/2001/XMLSchema" xmlns:xs="http://www.w3.org/2001/XMLSchema" xmlns:p="http://schemas.microsoft.com/office/2006/metadata/properties" xmlns:ns2="5f8dbb90-e206-4f83-9820-44f04f84401f" xmlns:ns3="ab864144-ca3b-47ab-a142-93b76c4c492d" targetNamespace="http://schemas.microsoft.com/office/2006/metadata/properties" ma:root="true" ma:fieldsID="3c31c27e1b082e584a7e0e139cda3467" ns2:_="" ns3:_="">
    <xsd:import namespace="5f8dbb90-e206-4f83-9820-44f04f84401f"/>
    <xsd:import namespace="ab864144-ca3b-47ab-a142-93b76c4c492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dbb90-e206-4f83-9820-44f04f8440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864144-ca3b-47ab-a142-93b76c4c492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ab864144-ca3b-47ab-a142-93b76c4c492d"/>
    <ds:schemaRef ds:uri="5f8dbb90-e206-4f83-9820-44f04f84401f"/>
    <ds:schemaRef ds:uri="http://www.w3.org/XML/1998/namespace"/>
  </ds:schemaRefs>
</ds:datastoreItem>
</file>

<file path=customXml/itemProps2.xml><?xml version="1.0" encoding="utf-8"?>
<ds:datastoreItem xmlns:ds="http://schemas.openxmlformats.org/officeDocument/2006/customXml" ds:itemID="{CCAA2083-1E27-43BC-8488-C4E35C2DDA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8dbb90-e206-4f83-9820-44f04f84401f"/>
    <ds:schemaRef ds:uri="ab864144-ca3b-47ab-a142-93b76c4c49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1680</TotalTime>
  <Words>1063</Words>
  <Application>Microsoft Office PowerPoint</Application>
  <PresentationFormat>Widescreen</PresentationFormat>
  <Paragraphs>74</Paragraphs>
  <Slides>22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Arial</vt:lpstr>
      <vt:lpstr>Calibri</vt:lpstr>
      <vt:lpstr>Courier New</vt:lpstr>
      <vt:lpstr>Helvetica</vt:lpstr>
      <vt:lpstr>Open Sans</vt:lpstr>
      <vt:lpstr>Summer Font</vt:lpstr>
      <vt:lpstr>Wingdings</vt:lpstr>
      <vt:lpstr>Office Theme</vt:lpstr>
      <vt:lpstr>Chapter 5: Accounting for Retail Businesses</vt:lpstr>
      <vt:lpstr>Financial Statements </vt:lpstr>
      <vt:lpstr>Financial Statements </vt:lpstr>
      <vt:lpstr>Purchases Transactions </vt:lpstr>
      <vt:lpstr>Purchases Transactions </vt:lpstr>
      <vt:lpstr>Purchases Transactions </vt:lpstr>
      <vt:lpstr>Purchases Discounts  </vt:lpstr>
      <vt:lpstr>Purchases Discounts </vt:lpstr>
      <vt:lpstr>Purchases Discounts </vt:lpstr>
      <vt:lpstr>Purchases Discounts </vt:lpstr>
      <vt:lpstr>Sales on Account </vt:lpstr>
      <vt:lpstr>Sales on Account </vt:lpstr>
      <vt:lpstr>Sales on Account (3 of 3)</vt:lpstr>
      <vt:lpstr>Freight </vt:lpstr>
      <vt:lpstr>Freight </vt:lpstr>
      <vt:lpstr>Freight </vt:lpstr>
      <vt:lpstr>Freight </vt:lpstr>
      <vt:lpstr>Freight (4 of 6)</vt:lpstr>
      <vt:lpstr>Freight </vt:lpstr>
      <vt:lpstr>Freight </vt:lpstr>
      <vt:lpstr>Freight (6 of 6)</vt:lpstr>
      <vt:lpstr>Freight Terms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Karla Graney</cp:lastModifiedBy>
  <cp:revision>117</cp:revision>
  <dcterms:created xsi:type="dcterms:W3CDTF">2020-07-27T16:46:05Z</dcterms:created>
  <dcterms:modified xsi:type="dcterms:W3CDTF">2026-06-13T12:03:29Z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0x0101005394B888A8E71149BA1FDF36AA0410F2</vt:lpwstr>
  </property>
  <property fmtid="{D5CDD505-2E9C-101B-9397-08002B2CF9AE}" pid="3" name="Order">
    <vt:r8>21552800</vt:r8>
  </property>
  <property fmtid="{D5CDD505-2E9C-101B-9397-08002B2CF9AE}" pid="4" name="xd_Signature">
    <vt:bool>false</vt:bool>
  </property>
  <property fmtid="{D5CDD505-2E9C-101B-9397-08002B2CF9AE}" pid="5" name="xd_ProgID">
    <vt:lpwstr/>
  </property>
  <property fmtid="{D5CDD505-2E9C-101B-9397-08002B2CF9AE}" pid="6" name="Status">
    <vt:lpwstr>1. In development</vt:lpwstr>
  </property>
  <property fmtid="{D5CDD505-2E9C-101B-9397-08002B2CF9AE}" pid="7" name="ComplianceAssetId">
    <vt:lpwstr/>
  </property>
  <property fmtid="{D5CDD505-2E9C-101B-9397-08002B2CF9AE}" pid="8" name="TemplateUrl">
    <vt:lpwstr/>
  </property>
</Properties>
</file>