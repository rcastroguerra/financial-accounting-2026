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2"/>
  </p:notesMasterIdLst>
  <p:handoutMasterIdLst>
    <p:handoutMasterId r:id="rId33"/>
  </p:handoutMasterIdLst>
  <p:sldIdLst>
    <p:sldId id="264" r:id="rId5"/>
    <p:sldId id="346" r:id="rId6"/>
    <p:sldId id="265" r:id="rId7"/>
    <p:sldId id="381" r:id="rId8"/>
    <p:sldId id="382" r:id="rId9"/>
    <p:sldId id="356" r:id="rId10"/>
    <p:sldId id="383" r:id="rId11"/>
    <p:sldId id="360" r:id="rId12"/>
    <p:sldId id="361" r:id="rId13"/>
    <p:sldId id="363" r:id="rId14"/>
    <p:sldId id="365" r:id="rId15"/>
    <p:sldId id="364" r:id="rId16"/>
    <p:sldId id="384" r:id="rId17"/>
    <p:sldId id="367" r:id="rId18"/>
    <p:sldId id="368" r:id="rId19"/>
    <p:sldId id="369" r:id="rId20"/>
    <p:sldId id="370" r:id="rId21"/>
    <p:sldId id="371" r:id="rId22"/>
    <p:sldId id="372" r:id="rId23"/>
    <p:sldId id="373" r:id="rId24"/>
    <p:sldId id="374" r:id="rId25"/>
    <p:sldId id="375" r:id="rId26"/>
    <p:sldId id="334" r:id="rId27"/>
    <p:sldId id="376" r:id="rId28"/>
    <p:sldId id="377" r:id="rId29"/>
    <p:sldId id="378" r:id="rId30"/>
    <p:sldId id="379" r:id="rId3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73123" autoAdjust="0"/>
  </p:normalViewPr>
  <p:slideViewPr>
    <p:cSldViewPr snapToGrid="0">
      <p:cViewPr varScale="1">
        <p:scale>
          <a:sx n="111" d="100"/>
          <a:sy n="111" d="100"/>
        </p:scale>
        <p:origin x="558"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5/15/2026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5/15/2026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ct val="20000"/>
              </a:spcBef>
              <a:spcAft>
                <a:spcPts val="0"/>
              </a:spcAft>
              <a:buClr>
                <a:srgbClr val="4BACC6">
                  <a:lumMod val="50000"/>
                </a:srgbClr>
              </a:buClr>
              <a:buSzPct val="100000"/>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The area of accounting that provides internal users with information is called </a:t>
            </a:r>
            <a:r>
              <a:rPr kumimoji="0" lang="en-US" sz="1200" b="1" i="0" u="none" strike="noStrike" kern="1200" cap="none" spc="0" normalizeH="0" baseline="0" noProof="0" dirty="0">
                <a:ln>
                  <a:noFill/>
                </a:ln>
                <a:solidFill>
                  <a:schemeClr val="accent3">
                    <a:lumMod val="50000"/>
                  </a:schemeClr>
                </a:solidFill>
                <a:effectLst/>
                <a:uLnTx/>
                <a:uFillTx/>
                <a:latin typeface="Arial" panose="020B0604020202020204" pitchFamily="34" charset="0"/>
                <a:ea typeface="Verdana" pitchFamily="34" charset="0"/>
                <a:cs typeface="Arial" panose="020B0604020202020204" pitchFamily="34" charset="0"/>
              </a:rPr>
              <a:t>managerial accounting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 or </a:t>
            </a:r>
            <a:r>
              <a:rPr kumimoji="0" lang="en-US" sz="1200" b="1" i="0" u="none" strike="noStrike" kern="1200" cap="none" spc="0" normalizeH="0" baseline="0" noProof="0" dirty="0">
                <a:ln>
                  <a:noFill/>
                </a:ln>
                <a:solidFill>
                  <a:schemeClr val="accent3">
                    <a:lumMod val="50000"/>
                  </a:schemeClr>
                </a:solidFill>
                <a:effectLst/>
                <a:uLnTx/>
                <a:uFillTx/>
                <a:latin typeface="Arial" panose="020B0604020202020204" pitchFamily="34" charset="0"/>
                <a:ea typeface="Verdana" pitchFamily="34" charset="0"/>
                <a:cs typeface="Arial" panose="020B0604020202020204" pitchFamily="34" charset="0"/>
              </a:rPr>
              <a:t>management accounting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 The objective of managerial accounting is to provide relevant and timely information for managers’ and employees’ decision-making needs. Managerial accountants employed by a business are employed in </a:t>
            </a:r>
            <a:r>
              <a:rPr kumimoji="0" lang="en-US" sz="1200" b="1" i="0" u="none" strike="noStrike" kern="1200" cap="none" spc="0" normalizeH="0" baseline="0" noProof="0" dirty="0">
                <a:ln>
                  <a:noFill/>
                </a:ln>
                <a:solidFill>
                  <a:schemeClr val="accent3">
                    <a:lumMod val="50000"/>
                  </a:schemeClr>
                </a:solidFill>
                <a:effectLst/>
                <a:uLnTx/>
                <a:uFillTx/>
                <a:latin typeface="Arial" pitchFamily="34" charset="0"/>
                <a:ea typeface="Verdana" pitchFamily="34" charset="0"/>
                <a:cs typeface="Arial" pitchFamily="34" charset="0"/>
              </a:rPr>
              <a:t>private accounting</a:t>
            </a: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a:t>
            </a:r>
          </a:p>
          <a:p>
            <a:pPr marL="171450" marR="0" lvl="0" indent="-171450" algn="l" defTabSz="914400" rtl="0" eaLnBrk="1" fontAlgn="auto" latinLnBrk="0" hangingPunct="1">
              <a:lnSpc>
                <a:spcPct val="100000"/>
              </a:lnSpc>
              <a:spcBef>
                <a:spcPct val="20000"/>
              </a:spcBef>
              <a:spcAft>
                <a:spcPts val="0"/>
              </a:spcAft>
              <a:buClr>
                <a:srgbClr val="4BACC6">
                  <a:lumMod val="50000"/>
                </a:srgbClr>
              </a:buClr>
              <a:buSzPct val="100000"/>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The area of accounting that provides external users with information is called </a:t>
            </a:r>
            <a:r>
              <a:rPr kumimoji="0" lang="en-US" sz="1200" b="1" i="0" u="none" strike="noStrike" kern="1200" cap="none" spc="0" normalizeH="0" baseline="0" noProof="0" dirty="0">
                <a:ln>
                  <a:noFill/>
                </a:ln>
                <a:solidFill>
                  <a:schemeClr val="accent3">
                    <a:lumMod val="50000"/>
                  </a:schemeClr>
                </a:solidFill>
                <a:effectLst/>
                <a:uLnTx/>
                <a:uFillTx/>
                <a:latin typeface="Arial" panose="020B0604020202020204" pitchFamily="34" charset="0"/>
                <a:ea typeface="Verdana" pitchFamily="34" charset="0"/>
                <a:cs typeface="Arial" panose="020B0604020202020204" pitchFamily="34" charset="0"/>
              </a:rPr>
              <a:t>financial accounting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 The objective of financial accounting is to provide relevant and timely information for the decision-making needs of users outside of the business. </a:t>
            </a:r>
            <a:r>
              <a:rPr kumimoji="0" lang="en-US" sz="1200" b="1" i="0" u="none" strike="noStrike" kern="1200" cap="none" spc="0" normalizeH="0" baseline="0" noProof="0" dirty="0">
                <a:ln>
                  <a:noFill/>
                </a:ln>
                <a:solidFill>
                  <a:schemeClr val="accent3">
                    <a:lumMod val="50000"/>
                  </a:schemeClr>
                </a:solidFill>
                <a:effectLst/>
                <a:uLnTx/>
                <a:uFillTx/>
                <a:latin typeface="Arial" pitchFamily="34" charset="0"/>
                <a:ea typeface="Verdana" pitchFamily="34" charset="0"/>
                <a:cs typeface="Arial" pitchFamily="34" charset="0"/>
              </a:rPr>
              <a:t>General-purpose financial statements</a:t>
            </a:r>
            <a:r>
              <a:rPr kumimoji="0" lang="en-US" sz="1200" b="0" i="0" u="none" strike="noStrike" kern="1200" cap="none" spc="0" normalizeH="0" baseline="0" noProof="0" dirty="0">
                <a:ln>
                  <a:noFill/>
                </a:ln>
                <a:solidFill>
                  <a:schemeClr val="accent3">
                    <a:lumMod val="50000"/>
                  </a:schemeClr>
                </a:solidFill>
                <a:effectLst/>
                <a:uLnTx/>
                <a:uFillTx/>
                <a:latin typeface="Arial" pitchFamily="34" charset="0"/>
                <a:ea typeface="Verdana" pitchFamily="34" charset="0"/>
                <a:cs typeface="Arial" pitchFamily="34" charset="0"/>
              </a:rPr>
              <a:t> </a:t>
            </a: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are one type of financial accounting report that is distributed to external users. The term </a:t>
            </a:r>
            <a:r>
              <a:rPr kumimoji="0" lang="en-US" sz="1200" b="0" i="1"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general-purpose</a:t>
            </a: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 refers to the wide range of decision-making needs that these reports are designed to serve.</a:t>
            </a:r>
          </a:p>
          <a:p>
            <a:pPr marL="0" marR="0" lvl="0" indent="0" algn="l" defTabSz="914400" rtl="0" eaLnBrk="1" fontAlgn="auto" latinLnBrk="0" hangingPunct="1">
              <a:lnSpc>
                <a:spcPct val="100000"/>
              </a:lnSpc>
              <a:spcBef>
                <a:spcPct val="20000"/>
              </a:spcBef>
              <a:spcAft>
                <a:spcPts val="0"/>
              </a:spcAft>
              <a:buClr>
                <a:srgbClr val="4BACC6">
                  <a:lumMod val="50000"/>
                </a:srgbClr>
              </a:buClr>
              <a:buSzPct val="100000"/>
              <a:buFont typeface="Arial" pitchFamily="34" charset="0"/>
              <a:buNone/>
              <a:tabLst/>
              <a:defRPr/>
            </a:pPr>
            <a:endPar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endParaRPr>
          </a:p>
          <a:p>
            <a:pPr marL="0" marR="0" lvl="0" indent="0" algn="l" defTabSz="914400" rtl="0" eaLnBrk="1" fontAlgn="auto" latinLnBrk="0" hangingPunct="1">
              <a:lnSpc>
                <a:spcPct val="100000"/>
              </a:lnSpc>
              <a:spcBef>
                <a:spcPct val="20000"/>
              </a:spcBef>
              <a:spcAft>
                <a:spcPts val="0"/>
              </a:spcAft>
              <a:buClr>
                <a:srgbClr val="4BACC6">
                  <a:lumMod val="50000"/>
                </a:srgbClr>
              </a:buClr>
              <a:buSzPct val="100000"/>
              <a:buFont typeface="Arial" pitchFamily="34" charset="0"/>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3076778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ct val="20000"/>
              </a:spcBef>
              <a:spcAft>
                <a:spcPts val="0"/>
              </a:spcAft>
              <a:buClr>
                <a:srgbClr val="4BACC6">
                  <a:lumMod val="50000"/>
                </a:srgbClr>
              </a:buClr>
              <a:buSzPct val="100000"/>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The area of accounting that provides internal users with information is called </a:t>
            </a:r>
            <a:r>
              <a:rPr kumimoji="0" lang="en-US" sz="1200" b="1" i="0" u="none" strike="noStrike" kern="1200" cap="none" spc="0" normalizeH="0" baseline="0" noProof="0" dirty="0">
                <a:ln>
                  <a:noFill/>
                </a:ln>
                <a:solidFill>
                  <a:schemeClr val="accent3">
                    <a:lumMod val="50000"/>
                  </a:schemeClr>
                </a:solidFill>
                <a:effectLst/>
                <a:uLnTx/>
                <a:uFillTx/>
                <a:latin typeface="Arial" panose="020B0604020202020204" pitchFamily="34" charset="0"/>
                <a:ea typeface="Verdana" pitchFamily="34" charset="0"/>
                <a:cs typeface="Arial" panose="020B0604020202020204" pitchFamily="34" charset="0"/>
              </a:rPr>
              <a:t>managerial accounting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 or </a:t>
            </a:r>
            <a:r>
              <a:rPr kumimoji="0" lang="en-US" sz="1200" b="1" i="0" u="none" strike="noStrike" kern="1200" cap="none" spc="0" normalizeH="0" baseline="0" noProof="0" dirty="0">
                <a:ln>
                  <a:noFill/>
                </a:ln>
                <a:solidFill>
                  <a:schemeClr val="accent3">
                    <a:lumMod val="50000"/>
                  </a:schemeClr>
                </a:solidFill>
                <a:effectLst/>
                <a:uLnTx/>
                <a:uFillTx/>
                <a:latin typeface="Arial" panose="020B0604020202020204" pitchFamily="34" charset="0"/>
                <a:ea typeface="Verdana" pitchFamily="34" charset="0"/>
                <a:cs typeface="Arial" panose="020B0604020202020204" pitchFamily="34" charset="0"/>
              </a:rPr>
              <a:t>management accounting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 The objective of managerial accounting is to provide relevant and timely information for managers’ and employees’ decision-making needs. Managerial accountants employed by a business are employed in </a:t>
            </a:r>
            <a:r>
              <a:rPr kumimoji="0" lang="en-US" sz="1200" b="1" i="0" u="none" strike="noStrike" kern="1200" cap="none" spc="0" normalizeH="0" baseline="0" noProof="0" dirty="0">
                <a:ln>
                  <a:noFill/>
                </a:ln>
                <a:solidFill>
                  <a:schemeClr val="accent3">
                    <a:lumMod val="50000"/>
                  </a:schemeClr>
                </a:solidFill>
                <a:effectLst/>
                <a:uLnTx/>
                <a:uFillTx/>
                <a:latin typeface="Arial" pitchFamily="34" charset="0"/>
                <a:ea typeface="Verdana" pitchFamily="34" charset="0"/>
                <a:cs typeface="Arial" pitchFamily="34" charset="0"/>
              </a:rPr>
              <a:t>private accounting</a:t>
            </a: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a:t>
            </a:r>
          </a:p>
          <a:p>
            <a:pPr marL="171450" marR="0" lvl="0" indent="-171450" algn="l" defTabSz="914400" rtl="0" eaLnBrk="1" fontAlgn="auto" latinLnBrk="0" hangingPunct="1">
              <a:lnSpc>
                <a:spcPct val="100000"/>
              </a:lnSpc>
              <a:spcBef>
                <a:spcPct val="20000"/>
              </a:spcBef>
              <a:spcAft>
                <a:spcPts val="0"/>
              </a:spcAft>
              <a:buClr>
                <a:srgbClr val="4BACC6">
                  <a:lumMod val="50000"/>
                </a:srgbClr>
              </a:buClr>
              <a:buSzPct val="100000"/>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The area of accounting that provides external users with information is called </a:t>
            </a:r>
            <a:r>
              <a:rPr kumimoji="0" lang="en-US" sz="1200" b="1" i="0" u="none" strike="noStrike" kern="1200" cap="none" spc="0" normalizeH="0" baseline="0" noProof="0" dirty="0">
                <a:ln>
                  <a:noFill/>
                </a:ln>
                <a:solidFill>
                  <a:schemeClr val="accent3">
                    <a:lumMod val="50000"/>
                  </a:schemeClr>
                </a:solidFill>
                <a:effectLst/>
                <a:uLnTx/>
                <a:uFillTx/>
                <a:latin typeface="Arial" panose="020B0604020202020204" pitchFamily="34" charset="0"/>
                <a:ea typeface="Verdana" pitchFamily="34" charset="0"/>
                <a:cs typeface="Arial" panose="020B0604020202020204" pitchFamily="34" charset="0"/>
              </a:rPr>
              <a:t>financial accounting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 The objective of financial accounting is to provide relevant and timely information for the decision-making needs of users outside of the business. </a:t>
            </a:r>
            <a:r>
              <a:rPr kumimoji="0" lang="en-US" sz="1200" b="1" i="0" u="none" strike="noStrike" kern="1200" cap="none" spc="0" normalizeH="0" baseline="0" noProof="0" dirty="0">
                <a:ln>
                  <a:noFill/>
                </a:ln>
                <a:solidFill>
                  <a:schemeClr val="accent3">
                    <a:lumMod val="50000"/>
                  </a:schemeClr>
                </a:solidFill>
                <a:effectLst/>
                <a:uLnTx/>
                <a:uFillTx/>
                <a:latin typeface="Arial" pitchFamily="34" charset="0"/>
                <a:ea typeface="Verdana" pitchFamily="34" charset="0"/>
                <a:cs typeface="Arial" pitchFamily="34" charset="0"/>
              </a:rPr>
              <a:t>General-purpose financial statements</a:t>
            </a:r>
            <a:r>
              <a:rPr kumimoji="0" lang="en-US" sz="1200" b="0" i="0" u="none" strike="noStrike" kern="1200" cap="none" spc="0" normalizeH="0" baseline="0" noProof="0" dirty="0">
                <a:ln>
                  <a:noFill/>
                </a:ln>
                <a:solidFill>
                  <a:schemeClr val="accent3">
                    <a:lumMod val="50000"/>
                  </a:schemeClr>
                </a:solidFill>
                <a:effectLst/>
                <a:uLnTx/>
                <a:uFillTx/>
                <a:latin typeface="Arial" pitchFamily="34" charset="0"/>
                <a:ea typeface="Verdana" pitchFamily="34" charset="0"/>
                <a:cs typeface="Arial" pitchFamily="34" charset="0"/>
              </a:rPr>
              <a:t> </a:t>
            </a: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are one type of financial accounting report that is distributed to external users. The term </a:t>
            </a:r>
            <a:r>
              <a:rPr kumimoji="0" lang="en-US" sz="1200" b="0" i="1"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general-purpose</a:t>
            </a: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 refers to the wide range of decision-making needs that these reports are designed to serve.</a:t>
            </a:r>
          </a:p>
          <a:p>
            <a:pPr marL="0" marR="0" lvl="0" indent="0" algn="l" defTabSz="914400" rtl="0" eaLnBrk="1" fontAlgn="auto" latinLnBrk="0" hangingPunct="1">
              <a:lnSpc>
                <a:spcPct val="100000"/>
              </a:lnSpc>
              <a:spcBef>
                <a:spcPct val="20000"/>
              </a:spcBef>
              <a:spcAft>
                <a:spcPts val="0"/>
              </a:spcAft>
              <a:buClr>
                <a:srgbClr val="4BACC6">
                  <a:lumMod val="50000"/>
                </a:srgbClr>
              </a:buClr>
              <a:buSzPct val="100000"/>
              <a:buFont typeface="Arial" pitchFamily="34" charset="0"/>
              <a:buNone/>
              <a:tabLst/>
              <a:defRPr/>
            </a:pPr>
            <a:endPar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endParaRPr>
          </a:p>
          <a:p>
            <a:pPr marL="0" marR="0" lvl="0" indent="0" algn="l" defTabSz="914400" rtl="0" eaLnBrk="1" fontAlgn="auto" latinLnBrk="0" hangingPunct="1">
              <a:lnSpc>
                <a:spcPct val="100000"/>
              </a:lnSpc>
              <a:spcBef>
                <a:spcPct val="20000"/>
              </a:spcBef>
              <a:spcAft>
                <a:spcPts val="0"/>
              </a:spcAft>
              <a:buClr>
                <a:srgbClr val="4BACC6">
                  <a:lumMod val="50000"/>
                </a:srgbClr>
              </a:buClr>
              <a:buSzPct val="100000"/>
              <a:buFont typeface="Arial" pitchFamily="34" charset="0"/>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1458496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ct val="20000"/>
              </a:spcBef>
              <a:spcAft>
                <a:spcPts val="0"/>
              </a:spcAft>
              <a:buClr>
                <a:srgbClr val="4BACC6">
                  <a:lumMod val="50000"/>
                </a:srgbClr>
              </a:buClr>
              <a:buSzPct val="100000"/>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The area of accounting that provides internal users with information is called </a:t>
            </a:r>
            <a:r>
              <a:rPr kumimoji="0" lang="en-US" sz="1200" b="1" i="0" u="none" strike="noStrike" kern="1200" cap="none" spc="0" normalizeH="0" baseline="0" noProof="0" dirty="0">
                <a:ln>
                  <a:noFill/>
                </a:ln>
                <a:solidFill>
                  <a:schemeClr val="accent3">
                    <a:lumMod val="50000"/>
                  </a:schemeClr>
                </a:solidFill>
                <a:effectLst/>
                <a:uLnTx/>
                <a:uFillTx/>
                <a:latin typeface="Arial" panose="020B0604020202020204" pitchFamily="34" charset="0"/>
                <a:ea typeface="Verdana" pitchFamily="34" charset="0"/>
                <a:cs typeface="Arial" panose="020B0604020202020204" pitchFamily="34" charset="0"/>
              </a:rPr>
              <a:t>managerial accounting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 or </a:t>
            </a:r>
            <a:r>
              <a:rPr kumimoji="0" lang="en-US" sz="1200" b="1" i="0" u="none" strike="noStrike" kern="1200" cap="none" spc="0" normalizeH="0" baseline="0" noProof="0" dirty="0">
                <a:ln>
                  <a:noFill/>
                </a:ln>
                <a:solidFill>
                  <a:schemeClr val="accent3">
                    <a:lumMod val="50000"/>
                  </a:schemeClr>
                </a:solidFill>
                <a:effectLst/>
                <a:uLnTx/>
                <a:uFillTx/>
                <a:latin typeface="Arial" panose="020B0604020202020204" pitchFamily="34" charset="0"/>
                <a:ea typeface="Verdana" pitchFamily="34" charset="0"/>
                <a:cs typeface="Arial" panose="020B0604020202020204" pitchFamily="34" charset="0"/>
              </a:rPr>
              <a:t>management accounting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 The objective of managerial accounting is to provide relevant and timely information for managers’ and employees’ decision-making needs. Managerial accountants employed by a business are employed in </a:t>
            </a:r>
            <a:r>
              <a:rPr kumimoji="0" lang="en-US" sz="1200" b="1" i="0" u="none" strike="noStrike" kern="1200" cap="none" spc="0" normalizeH="0" baseline="0" noProof="0" dirty="0">
                <a:ln>
                  <a:noFill/>
                </a:ln>
                <a:solidFill>
                  <a:schemeClr val="accent3">
                    <a:lumMod val="50000"/>
                  </a:schemeClr>
                </a:solidFill>
                <a:effectLst/>
                <a:uLnTx/>
                <a:uFillTx/>
                <a:latin typeface="Arial" pitchFamily="34" charset="0"/>
                <a:ea typeface="Verdana" pitchFamily="34" charset="0"/>
                <a:cs typeface="Arial" pitchFamily="34" charset="0"/>
              </a:rPr>
              <a:t>private accounting</a:t>
            </a: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a:t>
            </a:r>
          </a:p>
          <a:p>
            <a:pPr marL="171450" marR="0" lvl="0" indent="-171450" algn="l" defTabSz="914400" rtl="0" eaLnBrk="1" fontAlgn="auto" latinLnBrk="0" hangingPunct="1">
              <a:lnSpc>
                <a:spcPct val="100000"/>
              </a:lnSpc>
              <a:spcBef>
                <a:spcPct val="20000"/>
              </a:spcBef>
              <a:spcAft>
                <a:spcPts val="0"/>
              </a:spcAft>
              <a:buClr>
                <a:srgbClr val="4BACC6">
                  <a:lumMod val="50000"/>
                </a:srgbClr>
              </a:buClr>
              <a:buSzPct val="100000"/>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The area of accounting that provides external users with information is called </a:t>
            </a:r>
            <a:r>
              <a:rPr kumimoji="0" lang="en-US" sz="1200" b="1" i="0" u="none" strike="noStrike" kern="1200" cap="none" spc="0" normalizeH="0" baseline="0" noProof="0" dirty="0">
                <a:ln>
                  <a:noFill/>
                </a:ln>
                <a:solidFill>
                  <a:schemeClr val="accent3">
                    <a:lumMod val="50000"/>
                  </a:schemeClr>
                </a:solidFill>
                <a:effectLst/>
                <a:uLnTx/>
                <a:uFillTx/>
                <a:latin typeface="Arial" panose="020B0604020202020204" pitchFamily="34" charset="0"/>
                <a:ea typeface="Verdana" pitchFamily="34" charset="0"/>
                <a:cs typeface="Arial" panose="020B0604020202020204" pitchFamily="34" charset="0"/>
              </a:rPr>
              <a:t>financial accounting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Verdana" pitchFamily="34" charset="0"/>
                <a:cs typeface="Arial" panose="020B0604020202020204" pitchFamily="34" charset="0"/>
              </a:rPr>
              <a:t>. The objective of financial accounting is to provide relevant and timely information for the decision-making needs of users outside of the business. </a:t>
            </a:r>
            <a:r>
              <a:rPr kumimoji="0" lang="en-US" sz="1200" b="1" i="0" u="none" strike="noStrike" kern="1200" cap="none" spc="0" normalizeH="0" baseline="0" noProof="0" dirty="0">
                <a:ln>
                  <a:noFill/>
                </a:ln>
                <a:solidFill>
                  <a:schemeClr val="accent3">
                    <a:lumMod val="50000"/>
                  </a:schemeClr>
                </a:solidFill>
                <a:effectLst/>
                <a:uLnTx/>
                <a:uFillTx/>
                <a:latin typeface="Arial" pitchFamily="34" charset="0"/>
                <a:ea typeface="Verdana" pitchFamily="34" charset="0"/>
                <a:cs typeface="Arial" pitchFamily="34" charset="0"/>
              </a:rPr>
              <a:t>General-purpose financial statements</a:t>
            </a:r>
            <a:r>
              <a:rPr kumimoji="0" lang="en-US" sz="1200" b="0" i="0" u="none" strike="noStrike" kern="1200" cap="none" spc="0" normalizeH="0" baseline="0" noProof="0" dirty="0">
                <a:ln>
                  <a:noFill/>
                </a:ln>
                <a:solidFill>
                  <a:schemeClr val="accent3">
                    <a:lumMod val="50000"/>
                  </a:schemeClr>
                </a:solidFill>
                <a:effectLst/>
                <a:uLnTx/>
                <a:uFillTx/>
                <a:latin typeface="Arial" pitchFamily="34" charset="0"/>
                <a:ea typeface="Verdana" pitchFamily="34" charset="0"/>
                <a:cs typeface="Arial" pitchFamily="34" charset="0"/>
              </a:rPr>
              <a:t> </a:t>
            </a: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are one type of financial accounting report that is distributed to external users. The term </a:t>
            </a:r>
            <a:r>
              <a:rPr kumimoji="0" lang="en-US" sz="1200" b="0" i="1"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general-purpose</a:t>
            </a:r>
            <a:r>
              <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rPr>
              <a:t> refers to the wide range of decision-making needs that these reports are designed to serve.</a:t>
            </a:r>
          </a:p>
          <a:p>
            <a:pPr marL="0" marR="0" lvl="0" indent="0" algn="l" defTabSz="914400" rtl="0" eaLnBrk="1" fontAlgn="auto" latinLnBrk="0" hangingPunct="1">
              <a:lnSpc>
                <a:spcPct val="100000"/>
              </a:lnSpc>
              <a:spcBef>
                <a:spcPct val="20000"/>
              </a:spcBef>
              <a:spcAft>
                <a:spcPts val="0"/>
              </a:spcAft>
              <a:buClr>
                <a:srgbClr val="4BACC6">
                  <a:lumMod val="50000"/>
                </a:srgbClr>
              </a:buClr>
              <a:buSzPct val="100000"/>
              <a:buFont typeface="Arial" pitchFamily="34" charset="0"/>
              <a:buNone/>
              <a:tabLst/>
              <a:defRPr/>
            </a:pPr>
            <a:endParaRPr kumimoji="0" lang="en-US" sz="1200" b="0" i="0" u="none" strike="noStrike" kern="1200" cap="none" spc="0" normalizeH="0" baseline="0" noProof="0" dirty="0">
              <a:ln>
                <a:noFill/>
              </a:ln>
              <a:solidFill>
                <a:prstClr val="black"/>
              </a:solidFill>
              <a:effectLst/>
              <a:uLnTx/>
              <a:uFillTx/>
              <a:latin typeface="Arial" pitchFamily="34" charset="0"/>
              <a:ea typeface="Verdana" pitchFamily="34" charset="0"/>
              <a:cs typeface="Arial" pitchFamily="34" charset="0"/>
            </a:endParaRPr>
          </a:p>
          <a:p>
            <a:pPr marL="0" marR="0" lvl="0" indent="0" algn="l" defTabSz="914400" rtl="0" eaLnBrk="1" fontAlgn="auto" latinLnBrk="0" hangingPunct="1">
              <a:lnSpc>
                <a:spcPct val="100000"/>
              </a:lnSpc>
              <a:spcBef>
                <a:spcPct val="20000"/>
              </a:spcBef>
              <a:spcAft>
                <a:spcPts val="0"/>
              </a:spcAft>
              <a:buClr>
                <a:srgbClr val="4BACC6">
                  <a:lumMod val="50000"/>
                </a:srgbClr>
              </a:buClr>
              <a:buSzPct val="100000"/>
              <a:buFont typeface="Arial" pitchFamily="34" charset="0"/>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1646034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t>The resources owned by a business are its </a:t>
            </a:r>
            <a:r>
              <a:rPr lang="en-US" sz="1200" b="1" dirty="0">
                <a:solidFill>
                  <a:schemeClr val="accent3">
                    <a:lumMod val="50000"/>
                  </a:schemeClr>
                </a:solidFill>
              </a:rPr>
              <a:t>assets</a:t>
            </a:r>
            <a:r>
              <a:rPr lang="en-US" sz="1200" dirty="0"/>
              <a:t>. </a:t>
            </a:r>
          </a:p>
          <a:p>
            <a:pPr marL="171450" indent="-171450">
              <a:buFont typeface="Arial" panose="020B0604020202020204" pitchFamily="34" charset="0"/>
              <a:buChar char="•"/>
            </a:pPr>
            <a:r>
              <a:rPr lang="en-US" sz="1200" dirty="0"/>
              <a:t>The rights of creditors are the debts of the business and are called </a:t>
            </a:r>
            <a:r>
              <a:rPr lang="en-US" sz="1200" b="1" dirty="0">
                <a:solidFill>
                  <a:schemeClr val="accent3">
                    <a:lumMod val="50000"/>
                  </a:schemeClr>
                </a:solidFill>
              </a:rPr>
              <a:t>liabilities</a:t>
            </a:r>
            <a:r>
              <a:rPr lang="en-US" sz="1200" dirty="0"/>
              <a:t>. </a:t>
            </a:r>
          </a:p>
          <a:p>
            <a:pPr marL="171450" indent="-171450">
              <a:buFont typeface="Arial" panose="020B0604020202020204" pitchFamily="34" charset="0"/>
              <a:buChar char="•"/>
            </a:pPr>
            <a:r>
              <a:rPr lang="en-US" sz="1200" dirty="0"/>
              <a:t>The rights of owners are called </a:t>
            </a:r>
            <a:r>
              <a:rPr lang="en-US" sz="1200" b="1" dirty="0">
                <a:solidFill>
                  <a:schemeClr val="accent3">
                    <a:lumMod val="50000"/>
                  </a:schemeClr>
                </a:solidFill>
              </a:rPr>
              <a:t>equity</a:t>
            </a:r>
            <a:r>
              <a:rPr lang="en-US" sz="1200" dirty="0"/>
              <a:t>. </a:t>
            </a:r>
          </a:p>
          <a:p>
            <a:pPr marL="171450" indent="-171450">
              <a:buFont typeface="Arial" panose="020B0604020202020204" pitchFamily="34" charset="0"/>
              <a:buChar char="•"/>
            </a:pPr>
            <a:r>
              <a:rPr lang="en-US" sz="1200" dirty="0"/>
              <a:t>Since stockholders own a corporation, equity is called </a:t>
            </a:r>
            <a:r>
              <a:rPr lang="en-US" sz="1200" b="1" dirty="0">
                <a:solidFill>
                  <a:schemeClr val="accent3">
                    <a:lumMod val="50000"/>
                  </a:schemeClr>
                </a:solidFill>
              </a:rPr>
              <a:t>stockholders’ equity</a:t>
            </a:r>
            <a:r>
              <a:rPr lang="en-US" sz="1200" dirty="0"/>
              <a:t>. </a:t>
            </a:r>
          </a:p>
          <a:p>
            <a:pPr marL="171450" indent="-171450">
              <a:buFont typeface="Arial" panose="020B0604020202020204" pitchFamily="34" charset="0"/>
              <a:buChar char="•"/>
            </a:pPr>
            <a:r>
              <a:rPr lang="en-US" sz="1200" dirty="0"/>
              <a:t>For a proprietorship, partnership, or limited liability company, equity is called </a:t>
            </a:r>
            <a:r>
              <a:rPr lang="en-US" sz="1200" b="1" dirty="0">
                <a:solidFill>
                  <a:schemeClr val="accent3">
                    <a:lumMod val="50000"/>
                  </a:schemeClr>
                </a:solidFill>
              </a:rPr>
              <a:t>owner’s equity</a:t>
            </a:r>
            <a:r>
              <a:rPr lang="en-US" sz="1200" dirty="0"/>
              <a:t>.</a:t>
            </a:r>
          </a:p>
          <a:p>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4021104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dirty="0"/>
              <a:t>The resources owned by a business are its </a:t>
            </a:r>
            <a:r>
              <a:rPr lang="en-US" sz="1200" b="1" dirty="0">
                <a:solidFill>
                  <a:schemeClr val="accent3">
                    <a:lumMod val="50000"/>
                  </a:schemeClr>
                </a:solidFill>
              </a:rPr>
              <a:t>assets</a:t>
            </a:r>
            <a:r>
              <a:rPr lang="en-US" sz="1200" dirty="0"/>
              <a:t>. </a:t>
            </a:r>
          </a:p>
          <a:p>
            <a:pPr marL="171450" indent="-171450">
              <a:buFont typeface="Arial" panose="020B0604020202020204" pitchFamily="34" charset="0"/>
              <a:buChar char="•"/>
            </a:pPr>
            <a:r>
              <a:rPr lang="en-US" sz="1200" dirty="0"/>
              <a:t>The rights of creditors are the debts of the business and are called </a:t>
            </a:r>
            <a:r>
              <a:rPr lang="en-US" sz="1200" b="1" dirty="0">
                <a:solidFill>
                  <a:schemeClr val="accent3">
                    <a:lumMod val="50000"/>
                  </a:schemeClr>
                </a:solidFill>
              </a:rPr>
              <a:t>liabilities</a:t>
            </a:r>
            <a:r>
              <a:rPr lang="en-US" sz="1200" dirty="0"/>
              <a:t>. </a:t>
            </a:r>
          </a:p>
          <a:p>
            <a:pPr marL="171450" indent="-171450">
              <a:buFont typeface="Arial" panose="020B0604020202020204" pitchFamily="34" charset="0"/>
              <a:buChar char="•"/>
            </a:pPr>
            <a:r>
              <a:rPr lang="en-US" sz="1200" dirty="0"/>
              <a:t>The rights of owners are called </a:t>
            </a:r>
            <a:r>
              <a:rPr lang="en-US" sz="1200" b="1" dirty="0">
                <a:solidFill>
                  <a:schemeClr val="accent3">
                    <a:lumMod val="50000"/>
                  </a:schemeClr>
                </a:solidFill>
              </a:rPr>
              <a:t>equity</a:t>
            </a:r>
            <a:r>
              <a:rPr lang="en-US" sz="1200" dirty="0"/>
              <a:t>. </a:t>
            </a:r>
          </a:p>
          <a:p>
            <a:pPr marL="171450" indent="-171450">
              <a:buFont typeface="Arial" panose="020B0604020202020204" pitchFamily="34" charset="0"/>
              <a:buChar char="•"/>
            </a:pPr>
            <a:r>
              <a:rPr lang="en-US" sz="1200" dirty="0"/>
              <a:t>Since stockholders own a corporation, equity is called </a:t>
            </a:r>
            <a:r>
              <a:rPr lang="en-US" sz="1200" b="1" dirty="0">
                <a:solidFill>
                  <a:schemeClr val="accent3">
                    <a:lumMod val="50000"/>
                  </a:schemeClr>
                </a:solidFill>
              </a:rPr>
              <a:t>stockholders’ equity</a:t>
            </a:r>
            <a:r>
              <a:rPr lang="en-US" sz="1200" dirty="0"/>
              <a:t>. </a:t>
            </a:r>
          </a:p>
          <a:p>
            <a:pPr marL="171450" indent="-171450">
              <a:buFont typeface="Arial" panose="020B0604020202020204" pitchFamily="34" charset="0"/>
              <a:buChar char="•"/>
            </a:pPr>
            <a:r>
              <a:rPr lang="en-US" sz="1200" dirty="0"/>
              <a:t>For a proprietorship, partnership, or limited liability company, equity is called </a:t>
            </a:r>
            <a:r>
              <a:rPr lang="en-US" sz="1200" b="1" dirty="0">
                <a:solidFill>
                  <a:schemeClr val="accent3">
                    <a:lumMod val="50000"/>
                  </a:schemeClr>
                </a:solidFill>
              </a:rPr>
              <a:t>owner’s equity</a:t>
            </a:r>
            <a:r>
              <a:rPr lang="en-US" sz="1200" dirty="0"/>
              <a:t>.</a:t>
            </a:r>
          </a:p>
          <a:p>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143756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1715368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3403953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effect of every transaction </a:t>
            </a:r>
            <a:r>
              <a:rPr lang="en-US" i="1" dirty="0"/>
              <a:t>is an increase or a decrease in one or more of the accounting equation elements</a:t>
            </a:r>
            <a:r>
              <a:rPr lang="en-US" dirty="0"/>
              <a:t>.</a:t>
            </a:r>
          </a:p>
          <a:p>
            <a:pPr marL="171450" indent="-171450">
              <a:buFont typeface="Arial" panose="020B0604020202020204" pitchFamily="34" charset="0"/>
              <a:buChar char="•"/>
            </a:pPr>
            <a:r>
              <a:rPr lang="en-US" dirty="0"/>
              <a:t>The two sides of the accounting equation are </a:t>
            </a:r>
            <a:r>
              <a:rPr lang="en-US" i="1" dirty="0"/>
              <a:t>always equal</a:t>
            </a:r>
            <a:r>
              <a:rPr lang="en-US" dirty="0"/>
              <a:t>.</a:t>
            </a:r>
          </a:p>
          <a:p>
            <a:pPr marL="171450" indent="-171450">
              <a:buFont typeface="Arial" panose="020B0604020202020204" pitchFamily="34" charset="0"/>
              <a:buChar char="•"/>
            </a:pPr>
            <a:r>
              <a:rPr lang="en-US" dirty="0"/>
              <a:t>The stockholders’ equity is </a:t>
            </a:r>
            <a:r>
              <a:rPr lang="en-US" i="1" dirty="0"/>
              <a:t>increased by amounts invested by stockholders (common stock)</a:t>
            </a:r>
            <a:r>
              <a:rPr lang="en-US" dirty="0"/>
              <a:t>.</a:t>
            </a:r>
          </a:p>
          <a:p>
            <a:pPr marL="171450" indent="-171450">
              <a:buFont typeface="Arial" panose="020B0604020202020204" pitchFamily="34" charset="0"/>
              <a:buChar char="•"/>
            </a:pPr>
            <a:r>
              <a:rPr lang="en-US" dirty="0"/>
              <a:t>The stockholders’ equity is </a:t>
            </a:r>
            <a:r>
              <a:rPr lang="en-US" i="1" dirty="0"/>
              <a:t>increased by revenues and decreased by expenses</a:t>
            </a:r>
            <a:r>
              <a:rPr lang="en-US" dirty="0"/>
              <a:t>.</a:t>
            </a:r>
          </a:p>
          <a:p>
            <a:pPr marL="171450" indent="-171450">
              <a:buFont typeface="Arial" panose="020B0604020202020204" pitchFamily="34" charset="0"/>
              <a:buChar char="•"/>
            </a:pPr>
            <a:r>
              <a:rPr lang="en-US" dirty="0"/>
              <a:t>The stockholders’ equity is </a:t>
            </a:r>
            <a:r>
              <a:rPr lang="en-US" i="1" dirty="0"/>
              <a:t>decreased by dividends paid to stockholders</a:t>
            </a:r>
            <a:r>
              <a:rPr lang="en-US" dirty="0"/>
              <a:t>.</a:t>
            </a:r>
          </a:p>
          <a:p>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1330080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Stockholders’ equity is classified as:</a:t>
            </a:r>
          </a:p>
          <a:p>
            <a:pPr marL="914400" marR="0" lvl="1" indent="-457200" algn="l" defTabSz="914400" rtl="0" eaLnBrk="1" fontAlgn="auto" latinLnBrk="0" hangingPunct="1">
              <a:lnSpc>
                <a:spcPct val="100000"/>
              </a:lnSpc>
              <a:spcBef>
                <a:spcPct val="20000"/>
              </a:spcBef>
              <a:spcAft>
                <a:spcPts val="0"/>
              </a:spcAft>
              <a:buClr>
                <a:srgbClr val="4BACC6">
                  <a:lumMod val="50000"/>
                </a:srgbClr>
              </a:buClr>
              <a:buSzTx/>
              <a:buFont typeface="Arial" pitchFamily="34" charset="0"/>
              <a:buChar char="–"/>
              <a:tabLst>
                <a:tab pos="863600" algn="l"/>
              </a:tabLst>
              <a:defRPr/>
            </a:pPr>
            <a:r>
              <a:rPr lang="en-US" dirty="0"/>
              <a:t>Common Stock</a:t>
            </a:r>
          </a:p>
          <a:p>
            <a:pPr marL="914400" marR="0" lvl="1" indent="-457200" algn="l" defTabSz="914400" rtl="0" eaLnBrk="1" fontAlgn="auto" latinLnBrk="0" hangingPunct="1">
              <a:lnSpc>
                <a:spcPct val="100000"/>
              </a:lnSpc>
              <a:spcBef>
                <a:spcPct val="20000"/>
              </a:spcBef>
              <a:spcAft>
                <a:spcPts val="0"/>
              </a:spcAft>
              <a:buClr>
                <a:srgbClr val="4BACC6">
                  <a:lumMod val="50000"/>
                </a:srgbClr>
              </a:buClr>
              <a:buSzTx/>
              <a:buFont typeface="Arial" pitchFamily="34" charset="0"/>
              <a:buChar char="–"/>
              <a:tabLst>
                <a:tab pos="863600" algn="l"/>
              </a:tabLst>
              <a:defRPr/>
            </a:pPr>
            <a:r>
              <a:rPr lang="en-US" dirty="0"/>
              <a:t>Retained Earnings</a:t>
            </a:r>
          </a:p>
          <a:p>
            <a:pPr marL="171450" indent="-171450">
              <a:buFont typeface="Arial" panose="020B0604020202020204" pitchFamily="34" charset="0"/>
              <a:buChar char="•"/>
            </a:pPr>
            <a:r>
              <a:rPr lang="en-US" dirty="0"/>
              <a:t>Stockholders’ equity created by investments by stockholders (common stock) and by business operations (retained earnings) are reported separately.</a:t>
            </a:r>
          </a:p>
          <a:p>
            <a:endParaRPr lang="en-US" dirty="0"/>
          </a:p>
        </p:txBody>
      </p:sp>
      <p:sp>
        <p:nvSpPr>
          <p:cNvPr id="4" name="Slide Number Placeholder 3"/>
          <p:cNvSpPr>
            <a:spLocks noGrp="1"/>
          </p:cNvSpPr>
          <p:nvPr>
            <p:ph type="sldNum" sz="quarter" idx="10"/>
          </p:nvPr>
        </p:nvSpPr>
        <p:spPr/>
        <p:txBody>
          <a:bodyPr/>
          <a:lstStyle/>
          <a:p>
            <a:pPr>
              <a:defRPr/>
            </a:pPr>
            <a:fld id="{91CAE60C-72A0-D14D-8733-C13212F694AD}" type="slidenum">
              <a:rPr lang="en-US" smtClean="0"/>
              <a:pPr>
                <a:defRPr/>
              </a:pPr>
              <a:t>19</a:t>
            </a:fld>
            <a:endParaRPr lang="en-US" dirty="0"/>
          </a:p>
        </p:txBody>
      </p:sp>
    </p:spTree>
    <p:extLst>
      <p:ext uri="{BB962C8B-B14F-4D97-AF65-F5344CB8AC3E}">
        <p14:creationId xmlns:p14="http://schemas.microsoft.com/office/powerpoint/2010/main" val="3901014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32704939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endParaRPr lang="en-US" dirty="0"/>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endParaRPr lang="en-US" dirty="0"/>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pPr>
              <a:defRPr/>
            </a:pPr>
            <a:endParaRPr lang="en-US" dirty="0"/>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E7287522-6EFB-4B6F-A755-2B83B87BF180}"/>
              </a:ext>
            </a:extLst>
          </p:cNvPr>
          <p:cNvSpPr>
            <a:spLocks noGrp="1"/>
          </p:cNvSpPr>
          <p:nvPr>
            <p:ph sz="quarter" idx="10"/>
          </p:nvPr>
        </p:nvSpPr>
        <p:spPr>
          <a:xfrm>
            <a:off x="838200" y="1593273"/>
            <a:ext cx="10515600" cy="447415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86311C29-F62B-4AA5-8197-B175712ABE83}"/>
              </a:ext>
            </a:extLst>
          </p:cNvPr>
          <p:cNvSpPr>
            <a:spLocks noGrp="1"/>
          </p:cNvSpPr>
          <p:nvPr>
            <p:ph sz="quarter" idx="16"/>
          </p:nvPr>
        </p:nvSpPr>
        <p:spPr>
          <a:xfrm>
            <a:off x="6207368" y="1607126"/>
            <a:ext cx="5146431" cy="34157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CBA4F7D5-043F-4B98-992B-40E415A84609}"/>
              </a:ext>
            </a:extLst>
          </p:cNvPr>
          <p:cNvSpPr>
            <a:spLocks noGrp="1"/>
          </p:cNvSpPr>
          <p:nvPr>
            <p:ph sz="quarter" idx="17"/>
          </p:nvPr>
        </p:nvSpPr>
        <p:spPr>
          <a:xfrm>
            <a:off x="838200" y="1607126"/>
            <a:ext cx="5035062" cy="341572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194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Text Placeholder 5"/>
          <p:cNvSpPr>
            <a:spLocks noGrp="1"/>
          </p:cNvSpPr>
          <p:nvPr>
            <p:ph type="body" sz="quarter" idx="18" hasCustomPrompt="1"/>
          </p:nvPr>
        </p:nvSpPr>
        <p:spPr>
          <a:xfrm>
            <a:off x="740228" y="1290690"/>
            <a:ext cx="10711543" cy="190932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diam </a:t>
            </a:r>
            <a:r>
              <a:rPr lang="en-US" dirty="0" err="1"/>
              <a:t>maecenas</a:t>
            </a:r>
            <a:r>
              <a:rPr lang="en-US" dirty="0"/>
              <a:t> sed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4" name="Content Placeholder 3">
            <a:extLst>
              <a:ext uri="{FF2B5EF4-FFF2-40B4-BE49-F238E27FC236}">
                <a16:creationId xmlns:a16="http://schemas.microsoft.com/office/drawing/2014/main" id="{356DCFCF-A355-4530-967D-8510D0847AE0}"/>
              </a:ext>
            </a:extLst>
          </p:cNvPr>
          <p:cNvSpPr>
            <a:spLocks noGrp="1"/>
          </p:cNvSpPr>
          <p:nvPr>
            <p:ph sz="quarter" idx="19"/>
          </p:nvPr>
        </p:nvSpPr>
        <p:spPr>
          <a:xfrm>
            <a:off x="739775" y="3429000"/>
            <a:ext cx="10712450" cy="2462213"/>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6420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600" y="3429000"/>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096000" y="3429000"/>
            <a:ext cx="535940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59007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
        <p:nvSpPr>
          <p:cNvPr id="5" name="Content Placeholder 4">
            <a:extLst>
              <a:ext uri="{FF2B5EF4-FFF2-40B4-BE49-F238E27FC236}">
                <a16:creationId xmlns:a16="http://schemas.microsoft.com/office/drawing/2014/main" id="{4FEE8A9E-72B6-46E4-B0B1-E754795B8E50}"/>
              </a:ext>
            </a:extLst>
          </p:cNvPr>
          <p:cNvSpPr>
            <a:spLocks noGrp="1"/>
          </p:cNvSpPr>
          <p:nvPr>
            <p:ph sz="quarter" idx="19"/>
          </p:nvPr>
        </p:nvSpPr>
        <p:spPr>
          <a:xfrm>
            <a:off x="736587" y="1579439"/>
            <a:ext cx="5084763" cy="1374776"/>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AF25995D-5A88-4DEC-8A28-08A28A435080}"/>
              </a:ext>
            </a:extLst>
          </p:cNvPr>
          <p:cNvSpPr>
            <a:spLocks noGrp="1"/>
          </p:cNvSpPr>
          <p:nvPr>
            <p:ph sz="quarter" idx="20"/>
          </p:nvPr>
        </p:nvSpPr>
        <p:spPr>
          <a:xfrm>
            <a:off x="6242050" y="1579439"/>
            <a:ext cx="5213350" cy="1374776"/>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DCABAF4A-7373-4676-9D1D-02B772F47699}"/>
              </a:ext>
            </a:extLst>
          </p:cNvPr>
          <p:cNvSpPr>
            <a:spLocks noGrp="1"/>
          </p:cNvSpPr>
          <p:nvPr>
            <p:ph sz="quarter" idx="21"/>
          </p:nvPr>
        </p:nvSpPr>
        <p:spPr>
          <a:xfrm>
            <a:off x="736587" y="3216398"/>
            <a:ext cx="5084763"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4">
            <a:extLst>
              <a:ext uri="{FF2B5EF4-FFF2-40B4-BE49-F238E27FC236}">
                <a16:creationId xmlns:a16="http://schemas.microsoft.com/office/drawing/2014/main" id="{30F57007-B6EC-4836-8EAF-E60DBF94D69E}"/>
              </a:ext>
            </a:extLst>
          </p:cNvPr>
          <p:cNvSpPr>
            <a:spLocks noGrp="1"/>
          </p:cNvSpPr>
          <p:nvPr>
            <p:ph sz="quarter" idx="22"/>
          </p:nvPr>
        </p:nvSpPr>
        <p:spPr>
          <a:xfrm>
            <a:off x="6242050" y="3216398"/>
            <a:ext cx="5213350" cy="1374652"/>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B0858C3-5D54-46C9-9602-DD06588705F5}"/>
              </a:ext>
            </a:extLst>
          </p:cNvPr>
          <p:cNvSpPr>
            <a:spLocks noGrp="1"/>
          </p:cNvSpPr>
          <p:nvPr>
            <p:ph sz="quarter" idx="23"/>
          </p:nvPr>
        </p:nvSpPr>
        <p:spPr>
          <a:xfrm>
            <a:off x="736587" y="4969161"/>
            <a:ext cx="5084776" cy="154305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8">
            <a:extLst>
              <a:ext uri="{FF2B5EF4-FFF2-40B4-BE49-F238E27FC236}">
                <a16:creationId xmlns:a16="http://schemas.microsoft.com/office/drawing/2014/main" id="{832F93A3-DABD-4B56-9641-51D4E1885264}"/>
              </a:ext>
            </a:extLst>
          </p:cNvPr>
          <p:cNvSpPr>
            <a:spLocks noGrp="1"/>
          </p:cNvSpPr>
          <p:nvPr>
            <p:ph sz="quarter" idx="24"/>
          </p:nvPr>
        </p:nvSpPr>
        <p:spPr>
          <a:xfrm>
            <a:off x="6212919" y="4969161"/>
            <a:ext cx="5359400" cy="137477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09208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pPr>
              <a:defRPr/>
            </a:pPr>
            <a:r>
              <a:rPr lang="en-US" sz="1400" dirty="0">
                <a:solidFill>
                  <a:srgbClr val="004A78"/>
                </a:solidFill>
                <a:latin typeface="Arial" panose="020B0604020202020204" pitchFamily="34" charset="0"/>
                <a:cs typeface="Arial" panose="020B0604020202020204" pitchFamily="34" charset="0"/>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G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33660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3600">
                <a:solidFill>
                  <a:schemeClr val="accent3">
                    <a:lumMod val="50000"/>
                  </a:schemeClr>
                </a:solidFill>
              </a:defRPr>
            </a:lvl1pPr>
          </a:lstStyle>
          <a:p>
            <a:r>
              <a:rPr lang="en-US" dirty="0"/>
              <a:t>Click to edit Master title style</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541624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GEN_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solidFill>
                  <a:srgbClr val="C00000"/>
                </a:solidFill>
              </a:defRPr>
            </a:lvl1pPr>
          </a:lstStyle>
          <a:p>
            <a:r>
              <a:rPr lang="en-US" dirty="0"/>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6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004A78"/>
              </a:buClr>
              <a:buSzTx/>
              <a:buFont typeface="Arial" panose="020B0604020202020204" pitchFamily="34" charset="0"/>
              <a:buChar char="–"/>
              <a:tabLst/>
              <a:defRPr sz="2400" baseline="0">
                <a:solidFill>
                  <a:srgbClr val="000000"/>
                </a:solidFill>
              </a:defRPr>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1"/>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1"/>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Warren/Jones/Tayler, Financial &amp; Managerial Accounting, 16th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6614165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a:t>Click to edit Master text styles</a:t>
            </a:r>
          </a:p>
        </p:txBody>
      </p:sp>
      <p:pic>
        <p:nvPicPr>
          <p:cNvPr id="7" name="Picture 6"/>
          <p:cNvPicPr>
            <a:picLocks noChangeAspect="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endParaRPr lang="en-US" dirty="0"/>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25" r:id="rId5"/>
    <p:sldLayoutId id="2147483718" r:id="rId6"/>
    <p:sldLayoutId id="2147483726" r:id="rId7"/>
    <p:sldLayoutId id="2147483715" r:id="rId8"/>
    <p:sldLayoutId id="2147483727" r:id="rId9"/>
    <p:sldLayoutId id="2147483716" r:id="rId10"/>
    <p:sldLayoutId id="2147483719" r:id="rId11"/>
    <p:sldLayoutId id="2147483720" r:id="rId12"/>
    <p:sldLayoutId id="2147483723" r:id="rId13"/>
    <p:sldLayoutId id="2147483724" r:id="rId14"/>
    <p:sldLayoutId id="2147483713" r:id="rId15"/>
    <p:sldLayoutId id="2147483717" r:id="rId16"/>
    <p:sldLayoutId id="2147483728" r:id="rId17"/>
    <p:sldLayoutId id="2147483729" r:id="rId18"/>
    <p:sldLayoutId id="2147483731" r:id="rId19"/>
  </p:sldLayoutIdLst>
  <p:hf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840289" y="4035474"/>
            <a:ext cx="6402684" cy="672105"/>
          </a:xfrm>
        </p:spPr>
        <p:txBody>
          <a:bodyPr/>
          <a:lstStyle/>
          <a:p>
            <a:pPr algn="ctr"/>
            <a:r>
              <a:rPr lang="en-US" dirty="0"/>
              <a:t>Chapter 1: Introduction to Accounting and Business</a:t>
            </a:r>
          </a:p>
        </p:txBody>
      </p:sp>
      <p:sp>
        <p:nvSpPr>
          <p:cNvPr id="6" name="Text Placeholder 5"/>
          <p:cNvSpPr>
            <a:spLocks noGrp="1"/>
          </p:cNvSpPr>
          <p:nvPr>
            <p:ph type="body" sz="quarter" idx="11"/>
          </p:nvPr>
        </p:nvSpPr>
        <p:spPr>
          <a:xfrm>
            <a:off x="5675420" y="2285807"/>
            <a:ext cx="4732422" cy="1073438"/>
          </a:xfrm>
        </p:spPr>
        <p:txBody>
          <a:bodyPr/>
          <a:lstStyle/>
          <a:p>
            <a:pPr algn="ctr"/>
            <a:r>
              <a:rPr lang="en-US" dirty="0"/>
              <a:t>Financial &amp; Managerial Accounting, 16e</a:t>
            </a:r>
          </a:p>
        </p:txBody>
      </p:sp>
      <p:pic>
        <p:nvPicPr>
          <p:cNvPr id="9" name="Picture 8">
            <a:extLst>
              <a:ext uri="{FF2B5EF4-FFF2-40B4-BE49-F238E27FC236}">
                <a16:creationId xmlns:a16="http://schemas.microsoft.com/office/drawing/2014/main" id="{00161AD2-39E7-ADC9-8257-FD1B07BB430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9109" y="689200"/>
            <a:ext cx="3624303" cy="4214746"/>
          </a:xfrm>
          <a:prstGeom prst="rect">
            <a:avLst/>
          </a:prstGeom>
        </p:spPr>
      </p:pic>
    </p:spTree>
    <p:extLst>
      <p:ext uri="{BB962C8B-B14F-4D97-AF65-F5344CB8AC3E}">
        <p14:creationId xmlns:p14="http://schemas.microsoft.com/office/powerpoint/2010/main" val="1607059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1C61E-36D1-4B44-81FC-109AFF010FAF}"/>
              </a:ext>
            </a:extLst>
          </p:cNvPr>
          <p:cNvSpPr>
            <a:spLocks noGrp="1"/>
          </p:cNvSpPr>
          <p:nvPr>
            <p:ph type="title"/>
          </p:nvPr>
        </p:nvSpPr>
        <p:spPr>
          <a:xfrm>
            <a:off x="838200" y="365125"/>
            <a:ext cx="10515600" cy="672105"/>
          </a:xfrm>
        </p:spPr>
        <p:txBody>
          <a:bodyPr/>
          <a:lstStyle/>
          <a:p>
            <a:r>
              <a:rPr lang="en-US" noProof="0" dirty="0"/>
              <a:t>Role of Accounting in Business</a:t>
            </a:r>
          </a:p>
        </p:txBody>
      </p:sp>
      <p:sp>
        <p:nvSpPr>
          <p:cNvPr id="3" name="Text Placeholder 2">
            <a:extLst>
              <a:ext uri="{FF2B5EF4-FFF2-40B4-BE49-F238E27FC236}">
                <a16:creationId xmlns:a16="http://schemas.microsoft.com/office/drawing/2014/main" id="{DD3DA3E8-869C-4E56-B99C-1B704020ED5B}"/>
              </a:ext>
            </a:extLst>
          </p:cNvPr>
          <p:cNvSpPr>
            <a:spLocks noGrp="1"/>
          </p:cNvSpPr>
          <p:nvPr>
            <p:ph sz="quarter" idx="10"/>
          </p:nvPr>
        </p:nvSpPr>
        <p:spPr>
          <a:xfrm>
            <a:off x="838200" y="1593273"/>
            <a:ext cx="10515600" cy="4474152"/>
          </a:xfrm>
        </p:spPr>
        <p:txBody>
          <a:bodyPr/>
          <a:lstStyle/>
          <a:p>
            <a:pPr marL="457200" lvl="0" indent="-457200">
              <a:buFont typeface="Arial" panose="020B0604020202020204" pitchFamily="34" charset="0"/>
              <a:buChar char="•"/>
            </a:pPr>
            <a:r>
              <a:rPr lang="en-US" sz="4400" b="1" noProof="0" dirty="0">
                <a:solidFill>
                  <a:srgbClr val="004A78"/>
                </a:solidFill>
              </a:rPr>
              <a:t>Accounting</a:t>
            </a:r>
            <a:r>
              <a:rPr lang="en-US" sz="4400" noProof="0" dirty="0"/>
              <a:t> can be defined as an information system that provides reports to users about the economic activities and condition of a business.</a:t>
            </a:r>
            <a:endParaRPr lang="en-US" sz="4400" dirty="0"/>
          </a:p>
        </p:txBody>
      </p:sp>
    </p:spTree>
    <p:extLst>
      <p:ext uri="{BB962C8B-B14F-4D97-AF65-F5344CB8AC3E}">
        <p14:creationId xmlns:p14="http://schemas.microsoft.com/office/powerpoint/2010/main" val="2617723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68B99-3881-4CC3-AC4F-8211D1B1E070}"/>
              </a:ext>
            </a:extLst>
          </p:cNvPr>
          <p:cNvSpPr>
            <a:spLocks noGrp="1"/>
          </p:cNvSpPr>
          <p:nvPr>
            <p:ph type="title"/>
          </p:nvPr>
        </p:nvSpPr>
        <p:spPr/>
        <p:txBody>
          <a:bodyPr/>
          <a:lstStyle/>
          <a:p>
            <a:r>
              <a:rPr lang="en-US" dirty="0"/>
              <a:t>Financial accounting and Managerial accounting</a:t>
            </a:r>
          </a:p>
        </p:txBody>
      </p:sp>
      <p:sp>
        <p:nvSpPr>
          <p:cNvPr id="3" name="Content Placeholder 2">
            <a:extLst>
              <a:ext uri="{FF2B5EF4-FFF2-40B4-BE49-F238E27FC236}">
                <a16:creationId xmlns:a16="http://schemas.microsoft.com/office/drawing/2014/main" id="{D964EF57-3302-F638-C7DF-11C7E65584DC}"/>
              </a:ext>
            </a:extLst>
          </p:cNvPr>
          <p:cNvSpPr>
            <a:spLocks noGrp="1"/>
          </p:cNvSpPr>
          <p:nvPr>
            <p:ph sz="quarter" idx="10"/>
          </p:nvPr>
        </p:nvSpPr>
        <p:spPr/>
        <p:txBody>
          <a:bodyPr/>
          <a:lstStyle/>
          <a:p>
            <a:pPr fontAlgn="auto">
              <a:defRPr/>
            </a:pPr>
            <a:r>
              <a:rPr lang="en-US" sz="5000" dirty="0"/>
              <a:t>We have 2  types of Accounting</a:t>
            </a:r>
          </a:p>
          <a:p>
            <a:pPr fontAlgn="auto">
              <a:defRPr/>
            </a:pPr>
            <a:r>
              <a:rPr lang="en-US" sz="5000" b="1" dirty="0">
                <a:solidFill>
                  <a:srgbClr val="00375D"/>
                </a:solidFill>
              </a:rPr>
              <a:t>Financial accounting and Managerial accounting</a:t>
            </a:r>
          </a:p>
          <a:p>
            <a:endParaRPr lang="en-US" dirty="0"/>
          </a:p>
        </p:txBody>
      </p:sp>
    </p:spTree>
    <p:extLst>
      <p:ext uri="{BB962C8B-B14F-4D97-AF65-F5344CB8AC3E}">
        <p14:creationId xmlns:p14="http://schemas.microsoft.com/office/powerpoint/2010/main" val="3263265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68B99-3881-4CC3-AC4F-8211D1B1E070}"/>
              </a:ext>
            </a:extLst>
          </p:cNvPr>
          <p:cNvSpPr>
            <a:spLocks noGrp="1"/>
          </p:cNvSpPr>
          <p:nvPr>
            <p:ph type="title"/>
          </p:nvPr>
        </p:nvSpPr>
        <p:spPr/>
        <p:txBody>
          <a:bodyPr/>
          <a:lstStyle/>
          <a:p>
            <a:r>
              <a:rPr lang="en-US" sz="4000" dirty="0"/>
              <a:t>Financial accounting</a:t>
            </a:r>
          </a:p>
        </p:txBody>
      </p:sp>
      <p:sp>
        <p:nvSpPr>
          <p:cNvPr id="3" name="Content Placeholder 2">
            <a:extLst>
              <a:ext uri="{FF2B5EF4-FFF2-40B4-BE49-F238E27FC236}">
                <a16:creationId xmlns:a16="http://schemas.microsoft.com/office/drawing/2014/main" id="{D964EF57-3302-F638-C7DF-11C7E65584DC}"/>
              </a:ext>
            </a:extLst>
          </p:cNvPr>
          <p:cNvSpPr>
            <a:spLocks noGrp="1"/>
          </p:cNvSpPr>
          <p:nvPr>
            <p:ph sz="quarter" idx="10"/>
          </p:nvPr>
        </p:nvSpPr>
        <p:spPr/>
        <p:txBody>
          <a:bodyPr/>
          <a:lstStyle/>
          <a:p>
            <a:pPr fontAlgn="auto">
              <a:defRPr/>
            </a:pPr>
            <a:r>
              <a:rPr lang="en-US" sz="4000" dirty="0">
                <a:solidFill>
                  <a:schemeClr val="tx1"/>
                </a:solidFill>
              </a:rPr>
              <a:t>Financial accounting: provides information about a company’s performance to  external users, such as investors, creditors, customers, and the government by preparing </a:t>
            </a:r>
            <a:r>
              <a:rPr lang="en-US" sz="4000" dirty="0">
                <a:solidFill>
                  <a:schemeClr val="tx1"/>
                </a:solidFill>
                <a:highlight>
                  <a:srgbClr val="FFFF00"/>
                </a:highlight>
              </a:rPr>
              <a:t>Financial Statements</a:t>
            </a:r>
            <a:r>
              <a:rPr lang="en-US" sz="4000" dirty="0">
                <a:solidFill>
                  <a:schemeClr val="tx1"/>
                </a:solidFill>
              </a:rPr>
              <a:t>.</a:t>
            </a:r>
            <a:endParaRPr lang="en-US" sz="4000" b="1" dirty="0">
              <a:solidFill>
                <a:srgbClr val="00375D"/>
              </a:solidFill>
            </a:endParaRPr>
          </a:p>
          <a:p>
            <a:endParaRPr lang="en-US" dirty="0"/>
          </a:p>
        </p:txBody>
      </p:sp>
    </p:spTree>
    <p:extLst>
      <p:ext uri="{BB962C8B-B14F-4D97-AF65-F5344CB8AC3E}">
        <p14:creationId xmlns:p14="http://schemas.microsoft.com/office/powerpoint/2010/main" val="4021021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68B99-3881-4CC3-AC4F-8211D1B1E070}"/>
              </a:ext>
            </a:extLst>
          </p:cNvPr>
          <p:cNvSpPr>
            <a:spLocks noGrp="1"/>
          </p:cNvSpPr>
          <p:nvPr>
            <p:ph type="title"/>
          </p:nvPr>
        </p:nvSpPr>
        <p:spPr/>
        <p:txBody>
          <a:bodyPr/>
          <a:lstStyle/>
          <a:p>
            <a:r>
              <a:rPr lang="en-US" sz="4000" dirty="0"/>
              <a:t>Managerial Accounting</a:t>
            </a:r>
          </a:p>
        </p:txBody>
      </p:sp>
      <p:sp>
        <p:nvSpPr>
          <p:cNvPr id="3" name="Content Placeholder 2">
            <a:extLst>
              <a:ext uri="{FF2B5EF4-FFF2-40B4-BE49-F238E27FC236}">
                <a16:creationId xmlns:a16="http://schemas.microsoft.com/office/drawing/2014/main" id="{D964EF57-3302-F638-C7DF-11C7E65584DC}"/>
              </a:ext>
            </a:extLst>
          </p:cNvPr>
          <p:cNvSpPr>
            <a:spLocks noGrp="1"/>
          </p:cNvSpPr>
          <p:nvPr>
            <p:ph sz="quarter" idx="10"/>
          </p:nvPr>
        </p:nvSpPr>
        <p:spPr/>
        <p:txBody>
          <a:bodyPr/>
          <a:lstStyle/>
          <a:p>
            <a:pPr fontAlgn="auto">
              <a:defRPr/>
            </a:pPr>
            <a:r>
              <a:rPr lang="en-US" sz="4000" dirty="0">
                <a:solidFill>
                  <a:schemeClr val="tx1"/>
                </a:solidFill>
              </a:rPr>
              <a:t>Managerial accounting is to provide relevant and timely information for managers’ and employees’ decision-making needs</a:t>
            </a:r>
          </a:p>
          <a:p>
            <a:endParaRPr lang="en-US" dirty="0"/>
          </a:p>
        </p:txBody>
      </p:sp>
    </p:spTree>
    <p:extLst>
      <p:ext uri="{BB962C8B-B14F-4D97-AF65-F5344CB8AC3E}">
        <p14:creationId xmlns:p14="http://schemas.microsoft.com/office/powerpoint/2010/main" val="1610006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05E76-F582-4A88-B9D9-3D2F2DD9D109}"/>
              </a:ext>
            </a:extLst>
          </p:cNvPr>
          <p:cNvSpPr>
            <a:spLocks noGrp="1"/>
          </p:cNvSpPr>
          <p:nvPr>
            <p:ph type="title"/>
          </p:nvPr>
        </p:nvSpPr>
        <p:spPr>
          <a:xfrm>
            <a:off x="838200" y="365125"/>
            <a:ext cx="10515600" cy="672105"/>
          </a:xfrm>
        </p:spPr>
        <p:txBody>
          <a:bodyPr/>
          <a:lstStyle/>
          <a:p>
            <a:r>
              <a:rPr lang="en-US" dirty="0"/>
              <a:t>The Accounting Equation</a:t>
            </a:r>
            <a:br>
              <a:rPr lang="en-US" dirty="0"/>
            </a:br>
            <a:r>
              <a:rPr lang="en-US" sz="2400" dirty="0"/>
              <a:t> </a:t>
            </a:r>
          </a:p>
        </p:txBody>
      </p:sp>
      <p:sp>
        <p:nvSpPr>
          <p:cNvPr id="3" name="Text Placeholder 2">
            <a:extLst>
              <a:ext uri="{FF2B5EF4-FFF2-40B4-BE49-F238E27FC236}">
                <a16:creationId xmlns:a16="http://schemas.microsoft.com/office/drawing/2014/main" id="{281274DE-2A68-4A56-B199-84EDE5156E81}"/>
              </a:ext>
            </a:extLst>
          </p:cNvPr>
          <p:cNvSpPr>
            <a:spLocks noGrp="1"/>
          </p:cNvSpPr>
          <p:nvPr>
            <p:ph sz="quarter" idx="10"/>
          </p:nvPr>
        </p:nvSpPr>
        <p:spPr>
          <a:xfrm>
            <a:off x="838200" y="1593273"/>
            <a:ext cx="10515600" cy="4474152"/>
          </a:xfrm>
        </p:spPr>
        <p:txBody>
          <a:bodyPr>
            <a:normAutofit/>
          </a:bodyPr>
          <a:lstStyle/>
          <a:p>
            <a:pPr marL="457200" indent="-457200">
              <a:buFont typeface="Arial" panose="020B0604020202020204" pitchFamily="34" charset="0"/>
              <a:buChar char="•"/>
            </a:pPr>
            <a:r>
              <a:rPr lang="en-US" dirty="0"/>
              <a:t>The following equation shows the relationship among assets, liabilities, and equity:</a:t>
            </a:r>
          </a:p>
          <a:p>
            <a:pPr algn="ctr"/>
            <a:br>
              <a:rPr lang="en-US" dirty="0"/>
            </a:br>
            <a:r>
              <a:rPr lang="en-US" b="1" dirty="0"/>
              <a:t>Assets = Liabilities + Equity</a:t>
            </a:r>
            <a:br>
              <a:rPr lang="en-US" dirty="0"/>
            </a:br>
            <a:endParaRPr lang="en-US" dirty="0"/>
          </a:p>
          <a:p>
            <a:pPr marL="457200" indent="-457200">
              <a:buFont typeface="Arial" panose="020B0604020202020204" pitchFamily="34" charset="0"/>
              <a:buChar char="•"/>
            </a:pPr>
            <a:r>
              <a:rPr lang="en-US" dirty="0"/>
              <a:t>This equation is called the </a:t>
            </a:r>
            <a:r>
              <a:rPr lang="en-US" b="1" dirty="0">
                <a:solidFill>
                  <a:srgbClr val="004A78"/>
                </a:solidFill>
              </a:rPr>
              <a:t>accounting equation</a:t>
            </a:r>
            <a:r>
              <a:rPr lang="en-US" dirty="0"/>
              <a:t>.</a:t>
            </a:r>
          </a:p>
        </p:txBody>
      </p:sp>
    </p:spTree>
    <p:extLst>
      <p:ext uri="{BB962C8B-B14F-4D97-AF65-F5344CB8AC3E}">
        <p14:creationId xmlns:p14="http://schemas.microsoft.com/office/powerpoint/2010/main" val="547541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05E76-F582-4A88-B9D9-3D2F2DD9D109}"/>
              </a:ext>
            </a:extLst>
          </p:cNvPr>
          <p:cNvSpPr>
            <a:spLocks noGrp="1"/>
          </p:cNvSpPr>
          <p:nvPr>
            <p:ph type="title"/>
          </p:nvPr>
        </p:nvSpPr>
        <p:spPr>
          <a:xfrm>
            <a:off x="838200" y="365125"/>
            <a:ext cx="10515600" cy="672105"/>
          </a:xfrm>
        </p:spPr>
        <p:txBody>
          <a:bodyPr/>
          <a:lstStyle/>
          <a:p>
            <a:r>
              <a:rPr lang="en-US" dirty="0"/>
              <a:t>The Accounting Equation</a:t>
            </a:r>
            <a:br>
              <a:rPr lang="en-US" dirty="0"/>
            </a:br>
            <a:r>
              <a:rPr lang="en-US" sz="2400" dirty="0"/>
              <a:t> </a:t>
            </a:r>
          </a:p>
        </p:txBody>
      </p:sp>
      <p:sp>
        <p:nvSpPr>
          <p:cNvPr id="3" name="Text Placeholder 2">
            <a:extLst>
              <a:ext uri="{FF2B5EF4-FFF2-40B4-BE49-F238E27FC236}">
                <a16:creationId xmlns:a16="http://schemas.microsoft.com/office/drawing/2014/main" id="{281274DE-2A68-4A56-B199-84EDE5156E81}"/>
              </a:ext>
            </a:extLst>
          </p:cNvPr>
          <p:cNvSpPr>
            <a:spLocks noGrp="1"/>
          </p:cNvSpPr>
          <p:nvPr>
            <p:ph sz="quarter" idx="10"/>
          </p:nvPr>
        </p:nvSpPr>
        <p:spPr>
          <a:xfrm>
            <a:off x="838200" y="1593273"/>
            <a:ext cx="10515600" cy="4474152"/>
          </a:xfrm>
        </p:spPr>
        <p:txBody>
          <a:bodyPr>
            <a:normAutofit/>
          </a:bodyPr>
          <a:lstStyle/>
          <a:p>
            <a:pPr fontAlgn="auto">
              <a:defRPr/>
            </a:pPr>
            <a:r>
              <a:rPr lang="en-US" dirty="0"/>
              <a:t>The resources owned by a business are its </a:t>
            </a:r>
            <a:r>
              <a:rPr lang="en-US" b="1" dirty="0">
                <a:solidFill>
                  <a:srgbClr val="00375D"/>
                </a:solidFill>
              </a:rPr>
              <a:t>assets</a:t>
            </a:r>
            <a:r>
              <a:rPr lang="en-US" dirty="0"/>
              <a:t>.</a:t>
            </a:r>
          </a:p>
          <a:p>
            <a:pPr fontAlgn="auto">
              <a:defRPr/>
            </a:pPr>
            <a:r>
              <a:rPr lang="en-US" dirty="0"/>
              <a:t>The rights of creditors are the debts of the business and are called </a:t>
            </a:r>
            <a:r>
              <a:rPr lang="en-US" b="1" dirty="0">
                <a:solidFill>
                  <a:srgbClr val="00375D"/>
                </a:solidFill>
              </a:rPr>
              <a:t>liabilities</a:t>
            </a:r>
            <a:r>
              <a:rPr lang="en-US" dirty="0"/>
              <a:t>.</a:t>
            </a:r>
          </a:p>
          <a:p>
            <a:pPr fontAlgn="auto">
              <a:defRPr/>
            </a:pPr>
            <a:r>
              <a:rPr lang="en-US" dirty="0"/>
              <a:t>The rights of owners are called</a:t>
            </a:r>
            <a:r>
              <a:rPr lang="en-US" b="1" dirty="0">
                <a:solidFill>
                  <a:srgbClr val="CC6600"/>
                </a:solidFill>
              </a:rPr>
              <a:t> </a:t>
            </a:r>
            <a:r>
              <a:rPr lang="en-US" b="1" dirty="0">
                <a:solidFill>
                  <a:srgbClr val="00375D"/>
                </a:solidFill>
              </a:rPr>
              <a:t>equity</a:t>
            </a:r>
            <a:r>
              <a:rPr lang="en-US" dirty="0"/>
              <a:t>.</a:t>
            </a:r>
          </a:p>
          <a:p>
            <a:pPr lvl="1" fontAlgn="auto">
              <a:defRPr/>
            </a:pPr>
            <a:r>
              <a:rPr lang="en-US" dirty="0"/>
              <a:t>Since stockholders own a corporation, equity is called </a:t>
            </a:r>
            <a:r>
              <a:rPr lang="en-US" b="1" dirty="0">
                <a:solidFill>
                  <a:srgbClr val="00375D"/>
                </a:solidFill>
              </a:rPr>
              <a:t>stockholders’ equity</a:t>
            </a:r>
            <a:r>
              <a:rPr lang="en-US" dirty="0"/>
              <a:t>.</a:t>
            </a:r>
          </a:p>
          <a:p>
            <a:pPr lvl="1" fontAlgn="auto">
              <a:defRPr/>
            </a:pPr>
            <a:r>
              <a:rPr lang="en-US" dirty="0"/>
              <a:t>For a proprietorship, partnership, or limited liability company, equity is called </a:t>
            </a:r>
            <a:r>
              <a:rPr lang="en-US" b="1" dirty="0">
                <a:solidFill>
                  <a:srgbClr val="00375D"/>
                </a:solidFill>
              </a:rPr>
              <a:t>owner’s equity</a:t>
            </a:r>
            <a:r>
              <a:rPr lang="en-US" dirty="0"/>
              <a:t>.</a:t>
            </a:r>
          </a:p>
        </p:txBody>
      </p:sp>
    </p:spTree>
    <p:extLst>
      <p:ext uri="{BB962C8B-B14F-4D97-AF65-F5344CB8AC3E}">
        <p14:creationId xmlns:p14="http://schemas.microsoft.com/office/powerpoint/2010/main" val="4264417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76198-D267-4C3B-8073-7130DB2CF2AF}"/>
              </a:ext>
            </a:extLst>
          </p:cNvPr>
          <p:cNvSpPr>
            <a:spLocks noGrp="1"/>
          </p:cNvSpPr>
          <p:nvPr>
            <p:ph type="title"/>
          </p:nvPr>
        </p:nvSpPr>
        <p:spPr>
          <a:xfrm>
            <a:off x="838200" y="365125"/>
            <a:ext cx="10515600" cy="672105"/>
          </a:xfrm>
        </p:spPr>
        <p:txBody>
          <a:bodyPr/>
          <a:lstStyle/>
          <a:p>
            <a:r>
              <a:rPr lang="en-US" dirty="0"/>
              <a:t>Transaction a</a:t>
            </a:r>
          </a:p>
        </p:txBody>
      </p:sp>
      <p:pic>
        <p:nvPicPr>
          <p:cNvPr id="7" name="Content Placeholder 6" descr="The effect of Transaction A during NetSolutions’ first month of operations is illustrated. First, part of the accounting equation is given: Assets = Stockholders’ Equity. On the second line, the accounting equation is expanded into accounts: assets of Cash = stockholders’ equity of Common Stock. On the third line, the effect of Transaction a on the accounting equation is shown in blue text: Cash is increased by 25,000; and Common Stock is increased by 25,000. ">
            <a:extLst>
              <a:ext uri="{FF2B5EF4-FFF2-40B4-BE49-F238E27FC236}">
                <a16:creationId xmlns:a16="http://schemas.microsoft.com/office/drawing/2014/main" id="{463D9A80-E7D1-4E1A-922B-B03B88763B60}"/>
              </a:ext>
            </a:extLst>
          </p:cNvPr>
          <p:cNvPicPr>
            <a:picLocks noGrp="1" noChangeAspect="1"/>
          </p:cNvPicPr>
          <p:nvPr>
            <p:ph sz="quarter" idx="16"/>
          </p:nvPr>
        </p:nvPicPr>
        <p:blipFill>
          <a:blip r:embed="rId3"/>
          <a:stretch>
            <a:fillRect/>
          </a:stretch>
        </p:blipFill>
        <p:spPr>
          <a:xfrm>
            <a:off x="3685088" y="4398500"/>
            <a:ext cx="5146675" cy="1172834"/>
          </a:xfrm>
        </p:spPr>
      </p:pic>
      <p:sp>
        <p:nvSpPr>
          <p:cNvPr id="4" name="Content Placeholder 3">
            <a:extLst>
              <a:ext uri="{FF2B5EF4-FFF2-40B4-BE49-F238E27FC236}">
                <a16:creationId xmlns:a16="http://schemas.microsoft.com/office/drawing/2014/main" id="{97779CF7-7C23-4B5E-B110-254EDED5A1EA}"/>
              </a:ext>
            </a:extLst>
          </p:cNvPr>
          <p:cNvSpPr>
            <a:spLocks noGrp="1"/>
          </p:cNvSpPr>
          <p:nvPr>
            <p:ph sz="quarter" idx="17"/>
          </p:nvPr>
        </p:nvSpPr>
        <p:spPr>
          <a:xfrm>
            <a:off x="838199" y="1606550"/>
            <a:ext cx="10840454" cy="3559008"/>
          </a:xfrm>
        </p:spPr>
        <p:txBody>
          <a:bodyPr/>
          <a:lstStyle/>
          <a:p>
            <a:pPr marL="457200" indent="-457200">
              <a:buFont typeface="Arial" panose="020B0604020202020204" pitchFamily="34" charset="0"/>
              <a:buChar char="•"/>
            </a:pPr>
            <a:r>
              <a:rPr lang="en-US" dirty="0"/>
              <a:t>Nov. 1, 20Y3: Chris Clark deposited $25,000 in a bank account in the name of NetSolutions in exchange for shares of common stock in the corporation.</a:t>
            </a:r>
          </a:p>
          <a:p>
            <a:pPr marL="457200" indent="-457200">
              <a:buFont typeface="Arial" panose="020B0604020202020204" pitchFamily="34" charset="0"/>
              <a:buChar char="•"/>
            </a:pPr>
            <a:r>
              <a:rPr lang="en-US" dirty="0"/>
              <a:t>A corporation issues common stock to investors as proof of their ownership rights.</a:t>
            </a:r>
          </a:p>
        </p:txBody>
      </p:sp>
    </p:spTree>
    <p:extLst>
      <p:ext uri="{BB962C8B-B14F-4D97-AF65-F5344CB8AC3E}">
        <p14:creationId xmlns:p14="http://schemas.microsoft.com/office/powerpoint/2010/main" val="1371515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593EE-1670-41B8-8AB5-6A27EE5E1512}"/>
              </a:ext>
            </a:extLst>
          </p:cNvPr>
          <p:cNvSpPr>
            <a:spLocks noGrp="1"/>
          </p:cNvSpPr>
          <p:nvPr>
            <p:ph type="title"/>
          </p:nvPr>
        </p:nvSpPr>
        <p:spPr>
          <a:xfrm>
            <a:off x="838200" y="365125"/>
            <a:ext cx="10515600" cy="672105"/>
          </a:xfrm>
        </p:spPr>
        <p:txBody>
          <a:bodyPr/>
          <a:lstStyle/>
          <a:p>
            <a:r>
              <a:rPr lang="en-US" dirty="0"/>
              <a:t>Transaction b</a:t>
            </a:r>
          </a:p>
        </p:txBody>
      </p:sp>
      <p:sp>
        <p:nvSpPr>
          <p:cNvPr id="8" name="Content Placeholder 7">
            <a:extLst>
              <a:ext uri="{FF2B5EF4-FFF2-40B4-BE49-F238E27FC236}">
                <a16:creationId xmlns:a16="http://schemas.microsoft.com/office/drawing/2014/main" id="{8D8CF244-F8A3-4CCD-AF0F-33C8F7694D86}"/>
              </a:ext>
            </a:extLst>
          </p:cNvPr>
          <p:cNvSpPr>
            <a:spLocks noGrp="1"/>
          </p:cNvSpPr>
          <p:nvPr>
            <p:ph sz="quarter" idx="17"/>
          </p:nvPr>
        </p:nvSpPr>
        <p:spPr>
          <a:xfrm>
            <a:off x="838200" y="1607126"/>
            <a:ext cx="10808368" cy="3606558"/>
          </a:xfrm>
        </p:spPr>
        <p:txBody>
          <a:bodyPr/>
          <a:lstStyle/>
          <a:p>
            <a:pPr marL="457200" indent="-457200">
              <a:buFont typeface="Arial" panose="020B0604020202020204" pitchFamily="34" charset="0"/>
              <a:buChar char="•"/>
            </a:pPr>
            <a:r>
              <a:rPr lang="en-US" sz="3800" dirty="0"/>
              <a:t>Nov. 5, 20Y3: NetSolutions paid $20,000 for the purchase of land as a future building site. </a:t>
            </a:r>
          </a:p>
        </p:txBody>
      </p:sp>
      <p:pic>
        <p:nvPicPr>
          <p:cNvPr id="9" name="Content Placeholder 8" descr="The effect of Transaction b during NetSolutions’ first month of operations is illustrated. First, part of the accounting equation is given: Assets = Stockholders’ Equity. On the second line, the accounting equation is expanded into accounts: assets of Cash + Land = Stockholders’ Equity of Common Stock. On the third line, balances are noted for the following accounts: 25,000 for Cash and 25,000 for Common Stock. On the fourth line, the effect of Transaction b on the accounting equation is shown in blue text: Cash is decreased by 20,000; and Land is increased by 20,000. A single rule appears in each column. On the fifth line, the resulting balances are given: 5,000 for Cash; 20,000 for Land; and 25,000 for Common Stock. At the bottom, a bracket spans all asset items and shows their total of 25,000. A second bracket is shown below the stockholders’ equity item and shows the total of 25,000. An equal sign is shown between the two totals showing that the accounting equation is in balance.">
            <a:extLst>
              <a:ext uri="{FF2B5EF4-FFF2-40B4-BE49-F238E27FC236}">
                <a16:creationId xmlns:a16="http://schemas.microsoft.com/office/drawing/2014/main" id="{8CE867E4-B9DF-4645-A355-468F63529586}"/>
              </a:ext>
            </a:extLst>
          </p:cNvPr>
          <p:cNvPicPr>
            <a:picLocks noGrp="1" noChangeAspect="1"/>
          </p:cNvPicPr>
          <p:nvPr>
            <p:ph sz="quarter" idx="16"/>
          </p:nvPr>
        </p:nvPicPr>
        <p:blipFill>
          <a:blip r:embed="rId2"/>
          <a:stretch>
            <a:fillRect/>
          </a:stretch>
        </p:blipFill>
        <p:spPr>
          <a:xfrm>
            <a:off x="2555830" y="3166113"/>
            <a:ext cx="6082812" cy="2084761"/>
          </a:xfrm>
          <a:prstGeom prst="rect">
            <a:avLst/>
          </a:prstGeom>
        </p:spPr>
      </p:pic>
    </p:spTree>
    <p:extLst>
      <p:ext uri="{BB962C8B-B14F-4D97-AF65-F5344CB8AC3E}">
        <p14:creationId xmlns:p14="http://schemas.microsoft.com/office/powerpoint/2010/main" val="900460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C3E80-069C-43AA-B365-B9BE453C8C64}"/>
              </a:ext>
            </a:extLst>
          </p:cNvPr>
          <p:cNvSpPr>
            <a:spLocks noGrp="1"/>
          </p:cNvSpPr>
          <p:nvPr>
            <p:ph type="title"/>
          </p:nvPr>
        </p:nvSpPr>
        <p:spPr>
          <a:xfrm>
            <a:off x="838200" y="365125"/>
            <a:ext cx="10515600" cy="672105"/>
          </a:xfrm>
        </p:spPr>
        <p:txBody>
          <a:bodyPr/>
          <a:lstStyle/>
          <a:p>
            <a:r>
              <a:rPr lang="en-US" dirty="0"/>
              <a:t>Transaction c</a:t>
            </a:r>
            <a:br>
              <a:rPr lang="en-US" dirty="0"/>
            </a:br>
            <a:endParaRPr lang="en-US" sz="2400" dirty="0"/>
          </a:p>
        </p:txBody>
      </p:sp>
      <p:pic>
        <p:nvPicPr>
          <p:cNvPr id="6" name="Content Placeholder 5" descr="The effect of Transaction c during NetSolutions’ first month of operations is illustrated. First, the accounting equation is given: Assets = Liabilities + Stockholders’ Equity. On the second line, the accounting equation is expanded into accounts: Assets of Cash + Supplies + Land = Liabilities of Accounts Payable + Stockholders’ Equity of Common Stock. On the third line, balances are noted for the following accounts: 5,000 for Cash; 20,000 for Land; and 25,000 for Common Stock. On the fourth line, the effect of Transaction c on the accounting equation is shown in blue text: Supplies is increased by 1,350; and Accounts Payable is increased by 1,350. A single rule appears in each column. On the fifth line, the resulting balances are given: 5,000 for Cash; 1,350 for Supplies; 20,000 for Land; 1,350 for Accounts Payable; and 25,000 for Common Stock. At the bottom, a bracket spans all asset items and shows their total of 26,350. A second bracket spans all liabilities and stockholders’ equity items and shows their total of 26,350. An equal sign is between the two totals showing that the accounting equation is in balance.">
            <a:extLst>
              <a:ext uri="{FF2B5EF4-FFF2-40B4-BE49-F238E27FC236}">
                <a16:creationId xmlns:a16="http://schemas.microsoft.com/office/drawing/2014/main" id="{7EA75CFF-1267-4580-BA00-E81EDF398C15}"/>
              </a:ext>
            </a:extLst>
          </p:cNvPr>
          <p:cNvPicPr>
            <a:picLocks noGrp="1" noChangeAspect="1"/>
          </p:cNvPicPr>
          <p:nvPr>
            <p:ph sz="quarter" idx="16"/>
          </p:nvPr>
        </p:nvPicPr>
        <p:blipFill>
          <a:blip r:embed="rId2"/>
          <a:stretch>
            <a:fillRect/>
          </a:stretch>
        </p:blipFill>
        <p:spPr>
          <a:xfrm>
            <a:off x="1843629" y="2638330"/>
            <a:ext cx="8504741" cy="2613120"/>
          </a:xfrm>
        </p:spPr>
      </p:pic>
      <p:sp>
        <p:nvSpPr>
          <p:cNvPr id="5" name="Content Placeholder 4">
            <a:extLst>
              <a:ext uri="{FF2B5EF4-FFF2-40B4-BE49-F238E27FC236}">
                <a16:creationId xmlns:a16="http://schemas.microsoft.com/office/drawing/2014/main" id="{BAC8E8B9-9902-4A3A-8D01-C9B529AC6C59}"/>
              </a:ext>
            </a:extLst>
          </p:cNvPr>
          <p:cNvSpPr>
            <a:spLocks noGrp="1"/>
          </p:cNvSpPr>
          <p:nvPr>
            <p:ph sz="quarter" idx="17"/>
          </p:nvPr>
        </p:nvSpPr>
        <p:spPr>
          <a:xfrm>
            <a:off x="838199" y="1606550"/>
            <a:ext cx="10904621" cy="2002924"/>
          </a:xfrm>
        </p:spPr>
        <p:txBody>
          <a:bodyPr/>
          <a:lstStyle/>
          <a:p>
            <a:pPr marL="457200" indent="-457200">
              <a:buFont typeface="Arial" panose="020B0604020202020204" pitchFamily="34" charset="0"/>
              <a:buChar char="•"/>
            </a:pPr>
            <a:r>
              <a:rPr lang="en-US" sz="2600" dirty="0"/>
              <a:t>Nov. 10, 20Y3: </a:t>
            </a:r>
            <a:r>
              <a:rPr lang="en-US" sz="2600" dirty="0" err="1"/>
              <a:t>NetSolutions</a:t>
            </a:r>
            <a:r>
              <a:rPr lang="en-US" sz="2600" dirty="0"/>
              <a:t> purchased supplies for $1,350 and agreed to pay the supplier in the near future.</a:t>
            </a:r>
          </a:p>
        </p:txBody>
      </p:sp>
    </p:spTree>
    <p:extLst>
      <p:ext uri="{BB962C8B-B14F-4D97-AF65-F5344CB8AC3E}">
        <p14:creationId xmlns:p14="http://schemas.microsoft.com/office/powerpoint/2010/main" val="1553080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8CB34-2A02-4D98-8759-898BA7B648EE}"/>
              </a:ext>
            </a:extLst>
          </p:cNvPr>
          <p:cNvSpPr>
            <a:spLocks noGrp="1"/>
          </p:cNvSpPr>
          <p:nvPr>
            <p:ph type="title"/>
          </p:nvPr>
        </p:nvSpPr>
        <p:spPr>
          <a:xfrm>
            <a:off x="838200" y="365125"/>
            <a:ext cx="10515600" cy="672105"/>
          </a:xfrm>
        </p:spPr>
        <p:txBody>
          <a:bodyPr/>
          <a:lstStyle/>
          <a:p>
            <a:r>
              <a:rPr lang="en-US" dirty="0"/>
              <a:t>Transaction d</a:t>
            </a:r>
            <a:br>
              <a:rPr lang="en-US" dirty="0"/>
            </a:br>
            <a:endParaRPr lang="en-US" sz="2400" dirty="0"/>
          </a:p>
        </p:txBody>
      </p:sp>
      <p:sp>
        <p:nvSpPr>
          <p:cNvPr id="3" name="Text Placeholder 2">
            <a:extLst>
              <a:ext uri="{FF2B5EF4-FFF2-40B4-BE49-F238E27FC236}">
                <a16:creationId xmlns:a16="http://schemas.microsoft.com/office/drawing/2014/main" id="{505D02D3-E31A-4A47-B7EE-1C56CE575865}"/>
              </a:ext>
            </a:extLst>
          </p:cNvPr>
          <p:cNvSpPr>
            <a:spLocks noGrp="1"/>
          </p:cNvSpPr>
          <p:nvPr>
            <p:ph sz="quarter" idx="10"/>
          </p:nvPr>
        </p:nvSpPr>
        <p:spPr>
          <a:xfrm>
            <a:off x="838200" y="1593273"/>
            <a:ext cx="10515600" cy="4474152"/>
          </a:xfrm>
        </p:spPr>
        <p:txBody>
          <a:bodyPr>
            <a:normAutofit/>
          </a:bodyPr>
          <a:lstStyle/>
          <a:p>
            <a:pPr fontAlgn="auto">
              <a:defRPr/>
            </a:pPr>
            <a:r>
              <a:rPr lang="en-US" b="1" dirty="0">
                <a:solidFill>
                  <a:srgbClr val="00375D"/>
                </a:solidFill>
              </a:rPr>
              <a:t>Revenue</a:t>
            </a:r>
            <a:r>
              <a:rPr lang="en-US" dirty="0"/>
              <a:t> is the amount earned for selling goods or services to customers.</a:t>
            </a:r>
          </a:p>
          <a:p>
            <a:pPr fontAlgn="auto">
              <a:defRPr/>
            </a:pPr>
            <a:endParaRPr lang="en-US" dirty="0"/>
          </a:p>
          <a:p>
            <a:pPr fontAlgn="auto">
              <a:defRPr/>
            </a:pPr>
            <a:r>
              <a:rPr lang="en-US" dirty="0"/>
              <a:t>The </a:t>
            </a:r>
            <a:r>
              <a:rPr lang="en-US" b="1" dirty="0">
                <a:solidFill>
                  <a:srgbClr val="00375D"/>
                </a:solidFill>
              </a:rPr>
              <a:t>revenue recognition principle </a:t>
            </a:r>
            <a:r>
              <a:rPr lang="en-US" dirty="0"/>
              <a:t>determines when revenue is recorded in the accounting records.</a:t>
            </a:r>
          </a:p>
          <a:p>
            <a:pPr lvl="1" fontAlgn="auto">
              <a:defRPr/>
            </a:pPr>
            <a:r>
              <a:rPr lang="en-US" dirty="0"/>
              <a:t>Normally, revenue is recorded when the services have been performed or goods are delivered to the customer.</a:t>
            </a:r>
          </a:p>
        </p:txBody>
      </p:sp>
    </p:spTree>
    <p:extLst>
      <p:ext uri="{BB962C8B-B14F-4D97-AF65-F5344CB8AC3E}">
        <p14:creationId xmlns:p14="http://schemas.microsoft.com/office/powerpoint/2010/main" val="3702127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8CB34-2A02-4D98-8759-898BA7B648EE}"/>
              </a:ext>
            </a:extLst>
          </p:cNvPr>
          <p:cNvSpPr>
            <a:spLocks noGrp="1"/>
          </p:cNvSpPr>
          <p:nvPr>
            <p:ph type="title"/>
          </p:nvPr>
        </p:nvSpPr>
        <p:spPr>
          <a:xfrm>
            <a:off x="838200" y="365125"/>
            <a:ext cx="10515600" cy="672105"/>
          </a:xfrm>
        </p:spPr>
        <p:txBody>
          <a:bodyPr/>
          <a:lstStyle/>
          <a:p>
            <a:r>
              <a:rPr lang="en-US" dirty="0"/>
              <a:t>Transaction d</a:t>
            </a:r>
            <a:br>
              <a:rPr lang="en-US" dirty="0"/>
            </a:br>
            <a:endParaRPr lang="en-US" sz="2400" dirty="0"/>
          </a:p>
        </p:txBody>
      </p:sp>
      <p:sp>
        <p:nvSpPr>
          <p:cNvPr id="3" name="Text Placeholder 2">
            <a:extLst>
              <a:ext uri="{FF2B5EF4-FFF2-40B4-BE49-F238E27FC236}">
                <a16:creationId xmlns:a16="http://schemas.microsoft.com/office/drawing/2014/main" id="{505D02D3-E31A-4A47-B7EE-1C56CE575865}"/>
              </a:ext>
            </a:extLst>
          </p:cNvPr>
          <p:cNvSpPr>
            <a:spLocks noGrp="1"/>
          </p:cNvSpPr>
          <p:nvPr>
            <p:ph sz="quarter" idx="16"/>
          </p:nvPr>
        </p:nvSpPr>
        <p:spPr>
          <a:xfrm>
            <a:off x="838201" y="1606550"/>
            <a:ext cx="10904620" cy="3416300"/>
          </a:xfrm>
        </p:spPr>
        <p:txBody>
          <a:bodyPr>
            <a:normAutofit/>
          </a:bodyPr>
          <a:lstStyle/>
          <a:p>
            <a:pPr marL="457200" indent="-457200">
              <a:spcBef>
                <a:spcPts val="600"/>
              </a:spcBef>
              <a:buFont typeface="Arial" panose="020B0604020202020204" pitchFamily="34" charset="0"/>
              <a:buChar char="•"/>
            </a:pPr>
            <a:r>
              <a:rPr lang="en-US" sz="4500" dirty="0"/>
              <a:t>Nov. 18, 20Y3: NetSolutions received cash of $7,500 for providing services to customers.</a:t>
            </a:r>
          </a:p>
        </p:txBody>
      </p:sp>
      <p:pic>
        <p:nvPicPr>
          <p:cNvPr id="9" name="Content Placeholder 8" descr="The effect of Transaction d during NetSolutions’ first month of operations is illustrated. First, the accounting equation is given: Assets = Liabilities + Stockholders’ Equity. On the second line, the accounting equation is expanded into accounts: Assets of Cash + Supplies + Land = Liabilities of Accounts Payable + Stockholders’ Equity of Common Stock + Fees Earned. On the third line, balances are noted for the following accounts: 5,000 for Cash; 1,350 for Supplies; 20,000 for Land; 1,350 for Accounts Payable; and 25,000 for Common Stock. On the fourth line, the effect of Transaction d on the accounting equation is shown in blue text: Cash is increased by 7,500; and Fees Earned is increased by 7,500. A single rule appears in each column. On the fifth line, the resulting balances are given: 12,500 for Cash; 1,350 for Supplies; 20,000 for Land; 1,350 for Accounts Payable; 25,000 for Common Stock; and 7,500 for Fees Earned. At the bottom, a bracket spans all asset items and shows their total of 33,850. A second bracket spans all liabilities and stockholders’ equity items and shows their total of 33,850. An equal sign is between the two totals showing that the accounting equation is in balance. ">
            <a:extLst>
              <a:ext uri="{FF2B5EF4-FFF2-40B4-BE49-F238E27FC236}">
                <a16:creationId xmlns:a16="http://schemas.microsoft.com/office/drawing/2014/main" id="{1A7BB60B-13F9-4AE2-86AD-961EA537AF99}"/>
              </a:ext>
            </a:extLst>
          </p:cNvPr>
          <p:cNvPicPr>
            <a:picLocks noGrp="1" noChangeAspect="1"/>
          </p:cNvPicPr>
          <p:nvPr>
            <p:ph sz="quarter" idx="17"/>
          </p:nvPr>
        </p:nvPicPr>
        <p:blipFill>
          <a:blip r:embed="rId2"/>
          <a:stretch>
            <a:fillRect/>
          </a:stretch>
        </p:blipFill>
        <p:spPr>
          <a:xfrm>
            <a:off x="2314400" y="3482077"/>
            <a:ext cx="7206939" cy="2110093"/>
          </a:xfrm>
          <a:prstGeom prst="rect">
            <a:avLst/>
          </a:prstGeom>
        </p:spPr>
      </p:pic>
    </p:spTree>
    <p:extLst>
      <p:ext uri="{BB962C8B-B14F-4D97-AF65-F5344CB8AC3E}">
        <p14:creationId xmlns:p14="http://schemas.microsoft.com/office/powerpoint/2010/main" val="2551219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42AF5-5AFD-4320-BFA2-3CBCF9727F4C}"/>
              </a:ext>
            </a:extLst>
          </p:cNvPr>
          <p:cNvSpPr>
            <a:spLocks noGrp="1"/>
          </p:cNvSpPr>
          <p:nvPr>
            <p:ph type="title"/>
          </p:nvPr>
        </p:nvSpPr>
        <p:spPr>
          <a:xfrm>
            <a:off x="838200" y="365125"/>
            <a:ext cx="10515600" cy="672105"/>
          </a:xfrm>
        </p:spPr>
        <p:txBody>
          <a:bodyPr/>
          <a:lstStyle/>
          <a:p>
            <a:r>
              <a:rPr lang="en-US" dirty="0"/>
              <a:t>Principles</a:t>
            </a:r>
            <a:endParaRPr lang="en-US" sz="2400" dirty="0"/>
          </a:p>
        </p:txBody>
      </p:sp>
      <p:sp>
        <p:nvSpPr>
          <p:cNvPr id="3" name="Text Placeholder 2">
            <a:extLst>
              <a:ext uri="{FF2B5EF4-FFF2-40B4-BE49-F238E27FC236}">
                <a16:creationId xmlns:a16="http://schemas.microsoft.com/office/drawing/2014/main" id="{1872691A-9AA9-48B4-BFB5-99BF07326EA5}"/>
              </a:ext>
            </a:extLst>
          </p:cNvPr>
          <p:cNvSpPr>
            <a:spLocks noGrp="1"/>
          </p:cNvSpPr>
          <p:nvPr>
            <p:ph sz="quarter" idx="10"/>
          </p:nvPr>
        </p:nvSpPr>
        <p:spPr>
          <a:xfrm>
            <a:off x="838200" y="1593273"/>
            <a:ext cx="10515600" cy="4474152"/>
          </a:xfrm>
        </p:spPr>
        <p:txBody>
          <a:bodyPr>
            <a:normAutofit/>
          </a:bodyPr>
          <a:lstStyle/>
          <a:p>
            <a:pPr fontAlgn="auto">
              <a:defRPr/>
            </a:pPr>
            <a:r>
              <a:rPr lang="en-US" b="1" dirty="0">
                <a:solidFill>
                  <a:srgbClr val="00375D"/>
                </a:solidFill>
              </a:rPr>
              <a:t>Expenses </a:t>
            </a:r>
            <a:r>
              <a:rPr lang="en-US" dirty="0"/>
              <a:t>are amounts used to generate revenue.</a:t>
            </a:r>
          </a:p>
          <a:p>
            <a:pPr fontAlgn="auto">
              <a:defRPr/>
            </a:pPr>
            <a:r>
              <a:rPr lang="en-US" dirty="0"/>
              <a:t>The </a:t>
            </a:r>
            <a:r>
              <a:rPr lang="en-US" b="1" dirty="0">
                <a:solidFill>
                  <a:srgbClr val="00375D"/>
                </a:solidFill>
              </a:rPr>
              <a:t>expense recognition principle</a:t>
            </a:r>
            <a:r>
              <a:rPr lang="en-US" dirty="0"/>
              <a:t>, sometimes called the </a:t>
            </a:r>
            <a:r>
              <a:rPr lang="en-US" i="1" dirty="0"/>
              <a:t>matching principle</a:t>
            </a:r>
            <a:r>
              <a:rPr lang="en-US" dirty="0"/>
              <a:t>, requires expenses to be recorded in the same period as the related revenue.</a:t>
            </a:r>
          </a:p>
          <a:p>
            <a:pPr lvl="1" fontAlgn="auto">
              <a:defRPr/>
            </a:pPr>
            <a:r>
              <a:rPr lang="en-US" dirty="0"/>
              <a:t>Doing so allows the reporting of a profit or loss for the period.</a:t>
            </a:r>
          </a:p>
        </p:txBody>
      </p:sp>
    </p:spTree>
    <p:extLst>
      <p:ext uri="{BB962C8B-B14F-4D97-AF65-F5344CB8AC3E}">
        <p14:creationId xmlns:p14="http://schemas.microsoft.com/office/powerpoint/2010/main" val="749028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42AF5-5AFD-4320-BFA2-3CBCF9727F4C}"/>
              </a:ext>
            </a:extLst>
          </p:cNvPr>
          <p:cNvSpPr>
            <a:spLocks noGrp="1"/>
          </p:cNvSpPr>
          <p:nvPr>
            <p:ph type="title"/>
          </p:nvPr>
        </p:nvSpPr>
        <p:spPr/>
        <p:txBody>
          <a:bodyPr/>
          <a:lstStyle/>
          <a:p>
            <a:r>
              <a:rPr lang="en-US" dirty="0"/>
              <a:t>Transaction e</a:t>
            </a:r>
            <a:br>
              <a:rPr lang="en-US" dirty="0"/>
            </a:br>
            <a:endParaRPr lang="en-US" sz="2400" dirty="0"/>
          </a:p>
        </p:txBody>
      </p:sp>
      <p:sp>
        <p:nvSpPr>
          <p:cNvPr id="3" name="Text Placeholder 2">
            <a:extLst>
              <a:ext uri="{FF2B5EF4-FFF2-40B4-BE49-F238E27FC236}">
                <a16:creationId xmlns:a16="http://schemas.microsoft.com/office/drawing/2014/main" id="{1872691A-9AA9-48B4-BFB5-99BF07326EA5}"/>
              </a:ext>
            </a:extLst>
          </p:cNvPr>
          <p:cNvSpPr>
            <a:spLocks noGrp="1"/>
          </p:cNvSpPr>
          <p:nvPr>
            <p:ph sz="quarter" idx="16"/>
          </p:nvPr>
        </p:nvSpPr>
        <p:spPr>
          <a:xfrm>
            <a:off x="838200" y="1607126"/>
            <a:ext cx="9600210" cy="2204853"/>
          </a:xfrm>
        </p:spPr>
        <p:txBody>
          <a:bodyPr>
            <a:noAutofit/>
          </a:bodyPr>
          <a:lstStyle/>
          <a:p>
            <a:pPr marL="457200" indent="-457200">
              <a:buFont typeface="Arial" panose="020B0604020202020204" pitchFamily="34" charset="0"/>
              <a:buChar char="•"/>
            </a:pPr>
            <a:r>
              <a:rPr lang="en-US" sz="4000" dirty="0"/>
              <a:t>Nov. 30, 20Y3: </a:t>
            </a:r>
            <a:r>
              <a:rPr lang="en-US" sz="4000" dirty="0" err="1"/>
              <a:t>NetSolutions</a:t>
            </a:r>
            <a:r>
              <a:rPr lang="en-US" sz="4000" dirty="0"/>
              <a:t> paid the following expenses during the month: wages, $2,125; rent, $800; utilities, $450; and miscellaneous, $275.</a:t>
            </a:r>
          </a:p>
          <a:p>
            <a:pPr marL="457200" indent="-457200">
              <a:buFont typeface="Arial" panose="020B0604020202020204" pitchFamily="34" charset="0"/>
              <a:buChar char="•"/>
            </a:pPr>
            <a:endParaRPr lang="en-US" sz="2400" dirty="0"/>
          </a:p>
        </p:txBody>
      </p:sp>
      <p:pic>
        <p:nvPicPr>
          <p:cNvPr id="8" name="Content Placeholder 7" descr="The effect of Transaction e during NetSolutions’ first month of operations is illustrated. First, the accounting equation is given: Assets = Liabilities + Stockholders’ Equity. On the second line, the accounting equation is expanded into accounts: assets of Cash + Supplies + Land = liabilities of Accounts Payable + stockholders’ equity of Common Stock + Fees Earned minus Wages Expense minus Rent Expense minus Utilities Expense minus Miscellaneous Expense. On the third line, balances are noted for the following accounts: 12,500 for Cash; 1,350 for Supplies; 20,000 for Land; 1,350 for Accounts Payable; 25,000 for Common Stock; and 7,500 for Fees Earned. On the fourth line, the effect of Transaction e is shown in blue text: Cash is decreased by 3,650; Wages Expense is decreased by 2,125; Rent Expense is decreased by 800; Utilities Expense is decreased by 450; and Miscellaneous Expense is decreased by 275. A single rule appears in each column. On the fifth line, the resulting balances are given: 8,850 for Cash; 1,350 for Supplies; 20,000 for Land; 1,350 for Accounts Payable; 25,000 for Common Stock; 7,500 for Fees Earned; negative 2,125 for Wages Expense; negative 800 for Rent Expense; negative 450 for Utilities Expense; and negative 275 for Miscellaneous Expense. At the bottom, a bracket spans all asset items and shows their total of 30,200. A second bracket spans all liabilities and stockholders’ equity items and shows their total of 30,200. An equal sign is between the two totals showing that the accounting equation is in balance.">
            <a:extLst>
              <a:ext uri="{FF2B5EF4-FFF2-40B4-BE49-F238E27FC236}">
                <a16:creationId xmlns:a16="http://schemas.microsoft.com/office/drawing/2014/main" id="{1F3F047A-5C0E-4D66-8E25-B62FC99730C5}"/>
              </a:ext>
            </a:extLst>
          </p:cNvPr>
          <p:cNvPicPr>
            <a:picLocks noGrp="1" noChangeAspect="1"/>
          </p:cNvPicPr>
          <p:nvPr>
            <p:ph sz="quarter" idx="17"/>
          </p:nvPr>
        </p:nvPicPr>
        <p:blipFill>
          <a:blip r:embed="rId3"/>
          <a:stretch>
            <a:fillRect/>
          </a:stretch>
        </p:blipFill>
        <p:spPr>
          <a:xfrm>
            <a:off x="1845145" y="4095311"/>
            <a:ext cx="8501709" cy="1855078"/>
          </a:xfrm>
          <a:prstGeom prst="rect">
            <a:avLst/>
          </a:prstGeom>
        </p:spPr>
      </p:pic>
    </p:spTree>
    <p:extLst>
      <p:ext uri="{BB962C8B-B14F-4D97-AF65-F5344CB8AC3E}">
        <p14:creationId xmlns:p14="http://schemas.microsoft.com/office/powerpoint/2010/main" val="2897129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FF519-A052-44D5-8331-8DFAB5249E0B}"/>
              </a:ext>
            </a:extLst>
          </p:cNvPr>
          <p:cNvSpPr>
            <a:spLocks noGrp="1"/>
          </p:cNvSpPr>
          <p:nvPr>
            <p:ph type="title"/>
          </p:nvPr>
        </p:nvSpPr>
        <p:spPr>
          <a:xfrm>
            <a:off x="838200" y="365125"/>
            <a:ext cx="10515600" cy="672105"/>
          </a:xfrm>
        </p:spPr>
        <p:txBody>
          <a:bodyPr/>
          <a:lstStyle/>
          <a:p>
            <a:r>
              <a:rPr lang="en-US" dirty="0"/>
              <a:t>Transaction f</a:t>
            </a:r>
          </a:p>
        </p:txBody>
      </p:sp>
      <p:pic>
        <p:nvPicPr>
          <p:cNvPr id="14" name="Content Placeholder 13" descr="The effect of Transaction f during NetSolutions’ first month of operations is illustrated. First, the accounting equation is given: Assets = Liabilities + Stockholders’ Equity. On the second line, the accounting equation is expanded into accounts: as-sets of Cash + Supplies + Land = liabilities of Accounts Payable + stockholders’ equity of Common Stock + Fees Earned minus Wages Expense minus Rent Expense minus Utilities Expense minus Miscellaneous Expense. On the third line, balances are noted for the following accounts: 8,850 for Cash; 1,350 for Supplies; 20,000 for Land; 1,350 for Accounts Payable; 25,000 for Common Stock; 7,500 for Fees Earned; minus 2,125 for Wages Expense; minus 800 for Rent Expense; minus 450 for Utilities Expense; and minus 275 for Miscellaneous Expense. On the fourth line, the effect of Transaction f is shown in blue text: Cash is decreased by 950; and Accounts Payable is decreased by 950. A single rule appears in each column. On the fifth line, the resulting balances are given: 7,900 for Cash; 1,350 for Supplies; 20,000 for Land; 400 for Accounts Payable; 25,000 for Common Stock; 7,500 for Fees Earned; minus 2,125 for Wages Expense; minus 800 for Rent Expense; minus 450 for Utilities Expense; and minus 275 for Miscellaneous Expense. At the bottom, a bracket spans all asset items and shows their total of 29,250. A second bracket spans all liabilities and stockholders’ equity items and shows their total of 29,250. An equal sign is between the two totals showing that the accounting equation is in balance.">
            <a:extLst>
              <a:ext uri="{FF2B5EF4-FFF2-40B4-BE49-F238E27FC236}">
                <a16:creationId xmlns:a16="http://schemas.microsoft.com/office/drawing/2014/main" id="{123CA68A-C616-4FCE-B622-F2D33EAC2F9F}"/>
              </a:ext>
            </a:extLst>
          </p:cNvPr>
          <p:cNvPicPr>
            <a:picLocks noGrp="1" noChangeAspect="1"/>
          </p:cNvPicPr>
          <p:nvPr>
            <p:ph sz="quarter" idx="21"/>
          </p:nvPr>
        </p:nvPicPr>
        <p:blipFill>
          <a:blip r:embed="rId2"/>
          <a:stretch>
            <a:fillRect/>
          </a:stretch>
        </p:blipFill>
        <p:spPr>
          <a:xfrm>
            <a:off x="1193073" y="2793795"/>
            <a:ext cx="9805853" cy="2099048"/>
          </a:xfrm>
        </p:spPr>
      </p:pic>
      <p:sp>
        <p:nvSpPr>
          <p:cNvPr id="3" name="Text Placeholder 2">
            <a:extLst>
              <a:ext uri="{FF2B5EF4-FFF2-40B4-BE49-F238E27FC236}">
                <a16:creationId xmlns:a16="http://schemas.microsoft.com/office/drawing/2014/main" id="{451E844E-A821-4D30-A130-AFB44176B08B}"/>
              </a:ext>
            </a:extLst>
          </p:cNvPr>
          <p:cNvSpPr>
            <a:spLocks noGrp="1"/>
          </p:cNvSpPr>
          <p:nvPr>
            <p:ph sz="quarter" idx="22"/>
          </p:nvPr>
        </p:nvSpPr>
        <p:spPr>
          <a:xfrm>
            <a:off x="736600" y="1237718"/>
            <a:ext cx="10718800" cy="1716498"/>
          </a:xfrm>
        </p:spPr>
        <p:txBody>
          <a:bodyPr>
            <a:noAutofit/>
          </a:bodyPr>
          <a:lstStyle/>
          <a:p>
            <a:pPr marL="342900" indent="-342900">
              <a:spcBef>
                <a:spcPts val="600"/>
              </a:spcBef>
              <a:buFont typeface="Arial" panose="020B0604020202020204" pitchFamily="34" charset="0"/>
              <a:buChar char="•"/>
            </a:pPr>
            <a:r>
              <a:rPr lang="en-US" sz="3600" dirty="0"/>
              <a:t>Nov. 30, 20Y3: NetSolutions paid creditors on account, $950.</a:t>
            </a:r>
          </a:p>
        </p:txBody>
      </p:sp>
    </p:spTree>
    <p:extLst>
      <p:ext uri="{BB962C8B-B14F-4D97-AF65-F5344CB8AC3E}">
        <p14:creationId xmlns:p14="http://schemas.microsoft.com/office/powerpoint/2010/main" val="3822844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C710C-45AA-4F3B-B805-99227554BA3D}"/>
              </a:ext>
            </a:extLst>
          </p:cNvPr>
          <p:cNvSpPr>
            <a:spLocks noGrp="1"/>
          </p:cNvSpPr>
          <p:nvPr>
            <p:ph type="title"/>
          </p:nvPr>
        </p:nvSpPr>
        <p:spPr/>
        <p:txBody>
          <a:bodyPr/>
          <a:lstStyle/>
          <a:p>
            <a:r>
              <a:rPr lang="en-US" dirty="0"/>
              <a:t>Transaction g</a:t>
            </a:r>
          </a:p>
        </p:txBody>
      </p:sp>
      <p:sp>
        <p:nvSpPr>
          <p:cNvPr id="4" name="Content Placeholder 3">
            <a:extLst>
              <a:ext uri="{FF2B5EF4-FFF2-40B4-BE49-F238E27FC236}">
                <a16:creationId xmlns:a16="http://schemas.microsoft.com/office/drawing/2014/main" id="{A51DF7E2-D202-4CD2-83B7-4A3C125D0BA8}"/>
              </a:ext>
            </a:extLst>
          </p:cNvPr>
          <p:cNvSpPr>
            <a:spLocks noGrp="1"/>
          </p:cNvSpPr>
          <p:nvPr>
            <p:ph sz="quarter" idx="17"/>
          </p:nvPr>
        </p:nvSpPr>
        <p:spPr>
          <a:xfrm>
            <a:off x="838200" y="1607126"/>
            <a:ext cx="10808368" cy="4023653"/>
          </a:xfrm>
        </p:spPr>
        <p:txBody>
          <a:bodyPr/>
          <a:lstStyle/>
          <a:p>
            <a:pPr marL="457200" indent="-457200">
              <a:buFont typeface="Arial" panose="020B0604020202020204" pitchFamily="34" charset="0"/>
              <a:buChar char="•"/>
            </a:pPr>
            <a:r>
              <a:rPr lang="en-US" sz="2400" dirty="0"/>
              <a:t>Nov. 30, 20Y3: Chris Clark determined that the cost of supplies on hand at the end of the month was $550.</a:t>
            </a:r>
          </a:p>
          <a:p>
            <a:pPr marL="457200" indent="-457200">
              <a:buFont typeface="Arial" panose="020B0604020202020204" pitchFamily="34" charset="0"/>
              <a:buChar char="•"/>
            </a:pPr>
            <a:r>
              <a:rPr lang="en-US" sz="2400" dirty="0"/>
              <a:t>The cost of the supplies on hand (not yet used) at the end of the month is $550. </a:t>
            </a:r>
          </a:p>
          <a:p>
            <a:pPr marL="457200" indent="-457200">
              <a:buFont typeface="Arial" panose="020B0604020202020204" pitchFamily="34" charset="0"/>
              <a:buChar char="•"/>
            </a:pPr>
            <a:r>
              <a:rPr lang="en-US" sz="2400" dirty="0"/>
              <a:t>Thus, $800 ($1,350 − $550) of supplies must have been used during the month. This decrease in supplies is recorded as an expense, as follows:</a:t>
            </a:r>
          </a:p>
          <a:p>
            <a:endParaRPr lang="en-US" sz="2400" dirty="0"/>
          </a:p>
        </p:txBody>
      </p:sp>
      <p:pic>
        <p:nvPicPr>
          <p:cNvPr id="6" name="Picture Placeholder 6" descr="The effect of Transaction g during NetSolutions’ first month of operations is illustrated. First, the accounting equation is given: Assets = Liabilities + Stockholders’ Equity. On the second line, the accounting equation is expanded into accounts: assets of Cash + Supplies + Land = liabilities of Accounts Payable + stockholders’ equity of Common Stock + Fees Earned minus Wages Expense minus Rent Expense minus Supplies Expense minus Utilities Expense minus Miscellaneous Expense. On the third line, balances are noted for the following accounts: 7,900 for Cash; 1,350 for Supplies; 20,000 for Land; 400 for Accounts Payable; 25,000 for Common Stock; 7,500 for Fees Earned; negative 2,125 for Wages Expense; negative 800 for Rent Expense; negative 450 for Utilities Expense; and negative 275 for Miscellaneous Expense. On the fourth line, the effect of Transaction g is shown in blue text: Supplies is decreased by 800; and Supplies Expense is decreased by 800. A single rule appears below each column. On the fifth line, the resulting balances are given: 7,900 for Cash; 550 for Supplies; 20,000 for Land; 400 for Accounts Payable; 25,000 for Common Stock; 7,500 for Fees Earned; negative 2,125 for Wages Expense; negative 800 for Rent Expense; negative 800 for Supplies Expense; negative 450 for Utilities Expense; and negative 275 for Miscellaneous Expense. At the bottom, a bracket spans all asset items and shows their total of 28,450. A second bracket spans all liabilities and stockholders’ equity items and shows their total of 28,450. An equal sign is between the two totals showing that the accounting equation is in balance.">
            <a:extLst>
              <a:ext uri="{FF2B5EF4-FFF2-40B4-BE49-F238E27FC236}">
                <a16:creationId xmlns:a16="http://schemas.microsoft.com/office/drawing/2014/main" id="{CAC5C2A7-6CD3-4C1E-81BC-5A1A4858B499}"/>
              </a:ext>
            </a:extLst>
          </p:cNvPr>
          <p:cNvPicPr>
            <a:picLocks noGrp="1" noChangeAspect="1"/>
          </p:cNvPicPr>
          <p:nvPr>
            <p:ph sz="quarter" idx="16"/>
          </p:nvPr>
        </p:nvPicPr>
        <p:blipFill>
          <a:blip r:embed="rId2"/>
          <a:stretch>
            <a:fillRect/>
          </a:stretch>
        </p:blipFill>
        <p:spPr>
          <a:xfrm>
            <a:off x="688898" y="3934560"/>
            <a:ext cx="11106972" cy="2335389"/>
          </a:xfrm>
          <a:prstGeom prst="rect">
            <a:avLst/>
          </a:prstGeom>
          <a:noFill/>
          <a:ln>
            <a:noFill/>
          </a:ln>
        </p:spPr>
      </p:pic>
    </p:spTree>
    <p:extLst>
      <p:ext uri="{BB962C8B-B14F-4D97-AF65-F5344CB8AC3E}">
        <p14:creationId xmlns:p14="http://schemas.microsoft.com/office/powerpoint/2010/main" val="491156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A70B-3B88-472C-B6F0-B4F70D779B55}"/>
              </a:ext>
            </a:extLst>
          </p:cNvPr>
          <p:cNvSpPr>
            <a:spLocks noGrp="1"/>
          </p:cNvSpPr>
          <p:nvPr>
            <p:ph type="title"/>
          </p:nvPr>
        </p:nvSpPr>
        <p:spPr>
          <a:xfrm>
            <a:off x="838200" y="365125"/>
            <a:ext cx="10515600" cy="672105"/>
          </a:xfrm>
        </p:spPr>
        <p:txBody>
          <a:bodyPr/>
          <a:lstStyle/>
          <a:p>
            <a:r>
              <a:rPr lang="en-US" dirty="0"/>
              <a:t>Transaction h</a:t>
            </a:r>
          </a:p>
        </p:txBody>
      </p:sp>
      <p:sp>
        <p:nvSpPr>
          <p:cNvPr id="8" name="Content Placeholder 7">
            <a:extLst>
              <a:ext uri="{FF2B5EF4-FFF2-40B4-BE49-F238E27FC236}">
                <a16:creationId xmlns:a16="http://schemas.microsoft.com/office/drawing/2014/main" id="{EEA197A0-461C-4206-B012-15933E2F4CA6}"/>
              </a:ext>
            </a:extLst>
          </p:cNvPr>
          <p:cNvSpPr>
            <a:spLocks noGrp="1"/>
          </p:cNvSpPr>
          <p:nvPr>
            <p:ph sz="quarter" idx="17"/>
          </p:nvPr>
        </p:nvSpPr>
        <p:spPr>
          <a:xfrm>
            <a:off x="838200" y="1607127"/>
            <a:ext cx="10760242" cy="3285716"/>
          </a:xfrm>
        </p:spPr>
        <p:txBody>
          <a:bodyPr/>
          <a:lstStyle/>
          <a:p>
            <a:pPr marL="342900" indent="-342900">
              <a:buFont typeface="Arial" panose="020B0604020202020204" pitchFamily="34" charset="0"/>
              <a:buChar char="•"/>
            </a:pPr>
            <a:r>
              <a:rPr lang="en-US" sz="4000" dirty="0"/>
              <a:t>Nov. 30, 20Y3: Paid dividends, $2,000.</a:t>
            </a:r>
          </a:p>
          <a:p>
            <a:pPr marL="342900" indent="-342900">
              <a:buFont typeface="Arial" panose="020B0604020202020204" pitchFamily="34" charset="0"/>
              <a:buChar char="•"/>
            </a:pPr>
            <a:r>
              <a:rPr lang="en-US" sz="4000" b="1" dirty="0">
                <a:solidFill>
                  <a:srgbClr val="004A78"/>
                </a:solidFill>
              </a:rPr>
              <a:t>Dividends</a:t>
            </a:r>
            <a:r>
              <a:rPr lang="en-US" sz="4000" dirty="0"/>
              <a:t> are distributions of earnings to stockholders.</a:t>
            </a:r>
          </a:p>
        </p:txBody>
      </p:sp>
      <p:pic>
        <p:nvPicPr>
          <p:cNvPr id="9" name="Picture Placeholder 5" descr="The effect of Transaction h during NetSolutions’ first month of operations is illustrated. First, the accounting equation is given: Assets = Liabilities + Stockholders’ Equity. On the second line, the accounting equation is expanded into accounts: assets of Cash + Supplies + Land = liabilities of Accounts Payable + stockholders’ equity of Common Stock minus Dividends + Fees Earned minus Wages Expense minus Rent Expense minus Supplies Expense minus Utilities Expense minus Miscellaneous Expense. On the third line, balances are noted for the following accounts: 7,900 for Cash; 550 for Supplies; 20,000 for Land; 400 for Accounts Payable; 25,000 for Common Stock; 7,500 for Fees Earned; negative 2,125 for Wages Expense; negative 800 for Rent Expense; negative 800 for Supplies Expense; negative 450 for Utilities Expense; and negative 275 for Miscellaneous Expense. On the fourth line, the effect of Transaction h is shown in blue text: Cash is decreased by 2,000; and Dividends is decreased by 2,000. A single rule appears below each column. On the fifth line, the resulting balances are given: 5,900 for Cash; 550 for Supplies; 20,000 for Land; 400 for Accounts Payable; 25,000 for Common Stock; negative 2,000 for Dividends; 7,500 for Fees Earned; negative 2,125 for Wages Expense; negative 800 for Rent Expense; negative 800 for Supplies Expense; negative 450 for Utilities Expense; and negative 275 for Miscellaneous Expense. At the bottom, a bracket spans all asset items and shows their total of 26,450. A second bracket spans all liabilities and stockholders’ equity items and shows their total of 26,450. An equal sign is between the two totals showing that the accounting equation is in balance.">
            <a:extLst>
              <a:ext uri="{FF2B5EF4-FFF2-40B4-BE49-F238E27FC236}">
                <a16:creationId xmlns:a16="http://schemas.microsoft.com/office/drawing/2014/main" id="{3BBB9A00-AB19-4603-8ACB-9CA3F750332B}"/>
              </a:ext>
            </a:extLst>
          </p:cNvPr>
          <p:cNvPicPr>
            <a:picLocks noGrp="1" noChangeAspect="1"/>
          </p:cNvPicPr>
          <p:nvPr>
            <p:ph sz="quarter" idx="16"/>
          </p:nvPr>
        </p:nvPicPr>
        <p:blipFill>
          <a:blip r:embed="rId2"/>
          <a:stretch>
            <a:fillRect/>
          </a:stretch>
        </p:blipFill>
        <p:spPr>
          <a:xfrm>
            <a:off x="972880" y="4114134"/>
            <a:ext cx="10773070" cy="1933739"/>
          </a:xfrm>
          <a:prstGeom prst="rect">
            <a:avLst/>
          </a:prstGeom>
          <a:noFill/>
          <a:ln>
            <a:noFill/>
          </a:ln>
        </p:spPr>
      </p:pic>
    </p:spTree>
    <p:extLst>
      <p:ext uri="{BB962C8B-B14F-4D97-AF65-F5344CB8AC3E}">
        <p14:creationId xmlns:p14="http://schemas.microsoft.com/office/powerpoint/2010/main" val="1542197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B7F9E-DB18-4446-8E97-FBD03A8994E5}"/>
              </a:ext>
            </a:extLst>
          </p:cNvPr>
          <p:cNvSpPr>
            <a:spLocks noGrp="1"/>
          </p:cNvSpPr>
          <p:nvPr>
            <p:ph type="title"/>
          </p:nvPr>
        </p:nvSpPr>
        <p:spPr/>
        <p:txBody>
          <a:bodyPr/>
          <a:lstStyle/>
          <a:p>
            <a:r>
              <a:rPr lang="en-US" sz="3200" dirty="0"/>
              <a:t>Exhibit 6 </a:t>
            </a:r>
            <a:r>
              <a:rPr lang="en-US" sz="3200" noProof="0" dirty="0"/>
              <a:t>–</a:t>
            </a:r>
            <a:r>
              <a:rPr lang="en-US" sz="3200" dirty="0"/>
              <a:t> Summary of Transactions for NetSolutions</a:t>
            </a:r>
          </a:p>
        </p:txBody>
      </p:sp>
      <p:pic>
        <p:nvPicPr>
          <p:cNvPr id="5" name="Content Placeholder 4" descr="A summary of the transactions of NetSolutions is shown. First, the accounting equation is given: Assets = Liabilities + Stockholders’ Equity. On the second line, the accounting equation is expanded into accounts: assets of Cash + Supplies + Land = liabilities of Accounts Payable + stockholders’ equity of Common Stock minus Dividends + Fees Earned minus Wages Expense minus Rent Expense minus Supplies Expense minus Utilities Expense minus Miscellaneous Expense. The third line shows the effect of Transaction a: Cash is increased by 25,000; and Common Stock is increased by 25,000. The fourth line shows the effect of Transaction b: Cash is decreased by 20,000; and Land is increased by 20,000. A single rule appears below each of these numbers and in the Common Stock column as well. The fifth line shows the resulting balances: 5,000 for Cash; 20,000 for Land; and 25,000 for Common Stock. The sixth line shows the effects of Transaction c: Supplies is increased by 1,350; and Accounts Payable is increased by 1,350. A single rule appears below each of these numbers and in the following columns: Cash; Land; and Common Stock. The seventh line shows the resulting balances: 5,000 for Cash; +1,350 for Supplies; 20,000 for Land; +1,350 for Accounts Payable; and 25,000 for Common Stock. The eighth line shows the effects of Transaction d: Cash is increased by 7,500; and Fees Earned is increased by 7,500. A single rule appears below each of these numbers and in the following columns: Supplies; Land; Accounts Payable; and Common Stock. The ninth line shows the resulting balances: 12,500 for Cash; 1,350 for Supplies; 20,000 for Land; 1,350 for Accounts Payable; 25,000 for Common Stock; and 7,500 for Fees Earned. The tenth line shows the effects of Transaction e: Cash is decreased by 3,650; Wages Expense is decreased by 2,125; Rent Expense is decreased by 800; Utilities Expense is decreased by 450; and Miscellaneous Expense is decreased by 275. A single rule appears below each of these numbers and in the following columns: Supplies; Land; Accounts Payable; Common Stock; and Fees Earned. The eleventh line shows the resulting balances: 8,850 for Cash; 1,350 for Supplies; 20,000 for Land; 1,350 for Accounts Payable; 25,000 for Common Stock; 7,500 for Fees Earned; negative 2,125 for Wages Expense; negative 800 for Rent Expense;  negative 450 for Utilities Expense; and  negative 275 for Miscellaneous Expense. The twelfth line shows the effects of Transaction f: Cash is decreased by 950; and Accounts Payable is decreased by 950. A single rule appears below each of these numbers and in the following columns: Supplies; Land; Common Stock; Fees Earned; Wages Expense; Rent Expense; Utilities Expense; and Miscellaneous Expense. The thirteenth line shows the resulting balances: 7,900 for Cash; 1,350 for Supplies; 20,000 for Land; 400 for Accounts Payable; 25,000 for Common Stock; 7,500 for Fees Earned; negative 2,125 for Wages Expense; negative 800 for Rent Expense; negative 450 for Utilities Expense; and negative 275 for Miscellaneous Expense. The fourteenth line shows the effects of Transaction g: Supplies is decreased by 800; and Supplies Expense is decreased by 800. A single rule appears below each of these numbers and in the following columns: Cash; Land; Accounts Payable; Common Stock; Fees Earned; Wages Expense; Rent Expense; Utilities Expense; and Miscellaneous Expense. The fifteenth line shows the resulting balances: 7,900 for Cash; 550 for Supplies; 20,000 for Land; 400 for Accounts Payable; 25,000 for Common Stock; 7,500 for Fees Earned; negative 2,125 for Wages Expense; negative 800 for Rent Expense; negative 800 for Supplies Expense; negative 450 for Utilities Expense; and  negative 275 for Miscellaneous Expense. The sixteenth line shows the effects of Transaction h: Cash is decreased by 2,000; and Dividends is decreased by 2,000. A single rule appears below each of these numbers and in the following columns: Supplies; Land; Accounts Payable; Common Stock; Fees Earned; Wages Expense; Rent Expense; Supplies Expense; Utilities Expense; and Miscellaneous Expense. The seventeenth and final line shows the resulting balances: 5,900 for Cash; 550 for Supplies; 20,000 for Land; 400 for Accounts Payable; 25,000 for Common Stock; negative 2,000 for Dividends; 7,500 for Fees Earned; negative 2,125 for Wages Expense; negative 800 for Rent Expense; negative 800 for Supplies Expense; negative 450 for Utilities Expense; and negative 275 for Miscellaneous Expense. A double rule appears below each of these figures. At the bottom, a bracket spans all asset items and shows their total of 26,450. A second bracket spans all liabilities and stockholders’ equity items and shows their total of 26,450. An equal sign is between the two totals showing that the accounting equation is in balance.">
            <a:extLst>
              <a:ext uri="{FF2B5EF4-FFF2-40B4-BE49-F238E27FC236}">
                <a16:creationId xmlns:a16="http://schemas.microsoft.com/office/drawing/2014/main" id="{BFA60E65-E070-4C9B-A778-0C9FAF0544EA}"/>
              </a:ext>
            </a:extLst>
          </p:cNvPr>
          <p:cNvPicPr>
            <a:picLocks noGrp="1" noChangeAspect="1"/>
          </p:cNvPicPr>
          <p:nvPr>
            <p:ph sz="quarter" idx="10"/>
          </p:nvPr>
        </p:nvPicPr>
        <p:blipFill>
          <a:blip r:embed="rId3"/>
          <a:stretch>
            <a:fillRect/>
          </a:stretch>
        </p:blipFill>
        <p:spPr>
          <a:xfrm>
            <a:off x="1026464" y="1037230"/>
            <a:ext cx="10139071" cy="4977363"/>
          </a:xfrm>
          <a:prstGeom prst="rect">
            <a:avLst/>
          </a:prstGeom>
        </p:spPr>
      </p:pic>
    </p:spTree>
    <p:extLst>
      <p:ext uri="{BB962C8B-B14F-4D97-AF65-F5344CB8AC3E}">
        <p14:creationId xmlns:p14="http://schemas.microsoft.com/office/powerpoint/2010/main" val="3079414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7B7E6-E1E6-4AC6-840D-9EBD83B90344}"/>
              </a:ext>
            </a:extLst>
          </p:cNvPr>
          <p:cNvSpPr>
            <a:spLocks noGrp="1"/>
          </p:cNvSpPr>
          <p:nvPr>
            <p:ph type="title"/>
          </p:nvPr>
        </p:nvSpPr>
        <p:spPr>
          <a:xfrm>
            <a:off x="838200" y="365125"/>
            <a:ext cx="10515600" cy="672105"/>
          </a:xfrm>
        </p:spPr>
        <p:txBody>
          <a:bodyPr/>
          <a:lstStyle/>
          <a:p>
            <a:r>
              <a:rPr lang="en-US" dirty="0"/>
              <a:t>Exhibit 7 </a:t>
            </a:r>
            <a:r>
              <a:rPr lang="en-US" sz="3600" noProof="0" dirty="0"/>
              <a:t>–</a:t>
            </a:r>
            <a:r>
              <a:rPr lang="en-US" dirty="0"/>
              <a:t> Effects of Transactions on Stockholders’ Equity</a:t>
            </a:r>
          </a:p>
        </p:txBody>
      </p:sp>
      <p:sp>
        <p:nvSpPr>
          <p:cNvPr id="4" name="Text Placeholder 3"/>
          <p:cNvSpPr>
            <a:spLocks noGrp="1"/>
          </p:cNvSpPr>
          <p:nvPr>
            <p:ph sz="quarter" idx="16"/>
          </p:nvPr>
        </p:nvSpPr>
        <p:spPr>
          <a:xfrm>
            <a:off x="838200" y="4795419"/>
            <a:ext cx="10515600" cy="912061"/>
          </a:xfrm>
        </p:spPr>
        <p:txBody>
          <a:bodyPr/>
          <a:lstStyle/>
          <a:p>
            <a:r>
              <a:rPr lang="en-US" sz="2600" b="1" dirty="0">
                <a:solidFill>
                  <a:srgbClr val="004A78"/>
                </a:solidFill>
              </a:rPr>
              <a:t>Retained earnings </a:t>
            </a:r>
            <a:r>
              <a:rPr lang="en-US" sz="2600" dirty="0"/>
              <a:t>is the stockholders’ equity created from business operations through revenue and expense transactions.</a:t>
            </a:r>
          </a:p>
        </p:txBody>
      </p:sp>
      <p:pic>
        <p:nvPicPr>
          <p:cNvPr id="6" name="Content Placeholder 5" descr="The four types of transactions affecting stockholders’ equity are shown. These are grouped un-der a heading titled “Stockholders’ Equity.” Stockholders’ Investments, or Common Stock, is the first type and is accompanied by a plus sign graphic. Distributions of Earnings to Stockholders, or Dividends, is the second type and is accompanied by a minus sign graphic. Revenues is the third type and is accompanied by a plus sign graphic. Expenses is the fourth type and is accompanied by a minus sign graphic. A bracket appears below both Revenues and Expenses as well as their accompanying graphics, grouping these terms together, and pointing to words that state “Net In-come (Net Loss).” Another larger bracket appears below Distributions of Earnings to Stockholders (Dividends), Revenues, and Expenses /Net Income (Net Loss) as well as their accompanying graphics, grouping these terms together, and pointing to words at the bottom of the exhibit that state “(Retained Earnings).” A small bracket appears below Common Stock that points to the words Common Stock.">
            <a:extLst>
              <a:ext uri="{FF2B5EF4-FFF2-40B4-BE49-F238E27FC236}">
                <a16:creationId xmlns:a16="http://schemas.microsoft.com/office/drawing/2014/main" id="{A8236D54-89FA-491D-ABCC-C0D8BAEB8CDA}"/>
              </a:ext>
            </a:extLst>
          </p:cNvPr>
          <p:cNvPicPr>
            <a:picLocks noGrp="1" noChangeAspect="1"/>
          </p:cNvPicPr>
          <p:nvPr>
            <p:ph sz="quarter" idx="17"/>
          </p:nvPr>
        </p:nvPicPr>
        <p:blipFill>
          <a:blip r:embed="rId3"/>
          <a:stretch>
            <a:fillRect/>
          </a:stretch>
        </p:blipFill>
        <p:spPr>
          <a:xfrm>
            <a:off x="1100904" y="1606550"/>
            <a:ext cx="9990192" cy="2783130"/>
          </a:xfrm>
        </p:spPr>
      </p:pic>
    </p:spTree>
    <p:extLst>
      <p:ext uri="{BB962C8B-B14F-4D97-AF65-F5344CB8AC3E}">
        <p14:creationId xmlns:p14="http://schemas.microsoft.com/office/powerpoint/2010/main" val="3567621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2105"/>
          </a:xfrm>
        </p:spPr>
        <p:txBody>
          <a:bodyPr/>
          <a:lstStyle/>
          <a:p>
            <a:r>
              <a:rPr lang="en-US" dirty="0"/>
              <a:t>Knowledge Check Activity 2</a:t>
            </a:r>
          </a:p>
        </p:txBody>
      </p:sp>
      <p:sp>
        <p:nvSpPr>
          <p:cNvPr id="3" name="Text Placeholder 2"/>
          <p:cNvSpPr>
            <a:spLocks noGrp="1"/>
          </p:cNvSpPr>
          <p:nvPr>
            <p:ph sz="quarter" idx="10"/>
          </p:nvPr>
        </p:nvSpPr>
        <p:spPr>
          <a:xfrm>
            <a:off x="838200" y="1593273"/>
            <a:ext cx="10515600" cy="4474152"/>
          </a:xfrm>
        </p:spPr>
        <p:txBody>
          <a:bodyPr/>
          <a:lstStyle/>
          <a:p>
            <a:r>
              <a:rPr lang="en-US" dirty="0"/>
              <a:t>Hampshire Havens buys an adjoining piece of land to expand their golf course. They pay $89,000 in cash to acquire this land. Based on the accounting equation, what would be the effect of this transaction?</a:t>
            </a:r>
          </a:p>
          <a:p>
            <a:pPr marL="514350" indent="-514350">
              <a:buFont typeface="+mj-lt"/>
              <a:buAutoNum type="alphaLcPeriod"/>
            </a:pPr>
            <a:r>
              <a:rPr lang="en-US" dirty="0"/>
              <a:t>Cash +89,000, Land +89,000</a:t>
            </a:r>
          </a:p>
          <a:p>
            <a:pPr marL="514350" indent="-514350">
              <a:buFont typeface="+mj-lt"/>
              <a:buAutoNum type="alphaLcPeriod"/>
            </a:pPr>
            <a:r>
              <a:rPr lang="en-US" dirty="0"/>
              <a:t>Cash -89,000, Land +89,000</a:t>
            </a:r>
          </a:p>
          <a:p>
            <a:pPr marL="514350" indent="-514350">
              <a:buFont typeface="+mj-lt"/>
              <a:buAutoNum type="alphaLcPeriod"/>
            </a:pPr>
            <a:r>
              <a:rPr lang="en-US" dirty="0"/>
              <a:t>Cash +89,000, Land -89,000</a:t>
            </a:r>
          </a:p>
          <a:p>
            <a:pPr marL="514350" indent="-514350">
              <a:buFont typeface="+mj-lt"/>
              <a:buAutoNum type="alphaLcPeriod"/>
            </a:pPr>
            <a:r>
              <a:rPr lang="en-US" dirty="0"/>
              <a:t>Cash -89,000, Land -89,000</a:t>
            </a:r>
          </a:p>
          <a:p>
            <a:endParaRPr lang="en-US" dirty="0"/>
          </a:p>
        </p:txBody>
      </p:sp>
    </p:spTree>
    <p:extLst>
      <p:ext uri="{BB962C8B-B14F-4D97-AF65-F5344CB8AC3E}">
        <p14:creationId xmlns:p14="http://schemas.microsoft.com/office/powerpoint/2010/main" val="606257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2105"/>
          </a:xfrm>
        </p:spPr>
        <p:txBody>
          <a:bodyPr/>
          <a:lstStyle/>
          <a:p>
            <a:r>
              <a:rPr lang="en-US" dirty="0"/>
              <a:t>Knowledge Check Activity 2: Answer</a:t>
            </a:r>
          </a:p>
        </p:txBody>
      </p:sp>
      <p:sp>
        <p:nvSpPr>
          <p:cNvPr id="3" name="Text Placeholder 2"/>
          <p:cNvSpPr>
            <a:spLocks noGrp="1"/>
          </p:cNvSpPr>
          <p:nvPr>
            <p:ph sz="quarter" idx="10"/>
          </p:nvPr>
        </p:nvSpPr>
        <p:spPr>
          <a:xfrm>
            <a:off x="838200" y="1593273"/>
            <a:ext cx="10515600" cy="4474152"/>
          </a:xfrm>
        </p:spPr>
        <p:txBody>
          <a:bodyPr/>
          <a:lstStyle/>
          <a:p>
            <a:r>
              <a:rPr lang="en-US" sz="2600" dirty="0"/>
              <a:t>Hampshire Havens buys an adjoining piece of land to expand their golf course. They pay $89,000 in cash to acquire this land. Based on the accounting equation, what would be the effect of this transaction?</a:t>
            </a:r>
          </a:p>
          <a:p>
            <a:endParaRPr lang="en-US" sz="2600" dirty="0"/>
          </a:p>
          <a:p>
            <a:pPr lvl="0"/>
            <a:r>
              <a:rPr lang="en-US" sz="2600" b="1" dirty="0"/>
              <a:t>Answer: </a:t>
            </a:r>
            <a:r>
              <a:rPr lang="en-US" sz="2600" dirty="0"/>
              <a:t>b. </a:t>
            </a:r>
            <a:r>
              <a:rPr lang="en-US" sz="2600" noProof="0" dirty="0"/>
              <a:t>Cash -89,000, Land +89,000</a:t>
            </a:r>
          </a:p>
          <a:p>
            <a:endParaRPr lang="en-US" sz="2600" dirty="0"/>
          </a:p>
          <a:p>
            <a:r>
              <a:rPr lang="en-US" sz="2600" dirty="0"/>
              <a:t>Cash would decrease by $89,000, and Land would increase by $89,000</a:t>
            </a:r>
          </a:p>
          <a:p>
            <a:endParaRPr lang="en-US" dirty="0"/>
          </a:p>
        </p:txBody>
      </p:sp>
    </p:spTree>
    <p:extLst>
      <p:ext uri="{BB962C8B-B14F-4D97-AF65-F5344CB8AC3E}">
        <p14:creationId xmlns:p14="http://schemas.microsoft.com/office/powerpoint/2010/main" val="1488495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76AE-FF52-4B40-AAD0-729B60B5212C}"/>
              </a:ext>
            </a:extLst>
          </p:cNvPr>
          <p:cNvSpPr>
            <a:spLocks noGrp="1"/>
          </p:cNvSpPr>
          <p:nvPr>
            <p:ph type="title"/>
          </p:nvPr>
        </p:nvSpPr>
        <p:spPr>
          <a:xfrm>
            <a:off x="838200" y="365125"/>
            <a:ext cx="10515600" cy="934286"/>
          </a:xfrm>
        </p:spPr>
        <p:txBody>
          <a:bodyPr/>
          <a:lstStyle/>
          <a:p>
            <a:r>
              <a:rPr lang="en-US" dirty="0"/>
              <a:t>Financial Statements</a:t>
            </a:r>
            <a:br>
              <a:rPr lang="en-US" dirty="0"/>
            </a:br>
            <a:r>
              <a:rPr lang="en-US" sz="2400" dirty="0"/>
              <a:t>(Learning Objective 5)</a:t>
            </a:r>
          </a:p>
        </p:txBody>
      </p:sp>
      <p:sp>
        <p:nvSpPr>
          <p:cNvPr id="3" name="Text Placeholder 2">
            <a:extLst>
              <a:ext uri="{FF2B5EF4-FFF2-40B4-BE49-F238E27FC236}">
                <a16:creationId xmlns:a16="http://schemas.microsoft.com/office/drawing/2014/main" id="{BECB072B-A74D-4D3C-8507-F59A784DA241}"/>
              </a:ext>
            </a:extLst>
          </p:cNvPr>
          <p:cNvSpPr>
            <a:spLocks noGrp="1"/>
          </p:cNvSpPr>
          <p:nvPr>
            <p:ph sz="quarter" idx="10"/>
          </p:nvPr>
        </p:nvSpPr>
        <p:spPr>
          <a:xfrm>
            <a:off x="838200" y="1593273"/>
            <a:ext cx="10515600" cy="4474152"/>
          </a:xfrm>
        </p:spPr>
        <p:txBody>
          <a:bodyPr/>
          <a:lstStyle/>
          <a:p>
            <a:pPr marL="457200" indent="-457200">
              <a:buFont typeface="Arial" panose="020B0604020202020204" pitchFamily="34" charset="0"/>
              <a:buChar char="•"/>
            </a:pPr>
            <a:r>
              <a:rPr lang="en-US" sz="2600" dirty="0"/>
              <a:t>After transactions have been recorded and summarized, reports are prepared for users. </a:t>
            </a:r>
          </a:p>
          <a:p>
            <a:pPr marL="457200" indent="-457200">
              <a:buFont typeface="Arial" panose="020B0604020202020204" pitchFamily="34" charset="0"/>
              <a:buChar char="•"/>
            </a:pPr>
            <a:r>
              <a:rPr lang="en-US" sz="2600" dirty="0"/>
              <a:t>The accounting reports providing this information are called </a:t>
            </a:r>
            <a:r>
              <a:rPr lang="en-US" sz="2600" b="1" dirty="0">
                <a:solidFill>
                  <a:srgbClr val="004A78"/>
                </a:solidFill>
              </a:rPr>
              <a:t>financial statements</a:t>
            </a:r>
            <a:r>
              <a:rPr lang="en-US" sz="2600" dirty="0"/>
              <a:t>. </a:t>
            </a:r>
          </a:p>
          <a:p>
            <a:pPr marL="457200" indent="-457200">
              <a:buFont typeface="Arial" panose="020B0604020202020204" pitchFamily="34" charset="0"/>
              <a:buChar char="•"/>
            </a:pPr>
            <a:r>
              <a:rPr lang="en-US" sz="2600" dirty="0"/>
              <a:t>The primary financial statements of a corporation are the income statement, statement of stockholders’ equity, balance sheet, and statement of cash flows.</a:t>
            </a:r>
          </a:p>
        </p:txBody>
      </p:sp>
    </p:spTree>
    <p:extLst>
      <p:ext uri="{BB962C8B-B14F-4D97-AF65-F5344CB8AC3E}">
        <p14:creationId xmlns:p14="http://schemas.microsoft.com/office/powerpoint/2010/main" val="25347290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73A50-1A45-46DA-934E-30CAECA662A4}"/>
              </a:ext>
            </a:extLst>
          </p:cNvPr>
          <p:cNvSpPr>
            <a:spLocks noGrp="1"/>
          </p:cNvSpPr>
          <p:nvPr>
            <p:ph type="title"/>
          </p:nvPr>
        </p:nvSpPr>
        <p:spPr>
          <a:xfrm>
            <a:off x="838200" y="365125"/>
            <a:ext cx="10515600" cy="672105"/>
          </a:xfrm>
        </p:spPr>
        <p:txBody>
          <a:bodyPr/>
          <a:lstStyle/>
          <a:p>
            <a:r>
              <a:rPr lang="en-US" noProof="0" dirty="0"/>
              <a:t>Exhibit 8 </a:t>
            </a:r>
            <a:r>
              <a:rPr lang="en-US" sz="3600" noProof="0" dirty="0"/>
              <a:t>–</a:t>
            </a:r>
            <a:r>
              <a:rPr lang="en-US" noProof="0" dirty="0"/>
              <a:t> Financial Statements</a:t>
            </a:r>
            <a:endParaRPr lang="en-US" dirty="0"/>
          </a:p>
        </p:txBody>
      </p:sp>
      <p:graphicFrame>
        <p:nvGraphicFramePr>
          <p:cNvPr id="4" name="Table 4">
            <a:extLst>
              <a:ext uri="{FF2B5EF4-FFF2-40B4-BE49-F238E27FC236}">
                <a16:creationId xmlns:a16="http://schemas.microsoft.com/office/drawing/2014/main" id="{C5DB45AF-0B2E-416F-9AB0-1EDF1A56E829}"/>
              </a:ext>
            </a:extLst>
          </p:cNvPr>
          <p:cNvGraphicFramePr>
            <a:graphicFrameLocks noGrp="1"/>
          </p:cNvGraphicFramePr>
          <p:nvPr>
            <p:ph sz="quarter" idx="10"/>
            <p:extLst>
              <p:ext uri="{D42A27DB-BD31-4B8C-83A1-F6EECF244321}">
                <p14:modId xmlns:p14="http://schemas.microsoft.com/office/powerpoint/2010/main" val="2041376537"/>
              </p:ext>
            </p:extLst>
          </p:nvPr>
        </p:nvGraphicFramePr>
        <p:xfrm>
          <a:off x="838200" y="1593850"/>
          <a:ext cx="10515599" cy="3810000"/>
        </p:xfrm>
        <a:graphic>
          <a:graphicData uri="http://schemas.openxmlformats.org/drawingml/2006/table">
            <a:tbl>
              <a:tblPr firstRow="1" bandRow="1">
                <a:tableStyleId>{5C22544A-7EE6-4342-B048-85BDC9FD1C3A}</a:tableStyleId>
              </a:tblPr>
              <a:tblGrid>
                <a:gridCol w="1716390">
                  <a:extLst>
                    <a:ext uri="{9D8B030D-6E8A-4147-A177-3AD203B41FA5}">
                      <a16:colId xmlns:a16="http://schemas.microsoft.com/office/drawing/2014/main" val="2647671570"/>
                    </a:ext>
                  </a:extLst>
                </a:gridCol>
                <a:gridCol w="2743141">
                  <a:extLst>
                    <a:ext uri="{9D8B030D-6E8A-4147-A177-3AD203B41FA5}">
                      <a16:colId xmlns:a16="http://schemas.microsoft.com/office/drawing/2014/main" val="4249919522"/>
                    </a:ext>
                  </a:extLst>
                </a:gridCol>
                <a:gridCol w="6056068">
                  <a:extLst>
                    <a:ext uri="{9D8B030D-6E8A-4147-A177-3AD203B41FA5}">
                      <a16:colId xmlns:a16="http://schemas.microsoft.com/office/drawing/2014/main" val="3409454575"/>
                    </a:ext>
                  </a:extLst>
                </a:gridCol>
              </a:tblGrid>
              <a:tr h="370840">
                <a:tc>
                  <a:txBody>
                    <a:bodyPr/>
                    <a:lstStyle/>
                    <a:p>
                      <a:pPr algn="ctr"/>
                      <a:r>
                        <a:rPr lang="en-US" sz="2000" b="1" dirty="0">
                          <a:solidFill>
                            <a:srgbClr val="000000"/>
                          </a:solidFill>
                          <a:latin typeface="Arial" panose="020B0604020202020204" pitchFamily="34" charset="0"/>
                          <a:cs typeface="Arial" panose="020B0604020202020204" pitchFamily="34" charset="0"/>
                        </a:rPr>
                        <a:t>Order</a:t>
                      </a:r>
                      <a:br>
                        <a:rPr lang="en-US" sz="2000" b="1" dirty="0">
                          <a:solidFill>
                            <a:srgbClr val="000000"/>
                          </a:solidFill>
                          <a:latin typeface="Arial" panose="020B0604020202020204" pitchFamily="34" charset="0"/>
                          <a:cs typeface="Arial" panose="020B0604020202020204" pitchFamily="34" charset="0"/>
                        </a:rPr>
                      </a:br>
                      <a:r>
                        <a:rPr lang="en-US" sz="2000" b="1" dirty="0">
                          <a:solidFill>
                            <a:srgbClr val="000000"/>
                          </a:solidFill>
                          <a:latin typeface="Arial" panose="020B0604020202020204" pitchFamily="34" charset="0"/>
                          <a:cs typeface="Arial" panose="020B0604020202020204" pitchFamily="34" charset="0"/>
                        </a:rPr>
                        <a:t>Prepared</a:t>
                      </a:r>
                    </a:p>
                  </a:txBody>
                  <a:tcPr anchor="b">
                    <a:lnR w="12700" cap="flat" cmpd="sng" algn="ctr">
                      <a:solidFill>
                        <a:srgbClr val="FBFCC8"/>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rgbClr val="FBFCC8"/>
                    </a:solidFill>
                  </a:tcPr>
                </a:tc>
                <a:tc>
                  <a:txBody>
                    <a:bodyPr/>
                    <a:lstStyle/>
                    <a:p>
                      <a:pPr algn="l"/>
                      <a:r>
                        <a:rPr lang="en-US" sz="2000" b="1" dirty="0">
                          <a:solidFill>
                            <a:srgbClr val="000000"/>
                          </a:solidFill>
                          <a:latin typeface="Arial" panose="020B0604020202020204" pitchFamily="34" charset="0"/>
                          <a:cs typeface="Arial" panose="020B0604020202020204" pitchFamily="34" charset="0"/>
                        </a:rPr>
                        <a:t>Financial Statement</a:t>
                      </a:r>
                    </a:p>
                  </a:txBody>
                  <a:tcPr anchor="b">
                    <a:lnL w="12700" cap="flat" cmpd="sng" algn="ctr">
                      <a:solidFill>
                        <a:srgbClr val="FBFCC8"/>
                      </a:solidFill>
                      <a:prstDash val="solid"/>
                      <a:round/>
                      <a:headEnd type="none" w="med" len="med"/>
                      <a:tailEnd type="none" w="med" len="med"/>
                    </a:lnL>
                    <a:lnR w="12700" cap="flat" cmpd="sng" algn="ctr">
                      <a:solidFill>
                        <a:srgbClr val="FBFCC8"/>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rgbClr val="FBFCC8"/>
                    </a:solidFill>
                  </a:tcPr>
                </a:tc>
                <a:tc>
                  <a:txBody>
                    <a:bodyPr/>
                    <a:lstStyle/>
                    <a:p>
                      <a:pPr algn="l"/>
                      <a:r>
                        <a:rPr lang="en-US" sz="2000" b="1" dirty="0">
                          <a:solidFill>
                            <a:srgbClr val="000000"/>
                          </a:solidFill>
                          <a:latin typeface="Arial" panose="020B0604020202020204" pitchFamily="34" charset="0"/>
                          <a:cs typeface="Arial" panose="020B0604020202020204" pitchFamily="34" charset="0"/>
                        </a:rPr>
                        <a:t>              Description of Statement</a:t>
                      </a:r>
                    </a:p>
                  </a:txBody>
                  <a:tcPr anchor="b">
                    <a:lnL w="12700" cap="flat" cmpd="sng" algn="ctr">
                      <a:solidFill>
                        <a:srgbClr val="FBFCC8"/>
                      </a:solidFill>
                      <a:prstDash val="solid"/>
                      <a:round/>
                      <a:headEnd type="none" w="med" len="med"/>
                      <a:tailEnd type="none" w="med" len="med"/>
                    </a:lnL>
                    <a:lnB w="12700" cap="flat" cmpd="sng" algn="ctr">
                      <a:solidFill>
                        <a:srgbClr val="000000"/>
                      </a:solidFill>
                      <a:prstDash val="solid"/>
                      <a:round/>
                      <a:headEnd type="none" w="med" len="med"/>
                      <a:tailEnd type="none" w="med" len="med"/>
                    </a:lnB>
                    <a:solidFill>
                      <a:srgbClr val="FBFCC8"/>
                    </a:solidFill>
                  </a:tcPr>
                </a:tc>
                <a:extLst>
                  <a:ext uri="{0D108BD9-81ED-4DB2-BD59-A6C34878D82A}">
                    <a16:rowId xmlns:a16="http://schemas.microsoft.com/office/drawing/2014/main" val="3718208045"/>
                  </a:ext>
                </a:extLst>
              </a:tr>
              <a:tr h="370840">
                <a:tc>
                  <a:txBody>
                    <a:bodyPr/>
                    <a:lstStyle/>
                    <a:p>
                      <a:pPr algn="ctr"/>
                      <a:r>
                        <a:rPr lang="en-US" sz="1800" dirty="0">
                          <a:solidFill>
                            <a:srgbClr val="000000"/>
                          </a:solidFill>
                          <a:latin typeface="Arial" panose="020B0604020202020204" pitchFamily="34" charset="0"/>
                          <a:cs typeface="Arial" panose="020B0604020202020204" pitchFamily="34" charset="0"/>
                        </a:rPr>
                        <a:t>1.</a:t>
                      </a:r>
                    </a:p>
                  </a:txBody>
                  <a:tcPr>
                    <a:lnR w="12700" cap="flat" cmpd="sng" algn="ctr">
                      <a:solidFill>
                        <a:srgbClr val="FBFCC8"/>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6DD"/>
                      </a:solidFill>
                      <a:prstDash val="solid"/>
                      <a:round/>
                      <a:headEnd type="none" w="med" len="med"/>
                      <a:tailEnd type="none" w="med" len="med"/>
                    </a:lnB>
                    <a:solidFill>
                      <a:srgbClr val="FBFCC8"/>
                    </a:solidFill>
                  </a:tcPr>
                </a:tc>
                <a:tc>
                  <a:txBody>
                    <a:bodyPr/>
                    <a:lstStyle/>
                    <a:p>
                      <a:r>
                        <a:rPr lang="en-US" sz="1800" b="1" dirty="0">
                          <a:solidFill>
                            <a:srgbClr val="000000"/>
                          </a:solidFill>
                          <a:latin typeface="Arial" panose="020B0604020202020204" pitchFamily="34" charset="0"/>
                          <a:cs typeface="Arial" panose="020B0604020202020204" pitchFamily="34" charset="0"/>
                        </a:rPr>
                        <a:t>Income statement</a:t>
                      </a:r>
                    </a:p>
                  </a:txBody>
                  <a:tcPr>
                    <a:lnL w="12700" cap="flat" cmpd="sng" algn="ctr">
                      <a:solidFill>
                        <a:srgbClr val="FBFCC8"/>
                      </a:solidFill>
                      <a:prstDash val="solid"/>
                      <a:round/>
                      <a:headEnd type="none" w="med" len="med"/>
                      <a:tailEnd type="none" w="med" len="med"/>
                    </a:lnL>
                    <a:lnR w="12700" cap="flat" cmpd="sng" algn="ctr">
                      <a:solidFill>
                        <a:srgbClr val="FBFCC8"/>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FFF6DD"/>
                      </a:solidFill>
                      <a:prstDash val="solid"/>
                      <a:round/>
                      <a:headEnd type="none" w="med" len="med"/>
                      <a:tailEnd type="none" w="med" len="med"/>
                    </a:lnB>
                    <a:solidFill>
                      <a:srgbClr val="FBFCC8"/>
                    </a:solidFill>
                  </a:tcPr>
                </a:tc>
                <a:tc>
                  <a:txBody>
                    <a:bodyPr/>
                    <a:lstStyle/>
                    <a:p>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A summary of the revenue and expenses </a:t>
                      </a:r>
                      <a:r>
                        <a:rPr lang="en-US" sz="1800" b="0" i="1" u="none" strike="noStrike" kern="1200" baseline="0" dirty="0">
                          <a:solidFill>
                            <a:srgbClr val="000000"/>
                          </a:solidFill>
                          <a:latin typeface="Arial" panose="020B0604020202020204" pitchFamily="34" charset="0"/>
                          <a:ea typeface="+mn-ea"/>
                          <a:cs typeface="Arial" panose="020B0604020202020204" pitchFamily="34" charset="0"/>
                        </a:rPr>
                        <a:t>for a specific</a:t>
                      </a:r>
                    </a:p>
                    <a:p>
                      <a:r>
                        <a:rPr lang="en-US" sz="1800" b="0" i="1" u="none" strike="noStrike" kern="1200" baseline="0" dirty="0">
                          <a:solidFill>
                            <a:srgbClr val="000000"/>
                          </a:solidFill>
                          <a:latin typeface="Arial" panose="020B0604020202020204" pitchFamily="34" charset="0"/>
                          <a:ea typeface="+mn-ea"/>
                          <a:cs typeface="Arial" panose="020B0604020202020204" pitchFamily="34" charset="0"/>
                        </a:rPr>
                        <a:t>period of time</a:t>
                      </a:r>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 such as a month or a year.</a:t>
                      </a:r>
                      <a:endParaRPr lang="en-US" sz="1800" dirty="0">
                        <a:solidFill>
                          <a:srgbClr val="000000"/>
                        </a:solidFill>
                        <a:latin typeface="Arial" panose="020B0604020202020204" pitchFamily="34" charset="0"/>
                        <a:cs typeface="Arial" panose="020B0604020202020204" pitchFamily="34" charset="0"/>
                      </a:endParaRPr>
                    </a:p>
                  </a:txBody>
                  <a:tcPr>
                    <a:lnL w="12700" cap="flat" cmpd="sng" algn="ctr">
                      <a:solidFill>
                        <a:srgbClr val="FBFCC8"/>
                      </a:solidFill>
                      <a:prstDash val="solid"/>
                      <a:round/>
                      <a:headEnd type="none" w="med" len="med"/>
                      <a:tailEnd type="none" w="med" len="med"/>
                    </a:lnL>
                    <a:lnT w="12700" cap="flat" cmpd="sng" algn="ctr">
                      <a:solidFill>
                        <a:srgbClr val="000000"/>
                      </a:solidFill>
                      <a:prstDash val="solid"/>
                      <a:round/>
                      <a:headEnd type="none" w="med" len="med"/>
                      <a:tailEnd type="none" w="med" len="med"/>
                    </a:lnT>
                    <a:lnB w="12700" cap="flat" cmpd="sng" algn="ctr">
                      <a:solidFill>
                        <a:srgbClr val="FFF6DD"/>
                      </a:solidFill>
                      <a:prstDash val="solid"/>
                      <a:round/>
                      <a:headEnd type="none" w="med" len="med"/>
                      <a:tailEnd type="none" w="med" len="med"/>
                    </a:lnB>
                    <a:solidFill>
                      <a:srgbClr val="FBFCC8"/>
                    </a:solidFill>
                  </a:tcPr>
                </a:tc>
                <a:extLst>
                  <a:ext uri="{0D108BD9-81ED-4DB2-BD59-A6C34878D82A}">
                    <a16:rowId xmlns:a16="http://schemas.microsoft.com/office/drawing/2014/main" val="3650328086"/>
                  </a:ext>
                </a:extLst>
              </a:tr>
              <a:tr h="370840">
                <a:tc>
                  <a:txBody>
                    <a:bodyPr/>
                    <a:lstStyle/>
                    <a:p>
                      <a:pPr algn="ctr"/>
                      <a:r>
                        <a:rPr lang="en-US" sz="1800" dirty="0">
                          <a:solidFill>
                            <a:srgbClr val="000000"/>
                          </a:solidFill>
                          <a:latin typeface="Arial" panose="020B0604020202020204" pitchFamily="34" charset="0"/>
                          <a:cs typeface="Arial" panose="020B0604020202020204" pitchFamily="34" charset="0"/>
                        </a:rPr>
                        <a:t>2.</a:t>
                      </a:r>
                    </a:p>
                  </a:txBody>
                  <a:tcPr>
                    <a:lnR w="12700" cap="flat" cmpd="sng" algn="ctr">
                      <a:solidFill>
                        <a:srgbClr val="FBFCC8"/>
                      </a:solidFill>
                      <a:prstDash val="solid"/>
                      <a:round/>
                      <a:headEnd type="none" w="med" len="med"/>
                      <a:tailEnd type="none" w="med" len="med"/>
                    </a:lnR>
                    <a:lnT w="12700" cap="flat" cmpd="sng" algn="ctr">
                      <a:solidFill>
                        <a:srgbClr val="FFF6DD"/>
                      </a:solidFill>
                      <a:prstDash val="solid"/>
                      <a:round/>
                      <a:headEnd type="none" w="med" len="med"/>
                      <a:tailEnd type="none" w="med" len="med"/>
                    </a:lnT>
                    <a:lnB w="12700" cap="flat" cmpd="sng" algn="ctr">
                      <a:solidFill>
                        <a:srgbClr val="FFF6DD"/>
                      </a:solidFill>
                      <a:prstDash val="solid"/>
                      <a:round/>
                      <a:headEnd type="none" w="med" len="med"/>
                      <a:tailEnd type="none" w="med" len="med"/>
                    </a:lnB>
                    <a:solidFill>
                      <a:srgbClr val="FBFCC8"/>
                    </a:solidFill>
                  </a:tcPr>
                </a:tc>
                <a:tc>
                  <a:txBody>
                    <a:bodyPr/>
                    <a:lstStyle/>
                    <a:p>
                      <a:r>
                        <a:rPr lang="en-US" sz="1800" b="1" dirty="0">
                          <a:solidFill>
                            <a:srgbClr val="000000"/>
                          </a:solidFill>
                          <a:latin typeface="Arial" panose="020B0604020202020204" pitchFamily="34" charset="0"/>
                          <a:cs typeface="Arial" panose="020B0604020202020204" pitchFamily="34" charset="0"/>
                        </a:rPr>
                        <a:t>Statement of stockholders’</a:t>
                      </a:r>
                    </a:p>
                    <a:p>
                      <a:r>
                        <a:rPr lang="en-US" sz="1800" b="1" dirty="0">
                          <a:solidFill>
                            <a:srgbClr val="000000"/>
                          </a:solidFill>
                          <a:latin typeface="Arial" panose="020B0604020202020204" pitchFamily="34" charset="0"/>
                          <a:cs typeface="Arial" panose="020B0604020202020204" pitchFamily="34" charset="0"/>
                        </a:rPr>
                        <a:t>equity</a:t>
                      </a:r>
                    </a:p>
                  </a:txBody>
                  <a:tcPr>
                    <a:lnL w="12700" cap="flat" cmpd="sng" algn="ctr">
                      <a:solidFill>
                        <a:srgbClr val="FBFCC8"/>
                      </a:solidFill>
                      <a:prstDash val="solid"/>
                      <a:round/>
                      <a:headEnd type="none" w="med" len="med"/>
                      <a:tailEnd type="none" w="med" len="med"/>
                    </a:lnL>
                    <a:lnR w="12700" cap="flat" cmpd="sng" algn="ctr">
                      <a:solidFill>
                        <a:srgbClr val="FBFCC8"/>
                      </a:solidFill>
                      <a:prstDash val="solid"/>
                      <a:round/>
                      <a:headEnd type="none" w="med" len="med"/>
                      <a:tailEnd type="none" w="med" len="med"/>
                    </a:lnR>
                    <a:lnT w="12700" cap="flat" cmpd="sng" algn="ctr">
                      <a:solidFill>
                        <a:srgbClr val="FFF6DD"/>
                      </a:solidFill>
                      <a:prstDash val="solid"/>
                      <a:round/>
                      <a:headEnd type="none" w="med" len="med"/>
                      <a:tailEnd type="none" w="med" len="med"/>
                    </a:lnT>
                    <a:lnB w="12700" cap="flat" cmpd="sng" algn="ctr">
                      <a:solidFill>
                        <a:srgbClr val="FFF6DD"/>
                      </a:solidFill>
                      <a:prstDash val="solid"/>
                      <a:round/>
                      <a:headEnd type="none" w="med" len="med"/>
                      <a:tailEnd type="none" w="med" len="med"/>
                    </a:lnB>
                    <a:solidFill>
                      <a:srgbClr val="FBFCC8"/>
                    </a:solidFill>
                  </a:tcPr>
                </a:tc>
                <a:tc>
                  <a:txBody>
                    <a:bodyPr/>
                    <a:lstStyle/>
                    <a:p>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A summary of the changes in stockholders’ equity</a:t>
                      </a:r>
                    </a:p>
                    <a:p>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that have occurred </a:t>
                      </a:r>
                      <a:r>
                        <a:rPr lang="en-US" sz="1800" b="0" i="1" u="none" strike="noStrike" kern="1200" baseline="0" dirty="0">
                          <a:solidFill>
                            <a:srgbClr val="000000"/>
                          </a:solidFill>
                          <a:latin typeface="Arial" panose="020B0604020202020204" pitchFamily="34" charset="0"/>
                          <a:ea typeface="+mn-ea"/>
                          <a:cs typeface="Arial" panose="020B0604020202020204" pitchFamily="34" charset="0"/>
                        </a:rPr>
                        <a:t>during a specific period of time,</a:t>
                      </a:r>
                    </a:p>
                    <a:p>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such as a month or a year.</a:t>
                      </a:r>
                      <a:endParaRPr lang="en-US" sz="1800" dirty="0">
                        <a:solidFill>
                          <a:srgbClr val="000000"/>
                        </a:solidFill>
                        <a:latin typeface="Arial" panose="020B0604020202020204" pitchFamily="34" charset="0"/>
                        <a:cs typeface="Arial" panose="020B0604020202020204" pitchFamily="34" charset="0"/>
                      </a:endParaRPr>
                    </a:p>
                  </a:txBody>
                  <a:tcPr>
                    <a:lnL w="12700" cap="flat" cmpd="sng" algn="ctr">
                      <a:solidFill>
                        <a:srgbClr val="FBFCC8"/>
                      </a:solidFill>
                      <a:prstDash val="solid"/>
                      <a:round/>
                      <a:headEnd type="none" w="med" len="med"/>
                      <a:tailEnd type="none" w="med" len="med"/>
                    </a:lnL>
                    <a:lnT w="12700" cap="flat" cmpd="sng" algn="ctr">
                      <a:solidFill>
                        <a:srgbClr val="FFF6DD"/>
                      </a:solidFill>
                      <a:prstDash val="solid"/>
                      <a:round/>
                      <a:headEnd type="none" w="med" len="med"/>
                      <a:tailEnd type="none" w="med" len="med"/>
                    </a:lnT>
                    <a:lnB w="12700" cap="flat" cmpd="sng" algn="ctr">
                      <a:solidFill>
                        <a:srgbClr val="FFF6DD"/>
                      </a:solidFill>
                      <a:prstDash val="solid"/>
                      <a:round/>
                      <a:headEnd type="none" w="med" len="med"/>
                      <a:tailEnd type="none" w="med" len="med"/>
                    </a:lnB>
                    <a:solidFill>
                      <a:srgbClr val="FBFCC8"/>
                    </a:solidFill>
                  </a:tcPr>
                </a:tc>
                <a:extLst>
                  <a:ext uri="{0D108BD9-81ED-4DB2-BD59-A6C34878D82A}">
                    <a16:rowId xmlns:a16="http://schemas.microsoft.com/office/drawing/2014/main" val="416170405"/>
                  </a:ext>
                </a:extLst>
              </a:tr>
              <a:tr h="294178">
                <a:tc>
                  <a:txBody>
                    <a:bodyPr/>
                    <a:lstStyle/>
                    <a:p>
                      <a:pPr algn="ctr"/>
                      <a:r>
                        <a:rPr lang="en-US" sz="1800" dirty="0">
                          <a:solidFill>
                            <a:srgbClr val="000000"/>
                          </a:solidFill>
                          <a:latin typeface="Arial" panose="020B0604020202020204" pitchFamily="34" charset="0"/>
                          <a:cs typeface="Arial" panose="020B0604020202020204" pitchFamily="34" charset="0"/>
                        </a:rPr>
                        <a:t>3.</a:t>
                      </a:r>
                    </a:p>
                  </a:txBody>
                  <a:tcPr>
                    <a:lnR w="12700" cap="flat" cmpd="sng" algn="ctr">
                      <a:solidFill>
                        <a:srgbClr val="FBFCC8"/>
                      </a:solidFill>
                      <a:prstDash val="solid"/>
                      <a:round/>
                      <a:headEnd type="none" w="med" len="med"/>
                      <a:tailEnd type="none" w="med" len="med"/>
                    </a:lnR>
                    <a:lnT w="12700" cap="flat" cmpd="sng" algn="ctr">
                      <a:solidFill>
                        <a:srgbClr val="FFF6DD"/>
                      </a:solidFill>
                      <a:prstDash val="solid"/>
                      <a:round/>
                      <a:headEnd type="none" w="med" len="med"/>
                      <a:tailEnd type="none" w="med" len="med"/>
                    </a:lnT>
                    <a:lnB w="12700" cap="flat" cmpd="sng" algn="ctr">
                      <a:solidFill>
                        <a:srgbClr val="FFF6DD"/>
                      </a:solidFill>
                      <a:prstDash val="solid"/>
                      <a:round/>
                      <a:headEnd type="none" w="med" len="med"/>
                      <a:tailEnd type="none" w="med" len="med"/>
                    </a:lnB>
                    <a:solidFill>
                      <a:srgbClr val="FBFCC8"/>
                    </a:solidFill>
                  </a:tcPr>
                </a:tc>
                <a:tc>
                  <a:txBody>
                    <a:bodyPr/>
                    <a:lstStyle/>
                    <a:p>
                      <a:r>
                        <a:rPr lang="en-US" sz="1800" b="1" dirty="0">
                          <a:solidFill>
                            <a:srgbClr val="000000"/>
                          </a:solidFill>
                          <a:latin typeface="Arial" panose="020B0604020202020204" pitchFamily="34" charset="0"/>
                          <a:cs typeface="Arial" panose="020B0604020202020204" pitchFamily="34" charset="0"/>
                        </a:rPr>
                        <a:t>Balance sheet</a:t>
                      </a:r>
                    </a:p>
                  </a:txBody>
                  <a:tcPr>
                    <a:lnL w="12700" cap="flat" cmpd="sng" algn="ctr">
                      <a:solidFill>
                        <a:srgbClr val="FBFCC8"/>
                      </a:solidFill>
                      <a:prstDash val="solid"/>
                      <a:round/>
                      <a:headEnd type="none" w="med" len="med"/>
                      <a:tailEnd type="none" w="med" len="med"/>
                    </a:lnL>
                    <a:lnR w="12700" cap="flat" cmpd="sng" algn="ctr">
                      <a:solidFill>
                        <a:srgbClr val="FBFCC8"/>
                      </a:solidFill>
                      <a:prstDash val="solid"/>
                      <a:round/>
                      <a:headEnd type="none" w="med" len="med"/>
                      <a:tailEnd type="none" w="med" len="med"/>
                    </a:lnR>
                    <a:lnT w="12700" cap="flat" cmpd="sng" algn="ctr">
                      <a:solidFill>
                        <a:srgbClr val="FFF6DD"/>
                      </a:solidFill>
                      <a:prstDash val="solid"/>
                      <a:round/>
                      <a:headEnd type="none" w="med" len="med"/>
                      <a:tailEnd type="none" w="med" len="med"/>
                    </a:lnT>
                    <a:lnB w="12700" cap="flat" cmpd="sng" algn="ctr">
                      <a:solidFill>
                        <a:srgbClr val="FFF6DD"/>
                      </a:solidFill>
                      <a:prstDash val="solid"/>
                      <a:round/>
                      <a:headEnd type="none" w="med" len="med"/>
                      <a:tailEnd type="none" w="med" len="med"/>
                    </a:lnB>
                    <a:solidFill>
                      <a:srgbClr val="FBFCC8"/>
                    </a:solidFill>
                  </a:tcPr>
                </a:tc>
                <a:tc>
                  <a:txBody>
                    <a:bodyPr/>
                    <a:lstStyle/>
                    <a:p>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A list of the assets, liabilities, and stockholders’ equity</a:t>
                      </a:r>
                    </a:p>
                    <a:p>
                      <a:r>
                        <a:rPr lang="en-US" sz="1800" b="0" i="1" u="none" strike="noStrike" kern="1200" baseline="0" dirty="0">
                          <a:solidFill>
                            <a:srgbClr val="000000"/>
                          </a:solidFill>
                          <a:latin typeface="Arial" panose="020B0604020202020204" pitchFamily="34" charset="0"/>
                          <a:ea typeface="+mn-ea"/>
                          <a:cs typeface="Arial" panose="020B0604020202020204" pitchFamily="34" charset="0"/>
                        </a:rPr>
                        <a:t>as of a specific date</a:t>
                      </a:r>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 usually at the close of the last day of a month or a year.</a:t>
                      </a:r>
                      <a:endParaRPr lang="en-US" sz="1800" dirty="0">
                        <a:solidFill>
                          <a:srgbClr val="000000"/>
                        </a:solidFill>
                        <a:latin typeface="Arial" panose="020B0604020202020204" pitchFamily="34" charset="0"/>
                        <a:cs typeface="Arial" panose="020B0604020202020204" pitchFamily="34" charset="0"/>
                      </a:endParaRPr>
                    </a:p>
                  </a:txBody>
                  <a:tcPr>
                    <a:lnL w="12700" cap="flat" cmpd="sng" algn="ctr">
                      <a:solidFill>
                        <a:srgbClr val="FBFCC8"/>
                      </a:solidFill>
                      <a:prstDash val="solid"/>
                      <a:round/>
                      <a:headEnd type="none" w="med" len="med"/>
                      <a:tailEnd type="none" w="med" len="med"/>
                    </a:lnL>
                    <a:lnT w="12700" cap="flat" cmpd="sng" algn="ctr">
                      <a:solidFill>
                        <a:srgbClr val="FFF6DD"/>
                      </a:solidFill>
                      <a:prstDash val="solid"/>
                      <a:round/>
                      <a:headEnd type="none" w="med" len="med"/>
                      <a:tailEnd type="none" w="med" len="med"/>
                    </a:lnT>
                    <a:lnB w="12700" cap="flat" cmpd="sng" algn="ctr">
                      <a:solidFill>
                        <a:srgbClr val="FFF6DD"/>
                      </a:solidFill>
                      <a:prstDash val="solid"/>
                      <a:round/>
                      <a:headEnd type="none" w="med" len="med"/>
                      <a:tailEnd type="none" w="med" len="med"/>
                    </a:lnB>
                    <a:solidFill>
                      <a:srgbClr val="FBFCC8"/>
                    </a:solidFill>
                  </a:tcPr>
                </a:tc>
                <a:extLst>
                  <a:ext uri="{0D108BD9-81ED-4DB2-BD59-A6C34878D82A}">
                    <a16:rowId xmlns:a16="http://schemas.microsoft.com/office/drawing/2014/main" val="4061350138"/>
                  </a:ext>
                </a:extLst>
              </a:tr>
              <a:tr h="370840">
                <a:tc>
                  <a:txBody>
                    <a:bodyPr/>
                    <a:lstStyle/>
                    <a:p>
                      <a:pPr algn="ctr"/>
                      <a:r>
                        <a:rPr lang="en-US" sz="1800" dirty="0">
                          <a:solidFill>
                            <a:srgbClr val="000000"/>
                          </a:solidFill>
                          <a:latin typeface="Arial" panose="020B0604020202020204" pitchFamily="34" charset="0"/>
                          <a:cs typeface="Arial" panose="020B0604020202020204" pitchFamily="34" charset="0"/>
                        </a:rPr>
                        <a:t>4.</a:t>
                      </a:r>
                    </a:p>
                  </a:txBody>
                  <a:tcPr>
                    <a:lnR w="12700" cap="flat" cmpd="sng" algn="ctr">
                      <a:solidFill>
                        <a:srgbClr val="FBFCC8"/>
                      </a:solidFill>
                      <a:prstDash val="solid"/>
                      <a:round/>
                      <a:headEnd type="none" w="med" len="med"/>
                      <a:tailEnd type="none" w="med" len="med"/>
                    </a:lnR>
                    <a:lnT w="12700" cap="flat" cmpd="sng" algn="ctr">
                      <a:solidFill>
                        <a:srgbClr val="FFF6DD"/>
                      </a:solidFill>
                      <a:prstDash val="solid"/>
                      <a:round/>
                      <a:headEnd type="none" w="med" len="med"/>
                      <a:tailEnd type="none" w="med" len="med"/>
                    </a:lnT>
                    <a:solidFill>
                      <a:srgbClr val="FBFCC8"/>
                    </a:solidFill>
                  </a:tcPr>
                </a:tc>
                <a:tc>
                  <a:txBody>
                    <a:bodyPr/>
                    <a:lstStyle/>
                    <a:p>
                      <a:r>
                        <a:rPr lang="en-US" sz="1800" b="1" dirty="0">
                          <a:solidFill>
                            <a:srgbClr val="000000"/>
                          </a:solidFill>
                          <a:latin typeface="Arial" panose="020B0604020202020204" pitchFamily="34" charset="0"/>
                          <a:cs typeface="Arial" panose="020B0604020202020204" pitchFamily="34" charset="0"/>
                        </a:rPr>
                        <a:t>Statement of cash flows</a:t>
                      </a:r>
                    </a:p>
                  </a:txBody>
                  <a:tcPr>
                    <a:lnL w="12700" cap="flat" cmpd="sng" algn="ctr">
                      <a:solidFill>
                        <a:srgbClr val="FBFCC8"/>
                      </a:solidFill>
                      <a:prstDash val="solid"/>
                      <a:round/>
                      <a:headEnd type="none" w="med" len="med"/>
                      <a:tailEnd type="none" w="med" len="med"/>
                    </a:lnL>
                    <a:lnR w="12700" cap="flat" cmpd="sng" algn="ctr">
                      <a:solidFill>
                        <a:srgbClr val="FBFCC8"/>
                      </a:solidFill>
                      <a:prstDash val="solid"/>
                      <a:round/>
                      <a:headEnd type="none" w="med" len="med"/>
                      <a:tailEnd type="none" w="med" len="med"/>
                    </a:lnR>
                    <a:lnT w="12700" cap="flat" cmpd="sng" algn="ctr">
                      <a:solidFill>
                        <a:srgbClr val="FFF6DD"/>
                      </a:solidFill>
                      <a:prstDash val="solid"/>
                      <a:round/>
                      <a:headEnd type="none" w="med" len="med"/>
                      <a:tailEnd type="none" w="med" len="med"/>
                    </a:lnT>
                    <a:solidFill>
                      <a:srgbClr val="FBFCC8"/>
                    </a:solidFill>
                  </a:tcPr>
                </a:tc>
                <a:tc>
                  <a:txBody>
                    <a:bodyPr/>
                    <a:lstStyle/>
                    <a:p>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A summary of the cash receipts and cash payments</a:t>
                      </a:r>
                    </a:p>
                    <a:p>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for a </a:t>
                      </a:r>
                      <a:r>
                        <a:rPr lang="en-US" sz="1800" b="0" i="1" u="none" strike="noStrike" kern="1200" baseline="0" dirty="0">
                          <a:solidFill>
                            <a:srgbClr val="000000"/>
                          </a:solidFill>
                          <a:latin typeface="Arial" panose="020B0604020202020204" pitchFamily="34" charset="0"/>
                          <a:ea typeface="+mn-ea"/>
                          <a:cs typeface="Arial" panose="020B0604020202020204" pitchFamily="34" charset="0"/>
                        </a:rPr>
                        <a:t>specific period of time</a:t>
                      </a:r>
                      <a:r>
                        <a:rPr lang="en-US" sz="1800" b="0" i="0" u="none" strike="noStrike" kern="1200" baseline="0" dirty="0">
                          <a:solidFill>
                            <a:srgbClr val="000000"/>
                          </a:solidFill>
                          <a:latin typeface="Arial" panose="020B0604020202020204" pitchFamily="34" charset="0"/>
                          <a:ea typeface="+mn-ea"/>
                          <a:cs typeface="Arial" panose="020B0604020202020204" pitchFamily="34" charset="0"/>
                        </a:rPr>
                        <a:t>, such as a month or a year.</a:t>
                      </a:r>
                      <a:endParaRPr lang="en-US" sz="1800" dirty="0">
                        <a:solidFill>
                          <a:srgbClr val="000000"/>
                        </a:solidFill>
                        <a:latin typeface="Arial" panose="020B0604020202020204" pitchFamily="34" charset="0"/>
                        <a:cs typeface="Arial" panose="020B0604020202020204" pitchFamily="34" charset="0"/>
                      </a:endParaRPr>
                    </a:p>
                  </a:txBody>
                  <a:tcPr>
                    <a:lnL w="12700" cap="flat" cmpd="sng" algn="ctr">
                      <a:solidFill>
                        <a:srgbClr val="FBFCC8"/>
                      </a:solidFill>
                      <a:prstDash val="solid"/>
                      <a:round/>
                      <a:headEnd type="none" w="med" len="med"/>
                      <a:tailEnd type="none" w="med" len="med"/>
                    </a:lnL>
                    <a:lnT w="12700" cap="flat" cmpd="sng" algn="ctr">
                      <a:solidFill>
                        <a:srgbClr val="FFF6DD"/>
                      </a:solidFill>
                      <a:prstDash val="solid"/>
                      <a:round/>
                      <a:headEnd type="none" w="med" len="med"/>
                      <a:tailEnd type="none" w="med" len="med"/>
                    </a:lnT>
                    <a:solidFill>
                      <a:srgbClr val="FBFCC8"/>
                    </a:solidFill>
                  </a:tcPr>
                </a:tc>
                <a:extLst>
                  <a:ext uri="{0D108BD9-81ED-4DB2-BD59-A6C34878D82A}">
                    <a16:rowId xmlns:a16="http://schemas.microsoft.com/office/drawing/2014/main" val="3804835362"/>
                  </a:ext>
                </a:extLst>
              </a:tr>
            </a:tbl>
          </a:graphicData>
        </a:graphic>
      </p:graphicFrame>
    </p:spTree>
    <p:extLst>
      <p:ext uri="{BB962C8B-B14F-4D97-AF65-F5344CB8AC3E}">
        <p14:creationId xmlns:p14="http://schemas.microsoft.com/office/powerpoint/2010/main" val="17080683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9FA98-DC22-4C2C-9690-F2A61F5F8B9E}"/>
              </a:ext>
            </a:extLst>
          </p:cNvPr>
          <p:cNvSpPr>
            <a:spLocks noGrp="1"/>
          </p:cNvSpPr>
          <p:nvPr>
            <p:ph type="title"/>
          </p:nvPr>
        </p:nvSpPr>
        <p:spPr>
          <a:xfrm>
            <a:off x="838200" y="365125"/>
            <a:ext cx="10515600" cy="672105"/>
          </a:xfrm>
        </p:spPr>
        <p:txBody>
          <a:bodyPr/>
          <a:lstStyle/>
          <a:p>
            <a:r>
              <a:rPr lang="en-US" dirty="0"/>
              <a:t>Exhibit 9 – Financial Statements for NetSolutions</a:t>
            </a:r>
            <a:br>
              <a:rPr lang="en-US" dirty="0"/>
            </a:br>
            <a:r>
              <a:rPr lang="en-US" sz="2400" dirty="0"/>
              <a:t>(1 of 2)</a:t>
            </a:r>
          </a:p>
        </p:txBody>
      </p:sp>
      <p:pic>
        <p:nvPicPr>
          <p:cNvPr id="6" name="Content Placeholder 5" descr="An income statement for NetSolutions is shown. A three-line heading is centered at the top of the in-come statement. The first line lists the company name, NetSolutions. The second line lists the type of financial statement, Income Statement. The third line lists the date, For the Month Ended November 30, 20Y3. Below the statement heading are three columns, a list of account titles on the left and the balances for those accounts in the two columns on the right. Fees earned are $7,500, which is shown in the second amount column. Under Expenses: are the following: Wages expense is $2,125, which is shown in the first amount column. Rent expense is 800, which is shown in the first amount column. Supplies expense is 800, which is shown in the first amount column. Utilities expense is 450, which is shown in the first amount column. Miscellaneous expense is 275, which is shown in the first amount column. A single rule appears below the number 275. Total expenses is 4,450, set in parentheses, which is shown in the second amount column. A single rule appears below the number 4,450, set in parentheses. Net income is $3,050, which is shown in the second amount column and is in blue type. A double rule underscores the number $3,050. &#10;Below the income statement, a statement of stock-holders’ equity for NetSolutions is shown. A three-line heading is centered at the top of the statement. The first line lists the company name, NetSolutions. The second line lists the type of financial statement, Statement of Stockholders’ Equity. The third line lists the date, For the Month Ended November 30, 20Y3. Below the statement heading are four columns. The first column has no title. The other columns are titled Common Stock, Retained Earnings, and Total. The line entries are as follows: Balances, November 1, 20Y3: Common Stock of $0; Retained Earnings of $0; and Total of $0. Issued common stock: Common Stock of 25,000 and Total of 25,000. Net income: Retained Earnings of 3,050 and Total of 3,050. The number 3,050 is set in blue type in both columns. Dividends: Retained Earnings of 2,000, set in parentheses, and Total of 2,000, set in parentheses. A single rule appears in each column on this line. Balances, November 30, 20Y3: Common Stock of $25,000; Retained Earnings of $1,050; and Total of $26,050. These three balances are set in blue type. A double rule appears below each total on this line. An arrow runs to the Net income amount of $3,050 from the Net income amount of $3,050 on the income statement.&#10;">
            <a:extLst>
              <a:ext uri="{FF2B5EF4-FFF2-40B4-BE49-F238E27FC236}">
                <a16:creationId xmlns:a16="http://schemas.microsoft.com/office/drawing/2014/main" id="{64330461-909E-4E71-A0A4-5AC9D15AB5B6}"/>
              </a:ext>
            </a:extLst>
          </p:cNvPr>
          <p:cNvPicPr>
            <a:picLocks noGrp="1" noChangeAspect="1"/>
          </p:cNvPicPr>
          <p:nvPr>
            <p:ph sz="quarter" idx="10"/>
          </p:nvPr>
        </p:nvPicPr>
        <p:blipFill>
          <a:blip r:embed="rId2"/>
          <a:stretch>
            <a:fillRect/>
          </a:stretch>
        </p:blipFill>
        <p:spPr>
          <a:xfrm>
            <a:off x="2695091" y="1301578"/>
            <a:ext cx="6801817" cy="4765847"/>
          </a:xfrm>
        </p:spPr>
      </p:pic>
    </p:spTree>
    <p:extLst>
      <p:ext uri="{BB962C8B-B14F-4D97-AF65-F5344CB8AC3E}">
        <p14:creationId xmlns:p14="http://schemas.microsoft.com/office/powerpoint/2010/main" val="852547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9FA98-DC22-4C2C-9690-F2A61F5F8B9E}"/>
              </a:ext>
            </a:extLst>
          </p:cNvPr>
          <p:cNvSpPr>
            <a:spLocks noGrp="1"/>
          </p:cNvSpPr>
          <p:nvPr>
            <p:ph type="title"/>
          </p:nvPr>
        </p:nvSpPr>
        <p:spPr>
          <a:xfrm>
            <a:off x="838200" y="365125"/>
            <a:ext cx="10515600" cy="672105"/>
          </a:xfrm>
        </p:spPr>
        <p:txBody>
          <a:bodyPr/>
          <a:lstStyle/>
          <a:p>
            <a:r>
              <a:rPr lang="en-US" dirty="0"/>
              <a:t>Exhibit 9 – Financial Statements for NetSolutions</a:t>
            </a:r>
            <a:br>
              <a:rPr lang="en-US" dirty="0"/>
            </a:br>
            <a:r>
              <a:rPr lang="en-US" sz="2400" dirty="0"/>
              <a:t>(2 of 2)</a:t>
            </a:r>
          </a:p>
        </p:txBody>
      </p:sp>
      <p:pic>
        <p:nvPicPr>
          <p:cNvPr id="8" name="Content Placeholder 7" descr="Below the statement of stockholders’ equity, a balance sheet is shown for NetSolutions. A three-line heading is set centered at the top of the balance sheet. The first line lists the company name, NetSolutions. The second line lists the type of financial statement, Balance Sheet. The third line lists the date, November 30, 20Y3. On the row below the statement heading, the word, Assets, is set in bold and is centered on the balance sheet. The balance sheet is in the report form, with the Liabilities and Stockholders’ Equity sections shown below the Assets section. The Assets section lists the following: Cash, $5,900; Supplies, 500; and Land, 20,000. The Cash amount of $5,900 is in blue type, and all amounts are in the second amount column. A single rule appears below 20,000. Total assets are $26,450, and a double rule underscores this number. The Liabilities section shows Accounts payable in the amount of $400 in the second amount column. Below the Liabilities section is the Stockholders’ Equity section, which lists Common stock in the amount of $25,000 in blue type in the first amount column. Retained earnings is 1,050 in the first amount column. The number is in blue type, and a single rule appears below it. A bracket connects and runs to the Common stock and Retained earnings amounts of $25,000 and 1,050 in the Stockholders’ Equity section from the Balances, November 30, 20Y3 amounts of $25,000 and $1,050 on the statement of stockholders’ equity. Total stockholders’ equity is 26,050 in blue type in the second amount column, and a single rule underscores this number. Total liabilities and stockholders’ equity are $26,450 in the second amount column, and a double rule underscores this number. An arrow runs to the Total stockholders’ equity amount of 26,050 in the Stockholders’ Equity section from the Balances, November 30, 20Y3 amount of $26,050 on the statement of stockholders’ equity.&#10;&#10;Below the balance sheet, a statement of cash flows for NetSolutions is shown. A three-line heading is set centered at the top of the statement of cash flows. The first line lists the company name: NetSolutions. The second line lists the type of financial statement, Statement of Cash Flows. The third line lists the date, For the Month Ended November 30, 20Y3. Below the statement heading are three columns, a list of types of cash flows on the left and the balance for each type of cash flow on the right. Under Cash flows from (used for) operating activities, Cash received from customers is $7,500, which is shown in the first amount column. Cash paid for expenses and to creditors is 4,600, set in parentheses, which is shown in the first amount column. A single rule underlines this number. Net cash flows from operating activities is $2,900, which is shown in the second amount column. Under Cash flows from (used for) investing activities, Cash paid for acquisition of land is 20,000, set in parentheses, which is shown in the second amount column. Under Cash flows from (used for) financing activities, Cash received from issuing common stock is $25,000, which is shown in the first amount column. Cash dividends is 2,000, set in parentheses, which is shown in the first amount column. A single rule underlines this number. Net cash flows from financing activities is 23,000, which is shown in the second amount column. A single rule underlines this number. Net in-crease in cash is $5,900, which is shown in the second amount column. Cash balance, November 1, 20Y3 is 0, which is shown in the second amount column. A single rule appears below 0. Cash balance, November 30, 20Y3, is $5,900 which is shown in the second amount column and is in blue type. A double rule underlines this number. An ar-row runs to the Cash balance, November 30, 20Y3 amount of $5,900 from the Cash amount of $5,900 on the balance sheet. ">
            <a:extLst>
              <a:ext uri="{FF2B5EF4-FFF2-40B4-BE49-F238E27FC236}">
                <a16:creationId xmlns:a16="http://schemas.microsoft.com/office/drawing/2014/main" id="{70124040-D197-4CB3-9F1D-FC5498E72043}"/>
              </a:ext>
            </a:extLst>
          </p:cNvPr>
          <p:cNvPicPr>
            <a:picLocks noGrp="1" noChangeAspect="1"/>
          </p:cNvPicPr>
          <p:nvPr>
            <p:ph sz="quarter" idx="10"/>
          </p:nvPr>
        </p:nvPicPr>
        <p:blipFill>
          <a:blip r:embed="rId3"/>
          <a:stretch>
            <a:fillRect/>
          </a:stretch>
        </p:blipFill>
        <p:spPr>
          <a:xfrm>
            <a:off x="3695285" y="1393689"/>
            <a:ext cx="4801430" cy="4737906"/>
          </a:xfrm>
          <a:prstGeom prst="rect">
            <a:avLst/>
          </a:prstGeom>
        </p:spPr>
      </p:pic>
    </p:spTree>
    <p:extLst>
      <p:ext uri="{BB962C8B-B14F-4D97-AF65-F5344CB8AC3E}">
        <p14:creationId xmlns:p14="http://schemas.microsoft.com/office/powerpoint/2010/main" val="2444089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2105"/>
          </a:xfrm>
        </p:spPr>
        <p:txBody>
          <a:bodyPr/>
          <a:lstStyle/>
          <a:p>
            <a:r>
              <a:rPr lang="en-US" dirty="0"/>
              <a:t>Knowledge Check Activity 3</a:t>
            </a:r>
          </a:p>
        </p:txBody>
      </p:sp>
      <p:sp>
        <p:nvSpPr>
          <p:cNvPr id="3" name="Text Placeholder 2"/>
          <p:cNvSpPr>
            <a:spLocks noGrp="1"/>
          </p:cNvSpPr>
          <p:nvPr>
            <p:ph sz="quarter" idx="10"/>
          </p:nvPr>
        </p:nvSpPr>
        <p:spPr>
          <a:xfrm>
            <a:off x="838200" y="1593273"/>
            <a:ext cx="10515600" cy="4474152"/>
          </a:xfrm>
        </p:spPr>
        <p:txBody>
          <a:bodyPr/>
          <a:lstStyle/>
          <a:p>
            <a:r>
              <a:rPr lang="en-US" sz="2600" dirty="0"/>
              <a:t>Which financial statement would a stockholder want to review if they are interested in the company’s sales and expenses? </a:t>
            </a:r>
          </a:p>
          <a:p>
            <a:pPr marL="514350" indent="-514350">
              <a:buFont typeface="+mj-lt"/>
              <a:buAutoNum type="alphaLcPeriod"/>
            </a:pPr>
            <a:r>
              <a:rPr lang="en-US" sz="2600" dirty="0"/>
              <a:t>Balance Sheet</a:t>
            </a:r>
          </a:p>
          <a:p>
            <a:pPr marL="514350" indent="-514350">
              <a:buFont typeface="+mj-lt"/>
              <a:buAutoNum type="alphaLcPeriod"/>
            </a:pPr>
            <a:r>
              <a:rPr lang="en-US" sz="2600" dirty="0"/>
              <a:t>Statement of Cash Flows</a:t>
            </a:r>
          </a:p>
          <a:p>
            <a:pPr marL="514350" indent="-514350">
              <a:buFont typeface="+mj-lt"/>
              <a:buAutoNum type="alphaLcPeriod"/>
            </a:pPr>
            <a:r>
              <a:rPr lang="en-US" sz="2600" dirty="0"/>
              <a:t>Income Statement</a:t>
            </a:r>
          </a:p>
          <a:p>
            <a:pPr marL="514350" indent="-514350">
              <a:buFont typeface="+mj-lt"/>
              <a:buAutoNum type="alphaLcPeriod"/>
            </a:pPr>
            <a:r>
              <a:rPr lang="en-US" sz="2600" dirty="0"/>
              <a:t>Statement of Shareholders’ Equity </a:t>
            </a:r>
          </a:p>
        </p:txBody>
      </p:sp>
    </p:spTree>
    <p:extLst>
      <p:ext uri="{BB962C8B-B14F-4D97-AF65-F5344CB8AC3E}">
        <p14:creationId xmlns:p14="http://schemas.microsoft.com/office/powerpoint/2010/main" val="2767967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72105"/>
          </a:xfrm>
        </p:spPr>
        <p:txBody>
          <a:bodyPr/>
          <a:lstStyle/>
          <a:p>
            <a:r>
              <a:rPr lang="en-US" dirty="0"/>
              <a:t>Knowledge Check Activity 3: Answer</a:t>
            </a:r>
          </a:p>
        </p:txBody>
      </p:sp>
      <p:sp>
        <p:nvSpPr>
          <p:cNvPr id="3" name="Text Placeholder 2"/>
          <p:cNvSpPr>
            <a:spLocks noGrp="1"/>
          </p:cNvSpPr>
          <p:nvPr>
            <p:ph sz="quarter" idx="10"/>
          </p:nvPr>
        </p:nvSpPr>
        <p:spPr>
          <a:xfrm>
            <a:off x="838200" y="1593273"/>
            <a:ext cx="10515600" cy="4474152"/>
          </a:xfrm>
        </p:spPr>
        <p:txBody>
          <a:bodyPr>
            <a:normAutofit/>
          </a:bodyPr>
          <a:lstStyle/>
          <a:p>
            <a:r>
              <a:rPr lang="en-US" sz="2600" dirty="0"/>
              <a:t>Which financial statement would a stockholder want to review if they are interested in the company’s sales and net income? </a:t>
            </a:r>
          </a:p>
          <a:p>
            <a:endParaRPr lang="en-US" sz="2600" dirty="0"/>
          </a:p>
          <a:p>
            <a:r>
              <a:rPr lang="en-US" sz="2600" b="1" dirty="0"/>
              <a:t>Answer: </a:t>
            </a:r>
            <a:r>
              <a:rPr lang="en-US" sz="2600" dirty="0"/>
              <a:t>c. Income Statement</a:t>
            </a:r>
          </a:p>
          <a:p>
            <a:endParaRPr lang="en-US" sz="2600" dirty="0"/>
          </a:p>
          <a:p>
            <a:r>
              <a:rPr lang="en-US" sz="2600" dirty="0"/>
              <a:t>The income statement would list a company’s sales, expenses, and net loss. </a:t>
            </a:r>
          </a:p>
          <a:p>
            <a:endParaRPr lang="en-US" sz="2600" dirty="0"/>
          </a:p>
        </p:txBody>
      </p:sp>
    </p:spTree>
    <p:extLst>
      <p:ext uri="{BB962C8B-B14F-4D97-AF65-F5344CB8AC3E}">
        <p14:creationId xmlns:p14="http://schemas.microsoft.com/office/powerpoint/2010/main" val="43911587"/>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94B888A8E71149BA1FDF36AA0410F2" ma:contentTypeVersion="11" ma:contentTypeDescription="Create a new document." ma:contentTypeScope="" ma:versionID="a2acd571cfbae07cc1c1b9b4f31a4903">
  <xsd:schema xmlns:xsd="http://www.w3.org/2001/XMLSchema" xmlns:xs="http://www.w3.org/2001/XMLSchema" xmlns:p="http://schemas.microsoft.com/office/2006/metadata/properties" xmlns:ns2="5f8dbb90-e206-4f83-9820-44f04f84401f" xmlns:ns3="ab864144-ca3b-47ab-a142-93b76c4c492d" targetNamespace="http://schemas.microsoft.com/office/2006/metadata/properties" ma:root="true" ma:fieldsID="3c31c27e1b082e584a7e0e139cda3467" ns2:_="" ns3:_="">
    <xsd:import namespace="5f8dbb90-e206-4f83-9820-44f04f84401f"/>
    <xsd:import namespace="ab864144-ca3b-47ab-a142-93b76c4c492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dbb90-e206-4f83-9820-44f04f8440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864144-ca3b-47ab-a142-93b76c4c492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ab864144-ca3b-47ab-a142-93b76c4c492d">
      <UserInfo>
        <DisplayName/>
        <AccountId xsi:nil="true"/>
        <AccountType/>
      </UserInfo>
    </SharedWithUsers>
  </documentManagement>
</p:properties>
</file>

<file path=customXml/itemProps1.xml><?xml version="1.0" encoding="utf-8"?>
<ds:datastoreItem xmlns:ds="http://schemas.openxmlformats.org/officeDocument/2006/customXml" ds:itemID="{CCAA2083-1E27-43BC-8488-C4E35C2DDA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8dbb90-e206-4f83-9820-44f04f84401f"/>
    <ds:schemaRef ds:uri="ab864144-ca3b-47ab-a142-93b76c4c49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BA9BA192-EF86-48DF-982C-2C526A268392}">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ab864144-ca3b-47ab-a142-93b76c4c492d"/>
    <ds:schemaRef ds:uri="5f8dbb90-e206-4f83-9820-44f04f84401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708</TotalTime>
  <Words>1696</Words>
  <Application>Microsoft Office PowerPoint</Application>
  <PresentationFormat>Widescreen</PresentationFormat>
  <Paragraphs>143</Paragraphs>
  <Slides>27</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vt:lpstr>
      <vt:lpstr>Calibri</vt:lpstr>
      <vt:lpstr>Helvetica</vt:lpstr>
      <vt:lpstr>Open Sans</vt:lpstr>
      <vt:lpstr>Summer Font</vt:lpstr>
      <vt:lpstr>Office Theme</vt:lpstr>
      <vt:lpstr>Chapter 1: Introduction to Accounting and Business</vt:lpstr>
      <vt:lpstr>Role of Accounting in Business</vt:lpstr>
      <vt:lpstr>Financial accounting and Managerial accounting</vt:lpstr>
      <vt:lpstr>Financial accounting</vt:lpstr>
      <vt:lpstr>Managerial Accounting</vt:lpstr>
      <vt:lpstr>The Accounting Equation  </vt:lpstr>
      <vt:lpstr>The Accounting Equation  </vt:lpstr>
      <vt:lpstr>Transaction a</vt:lpstr>
      <vt:lpstr>Transaction b</vt:lpstr>
      <vt:lpstr>Transaction c </vt:lpstr>
      <vt:lpstr>Transaction d </vt:lpstr>
      <vt:lpstr>Transaction d </vt:lpstr>
      <vt:lpstr>Principles</vt:lpstr>
      <vt:lpstr>Transaction e </vt:lpstr>
      <vt:lpstr>Transaction f</vt:lpstr>
      <vt:lpstr>Transaction g</vt:lpstr>
      <vt:lpstr>Transaction h</vt:lpstr>
      <vt:lpstr>Exhibit 6 – Summary of Transactions for NetSolutions</vt:lpstr>
      <vt:lpstr>Exhibit 7 – Effects of Transactions on Stockholders’ Equity</vt:lpstr>
      <vt:lpstr>Knowledge Check Activity 2</vt:lpstr>
      <vt:lpstr>Knowledge Check Activity 2: Answer</vt:lpstr>
      <vt:lpstr>Financial Statements (Learning Objective 5)</vt:lpstr>
      <vt:lpstr>Exhibit 8 – Financial Statements</vt:lpstr>
      <vt:lpstr>Exhibit 9 – Financial Statements for NetSolutions (1 of 2)</vt:lpstr>
      <vt:lpstr>Exhibit 9 – Financial Statements for NetSolutions (2 of 2)</vt:lpstr>
      <vt:lpstr>Knowledge Check Activity 3</vt:lpstr>
      <vt:lpstr>Knowledge Check Activity 3: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Graney, Karla (DTPW)</cp:lastModifiedBy>
  <cp:revision>38</cp:revision>
  <dcterms:created xsi:type="dcterms:W3CDTF">2020-07-27T16:46:05Z</dcterms:created>
  <dcterms:modified xsi:type="dcterms:W3CDTF">2026-05-15T13:49:56Z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0x0101005394B888A8E71149BA1FDF36AA0410F2</vt:lpwstr>
  </property>
  <property fmtid="{D5CDD505-2E9C-101B-9397-08002B2CF9AE}" pid="3" name="Order">
    <vt:r8>21552800</vt:r8>
  </property>
  <property fmtid="{D5CDD505-2E9C-101B-9397-08002B2CF9AE}" pid="4" name="xd_Signature">
    <vt:bool>false</vt:bool>
  </property>
  <property fmtid="{D5CDD505-2E9C-101B-9397-08002B2CF9AE}" pid="5" name="xd_ProgID">
    <vt:lpwstr/>
  </property>
  <property fmtid="{D5CDD505-2E9C-101B-9397-08002B2CF9AE}" pid="6" name="Status">
    <vt:lpwstr>1. In development</vt:lpwstr>
  </property>
  <property fmtid="{D5CDD505-2E9C-101B-9397-08002B2CF9AE}" pid="7" name="ComplianceAssetId">
    <vt:lpwstr/>
  </property>
  <property fmtid="{D5CDD505-2E9C-101B-9397-08002B2CF9AE}" pid="8" name="TemplateUrl">
    <vt:lpwstr/>
  </property>
</Properties>
</file>