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64" r:id="rId5"/>
    <p:sldId id="260" r:id="rId6"/>
    <p:sldId id="524" r:id="rId7"/>
    <p:sldId id="305" r:id="rId8"/>
    <p:sldId id="306" r:id="rId9"/>
    <p:sldId id="265" r:id="rId10"/>
    <p:sldId id="266" r:id="rId11"/>
    <p:sldId id="270" r:id="rId12"/>
    <p:sldId id="271" r:id="rId13"/>
    <p:sldId id="272" r:id="rId14"/>
    <p:sldId id="528" r:id="rId15"/>
    <p:sldId id="274" r:id="rId16"/>
    <p:sldId id="529" r:id="rId17"/>
    <p:sldId id="530" r:id="rId18"/>
    <p:sldId id="532" r:id="rId19"/>
    <p:sldId id="533" r:id="rId2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Julie Angel" initials="JA" lastIdx="2" clrIdx="1">
    <p:extLst>
      <p:ext uri="{19B8F6BF-5375-455C-9EA6-DF929625EA0E}">
        <p15:presenceInfo xmlns:p15="http://schemas.microsoft.com/office/powerpoint/2012/main" userId="fec48bcc1f86994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E9255F"/>
    <a:srgbClr val="006298"/>
    <a:srgbClr val="FF6300"/>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548" autoAdjust="0"/>
  </p:normalViewPr>
  <p:slideViewPr>
    <p:cSldViewPr snapToGrid="0">
      <p:cViewPr varScale="1">
        <p:scale>
          <a:sx n="55" d="100"/>
          <a:sy n="55" d="100"/>
        </p:scale>
        <p:origin x="1072" y="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6/13/2026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6/13/2026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711521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l" defTabSz="914400" rtl="0" eaLnBrk="1" fontAlgn="base" latinLnBrk="0" hangingPunct="1">
              <a:lnSpc>
                <a:spcPct val="90000"/>
              </a:lnSpc>
              <a:spcBef>
                <a:spcPts val="1000"/>
              </a:spcBef>
              <a:spcAft>
                <a:spcPct val="0"/>
              </a:spcAft>
              <a:buClr>
                <a:srgbClr val="004A78"/>
              </a:buClr>
              <a:buSzTx/>
              <a:buFont typeface="Arial" charset="0"/>
              <a:buChar char="•"/>
              <a:tabLst/>
              <a:defRPr/>
            </a:pPr>
            <a:r>
              <a:rPr kumimoji="0" lang="en-US" sz="2600" b="0" i="0" u="none" strike="noStrike" kern="1200" cap="none" spc="0" normalizeH="0" baseline="0" noProof="0" dirty="0">
                <a:ln>
                  <a:noFill/>
                </a:ln>
                <a:solidFill>
                  <a:srgbClr val="000000"/>
                </a:solidFill>
                <a:effectLst/>
                <a:uLnTx/>
                <a:uFillTx/>
                <a:latin typeface="Arial" charset="0"/>
                <a:cs typeface="Arial" charset="0"/>
              </a:rPr>
              <a:t>Some examples of security measures include the following:</a:t>
            </a:r>
          </a:p>
          <a:p>
            <a:pPr marL="685800" marR="0" lvl="1"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charset="0"/>
                <a:cs typeface="Arial" charset="0"/>
              </a:rPr>
              <a:t>Storing inventory in areas that are restricted to only authorized employees</a:t>
            </a:r>
          </a:p>
          <a:p>
            <a:pPr marL="685800" marR="0" lvl="1"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charset="0"/>
                <a:cs typeface="Arial" charset="0"/>
              </a:rPr>
              <a:t>Locking high-priced inventory in cabinets</a:t>
            </a:r>
          </a:p>
          <a:p>
            <a:pPr marL="685800" marR="0" lvl="1"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charset="0"/>
                <a:cs typeface="Arial" charset="0"/>
              </a:rPr>
              <a:t>Using two-way mirrors, cameras, security tags, and guards</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40879885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pPr>
              <a:defRPr/>
            </a:pPr>
            <a:r>
              <a:rPr lang="en-US" dirty="0"/>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E7287522-6EFB-4B6F-A755-2B83B87BF180}"/>
              </a:ext>
            </a:extLst>
          </p:cNvPr>
          <p:cNvSpPr>
            <a:spLocks noGrp="1"/>
          </p:cNvSpPr>
          <p:nvPr>
            <p:ph sz="quarter" idx="10"/>
          </p:nvPr>
        </p:nvSpPr>
        <p:spPr>
          <a:xfrm>
            <a:off x="838200" y="1593273"/>
            <a:ext cx="10515600" cy="447415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86311C29-F62B-4AA5-8197-B175712ABE83}"/>
              </a:ext>
            </a:extLst>
          </p:cNvPr>
          <p:cNvSpPr>
            <a:spLocks noGrp="1"/>
          </p:cNvSpPr>
          <p:nvPr>
            <p:ph sz="quarter" idx="16"/>
          </p:nvPr>
        </p:nvSpPr>
        <p:spPr>
          <a:xfrm>
            <a:off x="6207368" y="1607126"/>
            <a:ext cx="5146431" cy="34157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CBA4F7D5-043F-4B98-992B-40E415A84609}"/>
              </a:ext>
            </a:extLst>
          </p:cNvPr>
          <p:cNvSpPr>
            <a:spLocks noGrp="1"/>
          </p:cNvSpPr>
          <p:nvPr>
            <p:ph sz="quarter" idx="17"/>
          </p:nvPr>
        </p:nvSpPr>
        <p:spPr>
          <a:xfrm>
            <a:off x="838200" y="1607126"/>
            <a:ext cx="5035062" cy="341572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71940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Sed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Text Placeholder 5"/>
          <p:cNvSpPr>
            <a:spLocks noGrp="1"/>
          </p:cNvSpPr>
          <p:nvPr>
            <p:ph type="body" sz="quarter" idx="18" hasCustomPrompt="1"/>
          </p:nvPr>
        </p:nvSpPr>
        <p:spPr>
          <a:xfrm>
            <a:off x="740228" y="1290690"/>
            <a:ext cx="10711543" cy="190932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diam </a:t>
            </a:r>
            <a:r>
              <a:rPr lang="en-US" dirty="0" err="1"/>
              <a:t>maecenas</a:t>
            </a:r>
            <a:r>
              <a:rPr lang="en-US" dirty="0"/>
              <a:t> sed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356DCFCF-A355-4530-967D-8510D0847AE0}"/>
              </a:ext>
            </a:extLst>
          </p:cNvPr>
          <p:cNvSpPr>
            <a:spLocks noGrp="1"/>
          </p:cNvSpPr>
          <p:nvPr>
            <p:ph sz="quarter" idx="19"/>
          </p:nvPr>
        </p:nvSpPr>
        <p:spPr>
          <a:xfrm>
            <a:off x="739775" y="3429000"/>
            <a:ext cx="10712450" cy="246221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6420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600" y="3429000"/>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096000" y="3429000"/>
            <a:ext cx="535940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59007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587" y="3216398"/>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242050" y="3216398"/>
            <a:ext cx="521335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B0858C3-5D54-46C9-9602-DD06588705F5}"/>
              </a:ext>
            </a:extLst>
          </p:cNvPr>
          <p:cNvSpPr>
            <a:spLocks noGrp="1"/>
          </p:cNvSpPr>
          <p:nvPr>
            <p:ph sz="quarter" idx="23"/>
          </p:nvPr>
        </p:nvSpPr>
        <p:spPr>
          <a:xfrm>
            <a:off x="736587" y="4969161"/>
            <a:ext cx="5084776" cy="1543050"/>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a:extLst>
              <a:ext uri="{FF2B5EF4-FFF2-40B4-BE49-F238E27FC236}">
                <a16:creationId xmlns:a16="http://schemas.microsoft.com/office/drawing/2014/main" id="{832F93A3-DABD-4B56-9641-51D4E1885264}"/>
              </a:ext>
            </a:extLst>
          </p:cNvPr>
          <p:cNvSpPr>
            <a:spLocks noGrp="1"/>
          </p:cNvSpPr>
          <p:nvPr>
            <p:ph sz="quarter" idx="24"/>
          </p:nvPr>
        </p:nvSpPr>
        <p:spPr>
          <a:xfrm>
            <a:off x="6212919" y="4969161"/>
            <a:ext cx="5359400"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09208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err="1"/>
              <a:t>Sed</a:t>
            </a:r>
            <a:r>
              <a:rPr lang="en-US"/>
              <a:t>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a:t>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3541624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B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5" name="Table Placeholder 4"/>
          <p:cNvSpPr>
            <a:spLocks noGrp="1"/>
          </p:cNvSpPr>
          <p:nvPr>
            <p:ph type="tbl" sz="quarter" idx="10"/>
          </p:nvPr>
        </p:nvSpPr>
        <p:spPr>
          <a:xfrm>
            <a:off x="1133687" y="1367327"/>
            <a:ext cx="9924626" cy="4871103"/>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878221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GEN_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rgbClr val="C00000"/>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6614165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6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802289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LO_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rgbClr val="C00000"/>
                </a:solidFill>
              </a:defRPr>
            </a:lvl1pPr>
          </a:lstStyle>
          <a:p>
            <a:r>
              <a:rPr lang="en-US" dirty="0"/>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6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165224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text styles</a:t>
            </a:r>
          </a:p>
        </p:txBody>
      </p:sp>
      <p:pic>
        <p:nvPicPr>
          <p:cNvPr id="7" name="Picture 6"/>
          <p:cNvPicPr>
            <a:picLocks noChangeAspect="1"/>
          </p:cNvPicPr>
          <p:nvPr userDrawn="1"/>
        </p:nvPicPr>
        <p:blipFill>
          <a:blip r:embed="rId23">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25" r:id="rId5"/>
    <p:sldLayoutId id="2147483718" r:id="rId6"/>
    <p:sldLayoutId id="2147483726" r:id="rId7"/>
    <p:sldLayoutId id="2147483715" r:id="rId8"/>
    <p:sldLayoutId id="2147483727" r:id="rId9"/>
    <p:sldLayoutId id="2147483716" r:id="rId10"/>
    <p:sldLayoutId id="2147483719" r:id="rId11"/>
    <p:sldLayoutId id="2147483720" r:id="rId12"/>
    <p:sldLayoutId id="2147483723" r:id="rId13"/>
    <p:sldLayoutId id="2147483724" r:id="rId14"/>
    <p:sldLayoutId id="2147483713" r:id="rId15"/>
    <p:sldLayoutId id="2147483717" r:id="rId16"/>
    <p:sldLayoutId id="2147483729" r:id="rId17"/>
    <p:sldLayoutId id="2147483730" r:id="rId18"/>
    <p:sldLayoutId id="2147483731" r:id="rId19"/>
    <p:sldLayoutId id="2147483732" r:id="rId20"/>
    <p:sldLayoutId id="2147483733" r:id="rId21"/>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840289" y="4035474"/>
            <a:ext cx="6402684" cy="672105"/>
          </a:xfrm>
        </p:spPr>
        <p:txBody>
          <a:bodyPr/>
          <a:lstStyle/>
          <a:p>
            <a:pPr algn="ctr"/>
            <a:r>
              <a:rPr lang="en-US" dirty="0"/>
              <a:t>Chapter 6: Inventories</a:t>
            </a:r>
          </a:p>
        </p:txBody>
      </p:sp>
      <p:sp>
        <p:nvSpPr>
          <p:cNvPr id="6" name="Text Placeholder 5"/>
          <p:cNvSpPr>
            <a:spLocks noGrp="1"/>
          </p:cNvSpPr>
          <p:nvPr>
            <p:ph type="body" sz="quarter" idx="11"/>
          </p:nvPr>
        </p:nvSpPr>
        <p:spPr>
          <a:xfrm>
            <a:off x="5699483" y="2355562"/>
            <a:ext cx="4684295" cy="1073438"/>
          </a:xfrm>
        </p:spPr>
        <p:txBody>
          <a:bodyPr/>
          <a:lstStyle/>
          <a:p>
            <a:pPr algn="ctr"/>
            <a:r>
              <a:rPr lang="en-US" dirty="0"/>
              <a:t>Financial &amp; Managerial Accounting, 16e</a:t>
            </a:r>
          </a:p>
        </p:txBody>
      </p:sp>
      <p:sp>
        <p:nvSpPr>
          <p:cNvPr id="8" name="Footer Placeholder 7"/>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pic>
        <p:nvPicPr>
          <p:cNvPr id="7" name="Picture 6">
            <a:extLst>
              <a:ext uri="{FF2B5EF4-FFF2-40B4-BE49-F238E27FC236}">
                <a16:creationId xmlns:a16="http://schemas.microsoft.com/office/drawing/2014/main" id="{C162D0C5-0FD9-2A48-FB21-2F5128FBEAB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9109" y="689200"/>
            <a:ext cx="3624303" cy="4214746"/>
          </a:xfrm>
          <a:prstGeom prst="rect">
            <a:avLst/>
          </a:prstGeom>
        </p:spPr>
      </p:pic>
    </p:spTree>
    <p:extLst>
      <p:ext uri="{BB962C8B-B14F-4D97-AF65-F5344CB8AC3E}">
        <p14:creationId xmlns:p14="http://schemas.microsoft.com/office/powerpoint/2010/main" val="1607059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3C328-0E5B-46F1-9F10-08D1ACA62224}"/>
              </a:ext>
            </a:extLst>
          </p:cNvPr>
          <p:cNvSpPr>
            <a:spLocks noGrp="1"/>
          </p:cNvSpPr>
          <p:nvPr>
            <p:ph type="title"/>
          </p:nvPr>
        </p:nvSpPr>
        <p:spPr/>
        <p:txBody>
          <a:bodyPr/>
          <a:lstStyle/>
          <a:p>
            <a:r>
              <a:rPr lang="en-US" dirty="0"/>
              <a:t>Safeguarding Inventory</a:t>
            </a:r>
            <a:endParaRPr lang="en-US" sz="2000" dirty="0"/>
          </a:p>
        </p:txBody>
      </p:sp>
      <p:sp>
        <p:nvSpPr>
          <p:cNvPr id="3" name="Text Placeholder 2">
            <a:extLst>
              <a:ext uri="{FF2B5EF4-FFF2-40B4-BE49-F238E27FC236}">
                <a16:creationId xmlns:a16="http://schemas.microsoft.com/office/drawing/2014/main" id="{547ACCC2-1924-4BF3-BE98-8D91D224CBB2}"/>
              </a:ext>
            </a:extLst>
          </p:cNvPr>
          <p:cNvSpPr>
            <a:spLocks noGrp="1"/>
          </p:cNvSpPr>
          <p:nvPr>
            <p:ph sz="quarter" idx="10"/>
          </p:nvPr>
        </p:nvSpPr>
        <p:spPr/>
        <p:txBody>
          <a:bodyPr>
            <a:noAutofit/>
          </a:bodyPr>
          <a:lstStyle/>
          <a:p>
            <a:pPr marL="457200" indent="-457200">
              <a:buFont typeface="Arial" panose="020B0604020202020204" pitchFamily="34" charset="0"/>
              <a:buChar char="•"/>
            </a:pPr>
            <a:r>
              <a:rPr lang="en-US" sz="2400" dirty="0"/>
              <a:t>Controls for safeguarding inventory begin as soon as the inventory is ordered. </a:t>
            </a:r>
          </a:p>
          <a:p>
            <a:pPr marL="457200" indent="-457200">
              <a:buFont typeface="Arial" panose="020B0604020202020204" pitchFamily="34" charset="0"/>
              <a:buChar char="•"/>
            </a:pPr>
            <a:r>
              <a:rPr lang="en-US" sz="2400" dirty="0"/>
              <a:t>The following documents are often used for inventory control:</a:t>
            </a:r>
          </a:p>
          <a:p>
            <a:pPr lvl="1"/>
            <a:r>
              <a:rPr lang="en-US" dirty="0">
                <a:highlight>
                  <a:srgbClr val="00FFFF"/>
                </a:highlight>
              </a:rPr>
              <a:t>The </a:t>
            </a:r>
            <a:r>
              <a:rPr lang="en-US" b="1" dirty="0">
                <a:solidFill>
                  <a:srgbClr val="004A78"/>
                </a:solidFill>
                <a:highlight>
                  <a:srgbClr val="00FFFF"/>
                </a:highlight>
              </a:rPr>
              <a:t>purchase order</a:t>
            </a:r>
            <a:r>
              <a:rPr lang="en-US" dirty="0">
                <a:solidFill>
                  <a:srgbClr val="004A78"/>
                </a:solidFill>
                <a:highlight>
                  <a:srgbClr val="00FFFF"/>
                </a:highlight>
              </a:rPr>
              <a:t> </a:t>
            </a:r>
            <a:r>
              <a:rPr lang="en-US" dirty="0">
                <a:highlight>
                  <a:srgbClr val="00FFFF"/>
                </a:highlight>
              </a:rPr>
              <a:t>authorizes the purchase of the inventory from an approved vendor.</a:t>
            </a:r>
          </a:p>
          <a:p>
            <a:pPr lvl="1"/>
            <a:r>
              <a:rPr lang="en-US" dirty="0">
                <a:highlight>
                  <a:srgbClr val="00FFFF"/>
                </a:highlight>
              </a:rPr>
              <a:t>The </a:t>
            </a:r>
            <a:r>
              <a:rPr lang="en-US" b="1" dirty="0">
                <a:solidFill>
                  <a:srgbClr val="004A78"/>
                </a:solidFill>
                <a:highlight>
                  <a:srgbClr val="00FFFF"/>
                </a:highlight>
              </a:rPr>
              <a:t>receiving report</a:t>
            </a:r>
            <a:r>
              <a:rPr lang="en-US" dirty="0">
                <a:solidFill>
                  <a:srgbClr val="004A78"/>
                </a:solidFill>
                <a:highlight>
                  <a:srgbClr val="00FFFF"/>
                </a:highlight>
              </a:rPr>
              <a:t> </a:t>
            </a:r>
            <a:r>
              <a:rPr lang="en-US" dirty="0">
                <a:highlight>
                  <a:srgbClr val="00FFFF"/>
                </a:highlight>
              </a:rPr>
              <a:t>establishes an initial record of the receipt of the inventory.</a:t>
            </a:r>
          </a:p>
          <a:p>
            <a:pPr lvl="1"/>
            <a:r>
              <a:rPr lang="en-US" dirty="0">
                <a:highlight>
                  <a:srgbClr val="00FFFF"/>
                </a:highlight>
              </a:rPr>
              <a:t>The </a:t>
            </a:r>
            <a:r>
              <a:rPr lang="en-US" b="1" dirty="0">
                <a:solidFill>
                  <a:srgbClr val="004A78"/>
                </a:solidFill>
                <a:highlight>
                  <a:srgbClr val="00FFFF"/>
                </a:highlight>
              </a:rPr>
              <a:t>vendor’s invoice</a:t>
            </a:r>
          </a:p>
          <a:p>
            <a:pPr marL="457200" indent="-457200">
              <a:buFont typeface="Arial" panose="020B0604020202020204" pitchFamily="34" charset="0"/>
              <a:buChar char="•"/>
            </a:pPr>
            <a:r>
              <a:rPr lang="en-US" sz="2400" dirty="0"/>
              <a:t>The </a:t>
            </a:r>
            <a:r>
              <a:rPr lang="en-US" sz="2400" b="1" dirty="0">
                <a:solidFill>
                  <a:srgbClr val="004A78"/>
                </a:solidFill>
              </a:rPr>
              <a:t>subsidiary inventory ledger</a:t>
            </a:r>
            <a:r>
              <a:rPr lang="en-US" sz="2400" dirty="0">
                <a:solidFill>
                  <a:srgbClr val="004A78"/>
                </a:solidFill>
              </a:rPr>
              <a:t> </a:t>
            </a:r>
            <a:r>
              <a:rPr lang="en-US" sz="2400" dirty="0"/>
              <a:t>provides a record of the amount of inventory available and helps keep inventory quantities at proper levels.</a:t>
            </a:r>
          </a:p>
          <a:p>
            <a:pPr marL="457200" indent="-457200">
              <a:buFont typeface="Arial" panose="020B0604020202020204" pitchFamily="34" charset="0"/>
              <a:buChar char="•"/>
            </a:pPr>
            <a:r>
              <a:rPr lang="en-US" sz="2400" dirty="0">
                <a:highlight>
                  <a:srgbClr val="FFFF00"/>
                </a:highlight>
              </a:rPr>
              <a:t>Controls for safeguarding inventory should include security measures to prevent damage and customer or employee theft.</a:t>
            </a:r>
          </a:p>
        </p:txBody>
      </p:sp>
    </p:spTree>
    <p:extLst>
      <p:ext uri="{BB962C8B-B14F-4D97-AF65-F5344CB8AC3E}">
        <p14:creationId xmlns:p14="http://schemas.microsoft.com/office/powerpoint/2010/main" val="1590176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27BF1-6CB4-4A06-9A0D-658930E2EA50}"/>
              </a:ext>
            </a:extLst>
          </p:cNvPr>
          <p:cNvSpPr>
            <a:spLocks noGrp="1"/>
          </p:cNvSpPr>
          <p:nvPr>
            <p:ph type="title"/>
          </p:nvPr>
        </p:nvSpPr>
        <p:spPr/>
        <p:txBody>
          <a:bodyPr/>
          <a:lstStyle/>
          <a:p>
            <a:r>
              <a:rPr lang="en-US" dirty="0"/>
              <a:t>Reporting Inventory</a:t>
            </a:r>
          </a:p>
        </p:txBody>
      </p:sp>
      <p:sp>
        <p:nvSpPr>
          <p:cNvPr id="3" name="Text Placeholder 2">
            <a:extLst>
              <a:ext uri="{FF2B5EF4-FFF2-40B4-BE49-F238E27FC236}">
                <a16:creationId xmlns:a16="http://schemas.microsoft.com/office/drawing/2014/main" id="{A461BFB4-A66C-41C9-B685-1FAE6DD232E2}"/>
              </a:ext>
            </a:extLst>
          </p:cNvPr>
          <p:cNvSpPr>
            <a:spLocks noGrp="1"/>
          </p:cNvSpPr>
          <p:nvPr>
            <p:ph sz="quarter" idx="10"/>
          </p:nvPr>
        </p:nvSpPr>
        <p:spPr/>
        <p:txBody>
          <a:bodyPr/>
          <a:lstStyle/>
          <a:p>
            <a:pPr marL="457200" indent="-457200">
              <a:buFont typeface="Arial" panose="020B0604020202020204" pitchFamily="34" charset="0"/>
              <a:buChar char="•"/>
            </a:pPr>
            <a:r>
              <a:rPr lang="en-US" sz="2600" dirty="0"/>
              <a:t>A </a:t>
            </a:r>
            <a:r>
              <a:rPr lang="en-US" sz="2600" b="1" dirty="0">
                <a:solidFill>
                  <a:srgbClr val="004A78"/>
                </a:solidFill>
              </a:rPr>
              <a:t>physical inventory </a:t>
            </a:r>
            <a:r>
              <a:rPr lang="en-US" sz="2600" dirty="0"/>
              <a:t>or </a:t>
            </a:r>
            <a:r>
              <a:rPr lang="en-US" sz="2600" i="1" dirty="0"/>
              <a:t>count of inventory </a:t>
            </a:r>
            <a:r>
              <a:rPr lang="en-US" sz="2600" dirty="0"/>
              <a:t>should be taken near year-end to make sure that the quantity of inventory reported in the financial statements is accurate. </a:t>
            </a:r>
          </a:p>
          <a:p>
            <a:pPr marL="457200" indent="-457200">
              <a:buFont typeface="Arial" panose="020B0604020202020204" pitchFamily="34" charset="0"/>
              <a:buChar char="•"/>
            </a:pPr>
            <a:r>
              <a:rPr lang="en-US" sz="2600" dirty="0"/>
              <a:t>After the quantity of inventory on hand is determined, the cost of the inventory is assigned for reporting in the financial statements.</a:t>
            </a:r>
          </a:p>
        </p:txBody>
      </p:sp>
    </p:spTree>
    <p:extLst>
      <p:ext uri="{BB962C8B-B14F-4D97-AF65-F5344CB8AC3E}">
        <p14:creationId xmlns:p14="http://schemas.microsoft.com/office/powerpoint/2010/main" val="3577958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7678C-42A9-4D04-8ED9-0B58E6D00A39}"/>
              </a:ext>
            </a:extLst>
          </p:cNvPr>
          <p:cNvSpPr>
            <a:spLocks noGrp="1"/>
          </p:cNvSpPr>
          <p:nvPr>
            <p:ph type="title"/>
          </p:nvPr>
        </p:nvSpPr>
        <p:spPr/>
        <p:txBody>
          <a:bodyPr/>
          <a:lstStyle/>
          <a:p>
            <a:r>
              <a:rPr lang="en-US" dirty="0"/>
              <a:t>Exhibit 1 </a:t>
            </a:r>
            <a:r>
              <a:rPr lang="en-US" noProof="0" dirty="0"/>
              <a:t>– </a:t>
            </a:r>
            <a:r>
              <a:rPr lang="en-US" dirty="0"/>
              <a:t>Cost Flow Assumptions</a:t>
            </a:r>
          </a:p>
        </p:txBody>
      </p:sp>
      <p:pic>
        <p:nvPicPr>
          <p:cNvPr id="5" name="Content Placeholder 4" descr="A chart illustrating three common cost flow assumptions and related inventory costing methods is shown. There are two sections to the chart. The top section is labeled Cost Flow Assumption, which is shown in bold. The section below it is labeled Inventory Costing Method, which is shown in bold. The chart is separated into three color-coded columns. Each of the three cost flow assumptions and their related inventory costing method are listed vertically in each column. &#10;&#10;The first column of the chart shows the first of three cost flow assumptions within the Cost Flow Assumption section: 1. Cost flow is in the order in which the costs were incurred. In the Inventory Costing Method section below, the words First-in, First-out (FIFO) are shown in bold. Below this is a computer graphic of an industrial building with the acronym FIFO shown on its façade. The roof of the building is open, and computer graphics of small boxes are shown dropping into the building. The words Purchased Goods are shown next to the boxes. The front door of the building is open and computer graphics of small boxes are shown exiting from the doorway. The words Sold Goods are shown next to the boxes.&#10;&#10;The second column of the chart shows the second of three cost flow assumptions within the Cost Flow Assumption section: 2. Cost flow is in the reverse order in which the costs were incurred. In the Inventory Costing Method section below, the words Last-in, First-out (LIFO) are shown in bold. Below this is a computer graphic of an industrial building with the acronym LIFO shown on its façade. The roof of the building is open, and computer graphics of small boxes are shown dropping into the left side of the building. The words Purchased Goods are shown next to the boxes. Computer graphics of small boxes are shown exiting from the roof on the right side of the building. The words Sold Goods are shown next to the boxes.&#10;&#10;The third column of the chart shows the third of three cost flow assumptions within the Cost Flow Assumption section: 3. Cost flow is an average of the costs. In the Inventory Costing Method section below, the words Weighted Average Cost are shown in bold. Below this is a computer graphic of an industrial building with the words Weighted Average Cost on its façade. The roof of the building is open, and computer graphics of small boxes are shown dropping into the building. The words Purchased Goods are shown next to the boxes. A chute is shown halfway up the right side of the building, and computer graphics of small boxes are shown exiting from this chute. The words Sold Goods are shown next to the boxes.&#10;">
            <a:extLst>
              <a:ext uri="{FF2B5EF4-FFF2-40B4-BE49-F238E27FC236}">
                <a16:creationId xmlns:a16="http://schemas.microsoft.com/office/drawing/2014/main" id="{62F6682F-9C06-4064-B4D8-EB7C3D2A6CA0}"/>
              </a:ext>
            </a:extLst>
          </p:cNvPr>
          <p:cNvPicPr>
            <a:picLocks noGrp="1" noChangeAspect="1"/>
          </p:cNvPicPr>
          <p:nvPr>
            <p:ph sz="quarter" idx="10"/>
          </p:nvPr>
        </p:nvPicPr>
        <p:blipFill>
          <a:blip r:embed="rId2"/>
          <a:stretch>
            <a:fillRect/>
          </a:stretch>
        </p:blipFill>
        <p:spPr>
          <a:xfrm>
            <a:off x="1697822" y="1593850"/>
            <a:ext cx="8796355" cy="4473575"/>
          </a:xfrm>
          <a:prstGeom prst="rect">
            <a:avLst/>
          </a:prstGeom>
        </p:spPr>
      </p:pic>
    </p:spTree>
    <p:extLst>
      <p:ext uri="{BB962C8B-B14F-4D97-AF65-F5344CB8AC3E}">
        <p14:creationId xmlns:p14="http://schemas.microsoft.com/office/powerpoint/2010/main" val="1156591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DD2A8-43C9-4403-8183-118876796166}"/>
              </a:ext>
            </a:extLst>
          </p:cNvPr>
          <p:cNvSpPr>
            <a:spLocks noGrp="1"/>
          </p:cNvSpPr>
          <p:nvPr>
            <p:ph type="title"/>
          </p:nvPr>
        </p:nvSpPr>
        <p:spPr/>
        <p:txBody>
          <a:bodyPr/>
          <a:lstStyle/>
          <a:p>
            <a:r>
              <a:rPr lang="en-US" dirty="0"/>
              <a:t>Inventory Cost Flow Assumptions</a:t>
            </a:r>
            <a:br>
              <a:rPr lang="en-US" dirty="0"/>
            </a:br>
            <a:endParaRPr lang="en-US" sz="2400" dirty="0"/>
          </a:p>
        </p:txBody>
      </p:sp>
      <p:sp>
        <p:nvSpPr>
          <p:cNvPr id="3" name="Text Placeholder 2">
            <a:extLst>
              <a:ext uri="{FF2B5EF4-FFF2-40B4-BE49-F238E27FC236}">
                <a16:creationId xmlns:a16="http://schemas.microsoft.com/office/drawing/2014/main" id="{7B79A5E9-9A33-436D-BE78-F39800B6C37F}"/>
              </a:ext>
            </a:extLst>
          </p:cNvPr>
          <p:cNvSpPr>
            <a:spLocks noGrp="1"/>
          </p:cNvSpPr>
          <p:nvPr>
            <p:ph sz="quarter" idx="19"/>
          </p:nvPr>
        </p:nvSpPr>
        <p:spPr>
          <a:xfrm>
            <a:off x="838200" y="1579439"/>
            <a:ext cx="10628086" cy="1374776"/>
          </a:xfrm>
        </p:spPr>
        <p:txBody>
          <a:bodyPr/>
          <a:lstStyle/>
          <a:p>
            <a:pPr marL="457200" indent="-457200">
              <a:buFont typeface="Arial" panose="020B0604020202020204" pitchFamily="34" charset="0"/>
              <a:buChar char="•"/>
            </a:pPr>
            <a:r>
              <a:rPr lang="en-US" sz="2600" dirty="0"/>
              <a:t>Assume that three identical units of merchandise are purchased during May, as follows:</a:t>
            </a:r>
          </a:p>
        </p:txBody>
      </p:sp>
      <p:graphicFrame>
        <p:nvGraphicFramePr>
          <p:cNvPr id="10" name="Content Placeholder 9">
            <a:extLst>
              <a:ext uri="{FF2B5EF4-FFF2-40B4-BE49-F238E27FC236}">
                <a16:creationId xmlns:a16="http://schemas.microsoft.com/office/drawing/2014/main" id="{C3F45D76-B56E-4D28-9E38-DC469C4D5EC9}"/>
              </a:ext>
            </a:extLst>
          </p:cNvPr>
          <p:cNvGraphicFramePr>
            <a:graphicFrameLocks noGrp="1"/>
          </p:cNvGraphicFramePr>
          <p:nvPr>
            <p:ph sz="quarter" idx="20"/>
            <p:extLst>
              <p:ext uri="{D42A27DB-BD31-4B8C-83A1-F6EECF244321}">
                <p14:modId xmlns:p14="http://schemas.microsoft.com/office/powerpoint/2010/main" val="738790423"/>
              </p:ext>
            </p:extLst>
          </p:nvPr>
        </p:nvGraphicFramePr>
        <p:xfrm>
          <a:off x="2608670" y="2429624"/>
          <a:ext cx="7541170" cy="2133600"/>
        </p:xfrm>
        <a:graphic>
          <a:graphicData uri="http://schemas.openxmlformats.org/drawingml/2006/table">
            <a:tbl>
              <a:tblPr firstRow="1" bandRow="1">
                <a:tableStyleId>{2D5ABB26-0587-4C30-8999-92F81FD0307C}</a:tableStyleId>
              </a:tblPr>
              <a:tblGrid>
                <a:gridCol w="956112">
                  <a:extLst>
                    <a:ext uri="{9D8B030D-6E8A-4147-A177-3AD203B41FA5}">
                      <a16:colId xmlns:a16="http://schemas.microsoft.com/office/drawing/2014/main" val="2774504350"/>
                    </a:ext>
                  </a:extLst>
                </a:gridCol>
                <a:gridCol w="902247">
                  <a:extLst>
                    <a:ext uri="{9D8B030D-6E8A-4147-A177-3AD203B41FA5}">
                      <a16:colId xmlns:a16="http://schemas.microsoft.com/office/drawing/2014/main" val="880074229"/>
                    </a:ext>
                  </a:extLst>
                </a:gridCol>
                <a:gridCol w="2510098">
                  <a:extLst>
                    <a:ext uri="{9D8B030D-6E8A-4147-A177-3AD203B41FA5}">
                      <a16:colId xmlns:a16="http://schemas.microsoft.com/office/drawing/2014/main" val="2961812814"/>
                    </a:ext>
                  </a:extLst>
                </a:gridCol>
                <a:gridCol w="1546498">
                  <a:extLst>
                    <a:ext uri="{9D8B030D-6E8A-4147-A177-3AD203B41FA5}">
                      <a16:colId xmlns:a16="http://schemas.microsoft.com/office/drawing/2014/main" val="1332909320"/>
                    </a:ext>
                  </a:extLst>
                </a:gridCol>
                <a:gridCol w="1626215">
                  <a:extLst>
                    <a:ext uri="{9D8B030D-6E8A-4147-A177-3AD203B41FA5}">
                      <a16:colId xmlns:a16="http://schemas.microsoft.com/office/drawing/2014/main" val="1132006093"/>
                    </a:ext>
                  </a:extLst>
                </a:gridCol>
              </a:tblGrid>
              <a:tr h="370840">
                <a:tc>
                  <a:txBody>
                    <a:bodyPr/>
                    <a:lstStyle/>
                    <a:p>
                      <a:endParaRPr lang="en-US" sz="2200" dirty="0">
                        <a:solidFill>
                          <a:srgbClr val="000000"/>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2200" dirty="0">
                        <a:solidFill>
                          <a:srgbClr val="000000"/>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2200" dirty="0">
                        <a:solidFill>
                          <a:srgbClr val="000000"/>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200" dirty="0">
                          <a:solidFill>
                            <a:srgbClr val="000000"/>
                          </a:solidFill>
                          <a:latin typeface="Arial" panose="020B0604020202020204" pitchFamily="34" charset="0"/>
                          <a:cs typeface="Arial" panose="020B0604020202020204" pitchFamily="34" charset="0"/>
                        </a:rPr>
                        <a:t>Units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200" dirty="0">
                          <a:solidFill>
                            <a:srgbClr val="000000"/>
                          </a:solidFill>
                          <a:latin typeface="Arial" panose="020B0604020202020204" pitchFamily="34" charset="0"/>
                          <a:cs typeface="Arial" panose="020B0604020202020204" pitchFamily="34" charset="0"/>
                        </a:rPr>
                        <a:t>Cost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166153"/>
                  </a:ext>
                </a:extLst>
              </a:tr>
              <a:tr h="370840">
                <a:tc>
                  <a:txBody>
                    <a:bodyPr/>
                    <a:lstStyle/>
                    <a:p>
                      <a:r>
                        <a:rPr lang="en-US" sz="2200" dirty="0">
                          <a:solidFill>
                            <a:srgbClr val="000000"/>
                          </a:solidFill>
                          <a:latin typeface="Arial" panose="020B0604020202020204" pitchFamily="34" charset="0"/>
                          <a:cs typeface="Arial" panose="020B0604020202020204" pitchFamily="34" charset="0"/>
                        </a:rPr>
                        <a:t>May </a:t>
                      </a:r>
                    </a:p>
                  </a:txBody>
                  <a:tcPr>
                    <a:lnT w="12700" cap="flat" cmpd="sng" algn="ctr">
                      <a:solidFill>
                        <a:srgbClr val="000000"/>
                      </a:solidFill>
                      <a:prstDash val="solid"/>
                      <a:round/>
                      <a:headEnd type="none" w="med" len="med"/>
                      <a:tailEnd type="none" w="med" len="med"/>
                    </a:lnT>
                  </a:tcPr>
                </a:tc>
                <a:tc>
                  <a:txBody>
                    <a:bodyPr/>
                    <a:lstStyle/>
                    <a:p>
                      <a:r>
                        <a:rPr lang="en-US" sz="2200" dirty="0">
                          <a:solidFill>
                            <a:srgbClr val="000000"/>
                          </a:solidFill>
                          <a:latin typeface="Arial" panose="020B0604020202020204" pitchFamily="34" charset="0"/>
                          <a:cs typeface="Arial" panose="020B0604020202020204" pitchFamily="34" charset="0"/>
                        </a:rPr>
                        <a:t>10</a:t>
                      </a:r>
                    </a:p>
                  </a:txBody>
                  <a:tcPr>
                    <a:lnT w="12700" cap="flat" cmpd="sng" algn="ctr">
                      <a:solidFill>
                        <a:srgbClr val="000000"/>
                      </a:solidFill>
                      <a:prstDash val="solid"/>
                      <a:round/>
                      <a:headEnd type="none" w="med" len="med"/>
                      <a:tailEnd type="none" w="med" len="med"/>
                    </a:lnT>
                  </a:tcPr>
                </a:tc>
                <a:tc>
                  <a:txBody>
                    <a:bodyPr/>
                    <a:lstStyle/>
                    <a:p>
                      <a:r>
                        <a:rPr lang="en-US" sz="2200" dirty="0">
                          <a:solidFill>
                            <a:srgbClr val="000000"/>
                          </a:solidFill>
                          <a:latin typeface="Arial" panose="020B0604020202020204" pitchFamily="34" charset="0"/>
                          <a:cs typeface="Arial" panose="020B0604020202020204" pitchFamily="34" charset="0"/>
                        </a:rPr>
                        <a:t>Purchase</a:t>
                      </a:r>
                    </a:p>
                  </a:txBody>
                  <a:tcPr>
                    <a:lnT w="12700" cap="flat" cmpd="sng" algn="ctr">
                      <a:solidFill>
                        <a:srgbClr val="000000"/>
                      </a:solidFill>
                      <a:prstDash val="solid"/>
                      <a:round/>
                      <a:headEnd type="none" w="med" len="med"/>
                      <a:tailEnd type="none" w="med" len="med"/>
                    </a:lnT>
                  </a:tcPr>
                </a:tc>
                <a:tc>
                  <a:txBody>
                    <a:bodyPr/>
                    <a:lstStyle/>
                    <a:p>
                      <a:pPr algn="ctr"/>
                      <a:r>
                        <a:rPr lang="en-US" sz="2200" dirty="0">
                          <a:solidFill>
                            <a:srgbClr val="000000"/>
                          </a:solidFill>
                          <a:latin typeface="Arial" panose="020B0604020202020204" pitchFamily="34" charset="0"/>
                          <a:cs typeface="Arial" panose="020B0604020202020204" pitchFamily="34" charset="0"/>
                        </a:rPr>
                        <a:t>1</a:t>
                      </a:r>
                    </a:p>
                  </a:txBody>
                  <a:tcPr>
                    <a:lnT w="12700" cap="flat" cmpd="sng" algn="ctr">
                      <a:solidFill>
                        <a:srgbClr val="000000"/>
                      </a:solidFill>
                      <a:prstDash val="solid"/>
                      <a:round/>
                      <a:headEnd type="none" w="med" len="med"/>
                      <a:tailEnd type="none" w="med" len="med"/>
                    </a:lnT>
                  </a:tcPr>
                </a:tc>
                <a:tc>
                  <a:txBody>
                    <a:bodyPr/>
                    <a:lstStyle/>
                    <a:p>
                      <a:pPr algn="ctr"/>
                      <a:r>
                        <a:rPr lang="en-US" sz="2200" dirty="0">
                          <a:solidFill>
                            <a:srgbClr val="000000"/>
                          </a:solidFill>
                          <a:latin typeface="Arial" panose="020B0604020202020204" pitchFamily="34" charset="0"/>
                          <a:cs typeface="Arial" panose="020B0604020202020204" pitchFamily="34" charset="0"/>
                        </a:rPr>
                        <a:t>$  9</a:t>
                      </a:r>
                    </a:p>
                  </a:txBody>
                  <a:tcPr>
                    <a:lnT w="1270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2949409782"/>
                  </a:ext>
                </a:extLst>
              </a:tr>
              <a:tr h="370840">
                <a:tc>
                  <a:txBody>
                    <a:bodyPr/>
                    <a:lstStyle/>
                    <a:p>
                      <a:endParaRPr lang="en-US" sz="2200" dirty="0">
                        <a:solidFill>
                          <a:srgbClr val="000000"/>
                        </a:solidFill>
                        <a:latin typeface="Arial" panose="020B0604020202020204" pitchFamily="34" charset="0"/>
                        <a:cs typeface="Arial" panose="020B0604020202020204" pitchFamily="34" charset="0"/>
                      </a:endParaRPr>
                    </a:p>
                  </a:txBody>
                  <a:tcPr/>
                </a:tc>
                <a:tc>
                  <a:txBody>
                    <a:bodyPr/>
                    <a:lstStyle/>
                    <a:p>
                      <a:r>
                        <a:rPr lang="en-US" sz="2200" dirty="0">
                          <a:solidFill>
                            <a:srgbClr val="000000"/>
                          </a:solidFill>
                          <a:latin typeface="Arial" panose="020B0604020202020204" pitchFamily="34" charset="0"/>
                          <a:cs typeface="Arial" panose="020B0604020202020204" pitchFamily="34" charset="0"/>
                        </a:rPr>
                        <a:t>18</a:t>
                      </a:r>
                    </a:p>
                  </a:txBody>
                  <a:tcPr/>
                </a:tc>
                <a:tc>
                  <a:txBody>
                    <a:bodyPr/>
                    <a:lstStyle/>
                    <a:p>
                      <a:r>
                        <a:rPr lang="en-US" sz="2200" dirty="0">
                          <a:solidFill>
                            <a:srgbClr val="000000"/>
                          </a:solidFill>
                          <a:latin typeface="Arial" panose="020B0604020202020204" pitchFamily="34" charset="0"/>
                          <a:cs typeface="Arial" panose="020B0604020202020204" pitchFamily="34" charset="0"/>
                        </a:rPr>
                        <a:t>Purchase</a:t>
                      </a:r>
                    </a:p>
                  </a:txBody>
                  <a:tcPr/>
                </a:tc>
                <a:tc>
                  <a:txBody>
                    <a:bodyPr/>
                    <a:lstStyle/>
                    <a:p>
                      <a:pPr algn="ctr"/>
                      <a:r>
                        <a:rPr lang="en-US" sz="2200" u="none" dirty="0">
                          <a:solidFill>
                            <a:srgbClr val="000000"/>
                          </a:solidFill>
                          <a:latin typeface="Arial" panose="020B0604020202020204" pitchFamily="34" charset="0"/>
                          <a:cs typeface="Arial" panose="020B0604020202020204" pitchFamily="34" charset="0"/>
                        </a:rPr>
                        <a:t>1</a:t>
                      </a:r>
                    </a:p>
                  </a:txBody>
                  <a:tcPr/>
                </a:tc>
                <a:tc>
                  <a:txBody>
                    <a:bodyPr/>
                    <a:lstStyle/>
                    <a:p>
                      <a:pPr algn="ctr"/>
                      <a:r>
                        <a:rPr lang="en-US" sz="2200" dirty="0">
                          <a:solidFill>
                            <a:srgbClr val="000000"/>
                          </a:solidFill>
                          <a:latin typeface="Arial" panose="020B0604020202020204" pitchFamily="34" charset="0"/>
                          <a:cs typeface="Arial" panose="020B0604020202020204" pitchFamily="34" charset="0"/>
                        </a:rPr>
                        <a:t>  13</a:t>
                      </a:r>
                    </a:p>
                  </a:txBody>
                  <a:tcPr/>
                </a:tc>
                <a:extLst>
                  <a:ext uri="{0D108BD9-81ED-4DB2-BD59-A6C34878D82A}">
                    <a16:rowId xmlns:a16="http://schemas.microsoft.com/office/drawing/2014/main" val="2642436380"/>
                  </a:ext>
                </a:extLst>
              </a:tr>
              <a:tr h="370840">
                <a:tc>
                  <a:txBody>
                    <a:bodyPr/>
                    <a:lstStyle/>
                    <a:p>
                      <a:endParaRPr lang="en-US" sz="2200" dirty="0">
                        <a:solidFill>
                          <a:srgbClr val="000000"/>
                        </a:solidFill>
                        <a:latin typeface="Arial" panose="020B0604020202020204" pitchFamily="34" charset="0"/>
                        <a:cs typeface="Arial" panose="020B0604020202020204" pitchFamily="34" charset="0"/>
                      </a:endParaRPr>
                    </a:p>
                  </a:txBody>
                  <a:tcPr/>
                </a:tc>
                <a:tc>
                  <a:txBody>
                    <a:bodyPr/>
                    <a:lstStyle/>
                    <a:p>
                      <a:r>
                        <a:rPr lang="en-US" sz="2200" dirty="0">
                          <a:solidFill>
                            <a:srgbClr val="000000"/>
                          </a:solidFill>
                          <a:latin typeface="Arial" panose="020B0604020202020204" pitchFamily="34" charset="0"/>
                          <a:cs typeface="Arial" panose="020B0604020202020204" pitchFamily="34" charset="0"/>
                        </a:rPr>
                        <a:t>24</a:t>
                      </a:r>
                    </a:p>
                  </a:txBody>
                  <a:tcPr/>
                </a:tc>
                <a:tc>
                  <a:txBody>
                    <a:bodyPr/>
                    <a:lstStyle/>
                    <a:p>
                      <a:r>
                        <a:rPr lang="en-US" sz="2200" dirty="0">
                          <a:solidFill>
                            <a:srgbClr val="000000"/>
                          </a:solidFill>
                          <a:latin typeface="Arial" panose="020B0604020202020204" pitchFamily="34" charset="0"/>
                          <a:cs typeface="Arial" panose="020B0604020202020204" pitchFamily="34" charset="0"/>
                        </a:rPr>
                        <a:t>Purchase</a:t>
                      </a:r>
                    </a:p>
                  </a:txBody>
                  <a:tcPr/>
                </a:tc>
                <a:tc>
                  <a:txBody>
                    <a:bodyPr/>
                    <a:lstStyle/>
                    <a:p>
                      <a:pPr algn="ctr"/>
                      <a:r>
                        <a:rPr lang="en-US" sz="2200" u="sng" dirty="0">
                          <a:solidFill>
                            <a:srgbClr val="000000"/>
                          </a:solidFill>
                          <a:latin typeface="Arial" panose="020B0604020202020204" pitchFamily="34" charset="0"/>
                          <a:cs typeface="Arial" panose="020B0604020202020204" pitchFamily="34" charset="0"/>
                        </a:rPr>
                        <a:t>1</a:t>
                      </a:r>
                    </a:p>
                  </a:txBody>
                  <a:tcPr/>
                </a:tc>
                <a:tc>
                  <a:txBody>
                    <a:bodyPr/>
                    <a:lstStyle/>
                    <a:p>
                      <a:pPr algn="ctr"/>
                      <a:r>
                        <a:rPr lang="en-US" sz="2200" u="sng" dirty="0">
                          <a:solidFill>
                            <a:srgbClr val="000000"/>
                          </a:solidFill>
                          <a:latin typeface="Arial" panose="020B0604020202020204" pitchFamily="34" charset="0"/>
                          <a:cs typeface="Arial" panose="020B0604020202020204" pitchFamily="34" charset="0"/>
                        </a:rPr>
                        <a:t>  14</a:t>
                      </a:r>
                    </a:p>
                  </a:txBody>
                  <a:tcPr/>
                </a:tc>
                <a:extLst>
                  <a:ext uri="{0D108BD9-81ED-4DB2-BD59-A6C34878D82A}">
                    <a16:rowId xmlns:a16="http://schemas.microsoft.com/office/drawing/2014/main" val="55298567"/>
                  </a:ext>
                </a:extLst>
              </a:tr>
              <a:tr h="370840">
                <a:tc>
                  <a:txBody>
                    <a:bodyPr/>
                    <a:lstStyle/>
                    <a:p>
                      <a:r>
                        <a:rPr lang="en-US" sz="2200" dirty="0">
                          <a:solidFill>
                            <a:srgbClr val="000000"/>
                          </a:solidFill>
                          <a:latin typeface="Arial" panose="020B0604020202020204" pitchFamily="34" charset="0"/>
                          <a:cs typeface="Arial" panose="020B0604020202020204" pitchFamily="34" charset="0"/>
                        </a:rPr>
                        <a:t>Total</a:t>
                      </a:r>
                    </a:p>
                  </a:txBody>
                  <a:tcPr/>
                </a:tc>
                <a:tc>
                  <a:txBody>
                    <a:bodyPr/>
                    <a:lstStyle/>
                    <a:p>
                      <a:endParaRPr lang="en-US" sz="2200" dirty="0">
                        <a:solidFill>
                          <a:srgbClr val="000000"/>
                        </a:solidFill>
                        <a:latin typeface="Arial" panose="020B0604020202020204" pitchFamily="34" charset="0"/>
                        <a:cs typeface="Arial" panose="020B0604020202020204" pitchFamily="34" charset="0"/>
                      </a:endParaRPr>
                    </a:p>
                  </a:txBody>
                  <a:tcPr/>
                </a:tc>
                <a:tc>
                  <a:txBody>
                    <a:bodyPr/>
                    <a:lstStyle/>
                    <a:p>
                      <a:endParaRPr lang="en-US" sz="2200" dirty="0">
                        <a:solidFill>
                          <a:srgbClr val="000000"/>
                        </a:solidFill>
                        <a:latin typeface="Arial" panose="020B0604020202020204" pitchFamily="34" charset="0"/>
                        <a:cs typeface="Arial" panose="020B0604020202020204" pitchFamily="34" charset="0"/>
                      </a:endParaRPr>
                    </a:p>
                  </a:txBody>
                  <a:tcPr/>
                </a:tc>
                <a:tc>
                  <a:txBody>
                    <a:bodyPr/>
                    <a:lstStyle/>
                    <a:p>
                      <a:pPr algn="ctr"/>
                      <a:r>
                        <a:rPr lang="en-US" sz="2200" u="dbl" baseline="0" dirty="0">
                          <a:solidFill>
                            <a:srgbClr val="000000"/>
                          </a:solidFill>
                          <a:latin typeface="Arial" panose="020B0604020202020204" pitchFamily="34" charset="0"/>
                          <a:cs typeface="Arial" panose="020B0604020202020204" pitchFamily="34" charset="0"/>
                        </a:rPr>
                        <a:t>3</a:t>
                      </a:r>
                    </a:p>
                  </a:txBody>
                  <a:tcPr/>
                </a:tc>
                <a:tc>
                  <a:txBody>
                    <a:bodyPr/>
                    <a:lstStyle/>
                    <a:p>
                      <a:pPr algn="ctr"/>
                      <a:r>
                        <a:rPr lang="en-US" sz="2200" u="dbl" baseline="0" dirty="0">
                          <a:solidFill>
                            <a:srgbClr val="000000"/>
                          </a:solidFill>
                          <a:latin typeface="Arial" panose="020B0604020202020204" pitchFamily="34" charset="0"/>
                          <a:cs typeface="Arial" panose="020B0604020202020204" pitchFamily="34" charset="0"/>
                        </a:rPr>
                        <a:t>$36</a:t>
                      </a:r>
                    </a:p>
                  </a:txBody>
                  <a:tcPr/>
                </a:tc>
                <a:extLst>
                  <a:ext uri="{0D108BD9-81ED-4DB2-BD59-A6C34878D82A}">
                    <a16:rowId xmlns:a16="http://schemas.microsoft.com/office/drawing/2014/main" val="3631777111"/>
                  </a:ext>
                </a:extLst>
              </a:tr>
            </a:tbl>
          </a:graphicData>
        </a:graphic>
      </p:graphicFrame>
      <p:graphicFrame>
        <p:nvGraphicFramePr>
          <p:cNvPr id="8" name="Content Placeholder 7" descr="Average cost per unit: $12. 36 divided by 3 units.">
            <a:extLst>
              <a:ext uri="{FF2B5EF4-FFF2-40B4-BE49-F238E27FC236}">
                <a16:creationId xmlns:a16="http://schemas.microsoft.com/office/drawing/2014/main" id="{2B7A2313-A953-488A-971C-846F69294AAC}"/>
              </a:ext>
            </a:extLst>
          </p:cNvPr>
          <p:cNvGraphicFramePr>
            <a:graphicFrameLocks noGrp="1" noChangeAspect="1"/>
          </p:cNvGraphicFramePr>
          <p:nvPr>
            <p:ph sz="quarter" idx="21"/>
            <p:extLst>
              <p:ext uri="{D42A27DB-BD31-4B8C-83A1-F6EECF244321}">
                <p14:modId xmlns:p14="http://schemas.microsoft.com/office/powerpoint/2010/main" val="2706704613"/>
              </p:ext>
            </p:extLst>
          </p:nvPr>
        </p:nvGraphicFramePr>
        <p:xfrm>
          <a:off x="1239507" y="4816280"/>
          <a:ext cx="5405133" cy="491376"/>
        </p:xfrm>
        <a:graphic>
          <a:graphicData uri="http://schemas.openxmlformats.org/presentationml/2006/ole">
            <mc:AlternateContent xmlns:mc="http://schemas.openxmlformats.org/markup-compatibility/2006">
              <mc:Choice xmlns:v="urn:schemas-microsoft-com:vml" Requires="v">
                <p:oleObj name="Equation" r:id="rId2" imgW="2793960" imgH="253800" progId="Equation.DSMT4">
                  <p:embed/>
                </p:oleObj>
              </mc:Choice>
              <mc:Fallback>
                <p:oleObj name="Equation" r:id="rId2" imgW="2793960" imgH="253800" progId="Equation.DSMT4">
                  <p:embed/>
                  <p:pic>
                    <p:nvPicPr>
                      <p:cNvPr id="7" name="Object 6">
                        <a:extLst>
                          <a:ext uri="{FF2B5EF4-FFF2-40B4-BE49-F238E27FC236}">
                            <a16:creationId xmlns:a16="http://schemas.microsoft.com/office/drawing/2014/main" id="{E5CD4C1F-1655-4F89-B7A1-789693C48F0A}"/>
                          </a:ext>
                        </a:extLst>
                      </p:cNvPr>
                      <p:cNvPicPr/>
                      <p:nvPr/>
                    </p:nvPicPr>
                    <p:blipFill>
                      <a:blip r:embed="rId3"/>
                      <a:stretch>
                        <a:fillRect/>
                      </a:stretch>
                    </p:blipFill>
                    <p:spPr>
                      <a:xfrm>
                        <a:off x="1239507" y="4816280"/>
                        <a:ext cx="5405133" cy="491376"/>
                      </a:xfrm>
                      <a:prstGeom prst="rect">
                        <a:avLst/>
                      </a:prstGeom>
                    </p:spPr>
                  </p:pic>
                </p:oleObj>
              </mc:Fallback>
            </mc:AlternateContent>
          </a:graphicData>
        </a:graphic>
      </p:graphicFrame>
    </p:spTree>
    <p:extLst>
      <p:ext uri="{BB962C8B-B14F-4D97-AF65-F5344CB8AC3E}">
        <p14:creationId xmlns:p14="http://schemas.microsoft.com/office/powerpoint/2010/main" val="1327319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DD2A8-43C9-4403-8183-118876796166}"/>
              </a:ext>
            </a:extLst>
          </p:cNvPr>
          <p:cNvSpPr>
            <a:spLocks noGrp="1"/>
          </p:cNvSpPr>
          <p:nvPr>
            <p:ph type="title"/>
          </p:nvPr>
        </p:nvSpPr>
        <p:spPr/>
        <p:txBody>
          <a:bodyPr/>
          <a:lstStyle/>
          <a:p>
            <a:r>
              <a:rPr lang="en-US" dirty="0"/>
              <a:t>Inventory Cost Flow Assumptions</a:t>
            </a:r>
            <a:br>
              <a:rPr lang="en-US" dirty="0"/>
            </a:br>
            <a:r>
              <a:rPr lang="en-US" sz="2400" dirty="0"/>
              <a:t>(</a:t>
            </a:r>
          </a:p>
        </p:txBody>
      </p:sp>
      <p:sp>
        <p:nvSpPr>
          <p:cNvPr id="3" name="Text Placeholder 2">
            <a:extLst>
              <a:ext uri="{FF2B5EF4-FFF2-40B4-BE49-F238E27FC236}">
                <a16:creationId xmlns:a16="http://schemas.microsoft.com/office/drawing/2014/main" id="{7B79A5E9-9A33-436D-BE78-F39800B6C37F}"/>
              </a:ext>
            </a:extLst>
          </p:cNvPr>
          <p:cNvSpPr>
            <a:spLocks noGrp="1"/>
          </p:cNvSpPr>
          <p:nvPr>
            <p:ph sz="quarter" idx="16"/>
          </p:nvPr>
        </p:nvSpPr>
        <p:spPr>
          <a:xfrm>
            <a:off x="838200" y="1591886"/>
            <a:ext cx="10515600" cy="672105"/>
          </a:xfrm>
        </p:spPr>
        <p:txBody>
          <a:bodyPr>
            <a:normAutofit fontScale="92500"/>
          </a:bodyPr>
          <a:lstStyle/>
          <a:p>
            <a:pPr marL="457200" indent="-457200">
              <a:buFont typeface="Arial" panose="020B0604020202020204" pitchFamily="34" charset="0"/>
              <a:buChar char="•"/>
            </a:pPr>
            <a:r>
              <a:rPr lang="en-US" sz="2600" dirty="0"/>
              <a:t>Assume that one unit is sold on May 30 for $20. Depending upon which unit was sold, the gross profit varies from $11 to $6, computed as follows:</a:t>
            </a:r>
          </a:p>
        </p:txBody>
      </p:sp>
      <p:graphicFrame>
        <p:nvGraphicFramePr>
          <p:cNvPr id="9" name="Table 7">
            <a:extLst>
              <a:ext uri="{FF2B5EF4-FFF2-40B4-BE49-F238E27FC236}">
                <a16:creationId xmlns:a16="http://schemas.microsoft.com/office/drawing/2014/main" id="{C9229478-E4B9-414A-B816-5D67130E47D4}"/>
              </a:ext>
            </a:extLst>
          </p:cNvPr>
          <p:cNvGraphicFramePr>
            <a:graphicFrameLocks noGrp="1"/>
          </p:cNvGraphicFramePr>
          <p:nvPr>
            <p:ph sz="quarter" idx="17"/>
            <p:extLst>
              <p:ext uri="{D42A27DB-BD31-4B8C-83A1-F6EECF244321}">
                <p14:modId xmlns:p14="http://schemas.microsoft.com/office/powerpoint/2010/main" val="3229528031"/>
              </p:ext>
            </p:extLst>
          </p:nvPr>
        </p:nvGraphicFramePr>
        <p:xfrm>
          <a:off x="1319349" y="2677705"/>
          <a:ext cx="10215156" cy="2895600"/>
        </p:xfrm>
        <a:graphic>
          <a:graphicData uri="http://schemas.openxmlformats.org/drawingml/2006/table">
            <a:tbl>
              <a:tblPr firstRow="1" bandRow="1">
                <a:tableStyleId>{2D5ABB26-0587-4C30-8999-92F81FD0307C}</a:tableStyleId>
              </a:tblPr>
              <a:tblGrid>
                <a:gridCol w="2553789">
                  <a:extLst>
                    <a:ext uri="{9D8B030D-6E8A-4147-A177-3AD203B41FA5}">
                      <a16:colId xmlns:a16="http://schemas.microsoft.com/office/drawing/2014/main" val="2070683841"/>
                    </a:ext>
                  </a:extLst>
                </a:gridCol>
                <a:gridCol w="2553789">
                  <a:extLst>
                    <a:ext uri="{9D8B030D-6E8A-4147-A177-3AD203B41FA5}">
                      <a16:colId xmlns:a16="http://schemas.microsoft.com/office/drawing/2014/main" val="3740466553"/>
                    </a:ext>
                  </a:extLst>
                </a:gridCol>
                <a:gridCol w="2553789">
                  <a:extLst>
                    <a:ext uri="{9D8B030D-6E8A-4147-A177-3AD203B41FA5}">
                      <a16:colId xmlns:a16="http://schemas.microsoft.com/office/drawing/2014/main" val="2810012793"/>
                    </a:ext>
                  </a:extLst>
                </a:gridCol>
                <a:gridCol w="2553789">
                  <a:extLst>
                    <a:ext uri="{9D8B030D-6E8A-4147-A177-3AD203B41FA5}">
                      <a16:colId xmlns:a16="http://schemas.microsoft.com/office/drawing/2014/main" val="666447725"/>
                    </a:ext>
                  </a:extLst>
                </a:gridCol>
              </a:tblGrid>
              <a:tr h="370840">
                <a:tc>
                  <a:txBody>
                    <a:bodyPr/>
                    <a:lstStyle/>
                    <a:p>
                      <a:endParaRPr lang="en-US" sz="2200" dirty="0">
                        <a:solidFill>
                          <a:srgbClr val="000000"/>
                        </a:solidFill>
                        <a:latin typeface="Arial" panose="020B0604020202020204" pitchFamily="34" charset="0"/>
                        <a:cs typeface="Arial" panose="020B0604020202020204" pitchFamily="34" charset="0"/>
                      </a:endParaRPr>
                    </a:p>
                  </a:txBody>
                  <a:tcPr>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rgbClr val="000000"/>
                          </a:solidFill>
                          <a:latin typeface="Arial" panose="020B0604020202020204" pitchFamily="34" charset="0"/>
                          <a:cs typeface="Arial" panose="020B0604020202020204" pitchFamily="34" charset="0"/>
                        </a:rPr>
                        <a:t>May 10</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rgbClr val="000000"/>
                          </a:solidFill>
                          <a:latin typeface="Arial" panose="020B0604020202020204" pitchFamily="34" charset="0"/>
                          <a:cs typeface="Arial" panose="020B0604020202020204" pitchFamily="34" charset="0"/>
                        </a:rPr>
                        <a:t>Units Sold</a:t>
                      </a:r>
                      <a:endParaRPr lang="en-US" sz="2200" dirty="0">
                        <a:solidFill>
                          <a:srgbClr val="000000"/>
                        </a:solidFill>
                        <a:latin typeface="Arial" panose="020B0604020202020204" pitchFamily="34" charset="0"/>
                        <a:cs typeface="Arial" panose="020B0604020202020204" pitchFamily="34" charset="0"/>
                      </a:endParaRPr>
                    </a:p>
                  </a:txBody>
                  <a:tcPr>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a:txBody>
                    <a:bodyPr/>
                    <a:lstStyle/>
                    <a:p>
                      <a:pPr algn="ctr"/>
                      <a:r>
                        <a:rPr lang="en-US" sz="2200" b="1" dirty="0">
                          <a:solidFill>
                            <a:srgbClr val="000000"/>
                          </a:solidFill>
                          <a:latin typeface="Arial" panose="020B0604020202020204" pitchFamily="34" charset="0"/>
                          <a:cs typeface="Arial" panose="020B0604020202020204" pitchFamily="34" charset="0"/>
                        </a:rPr>
                        <a:t>May 18 </a:t>
                      </a:r>
                    </a:p>
                    <a:p>
                      <a:pPr algn="ctr"/>
                      <a:r>
                        <a:rPr lang="en-US" sz="2200" b="1" dirty="0">
                          <a:solidFill>
                            <a:srgbClr val="000000"/>
                          </a:solidFill>
                          <a:latin typeface="Arial" panose="020B0604020202020204" pitchFamily="34" charset="0"/>
                          <a:cs typeface="Arial" panose="020B0604020202020204" pitchFamily="34" charset="0"/>
                        </a:rPr>
                        <a:t>Units Sold</a:t>
                      </a:r>
                      <a:endParaRPr lang="en-US" sz="2200" dirty="0">
                        <a:solidFill>
                          <a:srgbClr val="000000"/>
                        </a:solidFill>
                        <a:latin typeface="Arial" panose="020B0604020202020204" pitchFamily="34" charset="0"/>
                        <a:cs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rgbClr val="000000"/>
                          </a:solidFill>
                          <a:latin typeface="Arial" panose="020B0604020202020204" pitchFamily="34" charset="0"/>
                          <a:cs typeface="Arial" panose="020B0604020202020204" pitchFamily="34" charset="0"/>
                        </a:rPr>
                        <a:t>May 24</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rgbClr val="000000"/>
                          </a:solidFill>
                          <a:latin typeface="Arial" panose="020B0604020202020204" pitchFamily="34" charset="0"/>
                          <a:cs typeface="Arial" panose="020B0604020202020204" pitchFamily="34" charset="0"/>
                        </a:rPr>
                        <a:t>Units Sold</a:t>
                      </a:r>
                    </a:p>
                  </a:txBody>
                  <a:tcPr>
                    <a:lnL w="12700" cap="flat" cmpd="sng" algn="ctr">
                      <a:solidFill>
                        <a:srgbClr val="000000"/>
                      </a:solidFill>
                      <a:prstDash val="solid"/>
                      <a:round/>
                      <a:headEnd type="none" w="med" len="med"/>
                      <a:tailEnd type="none" w="med" len="med"/>
                    </a:lnL>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004849"/>
                  </a:ext>
                </a:extLst>
              </a:tr>
              <a:tr h="370840">
                <a:tc>
                  <a:txBody>
                    <a:bodyPr/>
                    <a:lstStyle/>
                    <a:p>
                      <a:r>
                        <a:rPr lang="en-US" sz="2200" dirty="0">
                          <a:solidFill>
                            <a:srgbClr val="000000"/>
                          </a:solidFill>
                          <a:latin typeface="Arial" panose="020B0604020202020204" pitchFamily="34" charset="0"/>
                          <a:cs typeface="Arial" panose="020B0604020202020204" pitchFamily="34" charset="0"/>
                        </a:rPr>
                        <a:t>Sales</a:t>
                      </a:r>
                    </a:p>
                  </a:txBody>
                  <a:tcPr>
                    <a:lnT w="12700" cap="flat" cmpd="sng" algn="ctr">
                      <a:solidFill>
                        <a:srgbClr val="000000"/>
                      </a:solidFill>
                      <a:prstDash val="solid"/>
                      <a:round/>
                      <a:headEnd type="none" w="med" len="med"/>
                      <a:tailEnd type="none" w="med" len="med"/>
                    </a:lnT>
                  </a:tcPr>
                </a:tc>
                <a:tc>
                  <a:txBody>
                    <a:bodyPr/>
                    <a:lstStyle/>
                    <a:p>
                      <a:pPr algn="ctr"/>
                      <a:r>
                        <a:rPr lang="en-US" sz="2200" dirty="0">
                          <a:solidFill>
                            <a:srgbClr val="000000"/>
                          </a:solidFill>
                          <a:latin typeface="Arial" panose="020B0604020202020204" pitchFamily="34" charset="0"/>
                          <a:cs typeface="Arial" panose="020B0604020202020204" pitchFamily="34" charset="0"/>
                        </a:rPr>
                        <a:t>$20</a:t>
                      </a:r>
                    </a:p>
                  </a:txBody>
                  <a:tcP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tcPr>
                </a:tc>
                <a:tc>
                  <a:txBody>
                    <a:bodyPr/>
                    <a:lstStyle/>
                    <a:p>
                      <a:pPr algn="ctr"/>
                      <a:r>
                        <a:rPr lang="en-US" sz="2200" dirty="0">
                          <a:solidFill>
                            <a:srgbClr val="000000"/>
                          </a:solidFill>
                          <a:latin typeface="Arial" panose="020B0604020202020204" pitchFamily="34" charset="0"/>
                          <a:cs typeface="Arial" panose="020B0604020202020204" pitchFamily="34" charset="0"/>
                        </a:rPr>
                        <a:t>$ 20</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tcPr>
                </a:tc>
                <a:tc>
                  <a:txBody>
                    <a:bodyPr/>
                    <a:lstStyle/>
                    <a:p>
                      <a:pPr algn="ctr"/>
                      <a:r>
                        <a:rPr lang="en-US" sz="2200" dirty="0">
                          <a:solidFill>
                            <a:srgbClr val="000000"/>
                          </a:solidFill>
                          <a:latin typeface="Arial" panose="020B0604020202020204" pitchFamily="34" charset="0"/>
                          <a:cs typeface="Arial" panose="020B0604020202020204" pitchFamily="34" charset="0"/>
                        </a:rPr>
                        <a:t>$ 20</a:t>
                      </a:r>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919222987"/>
                  </a:ext>
                </a:extLst>
              </a:tr>
              <a:tr h="370840">
                <a:tc>
                  <a:txBody>
                    <a:bodyPr/>
                    <a:lstStyle/>
                    <a:p>
                      <a:r>
                        <a:rPr lang="en-US" sz="2200" dirty="0">
                          <a:solidFill>
                            <a:srgbClr val="000000"/>
                          </a:solidFill>
                          <a:latin typeface="Arial" panose="020B0604020202020204" pitchFamily="34" charset="0"/>
                          <a:cs typeface="Arial" panose="020B0604020202020204" pitchFamily="34" charset="0"/>
                        </a:rPr>
                        <a:t>Cost of goods sold</a:t>
                      </a:r>
                    </a:p>
                  </a:txBody>
                  <a:tcPr/>
                </a:tc>
                <a:tc>
                  <a:txBody>
                    <a:bodyPr/>
                    <a:lstStyle/>
                    <a:p>
                      <a:pPr algn="ctr"/>
                      <a:r>
                        <a:rPr lang="en-US" sz="2200" u="none" dirty="0">
                          <a:solidFill>
                            <a:srgbClr val="000000"/>
                          </a:solidFill>
                          <a:latin typeface="Arial" panose="020B0604020202020204" pitchFamily="34" charset="0"/>
                          <a:cs typeface="Arial" panose="020B0604020202020204" pitchFamily="34" charset="0"/>
                        </a:rPr>
                        <a:t> </a:t>
                      </a:r>
                      <a:r>
                        <a:rPr lang="en-US" sz="2200" u="sng" dirty="0">
                          <a:solidFill>
                            <a:srgbClr val="000000"/>
                          </a:solidFill>
                          <a:latin typeface="Arial" panose="020B0604020202020204" pitchFamily="34" charset="0"/>
                          <a:cs typeface="Arial" panose="020B0604020202020204" pitchFamily="34" charset="0"/>
                        </a:rPr>
                        <a:t>   (9</a:t>
                      </a:r>
                      <a:r>
                        <a:rPr lang="en-US" sz="2200" dirty="0">
                          <a:solidFill>
                            <a:srgbClr val="000000"/>
                          </a:solidFill>
                          <a:latin typeface="Arial" panose="020B0604020202020204" pitchFamily="34" charset="0"/>
                          <a:cs typeface="Arial" panose="020B0604020202020204" pitchFamily="34" charset="0"/>
                        </a:rPr>
                        <a:t>)</a:t>
                      </a:r>
                    </a:p>
                  </a:txBody>
                  <a:tcPr>
                    <a:lnR w="12700" cap="flat" cmpd="sng" algn="ctr">
                      <a:solidFill>
                        <a:srgbClr val="000000"/>
                      </a:solidFill>
                      <a:prstDash val="solid"/>
                      <a:round/>
                      <a:headEnd type="none" w="med" len="med"/>
                      <a:tailEnd type="none" w="med" len="med"/>
                    </a:lnR>
                  </a:tcPr>
                </a:tc>
                <a:tc>
                  <a:txBody>
                    <a:bodyPr/>
                    <a:lstStyle/>
                    <a:p>
                      <a:pPr algn="ctr"/>
                      <a:r>
                        <a:rPr lang="en-US" sz="2200" u="none" baseline="0" dirty="0">
                          <a:solidFill>
                            <a:srgbClr val="000000"/>
                          </a:solidFill>
                          <a:latin typeface="Arial" panose="020B0604020202020204" pitchFamily="34" charset="0"/>
                          <a:cs typeface="Arial" panose="020B0604020202020204" pitchFamily="34" charset="0"/>
                        </a:rPr>
                        <a:t> </a:t>
                      </a:r>
                      <a:r>
                        <a:rPr lang="en-US" sz="2200" u="sng" baseline="0" dirty="0">
                          <a:solidFill>
                            <a:srgbClr val="000000"/>
                          </a:solidFill>
                          <a:latin typeface="Arial" panose="020B0604020202020204" pitchFamily="34" charset="0"/>
                          <a:cs typeface="Arial" panose="020B0604020202020204" pitchFamily="34" charset="0"/>
                        </a:rPr>
                        <a:t>  (13</a:t>
                      </a:r>
                      <a:r>
                        <a:rPr lang="en-US" sz="2200" dirty="0">
                          <a:solidFill>
                            <a:srgbClr val="000000"/>
                          </a:solidFill>
                          <a:latin typeface="Arial" panose="020B0604020202020204" pitchFamily="34" charset="0"/>
                          <a:cs typeface="Arial" panose="020B0604020202020204" pitchFamily="34" charset="0"/>
                        </a:rPr>
                        <a:t>)</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tcPr>
                </a:tc>
                <a:tc>
                  <a:txBody>
                    <a:bodyPr/>
                    <a:lstStyle/>
                    <a:p>
                      <a:pPr algn="ctr"/>
                      <a:r>
                        <a:rPr lang="en-US" sz="2200" u="none" dirty="0">
                          <a:solidFill>
                            <a:srgbClr val="000000"/>
                          </a:solidFill>
                          <a:latin typeface="Arial" panose="020B0604020202020204" pitchFamily="34" charset="0"/>
                          <a:cs typeface="Arial" panose="020B0604020202020204" pitchFamily="34" charset="0"/>
                        </a:rPr>
                        <a:t> </a:t>
                      </a:r>
                      <a:r>
                        <a:rPr lang="en-US" sz="2200" u="sng" dirty="0">
                          <a:solidFill>
                            <a:srgbClr val="000000"/>
                          </a:solidFill>
                          <a:latin typeface="Arial" panose="020B0604020202020204" pitchFamily="34" charset="0"/>
                          <a:cs typeface="Arial" panose="020B0604020202020204" pitchFamily="34" charset="0"/>
                        </a:rPr>
                        <a:t>  (14</a:t>
                      </a:r>
                      <a:r>
                        <a:rPr lang="en-US" sz="2200" dirty="0">
                          <a:solidFill>
                            <a:srgbClr val="000000"/>
                          </a:solidFill>
                          <a:latin typeface="Arial" panose="020B0604020202020204" pitchFamily="34" charset="0"/>
                          <a:cs typeface="Arial" panose="020B0604020202020204" pitchFamily="34" charset="0"/>
                        </a:rPr>
                        <a:t>)</a:t>
                      </a:r>
                    </a:p>
                  </a:txBody>
                  <a:tcPr>
                    <a:lnL w="1270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1903402676"/>
                  </a:ext>
                </a:extLst>
              </a:tr>
              <a:tr h="370840">
                <a:tc>
                  <a:txBody>
                    <a:bodyPr/>
                    <a:lstStyle/>
                    <a:p>
                      <a:r>
                        <a:rPr lang="en-US" sz="2200" dirty="0">
                          <a:solidFill>
                            <a:srgbClr val="000000"/>
                          </a:solidFill>
                          <a:latin typeface="Arial" panose="020B0604020202020204" pitchFamily="34" charset="0"/>
                          <a:cs typeface="Arial" panose="020B0604020202020204" pitchFamily="34" charset="0"/>
                        </a:rPr>
                        <a:t>Gross profit</a:t>
                      </a:r>
                    </a:p>
                  </a:txBody>
                  <a:tcPr/>
                </a:tc>
                <a:tc>
                  <a:txBody>
                    <a:bodyPr/>
                    <a:lstStyle/>
                    <a:p>
                      <a:pPr algn="ctr"/>
                      <a:r>
                        <a:rPr lang="en-US" sz="2200" u="sng" dirty="0">
                          <a:solidFill>
                            <a:srgbClr val="000000"/>
                          </a:solidFill>
                          <a:latin typeface="Arial" panose="020B0604020202020204" pitchFamily="34" charset="0"/>
                          <a:cs typeface="Arial" panose="020B0604020202020204" pitchFamily="34" charset="0"/>
                        </a:rPr>
                        <a:t>$11</a:t>
                      </a:r>
                    </a:p>
                  </a:txBody>
                  <a:tcPr>
                    <a:lnR w="12700" cap="flat" cmpd="sng" algn="ctr">
                      <a:solidFill>
                        <a:srgbClr val="000000"/>
                      </a:solidFill>
                      <a:prstDash val="solid"/>
                      <a:round/>
                      <a:headEnd type="none" w="med" len="med"/>
                      <a:tailEnd type="none" w="med" len="med"/>
                    </a:lnR>
                  </a:tcPr>
                </a:tc>
                <a:tc>
                  <a:txBody>
                    <a:bodyPr/>
                    <a:lstStyle/>
                    <a:p>
                      <a:pPr algn="ctr"/>
                      <a:r>
                        <a:rPr lang="en-US" sz="2200" dirty="0">
                          <a:solidFill>
                            <a:srgbClr val="000000"/>
                          </a:solidFill>
                          <a:latin typeface="Arial" panose="020B0604020202020204" pitchFamily="34" charset="0"/>
                          <a:cs typeface="Arial" panose="020B0604020202020204" pitchFamily="34" charset="0"/>
                        </a:rPr>
                        <a:t> </a:t>
                      </a:r>
                      <a:r>
                        <a:rPr lang="en-US" sz="2200" u="sng" dirty="0">
                          <a:solidFill>
                            <a:srgbClr val="000000"/>
                          </a:solidFill>
                          <a:latin typeface="Arial" panose="020B0604020202020204" pitchFamily="34" charset="0"/>
                          <a:cs typeface="Arial" panose="020B0604020202020204" pitchFamily="34" charset="0"/>
                        </a:rPr>
                        <a:t>$   7</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tcPr>
                </a:tc>
                <a:tc>
                  <a:txBody>
                    <a:bodyPr/>
                    <a:lstStyle/>
                    <a:p>
                      <a:pPr algn="ctr"/>
                      <a:r>
                        <a:rPr lang="en-US" sz="2200" u="sng" dirty="0">
                          <a:solidFill>
                            <a:srgbClr val="000000"/>
                          </a:solidFill>
                          <a:latin typeface="Arial" panose="020B0604020202020204" pitchFamily="34" charset="0"/>
                          <a:cs typeface="Arial" panose="020B0604020202020204" pitchFamily="34" charset="0"/>
                        </a:rPr>
                        <a:t>$   6</a:t>
                      </a:r>
                    </a:p>
                  </a:txBody>
                  <a:tcPr>
                    <a:lnL w="1270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1870127977"/>
                  </a:ext>
                </a:extLst>
              </a:tr>
              <a:tr h="370840">
                <a:tc>
                  <a:txBody>
                    <a:bodyPr/>
                    <a:lstStyle/>
                    <a:p>
                      <a:r>
                        <a:rPr lang="en-US" sz="2200" dirty="0">
                          <a:solidFill>
                            <a:srgbClr val="000000"/>
                          </a:solidFill>
                          <a:latin typeface="Arial" panose="020B0604020202020204" pitchFamily="34" charset="0"/>
                          <a:cs typeface="Arial" panose="020B0604020202020204" pitchFamily="34" charset="0"/>
                        </a:rPr>
                        <a:t>Ending inventory</a:t>
                      </a:r>
                    </a:p>
                  </a:txBody>
                  <a:tcPr/>
                </a:tc>
                <a:tc>
                  <a:txBody>
                    <a:bodyPr/>
                    <a:lstStyle/>
                    <a:p>
                      <a:pPr algn="ctr"/>
                      <a:r>
                        <a:rPr lang="en-US" sz="2200" u="dbl" baseline="0" dirty="0">
                          <a:solidFill>
                            <a:srgbClr val="000000"/>
                          </a:solidFill>
                          <a:latin typeface="Arial" panose="020B0604020202020204" pitchFamily="34" charset="0"/>
                          <a:cs typeface="Arial" panose="020B0604020202020204" pitchFamily="34" charset="0"/>
                        </a:rPr>
                        <a:t>$27</a:t>
                      </a:r>
                    </a:p>
                  </a:txBody>
                  <a:tcPr>
                    <a:lnR w="12700" cap="flat" cmpd="sng" algn="ctr">
                      <a:solidFill>
                        <a:srgbClr val="000000"/>
                      </a:solidFill>
                      <a:prstDash val="solid"/>
                      <a:round/>
                      <a:headEnd type="none" w="med" len="med"/>
                      <a:tailEnd type="none" w="med" len="med"/>
                    </a:lnR>
                  </a:tcPr>
                </a:tc>
                <a:tc>
                  <a:txBody>
                    <a:bodyPr/>
                    <a:lstStyle/>
                    <a:p>
                      <a:pPr algn="ctr"/>
                      <a:r>
                        <a:rPr lang="en-US" sz="2200" dirty="0">
                          <a:solidFill>
                            <a:srgbClr val="000000"/>
                          </a:solidFill>
                          <a:latin typeface="Arial" panose="020B0604020202020204" pitchFamily="34" charset="0"/>
                          <a:cs typeface="Arial" panose="020B0604020202020204" pitchFamily="34" charset="0"/>
                        </a:rPr>
                        <a:t> </a:t>
                      </a:r>
                      <a:r>
                        <a:rPr lang="en-US" sz="2200" u="dbl" baseline="0" dirty="0">
                          <a:solidFill>
                            <a:srgbClr val="000000"/>
                          </a:solidFill>
                          <a:latin typeface="Arial" panose="020B0604020202020204" pitchFamily="34" charset="0"/>
                          <a:cs typeface="Arial" panose="020B0604020202020204" pitchFamily="34" charset="0"/>
                        </a:rPr>
                        <a:t>$ 23</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tcPr>
                </a:tc>
                <a:tc>
                  <a:txBody>
                    <a:bodyPr/>
                    <a:lstStyle/>
                    <a:p>
                      <a:pPr algn="ctr"/>
                      <a:r>
                        <a:rPr lang="en-US" sz="2200" u="dbl" baseline="0" dirty="0">
                          <a:solidFill>
                            <a:srgbClr val="000000"/>
                          </a:solidFill>
                          <a:latin typeface="Arial" panose="020B0604020202020204" pitchFamily="34" charset="0"/>
                          <a:cs typeface="Arial" panose="020B0604020202020204" pitchFamily="34" charset="0"/>
                        </a:rPr>
                        <a:t>$ 22</a:t>
                      </a:r>
                    </a:p>
                  </a:txBody>
                  <a:tcPr>
                    <a:lnL w="1270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1660097828"/>
                  </a:ext>
                </a:extLst>
              </a:tr>
              <a:tr h="370840">
                <a:tc>
                  <a:txBody>
                    <a:bodyPr/>
                    <a:lstStyle/>
                    <a:p>
                      <a:endParaRPr lang="en-US" sz="2200" dirty="0">
                        <a:solidFill>
                          <a:srgbClr val="000000"/>
                        </a:solidFill>
                        <a:latin typeface="Arial" panose="020B0604020202020204" pitchFamily="34" charset="0"/>
                        <a:cs typeface="Arial" panose="020B0604020202020204" pitchFamily="34" charset="0"/>
                      </a:endParaRPr>
                    </a:p>
                  </a:txBody>
                  <a:tcPr/>
                </a:tc>
                <a:tc>
                  <a:txBody>
                    <a:bodyPr/>
                    <a:lstStyle/>
                    <a:p>
                      <a:pPr algn="ctr"/>
                      <a:r>
                        <a:rPr lang="en-US" sz="2200" dirty="0">
                          <a:solidFill>
                            <a:srgbClr val="000000"/>
                          </a:solidFill>
                          <a:latin typeface="Arial" panose="020B0604020202020204" pitchFamily="34" charset="0"/>
                          <a:cs typeface="Arial" panose="020B0604020202020204" pitchFamily="34" charset="0"/>
                        </a:rPr>
                        <a:t>($13 + $14)</a:t>
                      </a:r>
                    </a:p>
                  </a:txBody>
                  <a:tcPr>
                    <a:lnR w="12700" cap="flat" cmpd="sng" algn="ctr">
                      <a:solidFill>
                        <a:srgbClr val="000000"/>
                      </a:solidFill>
                      <a:prstDash val="solid"/>
                      <a:round/>
                      <a:headEnd type="none" w="med" len="med"/>
                      <a:tailEnd type="none" w="med" len="med"/>
                    </a:lnR>
                  </a:tcPr>
                </a:tc>
                <a:tc>
                  <a:txBody>
                    <a:bodyPr/>
                    <a:lstStyle/>
                    <a:p>
                      <a:pPr algn="ctr"/>
                      <a:r>
                        <a:rPr lang="en-US" sz="2200" dirty="0">
                          <a:solidFill>
                            <a:srgbClr val="000000"/>
                          </a:solidFill>
                          <a:latin typeface="Arial" panose="020B0604020202020204" pitchFamily="34" charset="0"/>
                          <a:cs typeface="Arial" panose="020B0604020202020204" pitchFamily="34" charset="0"/>
                        </a:rPr>
                        <a:t>($9 + $14)</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tcPr>
                </a:tc>
                <a:tc>
                  <a:txBody>
                    <a:bodyPr/>
                    <a:lstStyle/>
                    <a:p>
                      <a:pPr algn="ctr"/>
                      <a:r>
                        <a:rPr lang="en-US" sz="2200" dirty="0">
                          <a:solidFill>
                            <a:srgbClr val="000000"/>
                          </a:solidFill>
                          <a:latin typeface="Arial" panose="020B0604020202020204" pitchFamily="34" charset="0"/>
                          <a:cs typeface="Arial" panose="020B0604020202020204" pitchFamily="34" charset="0"/>
                        </a:rPr>
                        <a:t>($9 + $13)</a:t>
                      </a:r>
                    </a:p>
                  </a:txBody>
                  <a:tcPr>
                    <a:lnL w="1270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2544022241"/>
                  </a:ext>
                </a:extLst>
              </a:tr>
            </a:tbl>
          </a:graphicData>
        </a:graphic>
      </p:graphicFrame>
    </p:spTree>
    <p:extLst>
      <p:ext uri="{BB962C8B-B14F-4D97-AF65-F5344CB8AC3E}">
        <p14:creationId xmlns:p14="http://schemas.microsoft.com/office/powerpoint/2010/main" val="1421641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DD2A8-43C9-4403-8183-118876796166}"/>
              </a:ext>
            </a:extLst>
          </p:cNvPr>
          <p:cNvSpPr>
            <a:spLocks noGrp="1"/>
          </p:cNvSpPr>
          <p:nvPr>
            <p:ph type="title"/>
          </p:nvPr>
        </p:nvSpPr>
        <p:spPr/>
        <p:txBody>
          <a:bodyPr/>
          <a:lstStyle/>
          <a:p>
            <a:r>
              <a:rPr lang="en-US" dirty="0"/>
              <a:t>Inventory Cost Flow Assumptions</a:t>
            </a:r>
            <a:br>
              <a:rPr lang="en-US" dirty="0"/>
            </a:br>
            <a:r>
              <a:rPr lang="en-US" sz="2400" dirty="0"/>
              <a:t>(4 of 4)</a:t>
            </a:r>
          </a:p>
        </p:txBody>
      </p:sp>
      <p:sp>
        <p:nvSpPr>
          <p:cNvPr id="3" name="Text Placeholder 2">
            <a:extLst>
              <a:ext uri="{FF2B5EF4-FFF2-40B4-BE49-F238E27FC236}">
                <a16:creationId xmlns:a16="http://schemas.microsoft.com/office/drawing/2014/main" id="{7B79A5E9-9A33-436D-BE78-F39800B6C37F}"/>
              </a:ext>
            </a:extLst>
          </p:cNvPr>
          <p:cNvSpPr>
            <a:spLocks noGrp="1"/>
          </p:cNvSpPr>
          <p:nvPr>
            <p:ph sz="quarter" idx="10"/>
          </p:nvPr>
        </p:nvSpPr>
        <p:spPr/>
        <p:txBody>
          <a:bodyPr>
            <a:noAutofit/>
          </a:bodyPr>
          <a:lstStyle/>
          <a:p>
            <a:pPr marL="465138" indent="-465138">
              <a:buFont typeface="Arial" panose="020B0604020202020204" pitchFamily="34" charset="0"/>
              <a:buChar char="•"/>
            </a:pPr>
            <a:r>
              <a:rPr lang="en-US" sz="2200" dirty="0"/>
              <a:t>Under the </a:t>
            </a:r>
            <a:r>
              <a:rPr lang="en-US" sz="2200" b="1" dirty="0">
                <a:solidFill>
                  <a:srgbClr val="004A78"/>
                </a:solidFill>
              </a:rPr>
              <a:t>specific identification inventory cost flow method</a:t>
            </a:r>
            <a:r>
              <a:rPr lang="en-US" sz="2200" dirty="0"/>
              <a:t>, the unit sold is identified with a specific purchase. The ending inventory is made up of the remaining units on hand.</a:t>
            </a:r>
          </a:p>
          <a:p>
            <a:pPr marL="465138" indent="-465138">
              <a:buFont typeface="Arial" panose="020B0604020202020204" pitchFamily="34" charset="0"/>
              <a:buChar char="•"/>
            </a:pPr>
            <a:r>
              <a:rPr lang="en-US" sz="2200" dirty="0"/>
              <a:t>Under the </a:t>
            </a:r>
            <a:r>
              <a:rPr lang="en-US" sz="2200" b="1" dirty="0">
                <a:solidFill>
                  <a:srgbClr val="004A78"/>
                </a:solidFill>
              </a:rPr>
              <a:t>first-in, first-out (FIFO) inventory cost flow method</a:t>
            </a:r>
            <a:r>
              <a:rPr lang="en-US" sz="2200" dirty="0"/>
              <a:t>, the first units purchased are assumed to be sold and the ending inventory is made up of the most recent purchases.</a:t>
            </a:r>
          </a:p>
          <a:p>
            <a:pPr marL="465138" indent="-465138">
              <a:buFont typeface="Arial" panose="020B0604020202020204" pitchFamily="34" charset="0"/>
              <a:buChar char="•"/>
            </a:pPr>
            <a:r>
              <a:rPr lang="en-US" sz="2200" dirty="0"/>
              <a:t>Under the </a:t>
            </a:r>
            <a:r>
              <a:rPr lang="en-US" sz="2200" b="1" dirty="0">
                <a:solidFill>
                  <a:srgbClr val="004A78"/>
                </a:solidFill>
              </a:rPr>
              <a:t>last-in, first-out (LIFO) inventory cost flow method</a:t>
            </a:r>
            <a:r>
              <a:rPr lang="en-US" sz="2200" dirty="0"/>
              <a:t>, the last units purchased are assumed to be sold and the ending inventory is made up of the first purchases.</a:t>
            </a:r>
          </a:p>
          <a:p>
            <a:pPr marL="465138" indent="-465138">
              <a:buFont typeface="Arial" panose="020B0604020202020204" pitchFamily="34" charset="0"/>
              <a:buChar char="•"/>
            </a:pPr>
            <a:r>
              <a:rPr lang="en-US" sz="2200" dirty="0"/>
              <a:t>Under the </a:t>
            </a:r>
            <a:r>
              <a:rPr lang="en-US" sz="2200" b="1" dirty="0">
                <a:solidFill>
                  <a:srgbClr val="004A78"/>
                </a:solidFill>
              </a:rPr>
              <a:t>weighted average inventory cost flow method</a:t>
            </a:r>
            <a:r>
              <a:rPr lang="en-US" sz="2200" dirty="0"/>
              <a:t>, sometimes called the </a:t>
            </a:r>
            <a:r>
              <a:rPr lang="en-US" sz="2200" i="1" dirty="0"/>
              <a:t>average cost flow method</a:t>
            </a:r>
            <a:r>
              <a:rPr lang="en-US" sz="2200" dirty="0"/>
              <a:t>, the cost of the units sold and in ending inventory is a weighted average of the purchase costs. </a:t>
            </a:r>
          </a:p>
          <a:p>
            <a:pPr lvl="1"/>
            <a:r>
              <a:rPr lang="en-US" sz="2200" dirty="0"/>
              <a:t>The purchase costs are weighted by the quantities purchased at each cost, thus the term </a:t>
            </a:r>
            <a:r>
              <a:rPr lang="en-US" sz="2200" i="1" dirty="0"/>
              <a:t>weighted average</a:t>
            </a:r>
            <a:r>
              <a:rPr lang="en-US" sz="2200" dirty="0"/>
              <a:t>.</a:t>
            </a:r>
          </a:p>
        </p:txBody>
      </p:sp>
    </p:spTree>
    <p:extLst>
      <p:ext uri="{BB962C8B-B14F-4D97-AF65-F5344CB8AC3E}">
        <p14:creationId xmlns:p14="http://schemas.microsoft.com/office/powerpoint/2010/main" val="3047061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9E26E-0E73-47FA-B4CB-9B836683379F}"/>
              </a:ext>
            </a:extLst>
          </p:cNvPr>
          <p:cNvSpPr>
            <a:spLocks noGrp="1"/>
          </p:cNvSpPr>
          <p:nvPr>
            <p:ph type="title"/>
          </p:nvPr>
        </p:nvSpPr>
        <p:spPr/>
        <p:txBody>
          <a:bodyPr/>
          <a:lstStyle/>
          <a:p>
            <a:r>
              <a:rPr lang="en-US" sz="3400" dirty="0"/>
              <a:t>Inventory Costing Methods Under a Perpetual Inventory System </a:t>
            </a:r>
            <a:br>
              <a:rPr lang="en-US" sz="3400" dirty="0"/>
            </a:br>
            <a:r>
              <a:rPr lang="en-US" sz="2400" dirty="0"/>
              <a:t>(Learning Objective 3)</a:t>
            </a:r>
          </a:p>
        </p:txBody>
      </p:sp>
      <p:sp>
        <p:nvSpPr>
          <p:cNvPr id="3" name="Text Placeholder 2">
            <a:extLst>
              <a:ext uri="{FF2B5EF4-FFF2-40B4-BE49-F238E27FC236}">
                <a16:creationId xmlns:a16="http://schemas.microsoft.com/office/drawing/2014/main" id="{A084CE97-A553-4883-9E41-F97F3F12F6EE}"/>
              </a:ext>
            </a:extLst>
          </p:cNvPr>
          <p:cNvSpPr>
            <a:spLocks noGrp="1"/>
          </p:cNvSpPr>
          <p:nvPr>
            <p:ph sz="quarter" idx="16"/>
          </p:nvPr>
        </p:nvSpPr>
        <p:spPr>
          <a:xfrm>
            <a:off x="838200" y="1959718"/>
            <a:ext cx="10515600" cy="1411845"/>
          </a:xfrm>
        </p:spPr>
        <p:txBody>
          <a:bodyPr/>
          <a:lstStyle/>
          <a:p>
            <a:pPr marL="465138" indent="-465138">
              <a:buFont typeface="Arial" panose="020B0604020202020204" pitchFamily="34" charset="0"/>
              <a:buChar char="•"/>
            </a:pPr>
            <a:r>
              <a:rPr lang="en-US" sz="2400" dirty="0"/>
              <a:t>The FIFO, LIFO, and weighted average cost methods are illustrated under a perpetual inventory system.</a:t>
            </a:r>
          </a:p>
          <a:p>
            <a:pPr marL="465138" indent="-465138">
              <a:buFont typeface="Arial" panose="020B0604020202020204" pitchFamily="34" charset="0"/>
              <a:buChar char="•"/>
            </a:pPr>
            <a:r>
              <a:rPr lang="en-US" sz="2400" dirty="0"/>
              <a:t>For purposes of illustration, the following data for Item 127B are used:</a:t>
            </a:r>
            <a:endParaRPr lang="en-US" dirty="0"/>
          </a:p>
        </p:txBody>
      </p:sp>
      <p:graphicFrame>
        <p:nvGraphicFramePr>
          <p:cNvPr id="7" name="Table 5">
            <a:extLst>
              <a:ext uri="{FF2B5EF4-FFF2-40B4-BE49-F238E27FC236}">
                <a16:creationId xmlns:a16="http://schemas.microsoft.com/office/drawing/2014/main" id="{DF0F9413-70BE-4DBB-AF1B-2D4140156D7D}"/>
              </a:ext>
            </a:extLst>
          </p:cNvPr>
          <p:cNvGraphicFramePr>
            <a:graphicFrameLocks noGrp="1"/>
          </p:cNvGraphicFramePr>
          <p:nvPr>
            <p:ph sz="quarter" idx="17"/>
            <p:extLst>
              <p:ext uri="{D42A27DB-BD31-4B8C-83A1-F6EECF244321}">
                <p14:modId xmlns:p14="http://schemas.microsoft.com/office/powerpoint/2010/main" val="2851673217"/>
              </p:ext>
            </p:extLst>
          </p:nvPr>
        </p:nvGraphicFramePr>
        <p:xfrm>
          <a:off x="1976278" y="3153093"/>
          <a:ext cx="8239443" cy="2987040"/>
        </p:xfrm>
        <a:graphic>
          <a:graphicData uri="http://schemas.openxmlformats.org/drawingml/2006/table">
            <a:tbl>
              <a:tblPr firstRow="1" bandRow="1">
                <a:tableStyleId>{2D5ABB26-0587-4C30-8999-92F81FD0307C}</a:tableStyleId>
              </a:tblPr>
              <a:tblGrid>
                <a:gridCol w="846666">
                  <a:extLst>
                    <a:ext uri="{9D8B030D-6E8A-4147-A177-3AD203B41FA5}">
                      <a16:colId xmlns:a16="http://schemas.microsoft.com/office/drawing/2014/main" val="4194936139"/>
                    </a:ext>
                  </a:extLst>
                </a:gridCol>
                <a:gridCol w="1013635">
                  <a:extLst>
                    <a:ext uri="{9D8B030D-6E8A-4147-A177-3AD203B41FA5}">
                      <a16:colId xmlns:a16="http://schemas.microsoft.com/office/drawing/2014/main" val="1969072442"/>
                    </a:ext>
                  </a:extLst>
                </a:gridCol>
                <a:gridCol w="2976611">
                  <a:extLst>
                    <a:ext uri="{9D8B030D-6E8A-4147-A177-3AD203B41FA5}">
                      <a16:colId xmlns:a16="http://schemas.microsoft.com/office/drawing/2014/main" val="2652657990"/>
                    </a:ext>
                  </a:extLst>
                </a:gridCol>
                <a:gridCol w="1250503">
                  <a:extLst>
                    <a:ext uri="{9D8B030D-6E8A-4147-A177-3AD203B41FA5}">
                      <a16:colId xmlns:a16="http://schemas.microsoft.com/office/drawing/2014/main" val="267867480"/>
                    </a:ext>
                  </a:extLst>
                </a:gridCol>
                <a:gridCol w="2152028">
                  <a:extLst>
                    <a:ext uri="{9D8B030D-6E8A-4147-A177-3AD203B41FA5}">
                      <a16:colId xmlns:a16="http://schemas.microsoft.com/office/drawing/2014/main" val="889407457"/>
                    </a:ext>
                  </a:extLst>
                </a:gridCol>
              </a:tblGrid>
              <a:tr h="370840">
                <a:tc>
                  <a:txBody>
                    <a:bodyPr/>
                    <a:lstStyle/>
                    <a:p>
                      <a:endParaRPr lang="en-US" sz="2200" u="none" dirty="0">
                        <a:solidFill>
                          <a:srgbClr val="000000"/>
                        </a:solidFill>
                        <a:latin typeface="Arial" panose="020B0604020202020204" pitchFamily="34" charset="0"/>
                        <a:cs typeface="Arial" panose="020B0604020202020204" pitchFamily="34" charset="0"/>
                      </a:endParaRPr>
                    </a:p>
                  </a:txBody>
                  <a:tcPr>
                    <a:lnB w="12700" cap="flat" cmpd="sng" algn="ctr">
                      <a:solidFill>
                        <a:srgbClr val="000000"/>
                      </a:solidFill>
                      <a:prstDash val="solid"/>
                      <a:round/>
                      <a:headEnd type="none" w="med" len="med"/>
                      <a:tailEnd type="none" w="med" len="med"/>
                    </a:lnB>
                  </a:tcPr>
                </a:tc>
                <a:tc>
                  <a:txBody>
                    <a:bodyPr/>
                    <a:lstStyle/>
                    <a:p>
                      <a:endParaRPr lang="en-US" sz="2200" u="none" dirty="0">
                        <a:solidFill>
                          <a:srgbClr val="000000"/>
                        </a:solidFill>
                        <a:latin typeface="Arial" panose="020B0604020202020204" pitchFamily="34" charset="0"/>
                        <a:cs typeface="Arial" panose="020B0604020202020204" pitchFamily="34" charset="0"/>
                      </a:endParaRPr>
                    </a:p>
                  </a:txBody>
                  <a:tcPr>
                    <a:lnB w="12700" cap="flat" cmpd="sng" algn="ctr">
                      <a:solidFill>
                        <a:srgbClr val="000000"/>
                      </a:solidFill>
                      <a:prstDash val="solid"/>
                      <a:round/>
                      <a:headEnd type="none" w="med" len="med"/>
                      <a:tailEnd type="none" w="med" len="med"/>
                    </a:lnB>
                  </a:tcPr>
                </a:tc>
                <a:tc>
                  <a:txBody>
                    <a:bodyPr/>
                    <a:lstStyle/>
                    <a:p>
                      <a:r>
                        <a:rPr lang="en-US" sz="2200" b="1" u="none" dirty="0">
                          <a:solidFill>
                            <a:srgbClr val="000000"/>
                          </a:solidFill>
                          <a:latin typeface="Arial" panose="020B0604020202020204" pitchFamily="34" charset="0"/>
                          <a:cs typeface="Arial" panose="020B0604020202020204" pitchFamily="34" charset="0"/>
                        </a:rPr>
                        <a:t>Item 127B</a:t>
                      </a:r>
                      <a:endParaRPr lang="en-US" sz="2200" u="none" dirty="0">
                        <a:solidFill>
                          <a:srgbClr val="000000"/>
                        </a:solidFill>
                        <a:latin typeface="Arial" panose="020B0604020202020204" pitchFamily="34" charset="0"/>
                        <a:cs typeface="Arial" panose="020B0604020202020204" pitchFamily="34" charset="0"/>
                      </a:endParaRPr>
                    </a:p>
                  </a:txBody>
                  <a:tcPr>
                    <a:lnB w="12700" cap="flat" cmpd="sng" algn="ctr">
                      <a:solidFill>
                        <a:srgbClr val="000000"/>
                      </a:solidFill>
                      <a:prstDash val="solid"/>
                      <a:round/>
                      <a:headEnd type="none" w="med" len="med"/>
                      <a:tailEnd type="none" w="med" len="med"/>
                    </a:lnB>
                  </a:tcPr>
                </a:tc>
                <a:tc>
                  <a:txBody>
                    <a:bodyPr/>
                    <a:lstStyle/>
                    <a:p>
                      <a:pPr algn="ctr"/>
                      <a:r>
                        <a:rPr lang="en-US" sz="2200" b="1" u="none" dirty="0">
                          <a:solidFill>
                            <a:srgbClr val="000000"/>
                          </a:solidFill>
                          <a:latin typeface="Arial" panose="020B0604020202020204" pitchFamily="34" charset="0"/>
                          <a:cs typeface="Arial" panose="020B0604020202020204" pitchFamily="34" charset="0"/>
                        </a:rPr>
                        <a:t>    Units</a:t>
                      </a:r>
                      <a:endParaRPr lang="en-US" sz="2200" u="none" dirty="0">
                        <a:solidFill>
                          <a:srgbClr val="000000"/>
                        </a:solidFill>
                        <a:latin typeface="Arial" panose="020B0604020202020204" pitchFamily="34" charset="0"/>
                        <a:cs typeface="Arial" panose="020B0604020202020204" pitchFamily="34" charset="0"/>
                      </a:endParaRPr>
                    </a:p>
                  </a:txBody>
                  <a:tcPr>
                    <a:lnB w="12700" cap="flat" cmpd="sng" algn="ctr">
                      <a:solidFill>
                        <a:srgbClr val="000000"/>
                      </a:solidFill>
                      <a:prstDash val="solid"/>
                      <a:round/>
                      <a:headEnd type="none" w="med" len="med"/>
                      <a:tailEnd type="none" w="med" len="med"/>
                    </a:lnB>
                  </a:tcPr>
                </a:tc>
                <a:tc>
                  <a:txBody>
                    <a:bodyPr/>
                    <a:lstStyle/>
                    <a:p>
                      <a:pPr algn="ctr"/>
                      <a:r>
                        <a:rPr lang="en-US" sz="2200" b="1" u="none" dirty="0">
                          <a:solidFill>
                            <a:srgbClr val="000000"/>
                          </a:solidFill>
                          <a:latin typeface="Arial" panose="020B0604020202020204" pitchFamily="34" charset="0"/>
                          <a:cs typeface="Arial" panose="020B0604020202020204" pitchFamily="34" charset="0"/>
                        </a:rPr>
                        <a:t>Cost</a:t>
                      </a:r>
                      <a:endParaRPr lang="en-US" sz="2200" u="none" dirty="0">
                        <a:solidFill>
                          <a:srgbClr val="000000"/>
                        </a:solidFill>
                        <a:latin typeface="Arial" panose="020B0604020202020204" pitchFamily="34" charset="0"/>
                        <a:cs typeface="Arial" panose="020B0604020202020204" pitchFamily="34" charset="0"/>
                      </a:endParaRPr>
                    </a:p>
                  </a:txBody>
                  <a:tcPr>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6406866"/>
                  </a:ext>
                </a:extLst>
              </a:tr>
              <a:tr h="370840">
                <a:tc>
                  <a:txBody>
                    <a:bodyPr/>
                    <a:lstStyle/>
                    <a:p>
                      <a:r>
                        <a:rPr lang="en-US" sz="2200" u="none" dirty="0">
                          <a:solidFill>
                            <a:srgbClr val="000000"/>
                          </a:solidFill>
                          <a:latin typeface="Arial" panose="020B0604020202020204" pitchFamily="34" charset="0"/>
                          <a:cs typeface="Arial" panose="020B0604020202020204" pitchFamily="34" charset="0"/>
                        </a:rPr>
                        <a:t>Jan.</a:t>
                      </a:r>
                    </a:p>
                  </a:txBody>
                  <a:tcPr>
                    <a:lnT w="12700" cap="flat" cmpd="sng" algn="ctr">
                      <a:solidFill>
                        <a:srgbClr val="000000"/>
                      </a:solidFill>
                      <a:prstDash val="solid"/>
                      <a:round/>
                      <a:headEnd type="none" w="med" len="med"/>
                      <a:tailEnd type="none" w="med" len="med"/>
                    </a:lnT>
                  </a:tcPr>
                </a:tc>
                <a:tc>
                  <a:txBody>
                    <a:bodyPr/>
                    <a:lstStyle/>
                    <a:p>
                      <a:r>
                        <a:rPr lang="en-US" sz="2200" u="none" dirty="0">
                          <a:solidFill>
                            <a:srgbClr val="000000"/>
                          </a:solidFill>
                          <a:latin typeface="Arial" panose="020B0604020202020204" pitchFamily="34" charset="0"/>
                          <a:cs typeface="Arial" panose="020B0604020202020204" pitchFamily="34" charset="0"/>
                        </a:rPr>
                        <a:t>  1</a:t>
                      </a:r>
                    </a:p>
                  </a:txBody>
                  <a:tcPr>
                    <a:lnT w="12700" cap="flat" cmpd="sng" algn="ctr">
                      <a:solidFill>
                        <a:srgbClr val="000000"/>
                      </a:solidFill>
                      <a:prstDash val="solid"/>
                      <a:round/>
                      <a:headEnd type="none" w="med" len="med"/>
                      <a:tailEnd type="none" w="med" len="med"/>
                    </a:lnT>
                  </a:tcPr>
                </a:tc>
                <a:tc>
                  <a:txBody>
                    <a:bodyPr/>
                    <a:lstStyle/>
                    <a:p>
                      <a:r>
                        <a:rPr lang="en-US" sz="2200" u="none" dirty="0">
                          <a:solidFill>
                            <a:srgbClr val="000000"/>
                          </a:solidFill>
                          <a:latin typeface="Arial" panose="020B0604020202020204" pitchFamily="34" charset="0"/>
                          <a:cs typeface="Arial" panose="020B0604020202020204" pitchFamily="34" charset="0"/>
                        </a:rPr>
                        <a:t>Inventory</a:t>
                      </a:r>
                    </a:p>
                  </a:txBody>
                  <a:tcPr>
                    <a:lnT w="12700" cap="flat" cmpd="sng" algn="ctr">
                      <a:solidFill>
                        <a:srgbClr val="000000"/>
                      </a:solidFill>
                      <a:prstDash val="solid"/>
                      <a:round/>
                      <a:headEnd type="none" w="med" len="med"/>
                      <a:tailEnd type="none" w="med" len="med"/>
                    </a:lnT>
                  </a:tcPr>
                </a:tc>
                <a:tc>
                  <a:txBody>
                    <a:bodyPr/>
                    <a:lstStyle/>
                    <a:p>
                      <a:pPr algn="r"/>
                      <a:r>
                        <a:rPr lang="en-US" sz="2200" u="none" dirty="0">
                          <a:solidFill>
                            <a:srgbClr val="000000"/>
                          </a:solidFill>
                          <a:latin typeface="Arial" panose="020B0604020202020204" pitchFamily="34" charset="0"/>
                          <a:cs typeface="Arial" panose="020B0604020202020204" pitchFamily="34" charset="0"/>
                        </a:rPr>
                        <a:t>1,000</a:t>
                      </a:r>
                    </a:p>
                  </a:txBody>
                  <a:tcPr>
                    <a:lnT w="12700" cap="flat" cmpd="sng" algn="ctr">
                      <a:solidFill>
                        <a:srgbClr val="000000"/>
                      </a:solidFill>
                      <a:prstDash val="solid"/>
                      <a:round/>
                      <a:headEnd type="none" w="med" len="med"/>
                      <a:tailEnd type="none" w="med" len="med"/>
                    </a:lnT>
                  </a:tcPr>
                </a:tc>
                <a:tc>
                  <a:txBody>
                    <a:bodyPr/>
                    <a:lstStyle/>
                    <a:p>
                      <a:pPr algn="ctr"/>
                      <a:r>
                        <a:rPr lang="en-US" sz="2200" u="none" dirty="0">
                          <a:solidFill>
                            <a:srgbClr val="000000"/>
                          </a:solidFill>
                          <a:latin typeface="Arial" panose="020B0604020202020204" pitchFamily="34" charset="0"/>
                          <a:cs typeface="Arial" panose="020B0604020202020204" pitchFamily="34" charset="0"/>
                        </a:rPr>
                        <a:t>$20.00</a:t>
                      </a:r>
                    </a:p>
                  </a:txBody>
                  <a:tcPr>
                    <a:lnT w="1270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1742459405"/>
                  </a:ext>
                </a:extLst>
              </a:tr>
              <a:tr h="370840">
                <a:tc>
                  <a:txBody>
                    <a:bodyPr/>
                    <a:lstStyle/>
                    <a:p>
                      <a:endParaRPr lang="en-US" sz="2200" u="none" dirty="0">
                        <a:solidFill>
                          <a:srgbClr val="000000"/>
                        </a:solidFill>
                        <a:latin typeface="Arial" panose="020B0604020202020204" pitchFamily="34" charset="0"/>
                        <a:cs typeface="Arial" panose="020B0604020202020204" pitchFamily="34" charset="0"/>
                      </a:endParaRPr>
                    </a:p>
                  </a:txBody>
                  <a:tcPr/>
                </a:tc>
                <a:tc>
                  <a:txBody>
                    <a:bodyPr/>
                    <a:lstStyle/>
                    <a:p>
                      <a:r>
                        <a:rPr lang="en-US" sz="2200" u="none" dirty="0">
                          <a:solidFill>
                            <a:srgbClr val="000000"/>
                          </a:solidFill>
                          <a:latin typeface="Arial" panose="020B0604020202020204" pitchFamily="34" charset="0"/>
                          <a:cs typeface="Arial" panose="020B0604020202020204" pitchFamily="34" charset="0"/>
                        </a:rPr>
                        <a:t>  4</a:t>
                      </a:r>
                    </a:p>
                  </a:txBody>
                  <a:tcPr/>
                </a:tc>
                <a:tc>
                  <a:txBody>
                    <a:bodyPr/>
                    <a:lstStyle/>
                    <a:p>
                      <a:r>
                        <a:rPr lang="en-US" sz="2200" u="none" dirty="0">
                          <a:solidFill>
                            <a:srgbClr val="000000"/>
                          </a:solidFill>
                          <a:latin typeface="Arial" panose="020B0604020202020204" pitchFamily="34" charset="0"/>
                          <a:cs typeface="Arial" panose="020B0604020202020204" pitchFamily="34" charset="0"/>
                        </a:rPr>
                        <a:t>Sale at $30 per unit</a:t>
                      </a:r>
                    </a:p>
                  </a:txBody>
                  <a:tcPr/>
                </a:tc>
                <a:tc>
                  <a:txBody>
                    <a:bodyPr/>
                    <a:lstStyle/>
                    <a:p>
                      <a:pPr algn="r"/>
                      <a:r>
                        <a:rPr lang="en-US" sz="2200" u="none" dirty="0">
                          <a:solidFill>
                            <a:srgbClr val="000000"/>
                          </a:solidFill>
                          <a:latin typeface="Arial" panose="020B0604020202020204" pitchFamily="34" charset="0"/>
                          <a:cs typeface="Arial" panose="020B0604020202020204" pitchFamily="34" charset="0"/>
                        </a:rPr>
                        <a:t>700</a:t>
                      </a:r>
                    </a:p>
                  </a:txBody>
                  <a:tcPr/>
                </a:tc>
                <a:tc>
                  <a:txBody>
                    <a:bodyPr/>
                    <a:lstStyle/>
                    <a:p>
                      <a:pPr algn="ctr"/>
                      <a:endParaRPr lang="en-US" sz="2200" u="none" dirty="0">
                        <a:solidFill>
                          <a:srgbClr val="00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7552849"/>
                  </a:ext>
                </a:extLst>
              </a:tr>
              <a:tr h="370840">
                <a:tc>
                  <a:txBody>
                    <a:bodyPr/>
                    <a:lstStyle/>
                    <a:p>
                      <a:endParaRPr lang="en-US" sz="2200" u="none" dirty="0">
                        <a:solidFill>
                          <a:srgbClr val="000000"/>
                        </a:solidFill>
                        <a:latin typeface="Arial" panose="020B0604020202020204" pitchFamily="34" charset="0"/>
                        <a:cs typeface="Arial" panose="020B0604020202020204" pitchFamily="34" charset="0"/>
                      </a:endParaRPr>
                    </a:p>
                  </a:txBody>
                  <a:tcPr/>
                </a:tc>
                <a:tc>
                  <a:txBody>
                    <a:bodyPr/>
                    <a:lstStyle/>
                    <a:p>
                      <a:r>
                        <a:rPr lang="en-US" sz="2200" u="none" dirty="0">
                          <a:solidFill>
                            <a:srgbClr val="000000"/>
                          </a:solidFill>
                          <a:latin typeface="Arial" panose="020B0604020202020204" pitchFamily="34" charset="0"/>
                          <a:cs typeface="Arial" panose="020B0604020202020204" pitchFamily="34" charset="0"/>
                        </a:rPr>
                        <a:t>10</a:t>
                      </a:r>
                    </a:p>
                  </a:txBody>
                  <a:tcPr/>
                </a:tc>
                <a:tc>
                  <a:txBody>
                    <a:bodyPr/>
                    <a:lstStyle/>
                    <a:p>
                      <a:r>
                        <a:rPr lang="en-US" sz="2200" u="none" dirty="0">
                          <a:solidFill>
                            <a:srgbClr val="000000"/>
                          </a:solidFill>
                          <a:latin typeface="Arial" panose="020B0604020202020204" pitchFamily="34" charset="0"/>
                          <a:cs typeface="Arial" panose="020B0604020202020204" pitchFamily="34" charset="0"/>
                        </a:rPr>
                        <a:t>Purchase</a:t>
                      </a:r>
                    </a:p>
                  </a:txBody>
                  <a:tcPr/>
                </a:tc>
                <a:tc>
                  <a:txBody>
                    <a:bodyPr/>
                    <a:lstStyle/>
                    <a:p>
                      <a:pPr algn="r"/>
                      <a:r>
                        <a:rPr lang="en-US" sz="2200" u="none" dirty="0">
                          <a:solidFill>
                            <a:srgbClr val="000000"/>
                          </a:solidFill>
                          <a:latin typeface="Arial" panose="020B0604020202020204" pitchFamily="34" charset="0"/>
                          <a:cs typeface="Arial" panose="020B0604020202020204" pitchFamily="34" charset="0"/>
                        </a:rPr>
                        <a:t>500</a:t>
                      </a:r>
                    </a:p>
                  </a:txBody>
                  <a:tcPr/>
                </a:tc>
                <a:tc>
                  <a:txBody>
                    <a:bodyPr/>
                    <a:lstStyle/>
                    <a:p>
                      <a:pPr algn="ctr"/>
                      <a:r>
                        <a:rPr lang="en-US" sz="2200" u="none" dirty="0">
                          <a:solidFill>
                            <a:srgbClr val="000000"/>
                          </a:solidFill>
                          <a:latin typeface="Arial" panose="020B0604020202020204" pitchFamily="34" charset="0"/>
                          <a:cs typeface="Arial" panose="020B0604020202020204" pitchFamily="34" charset="0"/>
                        </a:rPr>
                        <a:t>  22.40</a:t>
                      </a:r>
                    </a:p>
                  </a:txBody>
                  <a:tcPr/>
                </a:tc>
                <a:extLst>
                  <a:ext uri="{0D108BD9-81ED-4DB2-BD59-A6C34878D82A}">
                    <a16:rowId xmlns:a16="http://schemas.microsoft.com/office/drawing/2014/main" val="1921382421"/>
                  </a:ext>
                </a:extLst>
              </a:tr>
              <a:tr h="370840">
                <a:tc>
                  <a:txBody>
                    <a:bodyPr/>
                    <a:lstStyle/>
                    <a:p>
                      <a:endParaRPr lang="en-US" sz="2200" u="none" dirty="0">
                        <a:solidFill>
                          <a:srgbClr val="000000"/>
                        </a:solidFill>
                        <a:latin typeface="Arial" panose="020B0604020202020204" pitchFamily="34" charset="0"/>
                        <a:cs typeface="Arial" panose="020B0604020202020204" pitchFamily="34" charset="0"/>
                      </a:endParaRPr>
                    </a:p>
                  </a:txBody>
                  <a:tcPr/>
                </a:tc>
                <a:tc>
                  <a:txBody>
                    <a:bodyPr/>
                    <a:lstStyle/>
                    <a:p>
                      <a:r>
                        <a:rPr lang="en-US" sz="2200" u="none" dirty="0">
                          <a:solidFill>
                            <a:srgbClr val="000000"/>
                          </a:solidFill>
                          <a:latin typeface="Arial" panose="020B0604020202020204" pitchFamily="34" charset="0"/>
                          <a:cs typeface="Arial" panose="020B0604020202020204" pitchFamily="34" charset="0"/>
                        </a:rPr>
                        <a:t>22</a:t>
                      </a:r>
                    </a:p>
                  </a:txBody>
                  <a:tcPr/>
                </a:tc>
                <a:tc>
                  <a:txBody>
                    <a:bodyPr/>
                    <a:lstStyle/>
                    <a:p>
                      <a:r>
                        <a:rPr lang="en-US" sz="2200" u="none" dirty="0">
                          <a:solidFill>
                            <a:srgbClr val="000000"/>
                          </a:solidFill>
                          <a:latin typeface="Arial" panose="020B0604020202020204" pitchFamily="34" charset="0"/>
                          <a:cs typeface="Arial" panose="020B0604020202020204" pitchFamily="34" charset="0"/>
                        </a:rPr>
                        <a:t>Sales at $30 per unit</a:t>
                      </a:r>
                    </a:p>
                  </a:txBody>
                  <a:tcPr/>
                </a:tc>
                <a:tc>
                  <a:txBody>
                    <a:bodyPr/>
                    <a:lstStyle/>
                    <a:p>
                      <a:pPr algn="r"/>
                      <a:r>
                        <a:rPr lang="en-US" sz="2200" u="none" dirty="0">
                          <a:solidFill>
                            <a:srgbClr val="000000"/>
                          </a:solidFill>
                          <a:latin typeface="Arial" panose="020B0604020202020204" pitchFamily="34" charset="0"/>
                          <a:cs typeface="Arial" panose="020B0604020202020204" pitchFamily="34" charset="0"/>
                        </a:rPr>
                        <a:t>360</a:t>
                      </a:r>
                    </a:p>
                  </a:txBody>
                  <a:tcPr/>
                </a:tc>
                <a:tc>
                  <a:txBody>
                    <a:bodyPr/>
                    <a:lstStyle/>
                    <a:p>
                      <a:pPr algn="ctr"/>
                      <a:endParaRPr lang="en-US" sz="2200" u="none" dirty="0">
                        <a:solidFill>
                          <a:srgbClr val="00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5905626"/>
                  </a:ext>
                </a:extLst>
              </a:tr>
              <a:tr h="370840">
                <a:tc>
                  <a:txBody>
                    <a:bodyPr/>
                    <a:lstStyle/>
                    <a:p>
                      <a:endParaRPr lang="en-US" sz="2200" u="none" dirty="0">
                        <a:solidFill>
                          <a:srgbClr val="000000"/>
                        </a:solidFill>
                        <a:latin typeface="Arial" panose="020B0604020202020204" pitchFamily="34" charset="0"/>
                        <a:cs typeface="Arial" panose="020B0604020202020204" pitchFamily="34" charset="0"/>
                      </a:endParaRPr>
                    </a:p>
                  </a:txBody>
                  <a:tcPr/>
                </a:tc>
                <a:tc>
                  <a:txBody>
                    <a:bodyPr/>
                    <a:lstStyle/>
                    <a:p>
                      <a:r>
                        <a:rPr lang="en-US" sz="2200" u="none" dirty="0">
                          <a:solidFill>
                            <a:srgbClr val="000000"/>
                          </a:solidFill>
                          <a:latin typeface="Arial" panose="020B0604020202020204" pitchFamily="34" charset="0"/>
                          <a:cs typeface="Arial" panose="020B0604020202020204" pitchFamily="34" charset="0"/>
                        </a:rPr>
                        <a:t>28</a:t>
                      </a:r>
                    </a:p>
                  </a:txBody>
                  <a:tcPr/>
                </a:tc>
                <a:tc>
                  <a:txBody>
                    <a:bodyPr/>
                    <a:lstStyle/>
                    <a:p>
                      <a:r>
                        <a:rPr lang="en-US" sz="2200" u="none" dirty="0">
                          <a:solidFill>
                            <a:srgbClr val="000000"/>
                          </a:solidFill>
                          <a:latin typeface="Arial" panose="020B0604020202020204" pitchFamily="34" charset="0"/>
                          <a:cs typeface="Arial" panose="020B0604020202020204" pitchFamily="34" charset="0"/>
                        </a:rPr>
                        <a:t>Sales at $30 per unit</a:t>
                      </a:r>
                    </a:p>
                  </a:txBody>
                  <a:tcPr/>
                </a:tc>
                <a:tc>
                  <a:txBody>
                    <a:bodyPr/>
                    <a:lstStyle/>
                    <a:p>
                      <a:pPr algn="r"/>
                      <a:r>
                        <a:rPr lang="en-US" sz="2200" u="none" dirty="0">
                          <a:solidFill>
                            <a:srgbClr val="000000"/>
                          </a:solidFill>
                          <a:latin typeface="Arial" panose="020B0604020202020204" pitchFamily="34" charset="0"/>
                          <a:cs typeface="Arial" panose="020B0604020202020204" pitchFamily="34" charset="0"/>
                        </a:rPr>
                        <a:t>240</a:t>
                      </a:r>
                    </a:p>
                  </a:txBody>
                  <a:tcPr/>
                </a:tc>
                <a:tc>
                  <a:txBody>
                    <a:bodyPr/>
                    <a:lstStyle/>
                    <a:p>
                      <a:pPr algn="ctr"/>
                      <a:endParaRPr lang="en-US" sz="2200" u="none" dirty="0">
                        <a:solidFill>
                          <a:srgbClr val="00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76649203"/>
                  </a:ext>
                </a:extLst>
              </a:tr>
              <a:tr h="370840">
                <a:tc>
                  <a:txBody>
                    <a:bodyPr/>
                    <a:lstStyle/>
                    <a:p>
                      <a:endParaRPr lang="en-US" sz="2200" u="none" dirty="0">
                        <a:solidFill>
                          <a:srgbClr val="000000"/>
                        </a:solidFill>
                        <a:latin typeface="Arial" panose="020B0604020202020204" pitchFamily="34" charset="0"/>
                        <a:cs typeface="Arial" panose="020B0604020202020204" pitchFamily="34" charset="0"/>
                      </a:endParaRPr>
                    </a:p>
                  </a:txBody>
                  <a:tcPr/>
                </a:tc>
                <a:tc>
                  <a:txBody>
                    <a:bodyPr/>
                    <a:lstStyle/>
                    <a:p>
                      <a:r>
                        <a:rPr lang="en-US" sz="2200" u="none" dirty="0">
                          <a:solidFill>
                            <a:srgbClr val="000000"/>
                          </a:solidFill>
                          <a:latin typeface="Arial" panose="020B0604020202020204" pitchFamily="34" charset="0"/>
                          <a:cs typeface="Arial" panose="020B0604020202020204" pitchFamily="34" charset="0"/>
                        </a:rPr>
                        <a:t>30</a:t>
                      </a:r>
                    </a:p>
                  </a:txBody>
                  <a:tcPr/>
                </a:tc>
                <a:tc>
                  <a:txBody>
                    <a:bodyPr/>
                    <a:lstStyle/>
                    <a:p>
                      <a:r>
                        <a:rPr lang="en-US" sz="2200" u="none" dirty="0">
                          <a:solidFill>
                            <a:srgbClr val="000000"/>
                          </a:solidFill>
                          <a:latin typeface="Arial" panose="020B0604020202020204" pitchFamily="34" charset="0"/>
                          <a:cs typeface="Arial" panose="020B0604020202020204" pitchFamily="34" charset="0"/>
                        </a:rPr>
                        <a:t>Purchase</a:t>
                      </a:r>
                    </a:p>
                  </a:txBody>
                  <a:tcPr/>
                </a:tc>
                <a:tc>
                  <a:txBody>
                    <a:bodyPr/>
                    <a:lstStyle/>
                    <a:p>
                      <a:pPr algn="r"/>
                      <a:r>
                        <a:rPr lang="en-US" sz="2200" u="none" dirty="0">
                          <a:solidFill>
                            <a:srgbClr val="000000"/>
                          </a:solidFill>
                          <a:latin typeface="Arial" panose="020B0604020202020204" pitchFamily="34" charset="0"/>
                          <a:cs typeface="Arial" panose="020B0604020202020204" pitchFamily="34" charset="0"/>
                        </a:rPr>
                        <a:t>600</a:t>
                      </a:r>
                    </a:p>
                  </a:txBody>
                  <a:tcPr/>
                </a:tc>
                <a:tc>
                  <a:txBody>
                    <a:bodyPr/>
                    <a:lstStyle/>
                    <a:p>
                      <a:pPr algn="ctr"/>
                      <a:r>
                        <a:rPr lang="en-US" sz="2200" u="none" dirty="0">
                          <a:solidFill>
                            <a:srgbClr val="000000"/>
                          </a:solidFill>
                          <a:latin typeface="Arial" panose="020B0604020202020204" pitchFamily="34" charset="0"/>
                          <a:cs typeface="Arial" panose="020B0604020202020204" pitchFamily="34" charset="0"/>
                        </a:rPr>
                        <a:t>  23.30</a:t>
                      </a:r>
                    </a:p>
                  </a:txBody>
                  <a:tcPr/>
                </a:tc>
                <a:extLst>
                  <a:ext uri="{0D108BD9-81ED-4DB2-BD59-A6C34878D82A}">
                    <a16:rowId xmlns:a16="http://schemas.microsoft.com/office/drawing/2014/main" val="3370198302"/>
                  </a:ext>
                </a:extLst>
              </a:tr>
            </a:tbl>
          </a:graphicData>
        </a:graphic>
      </p:graphicFrame>
    </p:spTree>
    <p:extLst>
      <p:ext uri="{BB962C8B-B14F-4D97-AF65-F5344CB8AC3E}">
        <p14:creationId xmlns:p14="http://schemas.microsoft.com/office/powerpoint/2010/main" val="88906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C6BAE-C40A-417A-9BCE-74EAB82198A3}"/>
              </a:ext>
            </a:extLst>
          </p:cNvPr>
          <p:cNvSpPr>
            <a:spLocks noGrp="1"/>
          </p:cNvSpPr>
          <p:nvPr>
            <p:ph type="title"/>
          </p:nvPr>
        </p:nvSpPr>
        <p:spPr/>
        <p:txBody>
          <a:bodyPr/>
          <a:lstStyle/>
          <a:p>
            <a:r>
              <a:rPr lang="en-US" dirty="0"/>
              <a:t>Perpetual Inventory System: First-In, First-Out Method</a:t>
            </a:r>
            <a:br>
              <a:rPr lang="en-US" dirty="0"/>
            </a:br>
            <a:r>
              <a:rPr lang="en-US" sz="2400" dirty="0"/>
              <a:t>(1 of 2)</a:t>
            </a:r>
          </a:p>
        </p:txBody>
      </p:sp>
      <p:sp>
        <p:nvSpPr>
          <p:cNvPr id="3" name="Text Placeholder 2">
            <a:extLst>
              <a:ext uri="{FF2B5EF4-FFF2-40B4-BE49-F238E27FC236}">
                <a16:creationId xmlns:a16="http://schemas.microsoft.com/office/drawing/2014/main" id="{4B95F1B3-F19B-4696-9241-11DB636ABEC9}"/>
              </a:ext>
            </a:extLst>
          </p:cNvPr>
          <p:cNvSpPr>
            <a:spLocks noGrp="1"/>
          </p:cNvSpPr>
          <p:nvPr>
            <p:ph sz="quarter" idx="10"/>
          </p:nvPr>
        </p:nvSpPr>
        <p:spPr>
          <a:xfrm>
            <a:off x="838200" y="2017487"/>
            <a:ext cx="10515600" cy="4049938"/>
          </a:xfrm>
        </p:spPr>
        <p:txBody>
          <a:bodyPr/>
          <a:lstStyle/>
          <a:p>
            <a:pPr marL="457200" indent="-457200">
              <a:buFont typeface="Arial" panose="020B0604020202020204" pitchFamily="34" charset="0"/>
              <a:buChar char="•"/>
            </a:pPr>
            <a:r>
              <a:rPr lang="en-US" sz="2600" dirty="0"/>
              <a:t>When the FIFO method is used, costs are included in the cost of goods sold in the order in which they were purchased.</a:t>
            </a:r>
          </a:p>
          <a:p>
            <a:pPr marL="457200" indent="-457200">
              <a:buFont typeface="Arial" panose="020B0604020202020204" pitchFamily="34" charset="0"/>
              <a:buChar char="•"/>
            </a:pPr>
            <a:r>
              <a:rPr lang="en-US" sz="2600" dirty="0"/>
              <a:t>This is often the same as the physical flow of the goods.</a:t>
            </a:r>
          </a:p>
          <a:p>
            <a:pPr marL="457200" indent="-457200">
              <a:buFont typeface="Arial" panose="020B0604020202020204" pitchFamily="34" charset="0"/>
              <a:buChar char="•"/>
            </a:pPr>
            <a:r>
              <a:rPr lang="en-US" sz="2600" dirty="0"/>
              <a:t>Thus, the FIFO method often provides results that are about the same as those that would have been obtained using the specific identification method.</a:t>
            </a:r>
          </a:p>
          <a:p>
            <a:pPr algn="l"/>
            <a:r>
              <a:rPr lang="en-US" sz="1600" b="0" i="0" dirty="0">
                <a:solidFill>
                  <a:srgbClr val="FFFFFF"/>
                </a:solidFill>
                <a:effectLst/>
                <a:latin typeface="Arial" panose="020B0604020202020204" pitchFamily="34" charset="0"/>
              </a:rPr>
              <a:t>Print Item</a:t>
            </a:r>
            <a:endParaRPr lang="en-US" sz="1600" b="0" i="0" dirty="0">
              <a:solidFill>
                <a:srgbClr val="333333"/>
              </a:solidFill>
              <a:effectLst/>
              <a:latin typeface="Verdana" panose="020B0604030504040204" pitchFamily="34" charset="0"/>
            </a:endParaRPr>
          </a:p>
          <a:p>
            <a:pPr marL="285750" indent="-285750" algn="l">
              <a:buFont typeface="Arial" panose="020B0604020202020204" pitchFamily="34" charset="0"/>
              <a:buChar char="•"/>
            </a:pPr>
            <a:r>
              <a:rPr lang="en-US" sz="2600" dirty="0">
                <a:highlight>
                  <a:srgbClr val="FFFF00"/>
                </a:highlight>
              </a:rPr>
              <a:t>FIFO  reports the most current prices in ending inventory is</a:t>
            </a:r>
          </a:p>
          <a:p>
            <a:pPr marL="457200" indent="-457200">
              <a:buFont typeface="Arial" panose="020B0604020202020204" pitchFamily="34" charset="0"/>
              <a:buChar char="•"/>
            </a:pPr>
            <a:endParaRPr lang="en-US" sz="2600" dirty="0">
              <a:highlight>
                <a:srgbClr val="FFFF00"/>
              </a:highlight>
            </a:endParaRPr>
          </a:p>
        </p:txBody>
      </p:sp>
    </p:spTree>
    <p:extLst>
      <p:ext uri="{BB962C8B-B14F-4D97-AF65-F5344CB8AC3E}">
        <p14:creationId xmlns:p14="http://schemas.microsoft.com/office/powerpoint/2010/main" val="3472662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C85D5-AB07-44FC-A1EC-F35C31D24FDB}"/>
              </a:ext>
            </a:extLst>
          </p:cNvPr>
          <p:cNvSpPr>
            <a:spLocks noGrp="1"/>
          </p:cNvSpPr>
          <p:nvPr>
            <p:ph type="title"/>
          </p:nvPr>
        </p:nvSpPr>
        <p:spPr/>
        <p:txBody>
          <a:bodyPr/>
          <a:lstStyle/>
          <a:p>
            <a:r>
              <a:rPr lang="en-US" sz="3400" dirty="0"/>
              <a:t>Exhibit 3 </a:t>
            </a:r>
            <a:r>
              <a:rPr lang="en-US" noProof="0" dirty="0"/>
              <a:t>–</a:t>
            </a:r>
            <a:r>
              <a:rPr lang="en-US" sz="3400" dirty="0"/>
              <a:t> Entries and Perpetual Inventory Account (FIFO)</a:t>
            </a:r>
          </a:p>
        </p:txBody>
      </p:sp>
      <p:pic>
        <p:nvPicPr>
          <p:cNvPr id="5" name="Content Placeholder 4" descr="A subsidiary inventory ledger for Item 127B is shown. The ledger is comprised of four main columns: Date, Purchases (which is further subdivided into three additional columns: Quantity, Unit Cost, and Total Cost), Cost of Goods Sold (which is further subdivided into three additional columns: Quantity, Unit Cost, and Total Cost), and Inventory (which is further subdivided into three additional columns: Quantity, Unit Cost, and Total Cost). &#10;&#10;In the first entry, January 1 is the date indicated. Inventory Quantity, 1,000; Inventory Unit Cost, 20.00; and Inventory Total Cost, 20,000.&#10;&#10;In the second entry, January 4 is the date indicated. Cost of Goods Sold Quantity, 700; Cost of Goods Sold Unit Cost, 20.00; Cost of Goods Sold Total Cost, 14,000; Inventory Quantity, 300; Inventory Unit Cost, 20.00; and Inventory Total Cost, 6,000.&#10;&#10;In the third entry, January 10 is the date indicated. There are two separate lines for this entry. The first line shows the following: Purchases Quantity, 500; Purchases Unit Cost, 22.40; Purchases Total Cost, 11,200; Inventory Quantity, 300; Inventory Unit Cost, 20.00; and Inventory Total Cost, 6,000. The second line shows the following: Inventory Quantity, 500; Inventory Unit Cost, 22.40; and Inventory Total Cost, 11,200.&#10;&#10;In the fourth entry, January 22 is the date indicated. There are two separate lines for this entry. The first line shows the following: Cost of Goods Sold Quantity, 300; Cost of Goods Sold Unit Cost, 20.00; and Cost of Goods Sold Total Cost, 6,000. The second line shows the following: Cost of Goods Sold Quantity, 60; Cost of Goods Sold Unit Cost, 22.40; Cost of Goods Sold Total Cost, 1,344; Inventory Quantity, 440; Inventory Unit Cost, 22.40; and Inventory Total Cost, 9,856. &#10;&#10;In the fifth entry, January 28 is the date indicated. Cost of Goods Sold Quantity, 240; Cost of Goods Sold Unit Cost, 22.40; Cost of Goods Sold Total Cost, 5,376; Inventory Quantity, 200; Inventory Unit Cost, 22.40; and Inventory Total Cost, 4,480. &#10;&#10;In the sixth entry, January 30 is the date indicated. There are two separate lines for this entry. The first line shows the following: Purchases Quantity, 600; Purchases Unit Cost, 23.30; Purchases Total Cost, 13,980; Inventory Quantity, 200; Inventory Unit Cost, 22.40; and Inventory Total Cost, 4,480. The Inventory Total Cost of 4,480 is in blue type. The second line shows the following: Inventory Quantity, 600; Inventory Unit Cost, 23.30; and Inventory Total Cost, 13,980. The Inventory Total Cost of 13,980 is in blue type. &#10;&#10;In the seventh entry, January 31 is the date indicated. The following Balances are shown: Cost of Goods Sold Total Cost, 26,720; and Inventory Total Cost, 18,460. Both of these amounts are in blue type. Below the ledger, a small arrow points upward to the Cost of Goods Sold Total Cost of 26,720 with a note below the arrow that states: Cost of goods sold. Below the ledger, another small arrow points upward to the Inventory Total Cost of 18,460 with a note below the arrow that states: January 31 inventory.&#10;&#10;Five vertical boxes containing the journal entries for Item 127B are shown to the left of the subsidiary inventory ledger. The first box contains two journal entries. In the first entry, January 4 is the date indicated. Accounts Receivable is debited for 21,000, and Sales is credited for 21,000. In the second entry, January 4 is the date indicated. Cost of Goods Sold is debited for 14,000, and Inventory is credited for 14,000. A callout line leads from the box to the date of January 4 in the Date column of the subsidiary inventory ledger.&#10;&#10;In the journal entry in the second box, January 10 is the date indicated. Inventory is debited for 11,200, and Accounts Payable is credited for 11,200. A callout line leads from the box to the date of January 10 in the Date column of the subsidiary inventory ledger.&#10;&#10;The third box contains two journal entries. In the first entry, January 22 is the date indicated. Accounts Receivable is debited for 10,800, and Sales is credited for 10,800. In the second entry, January 22 is the date indicated. Cost of Goods Sold is debited for 7,344, and Inventory is credited for 7,344. A callout line leads from the box to the date of January 22 in the Date column of the subsidiary inventory ledger.&#10;&#10;The fourth box contains two journal entries. In the first entry, January 28 is the date indicated. Accounts Receivable is debited for 7,200, and Sales is credited for 7,200. In the second entry, January 28 is the date indicated. Cost of Goods Sold is debited for 5,376, and Inventory is credited for 5,376. A callout line leads from the box to the date of January 28 in the Date column of the subsidiary inventory ledger.&#10;&#10;In the journal entry in the fifth box, January 30 is the date indicated. Inventory is debited for 13,980, and Accounts Payable is credited for 13,980. A callout line leads from the box to the date of January 30 in the Date column of the subsidiary inventory ledger.&#10;">
            <a:extLst>
              <a:ext uri="{FF2B5EF4-FFF2-40B4-BE49-F238E27FC236}">
                <a16:creationId xmlns:a16="http://schemas.microsoft.com/office/drawing/2014/main" id="{7A341418-7318-43E8-98B7-2BD90976D1BB}"/>
              </a:ext>
            </a:extLst>
          </p:cNvPr>
          <p:cNvPicPr>
            <a:picLocks noGrp="1" noChangeAspect="1"/>
          </p:cNvPicPr>
          <p:nvPr>
            <p:ph sz="quarter" idx="10"/>
          </p:nvPr>
        </p:nvPicPr>
        <p:blipFill>
          <a:blip r:embed="rId2"/>
          <a:stretch>
            <a:fillRect/>
          </a:stretch>
        </p:blipFill>
        <p:spPr>
          <a:xfrm>
            <a:off x="1700212" y="1830387"/>
            <a:ext cx="8791575" cy="4000500"/>
          </a:xfrm>
          <a:prstGeom prst="rect">
            <a:avLst/>
          </a:prstGeom>
        </p:spPr>
      </p:pic>
    </p:spTree>
    <p:extLst>
      <p:ext uri="{BB962C8B-B14F-4D97-AF65-F5344CB8AC3E}">
        <p14:creationId xmlns:p14="http://schemas.microsoft.com/office/powerpoint/2010/main" val="3580708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C6BAE-C40A-417A-9BCE-74EAB82198A3}"/>
              </a:ext>
            </a:extLst>
          </p:cNvPr>
          <p:cNvSpPr>
            <a:spLocks noGrp="1"/>
          </p:cNvSpPr>
          <p:nvPr>
            <p:ph type="title"/>
          </p:nvPr>
        </p:nvSpPr>
        <p:spPr/>
        <p:txBody>
          <a:bodyPr/>
          <a:lstStyle/>
          <a:p>
            <a:r>
              <a:rPr lang="en-US" dirty="0"/>
              <a:t>Perpetual Inventory System: First-In, First-Out Method</a:t>
            </a:r>
            <a:br>
              <a:rPr lang="en-US" dirty="0"/>
            </a:br>
            <a:r>
              <a:rPr lang="en-US" sz="2400" dirty="0"/>
              <a:t>(2 of 2)</a:t>
            </a:r>
          </a:p>
        </p:txBody>
      </p:sp>
      <p:sp>
        <p:nvSpPr>
          <p:cNvPr id="3" name="Text Placeholder 2">
            <a:extLst>
              <a:ext uri="{FF2B5EF4-FFF2-40B4-BE49-F238E27FC236}">
                <a16:creationId xmlns:a16="http://schemas.microsoft.com/office/drawing/2014/main" id="{4B95F1B3-F19B-4696-9241-11DB636ABEC9}"/>
              </a:ext>
            </a:extLst>
          </p:cNvPr>
          <p:cNvSpPr>
            <a:spLocks noGrp="1"/>
          </p:cNvSpPr>
          <p:nvPr>
            <p:ph sz="quarter" idx="16"/>
          </p:nvPr>
        </p:nvSpPr>
        <p:spPr>
          <a:xfrm>
            <a:off x="838200" y="1943178"/>
            <a:ext cx="10515599" cy="672105"/>
          </a:xfrm>
        </p:spPr>
        <p:txBody>
          <a:bodyPr/>
          <a:lstStyle/>
          <a:p>
            <a:pPr marL="465138" indent="-465138">
              <a:buFont typeface="Arial" panose="020B0604020202020204" pitchFamily="34" charset="0"/>
              <a:buChar char="•"/>
            </a:pPr>
            <a:r>
              <a:rPr lang="en-US" sz="2400" dirty="0"/>
              <a:t>The ending balance on January 31 is $18,460. This balance is made up of two layers of inventory as follows:</a:t>
            </a:r>
          </a:p>
          <a:p>
            <a:endParaRPr lang="en-US" sz="2400" dirty="0"/>
          </a:p>
          <a:p>
            <a:pPr marL="0" indent="1430338">
              <a:buNone/>
              <a:tabLst>
                <a:tab pos="2743200" algn="l"/>
                <a:tab pos="4746625" algn="l"/>
                <a:tab pos="6634163" algn="l"/>
                <a:tab pos="7831138" algn="l"/>
              </a:tabLst>
            </a:pPr>
            <a:r>
              <a:rPr lang="en-US" sz="2400" dirty="0"/>
              <a:t>	</a:t>
            </a:r>
            <a:endParaRPr lang="en-US" sz="2400" u="dbl" dirty="0"/>
          </a:p>
        </p:txBody>
      </p:sp>
      <p:graphicFrame>
        <p:nvGraphicFramePr>
          <p:cNvPr id="7" name="Table 5">
            <a:extLst>
              <a:ext uri="{FF2B5EF4-FFF2-40B4-BE49-F238E27FC236}">
                <a16:creationId xmlns:a16="http://schemas.microsoft.com/office/drawing/2014/main" id="{19DB80C7-2407-4127-BE0C-8127B1FD2819}"/>
              </a:ext>
            </a:extLst>
          </p:cNvPr>
          <p:cNvGraphicFramePr>
            <a:graphicFrameLocks noGrp="1"/>
          </p:cNvGraphicFramePr>
          <p:nvPr>
            <p:ph sz="quarter" idx="17"/>
            <p:extLst>
              <p:ext uri="{D42A27DB-BD31-4B8C-83A1-F6EECF244321}">
                <p14:modId xmlns:p14="http://schemas.microsoft.com/office/powerpoint/2010/main" val="3490291325"/>
              </p:ext>
            </p:extLst>
          </p:nvPr>
        </p:nvGraphicFramePr>
        <p:xfrm>
          <a:off x="2031999" y="3039110"/>
          <a:ext cx="8128000" cy="2042160"/>
        </p:xfrm>
        <a:graphic>
          <a:graphicData uri="http://schemas.openxmlformats.org/drawingml/2006/table">
            <a:tbl>
              <a:tblPr firstRow="1" bandRow="1">
                <a:tableStyleId>{2D5ABB26-0587-4C30-8999-92F81FD0307C}</a:tableStyleId>
              </a:tblPr>
              <a:tblGrid>
                <a:gridCol w="1625600">
                  <a:extLst>
                    <a:ext uri="{9D8B030D-6E8A-4147-A177-3AD203B41FA5}">
                      <a16:colId xmlns:a16="http://schemas.microsoft.com/office/drawing/2014/main" val="2315745907"/>
                    </a:ext>
                  </a:extLst>
                </a:gridCol>
                <a:gridCol w="1625600">
                  <a:extLst>
                    <a:ext uri="{9D8B030D-6E8A-4147-A177-3AD203B41FA5}">
                      <a16:colId xmlns:a16="http://schemas.microsoft.com/office/drawing/2014/main" val="3486186220"/>
                    </a:ext>
                  </a:extLst>
                </a:gridCol>
                <a:gridCol w="1625600">
                  <a:extLst>
                    <a:ext uri="{9D8B030D-6E8A-4147-A177-3AD203B41FA5}">
                      <a16:colId xmlns:a16="http://schemas.microsoft.com/office/drawing/2014/main" val="2029405050"/>
                    </a:ext>
                  </a:extLst>
                </a:gridCol>
                <a:gridCol w="1625600">
                  <a:extLst>
                    <a:ext uri="{9D8B030D-6E8A-4147-A177-3AD203B41FA5}">
                      <a16:colId xmlns:a16="http://schemas.microsoft.com/office/drawing/2014/main" val="107676540"/>
                    </a:ext>
                  </a:extLst>
                </a:gridCol>
                <a:gridCol w="1625600">
                  <a:extLst>
                    <a:ext uri="{9D8B030D-6E8A-4147-A177-3AD203B41FA5}">
                      <a16:colId xmlns:a16="http://schemas.microsoft.com/office/drawing/2014/main" val="2854710802"/>
                    </a:ext>
                  </a:extLst>
                </a:gridCol>
              </a:tblGrid>
              <a:tr h="370840">
                <a:tc>
                  <a:txBody>
                    <a:bodyPr/>
                    <a:lstStyle/>
                    <a:p>
                      <a:endParaRPr lang="en-US" sz="2200" dirty="0">
                        <a:solidFill>
                          <a:srgbClr val="000000"/>
                        </a:solidFill>
                        <a:latin typeface="Arial" panose="020B0604020202020204" pitchFamily="34" charset="0"/>
                        <a:cs typeface="Arial" panose="020B0604020202020204" pitchFamily="34" charset="0"/>
                      </a:endParaRPr>
                    </a:p>
                  </a:txBody>
                  <a:tcPr>
                    <a:lnB w="12700" cap="flat" cmpd="sng" algn="ctr">
                      <a:solidFill>
                        <a:srgbClr val="000000"/>
                      </a:solidFill>
                      <a:prstDash val="solid"/>
                      <a:round/>
                      <a:headEnd type="none" w="med" len="med"/>
                      <a:tailEnd type="none" w="med" len="med"/>
                    </a:lnB>
                  </a:tcPr>
                </a:tc>
                <a:tc>
                  <a:txBody>
                    <a:bodyPr/>
                    <a:lstStyle/>
                    <a:p>
                      <a:r>
                        <a:rPr lang="en-US" sz="2200" b="1" dirty="0">
                          <a:solidFill>
                            <a:srgbClr val="000000"/>
                          </a:solidFill>
                          <a:latin typeface="Arial" panose="020B0604020202020204" pitchFamily="34" charset="0"/>
                          <a:cs typeface="Arial" panose="020B0604020202020204" pitchFamily="34" charset="0"/>
                        </a:rPr>
                        <a:t>Date of Purchase</a:t>
                      </a:r>
                    </a:p>
                  </a:txBody>
                  <a:tcPr>
                    <a:lnB w="12700" cap="flat" cmpd="sng" algn="ctr">
                      <a:solidFill>
                        <a:srgbClr val="000000"/>
                      </a:solidFill>
                      <a:prstDash val="solid"/>
                      <a:round/>
                      <a:headEnd type="none" w="med" len="med"/>
                      <a:tailEnd type="none" w="med" len="med"/>
                    </a:lnB>
                  </a:tcPr>
                </a:tc>
                <a:tc>
                  <a:txBody>
                    <a:bodyPr/>
                    <a:lstStyle/>
                    <a:p>
                      <a:endParaRPr lang="en-US" sz="2200" b="1" dirty="0">
                        <a:solidFill>
                          <a:srgbClr val="000000"/>
                        </a:solidFill>
                        <a:latin typeface="Arial" panose="020B0604020202020204" pitchFamily="34" charset="0"/>
                        <a:cs typeface="Arial" panose="020B0604020202020204" pitchFamily="34" charset="0"/>
                      </a:endParaRPr>
                    </a:p>
                    <a:p>
                      <a:pPr algn="ctr"/>
                      <a:r>
                        <a:rPr lang="en-US" sz="2200" b="1" dirty="0">
                          <a:solidFill>
                            <a:srgbClr val="000000"/>
                          </a:solidFill>
                          <a:latin typeface="Arial" panose="020B0604020202020204" pitchFamily="34" charset="0"/>
                          <a:cs typeface="Arial" panose="020B0604020202020204" pitchFamily="34" charset="0"/>
                        </a:rPr>
                        <a:t>Quantity</a:t>
                      </a:r>
                    </a:p>
                  </a:txBody>
                  <a:tcPr>
                    <a:lnB w="12700" cap="flat" cmpd="sng" algn="ctr">
                      <a:solidFill>
                        <a:srgbClr val="000000"/>
                      </a:solidFill>
                      <a:prstDash val="solid"/>
                      <a:round/>
                      <a:headEnd type="none" w="med" len="med"/>
                      <a:tailEnd type="none" w="med" len="med"/>
                    </a:lnB>
                  </a:tcPr>
                </a:tc>
                <a:tc>
                  <a:txBody>
                    <a:bodyPr/>
                    <a:lstStyle/>
                    <a:p>
                      <a:pPr algn="ctr"/>
                      <a:r>
                        <a:rPr lang="en-US" sz="2200" b="1" dirty="0">
                          <a:solidFill>
                            <a:srgbClr val="000000"/>
                          </a:solidFill>
                          <a:latin typeface="Arial" panose="020B0604020202020204" pitchFamily="34" charset="0"/>
                          <a:cs typeface="Arial" panose="020B0604020202020204" pitchFamily="34" charset="0"/>
                        </a:rPr>
                        <a:t>Unit </a:t>
                      </a:r>
                    </a:p>
                    <a:p>
                      <a:pPr algn="ctr"/>
                      <a:r>
                        <a:rPr lang="en-US" sz="2200" b="1" dirty="0">
                          <a:solidFill>
                            <a:srgbClr val="000000"/>
                          </a:solidFill>
                          <a:latin typeface="Arial" panose="020B0604020202020204" pitchFamily="34" charset="0"/>
                          <a:cs typeface="Arial" panose="020B0604020202020204" pitchFamily="34" charset="0"/>
                        </a:rPr>
                        <a:t>Cost</a:t>
                      </a:r>
                    </a:p>
                  </a:txBody>
                  <a:tcPr>
                    <a:lnB w="12700" cap="flat" cmpd="sng" algn="ctr">
                      <a:solidFill>
                        <a:srgbClr val="000000"/>
                      </a:solidFill>
                      <a:prstDash val="solid"/>
                      <a:round/>
                      <a:headEnd type="none" w="med" len="med"/>
                      <a:tailEnd type="none" w="med" len="med"/>
                    </a:lnB>
                  </a:tcPr>
                </a:tc>
                <a:tc>
                  <a:txBody>
                    <a:bodyPr/>
                    <a:lstStyle/>
                    <a:p>
                      <a:pPr algn="ctr"/>
                      <a:r>
                        <a:rPr lang="en-US" sz="2200" b="1" dirty="0">
                          <a:solidFill>
                            <a:srgbClr val="000000"/>
                          </a:solidFill>
                          <a:latin typeface="Arial" panose="020B0604020202020204" pitchFamily="34" charset="0"/>
                          <a:cs typeface="Arial" panose="020B0604020202020204" pitchFamily="34" charset="0"/>
                        </a:rPr>
                        <a:t>Total </a:t>
                      </a:r>
                    </a:p>
                    <a:p>
                      <a:pPr algn="ctr"/>
                      <a:r>
                        <a:rPr lang="en-US" sz="2200" b="1" dirty="0">
                          <a:solidFill>
                            <a:srgbClr val="000000"/>
                          </a:solidFill>
                          <a:latin typeface="Arial" panose="020B0604020202020204" pitchFamily="34" charset="0"/>
                          <a:cs typeface="Arial" panose="020B0604020202020204" pitchFamily="34" charset="0"/>
                        </a:rPr>
                        <a:t>Cost</a:t>
                      </a:r>
                    </a:p>
                  </a:txBody>
                  <a:tcPr>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89264331"/>
                  </a:ext>
                </a:extLst>
              </a:tr>
              <a:tr h="370840">
                <a:tc>
                  <a:txBody>
                    <a:bodyPr/>
                    <a:lstStyle/>
                    <a:p>
                      <a:r>
                        <a:rPr lang="en-US" sz="2200" dirty="0">
                          <a:solidFill>
                            <a:srgbClr val="000000"/>
                          </a:solidFill>
                          <a:latin typeface="Arial" panose="020B0604020202020204" pitchFamily="34" charset="0"/>
                          <a:cs typeface="Arial" panose="020B0604020202020204" pitchFamily="34" charset="0"/>
                        </a:rPr>
                        <a:t>Layer 1:</a:t>
                      </a:r>
                    </a:p>
                  </a:txBody>
                  <a:tcPr>
                    <a:lnT w="12700" cap="flat" cmpd="sng" algn="ctr">
                      <a:solidFill>
                        <a:srgbClr val="000000"/>
                      </a:solidFill>
                      <a:prstDash val="solid"/>
                      <a:round/>
                      <a:headEnd type="none" w="med" len="med"/>
                      <a:tailEnd type="none" w="med" len="med"/>
                    </a:lnT>
                  </a:tcPr>
                </a:tc>
                <a:tc>
                  <a:txBody>
                    <a:bodyPr/>
                    <a:lstStyle/>
                    <a:p>
                      <a:r>
                        <a:rPr lang="en-US" sz="2200" dirty="0">
                          <a:solidFill>
                            <a:srgbClr val="000000"/>
                          </a:solidFill>
                          <a:latin typeface="Arial" panose="020B0604020202020204" pitchFamily="34" charset="0"/>
                          <a:cs typeface="Arial" panose="020B0604020202020204" pitchFamily="34" charset="0"/>
                        </a:rPr>
                        <a:t>Jan. 10</a:t>
                      </a:r>
                    </a:p>
                  </a:txBody>
                  <a:tcPr>
                    <a:lnT w="12700" cap="flat" cmpd="sng" algn="ctr">
                      <a:solidFill>
                        <a:srgbClr val="000000"/>
                      </a:solidFill>
                      <a:prstDash val="solid"/>
                      <a:round/>
                      <a:headEnd type="none" w="med" len="med"/>
                      <a:tailEnd type="none" w="med" len="med"/>
                    </a:lnT>
                  </a:tcPr>
                </a:tc>
                <a:tc>
                  <a:txBody>
                    <a:bodyPr/>
                    <a:lstStyle/>
                    <a:p>
                      <a:pPr algn="ctr"/>
                      <a:r>
                        <a:rPr lang="en-US" sz="2200" dirty="0">
                          <a:solidFill>
                            <a:srgbClr val="000000"/>
                          </a:solidFill>
                          <a:latin typeface="Arial" panose="020B0604020202020204" pitchFamily="34" charset="0"/>
                          <a:cs typeface="Arial" panose="020B0604020202020204" pitchFamily="34" charset="0"/>
                        </a:rPr>
                        <a:t>200</a:t>
                      </a:r>
                    </a:p>
                  </a:txBody>
                  <a:tcPr>
                    <a:lnT w="12700" cap="flat" cmpd="sng" algn="ctr">
                      <a:solidFill>
                        <a:srgbClr val="000000"/>
                      </a:solidFill>
                      <a:prstDash val="solid"/>
                      <a:round/>
                      <a:headEnd type="none" w="med" len="med"/>
                      <a:tailEnd type="none" w="med" len="med"/>
                    </a:lnT>
                  </a:tcPr>
                </a:tc>
                <a:tc>
                  <a:txBody>
                    <a:bodyPr/>
                    <a:lstStyle/>
                    <a:p>
                      <a:pPr algn="ctr"/>
                      <a:r>
                        <a:rPr lang="en-US" sz="2200" dirty="0">
                          <a:solidFill>
                            <a:srgbClr val="000000"/>
                          </a:solidFill>
                          <a:latin typeface="Arial" panose="020B0604020202020204" pitchFamily="34" charset="0"/>
                          <a:cs typeface="Arial" panose="020B0604020202020204" pitchFamily="34" charset="0"/>
                        </a:rPr>
                        <a:t>$22.40</a:t>
                      </a:r>
                    </a:p>
                  </a:txBody>
                  <a:tcPr>
                    <a:lnT w="12700" cap="flat" cmpd="sng" algn="ctr">
                      <a:solidFill>
                        <a:srgbClr val="000000"/>
                      </a:solidFill>
                      <a:prstDash val="solid"/>
                      <a:round/>
                      <a:headEnd type="none" w="med" len="med"/>
                      <a:tailEnd type="none" w="med" len="med"/>
                    </a:lnT>
                  </a:tcPr>
                </a:tc>
                <a:tc>
                  <a:txBody>
                    <a:bodyPr/>
                    <a:lstStyle/>
                    <a:p>
                      <a:pPr algn="ctr"/>
                      <a:r>
                        <a:rPr lang="en-US" sz="2200" dirty="0">
                          <a:solidFill>
                            <a:srgbClr val="000000"/>
                          </a:solidFill>
                          <a:latin typeface="Arial" panose="020B0604020202020204" pitchFamily="34" charset="0"/>
                          <a:cs typeface="Arial" panose="020B0604020202020204" pitchFamily="34" charset="0"/>
                        </a:rPr>
                        <a:t>$  4,480</a:t>
                      </a:r>
                    </a:p>
                  </a:txBody>
                  <a:tcPr>
                    <a:lnT w="1270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661337383"/>
                  </a:ext>
                </a:extLst>
              </a:tr>
              <a:tr h="370840">
                <a:tc>
                  <a:txBody>
                    <a:bodyPr/>
                    <a:lstStyle/>
                    <a:p>
                      <a:r>
                        <a:rPr lang="en-US" sz="2200" dirty="0">
                          <a:solidFill>
                            <a:srgbClr val="000000"/>
                          </a:solidFill>
                          <a:latin typeface="Arial" panose="020B0604020202020204" pitchFamily="34" charset="0"/>
                          <a:cs typeface="Arial" panose="020B0604020202020204" pitchFamily="34" charset="0"/>
                        </a:rPr>
                        <a:t>Layer 2:</a:t>
                      </a:r>
                    </a:p>
                  </a:txBody>
                  <a:tcPr/>
                </a:tc>
                <a:tc>
                  <a:txBody>
                    <a:bodyPr/>
                    <a:lstStyle/>
                    <a:p>
                      <a:r>
                        <a:rPr lang="en-US" sz="2200" dirty="0">
                          <a:solidFill>
                            <a:srgbClr val="000000"/>
                          </a:solidFill>
                          <a:latin typeface="Arial" panose="020B0604020202020204" pitchFamily="34" charset="0"/>
                          <a:cs typeface="Arial" panose="020B0604020202020204" pitchFamily="34" charset="0"/>
                        </a:rPr>
                        <a:t>Jan. 30</a:t>
                      </a:r>
                    </a:p>
                  </a:txBody>
                  <a:tcPr/>
                </a:tc>
                <a:tc>
                  <a:txBody>
                    <a:bodyPr/>
                    <a:lstStyle/>
                    <a:p>
                      <a:pPr algn="ctr"/>
                      <a:r>
                        <a:rPr lang="en-US" sz="2200" u="sng" dirty="0">
                          <a:solidFill>
                            <a:srgbClr val="000000"/>
                          </a:solidFill>
                          <a:latin typeface="Arial" panose="020B0604020202020204" pitchFamily="34" charset="0"/>
                          <a:cs typeface="Arial" panose="020B0604020202020204" pitchFamily="34" charset="0"/>
                        </a:rPr>
                        <a:t>600</a:t>
                      </a:r>
                    </a:p>
                  </a:txBody>
                  <a:tcPr/>
                </a:tc>
                <a:tc>
                  <a:txBody>
                    <a:bodyPr/>
                    <a:lstStyle/>
                    <a:p>
                      <a:pPr algn="ctr"/>
                      <a:r>
                        <a:rPr lang="en-US" sz="2200" dirty="0">
                          <a:solidFill>
                            <a:srgbClr val="000000"/>
                          </a:solidFill>
                          <a:latin typeface="Arial" panose="020B0604020202020204" pitchFamily="34" charset="0"/>
                          <a:cs typeface="Arial" panose="020B0604020202020204" pitchFamily="34" charset="0"/>
                        </a:rPr>
                        <a:t>  23.30</a:t>
                      </a:r>
                    </a:p>
                  </a:txBody>
                  <a:tcPr/>
                </a:tc>
                <a:tc>
                  <a:txBody>
                    <a:bodyPr/>
                    <a:lstStyle/>
                    <a:p>
                      <a:pPr algn="ctr"/>
                      <a:r>
                        <a:rPr lang="en-US" sz="2200" u="sng" dirty="0">
                          <a:solidFill>
                            <a:srgbClr val="000000"/>
                          </a:solidFill>
                          <a:latin typeface="Arial" panose="020B0604020202020204" pitchFamily="34" charset="0"/>
                          <a:cs typeface="Arial" panose="020B0604020202020204" pitchFamily="34" charset="0"/>
                        </a:rPr>
                        <a:t>  13,980</a:t>
                      </a:r>
                    </a:p>
                  </a:txBody>
                  <a:tcPr/>
                </a:tc>
                <a:extLst>
                  <a:ext uri="{0D108BD9-81ED-4DB2-BD59-A6C34878D82A}">
                    <a16:rowId xmlns:a16="http://schemas.microsoft.com/office/drawing/2014/main" val="2709646097"/>
                  </a:ext>
                </a:extLst>
              </a:tr>
              <a:tr h="370840">
                <a:tc>
                  <a:txBody>
                    <a:bodyPr/>
                    <a:lstStyle/>
                    <a:p>
                      <a:r>
                        <a:rPr lang="en-US" sz="2200" dirty="0">
                          <a:solidFill>
                            <a:srgbClr val="000000"/>
                          </a:solidFill>
                          <a:latin typeface="Arial" panose="020B0604020202020204" pitchFamily="34" charset="0"/>
                          <a:cs typeface="Arial" panose="020B0604020202020204" pitchFamily="34" charset="0"/>
                        </a:rPr>
                        <a:t>     Total</a:t>
                      </a:r>
                    </a:p>
                  </a:txBody>
                  <a:tcPr/>
                </a:tc>
                <a:tc>
                  <a:txBody>
                    <a:bodyPr/>
                    <a:lstStyle/>
                    <a:p>
                      <a:endParaRPr lang="en-US" sz="2200" dirty="0">
                        <a:solidFill>
                          <a:srgbClr val="000000"/>
                        </a:solidFill>
                        <a:latin typeface="Arial" panose="020B0604020202020204" pitchFamily="34" charset="0"/>
                        <a:cs typeface="Arial" panose="020B0604020202020204" pitchFamily="34" charset="0"/>
                      </a:endParaRPr>
                    </a:p>
                  </a:txBody>
                  <a:tcPr/>
                </a:tc>
                <a:tc>
                  <a:txBody>
                    <a:bodyPr/>
                    <a:lstStyle/>
                    <a:p>
                      <a:pPr algn="ctr"/>
                      <a:r>
                        <a:rPr lang="en-US" sz="2200" u="dbl" baseline="0" dirty="0">
                          <a:solidFill>
                            <a:srgbClr val="000000"/>
                          </a:solidFill>
                          <a:latin typeface="Arial" panose="020B0604020202020204" pitchFamily="34" charset="0"/>
                          <a:cs typeface="Arial" panose="020B0604020202020204" pitchFamily="34" charset="0"/>
                        </a:rPr>
                        <a:t>800</a:t>
                      </a:r>
                    </a:p>
                  </a:txBody>
                  <a:tcPr/>
                </a:tc>
                <a:tc>
                  <a:txBody>
                    <a:bodyPr/>
                    <a:lstStyle/>
                    <a:p>
                      <a:endParaRPr lang="en-US" sz="2200" dirty="0">
                        <a:solidFill>
                          <a:srgbClr val="000000"/>
                        </a:solidFill>
                        <a:latin typeface="Arial" panose="020B0604020202020204" pitchFamily="34" charset="0"/>
                        <a:cs typeface="Arial" panose="020B0604020202020204" pitchFamily="34" charset="0"/>
                      </a:endParaRPr>
                    </a:p>
                  </a:txBody>
                  <a:tcPr/>
                </a:tc>
                <a:tc>
                  <a:txBody>
                    <a:bodyPr/>
                    <a:lstStyle/>
                    <a:p>
                      <a:pPr algn="ctr"/>
                      <a:r>
                        <a:rPr lang="en-US" sz="2200" u="dbl" baseline="0" dirty="0">
                          <a:solidFill>
                            <a:srgbClr val="000000"/>
                          </a:solidFill>
                          <a:latin typeface="Arial" panose="020B0604020202020204" pitchFamily="34" charset="0"/>
                          <a:cs typeface="Arial" panose="020B0604020202020204" pitchFamily="34" charset="0"/>
                        </a:rPr>
                        <a:t>$18,460</a:t>
                      </a:r>
                    </a:p>
                  </a:txBody>
                  <a:tcPr/>
                </a:tc>
                <a:extLst>
                  <a:ext uri="{0D108BD9-81ED-4DB2-BD59-A6C34878D82A}">
                    <a16:rowId xmlns:a16="http://schemas.microsoft.com/office/drawing/2014/main" val="297083758"/>
                  </a:ext>
                </a:extLst>
              </a:tr>
            </a:tbl>
          </a:graphicData>
        </a:graphic>
      </p:graphicFrame>
    </p:spTree>
    <p:extLst>
      <p:ext uri="{BB962C8B-B14F-4D97-AF65-F5344CB8AC3E}">
        <p14:creationId xmlns:p14="http://schemas.microsoft.com/office/powerpoint/2010/main" val="975764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2B0D3-1B66-44E0-95AD-82792349814E}"/>
              </a:ext>
            </a:extLst>
          </p:cNvPr>
          <p:cNvSpPr>
            <a:spLocks noGrp="1"/>
          </p:cNvSpPr>
          <p:nvPr>
            <p:ph type="title"/>
          </p:nvPr>
        </p:nvSpPr>
        <p:spPr/>
        <p:txBody>
          <a:bodyPr/>
          <a:lstStyle/>
          <a:p>
            <a:r>
              <a:rPr lang="en-US" dirty="0"/>
              <a:t>Perpetual Inventory System: Last-In, First-Out Method</a:t>
            </a:r>
            <a:br>
              <a:rPr lang="en-US" dirty="0"/>
            </a:br>
            <a:r>
              <a:rPr lang="en-US" sz="2400" dirty="0"/>
              <a:t>(1 of 2)</a:t>
            </a:r>
          </a:p>
        </p:txBody>
      </p:sp>
      <p:sp>
        <p:nvSpPr>
          <p:cNvPr id="3" name="Text Placeholder 2">
            <a:extLst>
              <a:ext uri="{FF2B5EF4-FFF2-40B4-BE49-F238E27FC236}">
                <a16:creationId xmlns:a16="http://schemas.microsoft.com/office/drawing/2014/main" id="{FD3DF032-9344-4C0D-9BFE-87BF95E2A835}"/>
              </a:ext>
            </a:extLst>
          </p:cNvPr>
          <p:cNvSpPr>
            <a:spLocks noGrp="1"/>
          </p:cNvSpPr>
          <p:nvPr>
            <p:ph sz="quarter" idx="10"/>
          </p:nvPr>
        </p:nvSpPr>
        <p:spPr>
          <a:xfrm>
            <a:off x="838200" y="2031999"/>
            <a:ext cx="10515600" cy="4035425"/>
          </a:xfrm>
        </p:spPr>
        <p:txBody>
          <a:bodyPr>
            <a:noAutofit/>
          </a:bodyPr>
          <a:lstStyle/>
          <a:p>
            <a:pPr marL="457200" indent="-457200">
              <a:buFont typeface="Arial" panose="020B0604020202020204" pitchFamily="34" charset="0"/>
              <a:buChar char="•"/>
            </a:pPr>
            <a:r>
              <a:rPr lang="en-US" sz="2400" dirty="0"/>
              <a:t>When the LIFO method is used, the cost of the units sold is the cost of the most recent purchases.</a:t>
            </a:r>
          </a:p>
          <a:p>
            <a:pPr marL="457200" indent="-457200">
              <a:buFont typeface="Arial" panose="020B0604020202020204" pitchFamily="34" charset="0"/>
              <a:buChar char="•"/>
            </a:pPr>
            <a:r>
              <a:rPr lang="en-US" sz="2400" dirty="0"/>
              <a:t>The LIFO method was originally used in those rare cases where the units sold were taken from the most recently purchased units.</a:t>
            </a:r>
          </a:p>
          <a:p>
            <a:pPr lvl="1"/>
            <a:r>
              <a:rPr lang="en-US" dirty="0"/>
              <a:t>For tax purposes, LIFO is now widely used even when it does not represent the physical flow of units.</a:t>
            </a:r>
          </a:p>
          <a:p>
            <a:pPr marL="457200" indent="-457200">
              <a:buFont typeface="Arial" panose="020B0604020202020204" pitchFamily="34" charset="0"/>
              <a:buChar char="•"/>
            </a:pPr>
            <a:r>
              <a:rPr lang="en-US" sz="2400" dirty="0"/>
              <a:t>When the LIFO method is used, the subsidiary inventory ledger is sometimes maintained in units only.</a:t>
            </a:r>
          </a:p>
          <a:p>
            <a:pPr lvl="1"/>
            <a:r>
              <a:rPr lang="en-US" dirty="0"/>
              <a:t>The units are converted to dollars when the financial statements are prepared at the end of the period.</a:t>
            </a:r>
          </a:p>
          <a:p>
            <a:pPr lvl="1"/>
            <a:r>
              <a:rPr lang="en-US" dirty="0">
                <a:highlight>
                  <a:srgbClr val="FFFF00"/>
                </a:highlight>
              </a:rPr>
              <a:t>LIFO</a:t>
            </a:r>
            <a:r>
              <a:rPr lang="en-US" sz="2400" dirty="0">
                <a:highlight>
                  <a:srgbClr val="FFFF00"/>
                </a:highlight>
              </a:rPr>
              <a:t> assigns the most recent costs to cost of goods sold </a:t>
            </a:r>
          </a:p>
          <a:p>
            <a:pPr lvl="1"/>
            <a:endParaRPr lang="en-US" dirty="0"/>
          </a:p>
        </p:txBody>
      </p:sp>
    </p:spTree>
    <p:extLst>
      <p:ext uri="{BB962C8B-B14F-4D97-AF65-F5344CB8AC3E}">
        <p14:creationId xmlns:p14="http://schemas.microsoft.com/office/powerpoint/2010/main" val="3011911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9995A-8879-4CEA-B82C-4A1E744008E6}"/>
              </a:ext>
            </a:extLst>
          </p:cNvPr>
          <p:cNvSpPr>
            <a:spLocks noGrp="1"/>
          </p:cNvSpPr>
          <p:nvPr>
            <p:ph type="title"/>
          </p:nvPr>
        </p:nvSpPr>
        <p:spPr/>
        <p:txBody>
          <a:bodyPr/>
          <a:lstStyle/>
          <a:p>
            <a:r>
              <a:rPr lang="en-US" sz="3400" dirty="0"/>
              <a:t>Exhibit 4 </a:t>
            </a:r>
            <a:r>
              <a:rPr lang="en-US" sz="3200" noProof="0" dirty="0"/>
              <a:t>–</a:t>
            </a:r>
            <a:r>
              <a:rPr lang="en-US" sz="3400" dirty="0"/>
              <a:t> Entries and Perpetual Inventory Account (LIFO)</a:t>
            </a:r>
          </a:p>
        </p:txBody>
      </p:sp>
      <p:pic>
        <p:nvPicPr>
          <p:cNvPr id="5" name="Content Placeholder 4" descr="A subsidiary inventory ledger for Item 127B is shown. The ledger is comprised of four main columns: Date, Purchases (which is further subdivided into three additional columns: Quantity, Unit Cost, and Total Cost), Cost of Goods Sold (which is further subdivided into three additional columns: Quantity, Unit Cost, and Total Cost), and Inventory (which is further subdivided into three additional columns: Quantity, Unit Cost, and Total Cost). &#10;&#10;In the first entry, January 1 is the date indicated. Inventory Quantity, 1,000; Inventory Unit Cost, 20.00; and Inventory Total Cost, 20,000.&#10;&#10;In the second entry, January 4 is the date indicated. Cost of Goods Sold Quantity, 700; Cost of Goods Sold Unit Cost, 20.00; Cost of Goods Sold Total Cost, 14,000; Inventory Quantity, 300; Inventory Unit Cost, 20.00; and Inventory Total Cost, 6,000.&#10;&#10;In the third entry, January 10 is the date indicated. There are two separate lines for this entry. The first line shows the following: Purchases Quantity, 500; Purchases Unit Cost, 22.40; Purchases Total Cost, 11,200; Inventory Quantity, 300; Inventory Unit Cost, 20.00; and Inventory Total Cost, 6,000. The second line shows the following: Inventory Quantity, 500; Inventory Unit Cost, 22.40; and Inventory Total Cost, 11,200.&#10;&#10;In the fourth entry, January 22 is the date indicated. There are two separate lines for this entry. The first line shows the following: Cost of Goods Sold Quantity, 360; Cost of Goods Sold Unit Cost, 22.40; Cost of Goods Sold Total Cost, 8,064; Inventory Quantity, 300; Inventory Unit Cost, 20.00; and Inventory Total Cost, 6,000. The second line shows the following: Inventory Quantity, 140; Inventory Unit Cost, 22.40; and Inventory Total Cost, 3,136. &#10;&#10;In the fifth entry, January 28 is the date indicated. There are two separate lines for this entry. The first line shows the following: Cost of Goods Sold Quantity, 140; Cost of Goods Sold Unit Cost, 22.40; Cost of Goods Sold Total Cost, 3,136; Inventory Quantity, 200; Inventory Unit Cost, 20.00; and Inventory Total Cost, 4,000. The second line shows the following: Cost of Goods Sold Quantity, 100; Cost of Goods Sold Unit Cost, 20.00; and Cost of Goods Sold Total Cost, 2,000. &#10;&#10;In the sixth entry, January 30 is the date indicated. There are two separate lines for this entry. The first line shows the following: Purchases Quantity, 600; Purchases Unit Cost, 23.30; Purchases Total Cost, 13,980; Inventory Quantity, 200; Inventory Unit Cost, 20.00; and Inventory Total Cost, 4,000. The Inventory Total Cost of 4,000 is in blue type. The second line shows the following: Inventory Quantity, 600; Inventory Unit Cost, 23.30; and Inventory Total Cost, 13,980. The Inventory Total Cost of 13,980 is in blue type. &#10;&#10;In the seventh entry, January 31 is the date indicated. The following Balances are shown: Cost of Goods Sold Total Cost, 27,200; and Inventory Total Cost, 17,980. Both of these amounts are in blue type. Below the ledger, a small arrow points upward to the Cost of Goods Sold Total Cost of 27,200 with a note below the arrow that states: Cost of goods sold. Below the ledger, another small arrow points upward to the Inventory Total Cost of 17,980 with a note below the arrow that states: January 31 inventory.&#10;&#10;Five vertical boxes containing the journal entries for Item 127B are shown to the left of the subsidiary inventory ledger. The first box contains two journal entries. In the first entry, January 4 is the date indicated. Accounts Receivable is debited for 21,000, and Sales is credited for 21,000. In the second entry, January 4 is the date indicated. Cost of Goods Sold is debited for 14,000, and Inventory is credited for 14,000. A callout line leads from the box to the date of January 4 in the Date column of the subsidiary inventory ledger.&#10;&#10;In the journal entry in the second box, January 10 is the date indicated. Inventory is debited for 11,200, and Accounts Payable is credited for 11,200. A callout line leads from the box to the date of January 10 in the Date column of the subsidiary inventory ledger.&#10;&#10;The third box contains two journal entries. In the first entry, January 22 is the date indicated. Accounts Receivable is debited for 10,800, and Sales is credited for 10,800. In the second entry, January 22 is the date indicated. Cost of Goods Sold is debited for 8,064, and Inventory is credited for 8,064. A callout line leads from the box to the date of January 22 in the Date column of the subsidiary inventory ledger.&#10;&#10;The fourth box contains two journal entries. In the first entry, January 28 is the date indicated. Accounts Receivable is debited for 7,200, and Sales is credited for 7,200. In the second entry, January 28 is the date indicated. Cost of Goods Sold is debited for 5,136, and Inventory is credited for 5,136. A callout line leads from the box to the date of January 28 in the Date column of the subsidiary inventory ledger.&#10;&#10;In the journal entry in the fifth box, January 30 is the date indicated. Inventory is debited for 13,980, and Accounts Payable is credited for 13,980. A callout line leads from the box to the date of January 30 in the Date column of the subsidiary inventory ledger.&#10;">
            <a:extLst>
              <a:ext uri="{FF2B5EF4-FFF2-40B4-BE49-F238E27FC236}">
                <a16:creationId xmlns:a16="http://schemas.microsoft.com/office/drawing/2014/main" id="{B0C5B3EB-E394-46B9-9F27-79B2AAE45FE6}"/>
              </a:ext>
            </a:extLst>
          </p:cNvPr>
          <p:cNvPicPr>
            <a:picLocks noGrp="1" noChangeAspect="1"/>
          </p:cNvPicPr>
          <p:nvPr>
            <p:ph sz="quarter" idx="10"/>
          </p:nvPr>
        </p:nvPicPr>
        <p:blipFill>
          <a:blip r:embed="rId2"/>
          <a:stretch>
            <a:fillRect/>
          </a:stretch>
        </p:blipFill>
        <p:spPr>
          <a:xfrm>
            <a:off x="1280824" y="1593850"/>
            <a:ext cx="9630352" cy="4473575"/>
          </a:xfrm>
          <a:prstGeom prst="rect">
            <a:avLst/>
          </a:prstGeom>
        </p:spPr>
      </p:pic>
    </p:spTree>
    <p:extLst>
      <p:ext uri="{BB962C8B-B14F-4D97-AF65-F5344CB8AC3E}">
        <p14:creationId xmlns:p14="http://schemas.microsoft.com/office/powerpoint/2010/main" val="3777823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2B0D3-1B66-44E0-95AD-82792349814E}"/>
              </a:ext>
            </a:extLst>
          </p:cNvPr>
          <p:cNvSpPr>
            <a:spLocks noGrp="1"/>
          </p:cNvSpPr>
          <p:nvPr>
            <p:ph type="title"/>
          </p:nvPr>
        </p:nvSpPr>
        <p:spPr/>
        <p:txBody>
          <a:bodyPr/>
          <a:lstStyle/>
          <a:p>
            <a:r>
              <a:rPr lang="en-US" dirty="0"/>
              <a:t>Perpetual Inventory System: Last-In, First-Out Method</a:t>
            </a:r>
            <a:br>
              <a:rPr lang="en-US" dirty="0"/>
            </a:br>
            <a:r>
              <a:rPr lang="en-US" sz="2400" dirty="0"/>
              <a:t>(2 of 2)</a:t>
            </a:r>
          </a:p>
        </p:txBody>
      </p:sp>
      <p:sp>
        <p:nvSpPr>
          <p:cNvPr id="3" name="Text Placeholder 2">
            <a:extLst>
              <a:ext uri="{FF2B5EF4-FFF2-40B4-BE49-F238E27FC236}">
                <a16:creationId xmlns:a16="http://schemas.microsoft.com/office/drawing/2014/main" id="{FD3DF032-9344-4C0D-9BFE-87BF95E2A835}"/>
              </a:ext>
            </a:extLst>
          </p:cNvPr>
          <p:cNvSpPr>
            <a:spLocks noGrp="1"/>
          </p:cNvSpPr>
          <p:nvPr>
            <p:ph sz="quarter" idx="16"/>
          </p:nvPr>
        </p:nvSpPr>
        <p:spPr>
          <a:xfrm>
            <a:off x="838200" y="1944914"/>
            <a:ext cx="10515600" cy="783773"/>
          </a:xfrm>
        </p:spPr>
        <p:txBody>
          <a:bodyPr>
            <a:noAutofit/>
          </a:bodyPr>
          <a:lstStyle/>
          <a:p>
            <a:pPr marL="457200" indent="-457200">
              <a:buFont typeface="Arial" panose="020B0604020202020204" pitchFamily="34" charset="0"/>
              <a:buChar char="•"/>
            </a:pPr>
            <a:r>
              <a:rPr lang="en-US" sz="2400" dirty="0"/>
              <a:t>The ending balance on January 31 is $17,980. This balance is made up of two layers of inventory as follows:</a:t>
            </a:r>
          </a:p>
        </p:txBody>
      </p:sp>
      <p:graphicFrame>
        <p:nvGraphicFramePr>
          <p:cNvPr id="8" name="Content Placeholder 7">
            <a:extLst>
              <a:ext uri="{FF2B5EF4-FFF2-40B4-BE49-F238E27FC236}">
                <a16:creationId xmlns:a16="http://schemas.microsoft.com/office/drawing/2014/main" id="{90D41E95-2576-48F2-87AA-E259E4FA0176}"/>
              </a:ext>
            </a:extLst>
          </p:cNvPr>
          <p:cNvGraphicFramePr>
            <a:graphicFrameLocks noGrp="1"/>
          </p:cNvGraphicFramePr>
          <p:nvPr>
            <p:ph sz="quarter" idx="17"/>
            <p:extLst>
              <p:ext uri="{D42A27DB-BD31-4B8C-83A1-F6EECF244321}">
                <p14:modId xmlns:p14="http://schemas.microsoft.com/office/powerpoint/2010/main" val="3446738734"/>
              </p:ext>
            </p:extLst>
          </p:nvPr>
        </p:nvGraphicFramePr>
        <p:xfrm>
          <a:off x="1940560" y="3016794"/>
          <a:ext cx="8651241" cy="2042160"/>
        </p:xfrm>
        <a:graphic>
          <a:graphicData uri="http://schemas.openxmlformats.org/drawingml/2006/table">
            <a:tbl>
              <a:tblPr firstRow="1" bandRow="1">
                <a:tableStyleId>{2D5ABB26-0587-4C30-8999-92F81FD0307C}</a:tableStyleId>
              </a:tblPr>
              <a:tblGrid>
                <a:gridCol w="1730248">
                  <a:extLst>
                    <a:ext uri="{9D8B030D-6E8A-4147-A177-3AD203B41FA5}">
                      <a16:colId xmlns:a16="http://schemas.microsoft.com/office/drawing/2014/main" val="2315745907"/>
                    </a:ext>
                  </a:extLst>
                </a:gridCol>
                <a:gridCol w="2440432">
                  <a:extLst>
                    <a:ext uri="{9D8B030D-6E8A-4147-A177-3AD203B41FA5}">
                      <a16:colId xmlns:a16="http://schemas.microsoft.com/office/drawing/2014/main" val="3486186220"/>
                    </a:ext>
                  </a:extLst>
                </a:gridCol>
                <a:gridCol w="1584960">
                  <a:extLst>
                    <a:ext uri="{9D8B030D-6E8A-4147-A177-3AD203B41FA5}">
                      <a16:colId xmlns:a16="http://schemas.microsoft.com/office/drawing/2014/main" val="2029405050"/>
                    </a:ext>
                  </a:extLst>
                </a:gridCol>
                <a:gridCol w="1402080">
                  <a:extLst>
                    <a:ext uri="{9D8B030D-6E8A-4147-A177-3AD203B41FA5}">
                      <a16:colId xmlns:a16="http://schemas.microsoft.com/office/drawing/2014/main" val="107676540"/>
                    </a:ext>
                  </a:extLst>
                </a:gridCol>
                <a:gridCol w="1493521">
                  <a:extLst>
                    <a:ext uri="{9D8B030D-6E8A-4147-A177-3AD203B41FA5}">
                      <a16:colId xmlns:a16="http://schemas.microsoft.com/office/drawing/2014/main" val="2854710802"/>
                    </a:ext>
                  </a:extLst>
                </a:gridCol>
              </a:tblGrid>
              <a:tr h="370840">
                <a:tc>
                  <a:txBody>
                    <a:bodyPr/>
                    <a:lstStyle/>
                    <a:p>
                      <a:endParaRPr lang="en-US" sz="2200" dirty="0">
                        <a:solidFill>
                          <a:srgbClr val="000000"/>
                        </a:solidFill>
                        <a:latin typeface="Arial" panose="020B0604020202020204" pitchFamily="34" charset="0"/>
                        <a:cs typeface="Arial" panose="020B0604020202020204" pitchFamily="34" charset="0"/>
                      </a:endParaRPr>
                    </a:p>
                  </a:txBody>
                  <a:tcPr>
                    <a:lnB w="12700" cap="flat" cmpd="sng" algn="ctr">
                      <a:solidFill>
                        <a:srgbClr val="000000"/>
                      </a:solidFill>
                      <a:prstDash val="solid"/>
                      <a:round/>
                      <a:headEnd type="none" w="med" len="med"/>
                      <a:tailEnd type="none" w="med" len="med"/>
                    </a:lnB>
                  </a:tcPr>
                </a:tc>
                <a:tc>
                  <a:txBody>
                    <a:bodyPr/>
                    <a:lstStyle/>
                    <a:p>
                      <a:r>
                        <a:rPr lang="en-US" sz="2200" b="1" dirty="0">
                          <a:solidFill>
                            <a:srgbClr val="000000"/>
                          </a:solidFill>
                          <a:latin typeface="Arial" panose="020B0604020202020204" pitchFamily="34" charset="0"/>
                          <a:cs typeface="Arial" panose="020B0604020202020204" pitchFamily="34" charset="0"/>
                        </a:rPr>
                        <a:t>Date of Purchase</a:t>
                      </a:r>
                    </a:p>
                  </a:txBody>
                  <a:tcPr>
                    <a:lnB w="12700" cap="flat" cmpd="sng" algn="ctr">
                      <a:solidFill>
                        <a:srgbClr val="000000"/>
                      </a:solidFill>
                      <a:prstDash val="solid"/>
                      <a:round/>
                      <a:headEnd type="none" w="med" len="med"/>
                      <a:tailEnd type="none" w="med" len="med"/>
                    </a:lnB>
                  </a:tcPr>
                </a:tc>
                <a:tc>
                  <a:txBody>
                    <a:bodyPr/>
                    <a:lstStyle/>
                    <a:p>
                      <a:endParaRPr lang="en-US" sz="2200" b="1" dirty="0">
                        <a:solidFill>
                          <a:srgbClr val="000000"/>
                        </a:solidFill>
                        <a:latin typeface="Arial" panose="020B0604020202020204" pitchFamily="34" charset="0"/>
                        <a:cs typeface="Arial" panose="020B0604020202020204" pitchFamily="34" charset="0"/>
                      </a:endParaRPr>
                    </a:p>
                    <a:p>
                      <a:pPr algn="ctr"/>
                      <a:r>
                        <a:rPr lang="en-US" sz="2200" b="1" dirty="0">
                          <a:solidFill>
                            <a:srgbClr val="000000"/>
                          </a:solidFill>
                          <a:latin typeface="Arial" panose="020B0604020202020204" pitchFamily="34" charset="0"/>
                          <a:cs typeface="Arial" panose="020B0604020202020204" pitchFamily="34" charset="0"/>
                        </a:rPr>
                        <a:t>Quantity</a:t>
                      </a:r>
                    </a:p>
                  </a:txBody>
                  <a:tcPr>
                    <a:lnB w="12700" cap="flat" cmpd="sng" algn="ctr">
                      <a:solidFill>
                        <a:srgbClr val="000000"/>
                      </a:solidFill>
                      <a:prstDash val="solid"/>
                      <a:round/>
                      <a:headEnd type="none" w="med" len="med"/>
                      <a:tailEnd type="none" w="med" len="med"/>
                    </a:lnB>
                  </a:tcPr>
                </a:tc>
                <a:tc>
                  <a:txBody>
                    <a:bodyPr/>
                    <a:lstStyle/>
                    <a:p>
                      <a:pPr algn="ctr"/>
                      <a:r>
                        <a:rPr lang="en-US" sz="2200" b="1" dirty="0">
                          <a:solidFill>
                            <a:srgbClr val="000000"/>
                          </a:solidFill>
                          <a:latin typeface="Arial" panose="020B0604020202020204" pitchFamily="34" charset="0"/>
                          <a:cs typeface="Arial" panose="020B0604020202020204" pitchFamily="34" charset="0"/>
                        </a:rPr>
                        <a:t>Unit </a:t>
                      </a:r>
                    </a:p>
                    <a:p>
                      <a:pPr algn="ctr"/>
                      <a:r>
                        <a:rPr lang="en-US" sz="2200" b="1" dirty="0">
                          <a:solidFill>
                            <a:srgbClr val="000000"/>
                          </a:solidFill>
                          <a:latin typeface="Arial" panose="020B0604020202020204" pitchFamily="34" charset="0"/>
                          <a:cs typeface="Arial" panose="020B0604020202020204" pitchFamily="34" charset="0"/>
                        </a:rPr>
                        <a:t>Cost</a:t>
                      </a:r>
                    </a:p>
                  </a:txBody>
                  <a:tcPr>
                    <a:lnB w="12700" cap="flat" cmpd="sng" algn="ctr">
                      <a:solidFill>
                        <a:srgbClr val="000000"/>
                      </a:solidFill>
                      <a:prstDash val="solid"/>
                      <a:round/>
                      <a:headEnd type="none" w="med" len="med"/>
                      <a:tailEnd type="none" w="med" len="med"/>
                    </a:lnB>
                  </a:tcPr>
                </a:tc>
                <a:tc>
                  <a:txBody>
                    <a:bodyPr/>
                    <a:lstStyle/>
                    <a:p>
                      <a:pPr algn="ctr"/>
                      <a:r>
                        <a:rPr lang="en-US" sz="2200" b="1" dirty="0">
                          <a:solidFill>
                            <a:srgbClr val="000000"/>
                          </a:solidFill>
                          <a:latin typeface="Arial" panose="020B0604020202020204" pitchFamily="34" charset="0"/>
                          <a:cs typeface="Arial" panose="020B0604020202020204" pitchFamily="34" charset="0"/>
                        </a:rPr>
                        <a:t>Total </a:t>
                      </a:r>
                    </a:p>
                    <a:p>
                      <a:pPr algn="ctr"/>
                      <a:r>
                        <a:rPr lang="en-US" sz="2200" b="1" dirty="0">
                          <a:solidFill>
                            <a:srgbClr val="000000"/>
                          </a:solidFill>
                          <a:latin typeface="Arial" panose="020B0604020202020204" pitchFamily="34" charset="0"/>
                          <a:cs typeface="Arial" panose="020B0604020202020204" pitchFamily="34" charset="0"/>
                        </a:rPr>
                        <a:t>Cost</a:t>
                      </a:r>
                    </a:p>
                  </a:txBody>
                  <a:tcPr>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89264331"/>
                  </a:ext>
                </a:extLst>
              </a:tr>
              <a:tr h="370840">
                <a:tc>
                  <a:txBody>
                    <a:bodyPr/>
                    <a:lstStyle/>
                    <a:p>
                      <a:r>
                        <a:rPr lang="en-US" sz="2200" dirty="0">
                          <a:solidFill>
                            <a:srgbClr val="000000"/>
                          </a:solidFill>
                          <a:latin typeface="Arial" panose="020B0604020202020204" pitchFamily="34" charset="0"/>
                          <a:cs typeface="Arial" panose="020B0604020202020204" pitchFamily="34" charset="0"/>
                        </a:rPr>
                        <a:t>Layer 1:</a:t>
                      </a:r>
                    </a:p>
                  </a:txBody>
                  <a:tcPr>
                    <a:lnT w="12700" cap="flat" cmpd="sng" algn="ctr">
                      <a:solidFill>
                        <a:srgbClr val="000000"/>
                      </a:solidFill>
                      <a:prstDash val="solid"/>
                      <a:round/>
                      <a:headEnd type="none" w="med" len="med"/>
                      <a:tailEnd type="none" w="med" len="med"/>
                    </a:lnT>
                  </a:tcPr>
                </a:tc>
                <a:tc>
                  <a:txBody>
                    <a:bodyPr/>
                    <a:lstStyle/>
                    <a:p>
                      <a:r>
                        <a:rPr lang="en-US" sz="2200" dirty="0">
                          <a:solidFill>
                            <a:srgbClr val="000000"/>
                          </a:solidFill>
                          <a:latin typeface="Arial" panose="020B0604020202020204" pitchFamily="34" charset="0"/>
                          <a:cs typeface="Arial" panose="020B0604020202020204" pitchFamily="34" charset="0"/>
                        </a:rPr>
                        <a:t>Beg. inv. (Jan. 1)</a:t>
                      </a:r>
                    </a:p>
                  </a:txBody>
                  <a:tcPr>
                    <a:lnT w="12700" cap="flat" cmpd="sng" algn="ctr">
                      <a:solidFill>
                        <a:srgbClr val="000000"/>
                      </a:solidFill>
                      <a:prstDash val="solid"/>
                      <a:round/>
                      <a:headEnd type="none" w="med" len="med"/>
                      <a:tailEnd type="none" w="med" len="med"/>
                    </a:lnT>
                  </a:tcPr>
                </a:tc>
                <a:tc>
                  <a:txBody>
                    <a:bodyPr/>
                    <a:lstStyle/>
                    <a:p>
                      <a:pPr algn="ctr"/>
                      <a:r>
                        <a:rPr lang="en-US" sz="2200" dirty="0">
                          <a:solidFill>
                            <a:srgbClr val="000000"/>
                          </a:solidFill>
                          <a:latin typeface="Arial" panose="020B0604020202020204" pitchFamily="34" charset="0"/>
                          <a:cs typeface="Arial" panose="020B0604020202020204" pitchFamily="34" charset="0"/>
                        </a:rPr>
                        <a:t>200</a:t>
                      </a:r>
                    </a:p>
                  </a:txBody>
                  <a:tcPr>
                    <a:lnT w="12700" cap="flat" cmpd="sng" algn="ctr">
                      <a:solidFill>
                        <a:srgbClr val="000000"/>
                      </a:solidFill>
                      <a:prstDash val="solid"/>
                      <a:round/>
                      <a:headEnd type="none" w="med" len="med"/>
                      <a:tailEnd type="none" w="med" len="med"/>
                    </a:lnT>
                  </a:tcPr>
                </a:tc>
                <a:tc>
                  <a:txBody>
                    <a:bodyPr/>
                    <a:lstStyle/>
                    <a:p>
                      <a:pPr algn="ctr"/>
                      <a:r>
                        <a:rPr lang="en-US" sz="2200" dirty="0">
                          <a:solidFill>
                            <a:srgbClr val="000000"/>
                          </a:solidFill>
                          <a:latin typeface="Arial" panose="020B0604020202020204" pitchFamily="34" charset="0"/>
                          <a:cs typeface="Arial" panose="020B0604020202020204" pitchFamily="34" charset="0"/>
                        </a:rPr>
                        <a:t>$20.00</a:t>
                      </a:r>
                    </a:p>
                  </a:txBody>
                  <a:tcPr>
                    <a:lnT w="12700" cap="flat" cmpd="sng" algn="ctr">
                      <a:solidFill>
                        <a:srgbClr val="000000"/>
                      </a:solidFill>
                      <a:prstDash val="solid"/>
                      <a:round/>
                      <a:headEnd type="none" w="med" len="med"/>
                      <a:tailEnd type="none" w="med" len="med"/>
                    </a:lnT>
                  </a:tcPr>
                </a:tc>
                <a:tc>
                  <a:txBody>
                    <a:bodyPr/>
                    <a:lstStyle/>
                    <a:p>
                      <a:pPr algn="ctr"/>
                      <a:r>
                        <a:rPr lang="en-US" sz="2200" dirty="0">
                          <a:solidFill>
                            <a:srgbClr val="000000"/>
                          </a:solidFill>
                          <a:latin typeface="Arial" panose="020B0604020202020204" pitchFamily="34" charset="0"/>
                          <a:cs typeface="Arial" panose="020B0604020202020204" pitchFamily="34" charset="0"/>
                        </a:rPr>
                        <a:t>$  4,000</a:t>
                      </a:r>
                    </a:p>
                  </a:txBody>
                  <a:tcPr>
                    <a:lnT w="1270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661337383"/>
                  </a:ext>
                </a:extLst>
              </a:tr>
              <a:tr h="370840">
                <a:tc>
                  <a:txBody>
                    <a:bodyPr/>
                    <a:lstStyle/>
                    <a:p>
                      <a:r>
                        <a:rPr lang="en-US" sz="2200" dirty="0">
                          <a:solidFill>
                            <a:srgbClr val="000000"/>
                          </a:solidFill>
                          <a:latin typeface="Arial" panose="020B0604020202020204" pitchFamily="34" charset="0"/>
                          <a:cs typeface="Arial" panose="020B0604020202020204" pitchFamily="34" charset="0"/>
                        </a:rPr>
                        <a:t>Layer 2:</a:t>
                      </a:r>
                    </a:p>
                  </a:txBody>
                  <a:tcPr/>
                </a:tc>
                <a:tc>
                  <a:txBody>
                    <a:bodyPr/>
                    <a:lstStyle/>
                    <a:p>
                      <a:r>
                        <a:rPr lang="en-US" sz="2200" dirty="0">
                          <a:solidFill>
                            <a:srgbClr val="000000"/>
                          </a:solidFill>
                          <a:latin typeface="Arial" panose="020B0604020202020204" pitchFamily="34" charset="0"/>
                          <a:cs typeface="Arial" panose="020B0604020202020204" pitchFamily="34" charset="0"/>
                        </a:rPr>
                        <a:t>Jan. 30</a:t>
                      </a:r>
                    </a:p>
                  </a:txBody>
                  <a:tcPr/>
                </a:tc>
                <a:tc>
                  <a:txBody>
                    <a:bodyPr/>
                    <a:lstStyle/>
                    <a:p>
                      <a:pPr algn="ctr"/>
                      <a:r>
                        <a:rPr lang="en-US" sz="2200" u="sng" dirty="0">
                          <a:solidFill>
                            <a:srgbClr val="000000"/>
                          </a:solidFill>
                          <a:latin typeface="Arial" panose="020B0604020202020204" pitchFamily="34" charset="0"/>
                          <a:cs typeface="Arial" panose="020B0604020202020204" pitchFamily="34" charset="0"/>
                        </a:rPr>
                        <a:t>600</a:t>
                      </a:r>
                    </a:p>
                  </a:txBody>
                  <a:tcPr/>
                </a:tc>
                <a:tc>
                  <a:txBody>
                    <a:bodyPr/>
                    <a:lstStyle/>
                    <a:p>
                      <a:pPr algn="ctr"/>
                      <a:r>
                        <a:rPr lang="en-US" sz="2200" dirty="0">
                          <a:solidFill>
                            <a:srgbClr val="000000"/>
                          </a:solidFill>
                          <a:latin typeface="Arial" panose="020B0604020202020204" pitchFamily="34" charset="0"/>
                          <a:cs typeface="Arial" panose="020B0604020202020204" pitchFamily="34" charset="0"/>
                        </a:rPr>
                        <a:t>  23.30</a:t>
                      </a:r>
                    </a:p>
                  </a:txBody>
                  <a:tcPr/>
                </a:tc>
                <a:tc>
                  <a:txBody>
                    <a:bodyPr/>
                    <a:lstStyle/>
                    <a:p>
                      <a:pPr algn="ctr"/>
                      <a:r>
                        <a:rPr lang="en-US" sz="2200" u="sng" dirty="0">
                          <a:solidFill>
                            <a:srgbClr val="000000"/>
                          </a:solidFill>
                          <a:latin typeface="Arial" panose="020B0604020202020204" pitchFamily="34" charset="0"/>
                          <a:cs typeface="Arial" panose="020B0604020202020204" pitchFamily="34" charset="0"/>
                        </a:rPr>
                        <a:t>  13,980</a:t>
                      </a:r>
                    </a:p>
                  </a:txBody>
                  <a:tcPr/>
                </a:tc>
                <a:extLst>
                  <a:ext uri="{0D108BD9-81ED-4DB2-BD59-A6C34878D82A}">
                    <a16:rowId xmlns:a16="http://schemas.microsoft.com/office/drawing/2014/main" val="2709646097"/>
                  </a:ext>
                </a:extLst>
              </a:tr>
              <a:tr h="370840">
                <a:tc>
                  <a:txBody>
                    <a:bodyPr/>
                    <a:lstStyle/>
                    <a:p>
                      <a:r>
                        <a:rPr lang="en-US" sz="2200" dirty="0">
                          <a:solidFill>
                            <a:srgbClr val="000000"/>
                          </a:solidFill>
                          <a:latin typeface="Arial" panose="020B0604020202020204" pitchFamily="34" charset="0"/>
                          <a:cs typeface="Arial" panose="020B0604020202020204" pitchFamily="34" charset="0"/>
                        </a:rPr>
                        <a:t>     Total</a:t>
                      </a:r>
                    </a:p>
                  </a:txBody>
                  <a:tcPr/>
                </a:tc>
                <a:tc>
                  <a:txBody>
                    <a:bodyPr/>
                    <a:lstStyle/>
                    <a:p>
                      <a:endParaRPr lang="en-US" sz="2200" dirty="0">
                        <a:solidFill>
                          <a:srgbClr val="000000"/>
                        </a:solidFill>
                        <a:latin typeface="Arial" panose="020B0604020202020204" pitchFamily="34" charset="0"/>
                        <a:cs typeface="Arial" panose="020B0604020202020204" pitchFamily="34" charset="0"/>
                      </a:endParaRPr>
                    </a:p>
                  </a:txBody>
                  <a:tcPr/>
                </a:tc>
                <a:tc>
                  <a:txBody>
                    <a:bodyPr/>
                    <a:lstStyle/>
                    <a:p>
                      <a:pPr algn="ctr"/>
                      <a:r>
                        <a:rPr lang="en-US" sz="2200" u="dbl" baseline="0" dirty="0">
                          <a:solidFill>
                            <a:srgbClr val="000000"/>
                          </a:solidFill>
                          <a:latin typeface="Arial" panose="020B0604020202020204" pitchFamily="34" charset="0"/>
                          <a:cs typeface="Arial" panose="020B0604020202020204" pitchFamily="34" charset="0"/>
                        </a:rPr>
                        <a:t>800</a:t>
                      </a:r>
                    </a:p>
                  </a:txBody>
                  <a:tcPr/>
                </a:tc>
                <a:tc>
                  <a:txBody>
                    <a:bodyPr/>
                    <a:lstStyle/>
                    <a:p>
                      <a:endParaRPr lang="en-US" sz="2200" dirty="0">
                        <a:solidFill>
                          <a:srgbClr val="000000"/>
                        </a:solidFill>
                        <a:latin typeface="Arial" panose="020B0604020202020204" pitchFamily="34" charset="0"/>
                        <a:cs typeface="Arial" panose="020B0604020202020204" pitchFamily="34" charset="0"/>
                      </a:endParaRPr>
                    </a:p>
                  </a:txBody>
                  <a:tcPr/>
                </a:tc>
                <a:tc>
                  <a:txBody>
                    <a:bodyPr/>
                    <a:lstStyle/>
                    <a:p>
                      <a:pPr algn="ctr"/>
                      <a:r>
                        <a:rPr lang="en-US" sz="2200" u="dbl" baseline="0" dirty="0">
                          <a:solidFill>
                            <a:srgbClr val="000000"/>
                          </a:solidFill>
                          <a:latin typeface="Arial" panose="020B0604020202020204" pitchFamily="34" charset="0"/>
                          <a:cs typeface="Arial" panose="020B0604020202020204" pitchFamily="34" charset="0"/>
                        </a:rPr>
                        <a:t>$17,980</a:t>
                      </a:r>
                    </a:p>
                  </a:txBody>
                  <a:tcPr/>
                </a:tc>
                <a:extLst>
                  <a:ext uri="{0D108BD9-81ED-4DB2-BD59-A6C34878D82A}">
                    <a16:rowId xmlns:a16="http://schemas.microsoft.com/office/drawing/2014/main" val="297083758"/>
                  </a:ext>
                </a:extLst>
              </a:tr>
            </a:tbl>
          </a:graphicData>
        </a:graphic>
      </p:graphicFrame>
    </p:spTree>
    <p:extLst>
      <p:ext uri="{BB962C8B-B14F-4D97-AF65-F5344CB8AC3E}">
        <p14:creationId xmlns:p14="http://schemas.microsoft.com/office/powerpoint/2010/main" val="2790927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Activity 1</a:t>
            </a:r>
          </a:p>
        </p:txBody>
      </p:sp>
      <p:sp>
        <p:nvSpPr>
          <p:cNvPr id="3" name="Text Placeholder 2"/>
          <p:cNvSpPr>
            <a:spLocks noGrp="1"/>
          </p:cNvSpPr>
          <p:nvPr>
            <p:ph sz="quarter" idx="10"/>
          </p:nvPr>
        </p:nvSpPr>
        <p:spPr/>
        <p:txBody>
          <a:bodyPr/>
          <a:lstStyle/>
          <a:p>
            <a:pPr marL="0" indent="0">
              <a:buNone/>
            </a:pPr>
            <a:r>
              <a:rPr lang="en-US" sz="2600" dirty="0"/>
              <a:t>Which of the following inventory costing methods would be associated with the highest cost of goods sold expense on the income statement, assuming a period of rising costs?</a:t>
            </a:r>
          </a:p>
          <a:p>
            <a:pPr marL="514350" indent="-514350">
              <a:buAutoNum type="alphaLcPeriod"/>
            </a:pPr>
            <a:r>
              <a:rPr lang="en-US" sz="2600" dirty="0"/>
              <a:t>FIFO (first-in, first-out)</a:t>
            </a:r>
          </a:p>
          <a:p>
            <a:pPr marL="514350" indent="-514350">
              <a:buAutoNum type="alphaLcPeriod"/>
            </a:pPr>
            <a:r>
              <a:rPr lang="en-US" sz="2600" dirty="0"/>
              <a:t>Specific identification</a:t>
            </a:r>
          </a:p>
          <a:p>
            <a:pPr marL="514350" indent="-514350">
              <a:buAutoNum type="alphaLcPeriod"/>
            </a:pPr>
            <a:r>
              <a:rPr lang="en-US" sz="2600" dirty="0"/>
              <a:t>LIFO (last-in, first-out)</a:t>
            </a:r>
          </a:p>
          <a:p>
            <a:pPr marL="514350" indent="-514350">
              <a:buAutoNum type="alphaLcPeriod"/>
            </a:pPr>
            <a:r>
              <a:rPr lang="en-US" sz="2600" dirty="0"/>
              <a:t>Weight average cost</a:t>
            </a:r>
          </a:p>
          <a:p>
            <a:pPr marL="0" indent="0">
              <a:buNone/>
            </a:pPr>
            <a:endParaRPr lang="en-US" sz="2600" dirty="0"/>
          </a:p>
        </p:txBody>
      </p:sp>
    </p:spTree>
    <p:extLst>
      <p:ext uri="{BB962C8B-B14F-4D97-AF65-F5344CB8AC3E}">
        <p14:creationId xmlns:p14="http://schemas.microsoft.com/office/powerpoint/2010/main" val="1500424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2105"/>
          </a:xfrm>
        </p:spPr>
        <p:txBody>
          <a:bodyPr/>
          <a:lstStyle/>
          <a:p>
            <a:r>
              <a:rPr lang="en-US" dirty="0"/>
              <a:t>Knowledge Check Activity 1: Answer</a:t>
            </a:r>
          </a:p>
        </p:txBody>
      </p:sp>
      <p:sp>
        <p:nvSpPr>
          <p:cNvPr id="3" name="Text Placeholder 2"/>
          <p:cNvSpPr>
            <a:spLocks noGrp="1"/>
          </p:cNvSpPr>
          <p:nvPr>
            <p:ph sz="quarter" idx="10"/>
          </p:nvPr>
        </p:nvSpPr>
        <p:spPr>
          <a:xfrm>
            <a:off x="838200" y="1593273"/>
            <a:ext cx="10515600" cy="4474152"/>
          </a:xfrm>
        </p:spPr>
        <p:txBody>
          <a:bodyPr>
            <a:noAutofit/>
          </a:bodyPr>
          <a:lstStyle/>
          <a:p>
            <a:r>
              <a:rPr lang="en-US" sz="2400" dirty="0"/>
              <a:t>Which of the following inventory costing methods would be associated with the highest cost of goods sold expense on the income statement, assuming a period of rising costs?</a:t>
            </a:r>
          </a:p>
          <a:p>
            <a:endParaRPr lang="en-US" sz="2400" dirty="0"/>
          </a:p>
          <a:p>
            <a:r>
              <a:rPr lang="en-US" sz="2400" b="1" dirty="0"/>
              <a:t>Answer: </a:t>
            </a:r>
            <a:r>
              <a:rPr lang="en-US" sz="2400" dirty="0"/>
              <a:t>c. LIFO (last-in, first-out)</a:t>
            </a:r>
          </a:p>
          <a:p>
            <a:endParaRPr lang="en-US" sz="2400" dirty="0"/>
          </a:p>
          <a:p>
            <a:r>
              <a:rPr lang="en-US" sz="2400" dirty="0"/>
              <a:t>Assuming a period of rising costs, the latest purchased inventory items would have the highest costs, so when those are chosen first to build or sell products in a company, they will have the highest cost of goods sold. The older items, presumably purchased at a lower cost, would remain in the inventory account on the balance sheet.</a:t>
            </a:r>
          </a:p>
        </p:txBody>
      </p:sp>
    </p:spTree>
    <p:extLst>
      <p:ext uri="{BB962C8B-B14F-4D97-AF65-F5344CB8AC3E}">
        <p14:creationId xmlns:p14="http://schemas.microsoft.com/office/powerpoint/2010/main" val="1729216077"/>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ab864144-ca3b-47ab-a142-93b76c4c492d">
      <UserInfo>
        <DisplayName/>
        <AccountId xsi:nil="true"/>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394B888A8E71149BA1FDF36AA0410F2" ma:contentTypeVersion="11" ma:contentTypeDescription="Create a new document." ma:contentTypeScope="" ma:versionID="a2acd571cfbae07cc1c1b9b4f31a4903">
  <xsd:schema xmlns:xsd="http://www.w3.org/2001/XMLSchema" xmlns:xs="http://www.w3.org/2001/XMLSchema" xmlns:p="http://schemas.microsoft.com/office/2006/metadata/properties" xmlns:ns2="5f8dbb90-e206-4f83-9820-44f04f84401f" xmlns:ns3="ab864144-ca3b-47ab-a142-93b76c4c492d" targetNamespace="http://schemas.microsoft.com/office/2006/metadata/properties" ma:root="true" ma:fieldsID="3c31c27e1b082e584a7e0e139cda3467" ns2:_="" ns3:_="">
    <xsd:import namespace="5f8dbb90-e206-4f83-9820-44f04f84401f"/>
    <xsd:import namespace="ab864144-ca3b-47ab-a142-93b76c4c492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dbb90-e206-4f83-9820-44f04f8440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864144-ca3b-47ab-a142-93b76c4c492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purl.org/dc/dcmitype/"/>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ab864144-ca3b-47ab-a142-93b76c4c492d"/>
    <ds:schemaRef ds:uri="5f8dbb90-e206-4f83-9820-44f04f84401f"/>
    <ds:schemaRef ds:uri="http://www.w3.org/XML/1998/namespace"/>
  </ds:schemaRefs>
</ds:datastoreItem>
</file>

<file path=customXml/itemProps2.xml><?xml version="1.0" encoding="utf-8"?>
<ds:datastoreItem xmlns:ds="http://schemas.openxmlformats.org/officeDocument/2006/customXml" ds:itemID="{CCAA2083-1E27-43BC-8488-C4E35C2DDA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8dbb90-e206-4f83-9820-44f04f84401f"/>
    <ds:schemaRef ds:uri="ab864144-ca3b-47ab-a142-93b76c4c49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2436</TotalTime>
  <Words>1215</Words>
  <Application>Microsoft Office PowerPoint</Application>
  <PresentationFormat>Widescreen</PresentationFormat>
  <Paragraphs>175</Paragraphs>
  <Slides>16</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5" baseType="lpstr">
      <vt:lpstr>Arial</vt:lpstr>
      <vt:lpstr>Arial</vt:lpstr>
      <vt:lpstr>Calibri</vt:lpstr>
      <vt:lpstr>Helvetica</vt:lpstr>
      <vt:lpstr>Open Sans</vt:lpstr>
      <vt:lpstr>Summer Font</vt:lpstr>
      <vt:lpstr>Verdana</vt:lpstr>
      <vt:lpstr>Office Theme</vt:lpstr>
      <vt:lpstr>Equation</vt:lpstr>
      <vt:lpstr>Chapter 6: Inventories</vt:lpstr>
      <vt:lpstr>Safeguarding Inventory</vt:lpstr>
      <vt:lpstr>Reporting Inventory</vt:lpstr>
      <vt:lpstr>Exhibit 1 – Cost Flow Assumptions</vt:lpstr>
      <vt:lpstr>Inventory Cost Flow Assumptions </vt:lpstr>
      <vt:lpstr>Inventory Cost Flow Assumptions (</vt:lpstr>
      <vt:lpstr>Inventory Cost Flow Assumptions (4 of 4)</vt:lpstr>
      <vt:lpstr>Inventory Costing Methods Under a Perpetual Inventory System  (Learning Objective 3)</vt:lpstr>
      <vt:lpstr>Perpetual Inventory System: First-In, First-Out Method (1 of 2)</vt:lpstr>
      <vt:lpstr>Exhibit 3 – Entries and Perpetual Inventory Account (FIFO)</vt:lpstr>
      <vt:lpstr>Perpetual Inventory System: First-In, First-Out Method (2 of 2)</vt:lpstr>
      <vt:lpstr>Perpetual Inventory System: Last-In, First-Out Method (1 of 2)</vt:lpstr>
      <vt:lpstr>Exhibit 4 – Entries and Perpetual Inventory Account (LIFO)</vt:lpstr>
      <vt:lpstr>Perpetual Inventory System: Last-In, First-Out Method (2 of 2)</vt:lpstr>
      <vt:lpstr>Knowledge Check Activity 1</vt:lpstr>
      <vt:lpstr>Knowledge Check Activity 1: Answer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Constitutional Law</dc:title>
  <dc:creator>Onderdonk, Natalie</dc:creator>
  <cp:lastModifiedBy>Karla Graney</cp:lastModifiedBy>
  <cp:revision>140</cp:revision>
  <dcterms:created xsi:type="dcterms:W3CDTF">2020-07-27T16:46:05Z</dcterms:created>
  <dcterms:modified xsi:type="dcterms:W3CDTF">2026-06-13T12:05:46Z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0x0101005394B888A8E71149BA1FDF36AA0410F2</vt:lpwstr>
  </property>
  <property fmtid="{D5CDD505-2E9C-101B-9397-08002B2CF9AE}" pid="3" name="Order">
    <vt:r8>21552800</vt:r8>
  </property>
  <property fmtid="{D5CDD505-2E9C-101B-9397-08002B2CF9AE}" pid="4" name="xd_Signature">
    <vt:bool>false</vt:bool>
  </property>
  <property fmtid="{D5CDD505-2E9C-101B-9397-08002B2CF9AE}" pid="5" name="xd_ProgID">
    <vt:lpwstr/>
  </property>
  <property fmtid="{D5CDD505-2E9C-101B-9397-08002B2CF9AE}" pid="6" name="Status">
    <vt:lpwstr>1. In development</vt:lpwstr>
  </property>
  <property fmtid="{D5CDD505-2E9C-101B-9397-08002B2CF9AE}" pid="7" name="ComplianceAssetId">
    <vt:lpwstr/>
  </property>
  <property fmtid="{D5CDD505-2E9C-101B-9397-08002B2CF9AE}" pid="8" name="TemplateUrl">
    <vt:lpwstr/>
  </property>
</Properties>
</file>