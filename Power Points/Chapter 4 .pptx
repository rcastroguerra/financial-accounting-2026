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handoutMasterIdLst>
    <p:handoutMasterId r:id="rId23"/>
  </p:handoutMasterIdLst>
  <p:sldIdLst>
    <p:sldId id="264" r:id="rId5"/>
    <p:sldId id="263" r:id="rId6"/>
    <p:sldId id="336" r:id="rId7"/>
    <p:sldId id="268" r:id="rId8"/>
    <p:sldId id="269" r:id="rId9"/>
    <p:sldId id="435" r:id="rId10"/>
    <p:sldId id="436" r:id="rId11"/>
    <p:sldId id="267" r:id="rId12"/>
    <p:sldId id="270" r:id="rId13"/>
    <p:sldId id="271" r:id="rId14"/>
    <p:sldId id="272" r:id="rId15"/>
    <p:sldId id="274" r:id="rId16"/>
    <p:sldId id="278" r:id="rId17"/>
    <p:sldId id="437" r:id="rId18"/>
    <p:sldId id="279" r:id="rId19"/>
    <p:sldId id="283" r:id="rId20"/>
    <p:sldId id="438" r:id="rId2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78"/>
    <a:srgbClr val="000000"/>
    <a:srgbClr val="E9255F"/>
    <a:srgbClr val="006298"/>
    <a:srgbClr val="FF6300"/>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D71465-B191-4EC9-A90A-467703CC2038}" v="2" dt="2025-06-10T02:28:49.3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161" autoAdjust="0"/>
  </p:normalViewPr>
  <p:slideViewPr>
    <p:cSldViewPr snapToGrid="0">
      <p:cViewPr varScale="1">
        <p:scale>
          <a:sx n="81" d="100"/>
          <a:sy n="81" d="100"/>
        </p:scale>
        <p:origin x="1716" y="7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6/8/2026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6/8/2026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1CAE60C-72A0-D14D-8733-C13212F694AD}" type="slidenum">
              <a:rPr lang="en-US" smtClean="0"/>
              <a:pPr>
                <a:defRPr/>
              </a:pPr>
              <a:t>9</a:t>
            </a:fld>
            <a:endParaRPr lang="en-US" dirty="0"/>
          </a:p>
        </p:txBody>
      </p:sp>
    </p:spTree>
    <p:extLst>
      <p:ext uri="{BB962C8B-B14F-4D97-AF65-F5344CB8AC3E}">
        <p14:creationId xmlns:p14="http://schemas.microsoft.com/office/powerpoint/2010/main" val="2731031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14</a:t>
            </a:fld>
            <a:endParaRPr lang="en-US" dirty="0"/>
          </a:p>
        </p:txBody>
      </p:sp>
    </p:spTree>
    <p:extLst>
      <p:ext uri="{BB962C8B-B14F-4D97-AF65-F5344CB8AC3E}">
        <p14:creationId xmlns:p14="http://schemas.microsoft.com/office/powerpoint/2010/main" val="218794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 post-closing trial balance is prepared after the closing entries have been posted. </a:t>
            </a:r>
          </a:p>
          <a:p>
            <a:pPr marL="171450" indent="-171450">
              <a:buFont typeface="Arial" panose="020B0604020202020204" pitchFamily="34" charset="0"/>
              <a:buChar char="•"/>
            </a:pPr>
            <a:r>
              <a:rPr lang="en-US" dirty="0"/>
              <a:t>The purpose of the post-closing (after closing) trial balance is to verify that the ledger is in balance at the beginning of the next period.</a:t>
            </a:r>
          </a:p>
          <a:p>
            <a:pPr marL="171450" indent="-171450">
              <a:buFont typeface="Arial" panose="020B0604020202020204" pitchFamily="34" charset="0"/>
              <a:buChar char="•"/>
            </a:pPr>
            <a:r>
              <a:rPr lang="en-US" dirty="0"/>
              <a:t>The accounts and amounts should agree exactly with the accounts and amounts listed on the balance sheet at the end of the period.</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91CAE60C-72A0-D14D-8733-C13212F694AD}" type="slidenum">
              <a:rPr lang="en-US" smtClean="0"/>
              <a:pPr>
                <a:defRPr/>
              </a:pPr>
              <a:t>17</a:t>
            </a:fld>
            <a:endParaRPr lang="en-US" dirty="0"/>
          </a:p>
        </p:txBody>
      </p:sp>
    </p:spTree>
    <p:extLst>
      <p:ext uri="{BB962C8B-B14F-4D97-AF65-F5344CB8AC3E}">
        <p14:creationId xmlns:p14="http://schemas.microsoft.com/office/powerpoint/2010/main" val="30307668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pPr>
              <a:defRPr/>
            </a:pPr>
            <a:r>
              <a:rPr lang="en-US" dirty="0"/>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E7287522-6EFB-4B6F-A755-2B83B87BF180}"/>
              </a:ext>
            </a:extLst>
          </p:cNvPr>
          <p:cNvSpPr>
            <a:spLocks noGrp="1"/>
          </p:cNvSpPr>
          <p:nvPr>
            <p:ph sz="quarter" idx="10"/>
          </p:nvPr>
        </p:nvSpPr>
        <p:spPr>
          <a:xfrm>
            <a:off x="838200" y="1593273"/>
            <a:ext cx="10515600" cy="447415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86311C29-F62B-4AA5-8197-B175712ABE83}"/>
              </a:ext>
            </a:extLst>
          </p:cNvPr>
          <p:cNvSpPr>
            <a:spLocks noGrp="1"/>
          </p:cNvSpPr>
          <p:nvPr>
            <p:ph sz="quarter" idx="16"/>
          </p:nvPr>
        </p:nvSpPr>
        <p:spPr>
          <a:xfrm>
            <a:off x="6207368" y="1607126"/>
            <a:ext cx="5146431" cy="34157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CBA4F7D5-043F-4B98-992B-40E415A84609}"/>
              </a:ext>
            </a:extLst>
          </p:cNvPr>
          <p:cNvSpPr>
            <a:spLocks noGrp="1"/>
          </p:cNvSpPr>
          <p:nvPr>
            <p:ph sz="quarter" idx="17"/>
          </p:nvPr>
        </p:nvSpPr>
        <p:spPr>
          <a:xfrm>
            <a:off x="838200" y="1607126"/>
            <a:ext cx="5035062" cy="341572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71940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Text Placeholder 5"/>
          <p:cNvSpPr>
            <a:spLocks noGrp="1"/>
          </p:cNvSpPr>
          <p:nvPr>
            <p:ph type="body" sz="quarter" idx="18" hasCustomPrompt="1"/>
          </p:nvPr>
        </p:nvSpPr>
        <p:spPr>
          <a:xfrm>
            <a:off x="740228" y="1290690"/>
            <a:ext cx="10711543" cy="190932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diam </a:t>
            </a:r>
            <a:r>
              <a:rPr lang="en-US" dirty="0" err="1"/>
              <a:t>maecenas</a:t>
            </a:r>
            <a:r>
              <a:rPr lang="en-US" dirty="0"/>
              <a:t> sed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356DCFCF-A355-4530-967D-8510D0847AE0}"/>
              </a:ext>
            </a:extLst>
          </p:cNvPr>
          <p:cNvSpPr>
            <a:spLocks noGrp="1"/>
          </p:cNvSpPr>
          <p:nvPr>
            <p:ph sz="quarter" idx="19"/>
          </p:nvPr>
        </p:nvSpPr>
        <p:spPr>
          <a:xfrm>
            <a:off x="739775" y="3429000"/>
            <a:ext cx="10712450" cy="246221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6420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600" y="3429000"/>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096000" y="3429000"/>
            <a:ext cx="535940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59007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587" y="3216398"/>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242050" y="3216398"/>
            <a:ext cx="521335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B0858C3-5D54-46C9-9602-DD06588705F5}"/>
              </a:ext>
            </a:extLst>
          </p:cNvPr>
          <p:cNvSpPr>
            <a:spLocks noGrp="1"/>
          </p:cNvSpPr>
          <p:nvPr>
            <p:ph sz="quarter" idx="23"/>
          </p:nvPr>
        </p:nvSpPr>
        <p:spPr>
          <a:xfrm>
            <a:off x="736587" y="4969161"/>
            <a:ext cx="5084776" cy="1543050"/>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a:extLst>
              <a:ext uri="{FF2B5EF4-FFF2-40B4-BE49-F238E27FC236}">
                <a16:creationId xmlns:a16="http://schemas.microsoft.com/office/drawing/2014/main" id="{832F93A3-DABD-4B56-9641-51D4E1885264}"/>
              </a:ext>
            </a:extLst>
          </p:cNvPr>
          <p:cNvSpPr>
            <a:spLocks noGrp="1"/>
          </p:cNvSpPr>
          <p:nvPr>
            <p:ph sz="quarter" idx="24"/>
          </p:nvPr>
        </p:nvSpPr>
        <p:spPr>
          <a:xfrm>
            <a:off x="6212919" y="4969161"/>
            <a:ext cx="5359400"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09208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G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336605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3541624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B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5" name="Table Placeholder 4"/>
          <p:cNvSpPr>
            <a:spLocks noGrp="1"/>
          </p:cNvSpPr>
          <p:nvPr>
            <p:ph type="tbl" sz="quarter" idx="10"/>
          </p:nvPr>
        </p:nvSpPr>
        <p:spPr>
          <a:xfrm>
            <a:off x="1133687" y="1367327"/>
            <a:ext cx="9924626" cy="4871103"/>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878221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GEN_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rgbClr val="C00000"/>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661416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text styles</a:t>
            </a:r>
          </a:p>
        </p:txBody>
      </p:sp>
      <p:pic>
        <p:nvPicPr>
          <p:cNvPr id="7" name="Picture 6"/>
          <p:cNvPicPr>
            <a:picLocks noChangeAspect="1"/>
          </p:cNvPicPr>
          <p:nvPr userDrawn="1"/>
        </p:nvPicPr>
        <p:blipFill>
          <a:blip r:embed="rId22">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25" r:id="rId5"/>
    <p:sldLayoutId id="2147483718" r:id="rId6"/>
    <p:sldLayoutId id="2147483726" r:id="rId7"/>
    <p:sldLayoutId id="2147483715" r:id="rId8"/>
    <p:sldLayoutId id="2147483727" r:id="rId9"/>
    <p:sldLayoutId id="2147483716" r:id="rId10"/>
    <p:sldLayoutId id="2147483719" r:id="rId11"/>
    <p:sldLayoutId id="2147483720" r:id="rId12"/>
    <p:sldLayoutId id="2147483723" r:id="rId13"/>
    <p:sldLayoutId id="2147483724" r:id="rId14"/>
    <p:sldLayoutId id="2147483713" r:id="rId15"/>
    <p:sldLayoutId id="2147483717" r:id="rId16"/>
    <p:sldLayoutId id="2147483728" r:id="rId17"/>
    <p:sldLayoutId id="2147483729" r:id="rId18"/>
    <p:sldLayoutId id="2147483730" r:id="rId19"/>
    <p:sldLayoutId id="2147483731" r:id="rId20"/>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840289" y="4035474"/>
            <a:ext cx="6402684" cy="672105"/>
          </a:xfrm>
        </p:spPr>
        <p:txBody>
          <a:bodyPr/>
          <a:lstStyle/>
          <a:p>
            <a:pPr algn="ctr"/>
            <a:r>
              <a:rPr lang="en-US" dirty="0"/>
              <a:t>Chapter 4: The Accounting Cycle</a:t>
            </a:r>
          </a:p>
        </p:txBody>
      </p:sp>
      <p:sp>
        <p:nvSpPr>
          <p:cNvPr id="6" name="Text Placeholder 5"/>
          <p:cNvSpPr>
            <a:spLocks noGrp="1"/>
          </p:cNvSpPr>
          <p:nvPr>
            <p:ph type="body" sz="quarter" idx="11"/>
          </p:nvPr>
        </p:nvSpPr>
        <p:spPr>
          <a:xfrm>
            <a:off x="5699483" y="2355562"/>
            <a:ext cx="4684295" cy="1073438"/>
          </a:xfrm>
        </p:spPr>
        <p:txBody>
          <a:bodyPr/>
          <a:lstStyle/>
          <a:p>
            <a:pPr algn="ctr"/>
            <a:r>
              <a:rPr lang="en-US" dirty="0"/>
              <a:t>Financial &amp; Managerial Accounting, 16e</a:t>
            </a:r>
          </a:p>
        </p:txBody>
      </p:sp>
      <p:sp>
        <p:nvSpPr>
          <p:cNvPr id="8" name="Footer Placeholder 7"/>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pic>
        <p:nvPicPr>
          <p:cNvPr id="7" name="Picture 6">
            <a:extLst>
              <a:ext uri="{FF2B5EF4-FFF2-40B4-BE49-F238E27FC236}">
                <a16:creationId xmlns:a16="http://schemas.microsoft.com/office/drawing/2014/main" id="{7A54D69D-A8B2-E09A-FDAC-5CF5D87F2D67}"/>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9109" y="689200"/>
            <a:ext cx="3624303" cy="4214746"/>
          </a:xfrm>
          <a:prstGeom prst="rect">
            <a:avLst/>
          </a:prstGeom>
        </p:spPr>
      </p:pic>
    </p:spTree>
    <p:extLst>
      <p:ext uri="{BB962C8B-B14F-4D97-AF65-F5344CB8AC3E}">
        <p14:creationId xmlns:p14="http://schemas.microsoft.com/office/powerpoint/2010/main" val="1607059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D7A9E-7106-4528-9149-B12A478C81E5}"/>
              </a:ext>
            </a:extLst>
          </p:cNvPr>
          <p:cNvSpPr>
            <a:spLocks noGrp="1"/>
          </p:cNvSpPr>
          <p:nvPr>
            <p:ph type="title"/>
          </p:nvPr>
        </p:nvSpPr>
        <p:spPr/>
        <p:txBody>
          <a:bodyPr/>
          <a:lstStyle/>
          <a:p>
            <a:r>
              <a:rPr lang="en-US" dirty="0"/>
              <a:t>Financial Statements</a:t>
            </a:r>
            <a:br>
              <a:rPr lang="en-US" dirty="0"/>
            </a:br>
            <a:r>
              <a:rPr lang="en-US" sz="2400" dirty="0"/>
              <a:t>(Learning Objective 2)</a:t>
            </a:r>
            <a:br>
              <a:rPr lang="en-US" sz="2400" dirty="0"/>
            </a:br>
            <a:endParaRPr lang="en-US" sz="2400" dirty="0"/>
          </a:p>
        </p:txBody>
      </p:sp>
      <p:sp>
        <p:nvSpPr>
          <p:cNvPr id="3" name="Text Placeholder 2">
            <a:extLst>
              <a:ext uri="{FF2B5EF4-FFF2-40B4-BE49-F238E27FC236}">
                <a16:creationId xmlns:a16="http://schemas.microsoft.com/office/drawing/2014/main" id="{9DDAFBD8-665D-4B28-A91E-FCC0F3D22601}"/>
              </a:ext>
            </a:extLst>
          </p:cNvPr>
          <p:cNvSpPr>
            <a:spLocks noGrp="1"/>
          </p:cNvSpPr>
          <p:nvPr>
            <p:ph sz="quarter" idx="10"/>
          </p:nvPr>
        </p:nvSpPr>
        <p:spPr/>
        <p:txBody>
          <a:bodyPr/>
          <a:lstStyle/>
          <a:p>
            <a:pPr marL="457200" indent="-457200">
              <a:buFont typeface="Arial" panose="020B0604020202020204" pitchFamily="34" charset="0"/>
              <a:buChar char="•"/>
            </a:pPr>
            <a:r>
              <a:rPr lang="en-US" sz="2600" dirty="0"/>
              <a:t>Using the adjusted trial balance, the financial statements can be prepared.</a:t>
            </a:r>
          </a:p>
          <a:p>
            <a:pPr lvl="1"/>
            <a:r>
              <a:rPr lang="en-US" sz="2600" dirty="0"/>
              <a:t>The income statement</a:t>
            </a:r>
          </a:p>
          <a:p>
            <a:pPr lvl="1"/>
            <a:r>
              <a:rPr lang="en-US" sz="2600" dirty="0"/>
              <a:t>The statement of stockholders’ equity</a:t>
            </a:r>
          </a:p>
          <a:p>
            <a:pPr lvl="1"/>
            <a:r>
              <a:rPr lang="en-US" sz="2600" dirty="0"/>
              <a:t>The balance sheet</a:t>
            </a:r>
          </a:p>
        </p:txBody>
      </p:sp>
    </p:spTree>
    <p:extLst>
      <p:ext uri="{BB962C8B-B14F-4D97-AF65-F5344CB8AC3E}">
        <p14:creationId xmlns:p14="http://schemas.microsoft.com/office/powerpoint/2010/main" val="363951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2C7C2-0FE1-47DA-897A-A28404674888}"/>
              </a:ext>
            </a:extLst>
          </p:cNvPr>
          <p:cNvSpPr>
            <a:spLocks noGrp="1"/>
          </p:cNvSpPr>
          <p:nvPr>
            <p:ph type="title"/>
          </p:nvPr>
        </p:nvSpPr>
        <p:spPr>
          <a:xfrm>
            <a:off x="838200" y="365125"/>
            <a:ext cx="10515600" cy="672105"/>
          </a:xfrm>
        </p:spPr>
        <p:txBody>
          <a:bodyPr/>
          <a:lstStyle/>
          <a:p>
            <a:r>
              <a:rPr lang="en-US" noProof="0" dirty="0"/>
              <a:t>Exhibit 9 – Adjusted Trial Balance</a:t>
            </a:r>
            <a:endParaRPr lang="en-US" dirty="0"/>
          </a:p>
        </p:txBody>
      </p:sp>
      <p:pic>
        <p:nvPicPr>
          <p:cNvPr id="5" name="Content Placeholder 4" descr="An adjusted trial balance for NetSolutions is shown. A three-line heading is set centered at the top of the trial balance. The first line lists the company name, NetSolutions. The second line lists the type of financial statement, Adjusted Trial Balance. The third line lists the date, December 31, 20Y3. It shows the following accounts, account numbers, and amounts: Cash, 11, debit balance of 2,065; Accounts Receivable, 12, debit balance of 2,720; Supplies, 14, debit balance of 760; Prepaid Insurance, 15, debit balance of 2,200; Land, 17, debit balance of 20,000; Office Equipment, 18, debit balance of 1,800; Accumulated Depreciation—Office Equipment, 19, credit balance of 50; Accounts Payable, 21, credit balance of 900; Wages Payable, 22, credit balance of 250; Unearned Rent, 23, credit balance of 240; Common Stock, 31, credit balance of 25,000; Dividends, 33, debit balance of 4,000; Fees Earned, 41, credit balance of 16,840; Rent Revenue, 42, credit balance of 120; Wages Expense, 51, debit balance of 4,525; Supplies Expense, 52, debit balance of 2,040; Rent Expense, 53, debit balance of 1,600; Utilities Expense, 54, debit balance of 985; Insurance Expense, 55, debit balance of 200; Depreciation Expense, 56, debit balance of 50; Miscellaneous Expense, 59, debit balance of 455. There is a single rule below 455 in the Debit Balances column and on the same row in the Credit Balances column. The total of the Debit Balances column is 43,400. The total of the Credit Balances column is also 43,400. A double rule appears below 43,400 in both columns. ">
            <a:extLst>
              <a:ext uri="{FF2B5EF4-FFF2-40B4-BE49-F238E27FC236}">
                <a16:creationId xmlns:a16="http://schemas.microsoft.com/office/drawing/2014/main" id="{3152B22C-AED3-45A5-A822-806FC20BFC7F}"/>
              </a:ext>
            </a:extLst>
          </p:cNvPr>
          <p:cNvPicPr>
            <a:picLocks noGrp="1" noChangeAspect="1"/>
          </p:cNvPicPr>
          <p:nvPr>
            <p:ph sz="quarter" idx="10"/>
          </p:nvPr>
        </p:nvPicPr>
        <p:blipFill>
          <a:blip r:embed="rId2"/>
          <a:stretch>
            <a:fillRect/>
          </a:stretch>
        </p:blipFill>
        <p:spPr>
          <a:xfrm>
            <a:off x="2928580" y="1173162"/>
            <a:ext cx="6334840" cy="4960938"/>
          </a:xfrm>
        </p:spPr>
      </p:pic>
    </p:spTree>
    <p:extLst>
      <p:ext uri="{BB962C8B-B14F-4D97-AF65-F5344CB8AC3E}">
        <p14:creationId xmlns:p14="http://schemas.microsoft.com/office/powerpoint/2010/main" val="3416686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CBAFC-2BE5-4874-8058-99D89C8ECCF3}"/>
              </a:ext>
            </a:extLst>
          </p:cNvPr>
          <p:cNvSpPr>
            <a:spLocks noGrp="1"/>
          </p:cNvSpPr>
          <p:nvPr>
            <p:ph type="title"/>
          </p:nvPr>
        </p:nvSpPr>
        <p:spPr/>
        <p:txBody>
          <a:bodyPr/>
          <a:lstStyle/>
          <a:p>
            <a:r>
              <a:rPr lang="en-US" dirty="0"/>
              <a:t>Exhibit 2 </a:t>
            </a:r>
            <a:r>
              <a:rPr kumimoji="0" lang="en-US" sz="3600" b="1" i="0" u="none" strike="noStrike" kern="1200" cap="none" spc="0" normalizeH="0" baseline="0" noProof="0" dirty="0">
                <a:ln>
                  <a:noFill/>
                </a:ln>
                <a:effectLst/>
                <a:uLnTx/>
                <a:uFillTx/>
                <a:latin typeface="Arial" panose="020B0604020202020204" pitchFamily="34" charset="0"/>
                <a:ea typeface="Verdana" pitchFamily="34" charset="0"/>
                <a:cs typeface="Arial" panose="020B0604020202020204" pitchFamily="34" charset="0"/>
              </a:rPr>
              <a:t>– </a:t>
            </a:r>
            <a:r>
              <a:rPr lang="en-US" dirty="0"/>
              <a:t>Financial Statements—NetSolutions</a:t>
            </a:r>
            <a:br>
              <a:rPr lang="en-US" dirty="0"/>
            </a:br>
            <a:r>
              <a:rPr lang="en-US" sz="2400" dirty="0"/>
              <a:t>(1 of 2)</a:t>
            </a:r>
          </a:p>
        </p:txBody>
      </p:sp>
      <p:pic>
        <p:nvPicPr>
          <p:cNvPr id="6" name="Content Placeholder 5" descr="An income statement for NetSolutions is shown. A three-line heading is set centered at the top of the income statement. The first line lists the company name, NetSolutions. The second line lists the type of financial statement, Income Statement. The third line is For the Two Months Ended December 31, 20Y3. Under Revenues:, Fees earned is $16,840, which is shown in the first amount column. Rent revenue is 120, which is shown in the first amount column. A single rule appears below the number 120. Total revenues are $16,960, which is shown in the second amount column. Under Expenses:, Wages expense is $4,525, which is shown in the first amount column; Supplies expense is 2,040, which is shown in the first amount column; Rent expense is 1,600, which is shown in the first amount column; Utilities expense is 985, which is shown in the first amount column; Insurance expense is 200, which is shown in the first amount column; Depreciation expense is 50, which is shown in the first amount column; and Miscellaneous expense is 455, which is shown in the first amount column. A single rule appears below the number 455. Total expenses are 9,855, set in parentheses, which is shown in the second amount column. A single rule appears below the number 9,855, set in parentheses. Net income is $7,105, which is shown in the second amount column and in blue type. A double rule underlines the number $7,105. &#10;&#10;Below the income statement, a statement of stock-holders’ equity for NetSolutions is shown. A three-line heading is set centered at the top of the statement. The first line lists the company name, NetSolutions. The second line lists the type of financial statement, Statement of Stockholders’ Equity. The third line is For the Two Months Ended December 31, 20Y3. There are four columns. The first column has no title. The other columns are titled Common Stock, Retained Earnings, and Total. The line entries are as follows:&#10;&#10;Balances, November 1, 20Y3: Common Stock of $0; Retained Earnings of $0; and Total of $0.&#10;Issued common stock: Common Stock of 25,000 and Total of 25,000.&#10;Net income: Retained Earnings of 7,105 and Total of 7,105 set in blue type.&#10;Dividends: Retained Earnings of 4,000, set in parentheses, and Total of 4,000, set in parentheses. A single rule appears in each column on this line.&#10;Balances, December 31, 20Y3: Common Stock of $25,000; Retained Earnings of $3,105; and Total of $28,105. A double rule appears below each total on this line, and the totals are all set in blue type.&#10;&#10;An arrow runs to the Net income amount of $7,105 on the statement of stockholders’ equity from the Net income amount of $7,105 on the income statement.&#10;">
            <a:extLst>
              <a:ext uri="{FF2B5EF4-FFF2-40B4-BE49-F238E27FC236}">
                <a16:creationId xmlns:a16="http://schemas.microsoft.com/office/drawing/2014/main" id="{345BE287-D267-4892-87FE-2B78FE125DDD}"/>
              </a:ext>
            </a:extLst>
          </p:cNvPr>
          <p:cNvPicPr>
            <a:picLocks noGrp="1" noChangeAspect="1"/>
          </p:cNvPicPr>
          <p:nvPr>
            <p:ph sz="quarter" idx="10"/>
          </p:nvPr>
        </p:nvPicPr>
        <p:blipFill>
          <a:blip r:embed="rId2"/>
          <a:stretch>
            <a:fillRect/>
          </a:stretch>
        </p:blipFill>
        <p:spPr>
          <a:xfrm>
            <a:off x="3409453" y="1431316"/>
            <a:ext cx="5373094" cy="4684236"/>
          </a:xfrm>
          <a:prstGeom prst="rect">
            <a:avLst/>
          </a:prstGeom>
        </p:spPr>
      </p:pic>
    </p:spTree>
    <p:extLst>
      <p:ext uri="{BB962C8B-B14F-4D97-AF65-F5344CB8AC3E}">
        <p14:creationId xmlns:p14="http://schemas.microsoft.com/office/powerpoint/2010/main" val="79228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CBAFC-2BE5-4874-8058-99D89C8ECCF3}"/>
              </a:ext>
            </a:extLst>
          </p:cNvPr>
          <p:cNvSpPr>
            <a:spLocks noGrp="1"/>
          </p:cNvSpPr>
          <p:nvPr>
            <p:ph type="title"/>
          </p:nvPr>
        </p:nvSpPr>
        <p:spPr/>
        <p:txBody>
          <a:bodyPr/>
          <a:lstStyle/>
          <a:p>
            <a:r>
              <a:rPr lang="en-US" dirty="0"/>
              <a:t>Exhibit 2 </a:t>
            </a:r>
            <a:r>
              <a:rPr kumimoji="0" lang="en-US" sz="3600" b="1" i="0" u="none" strike="noStrike" kern="1200" cap="none" spc="0" normalizeH="0" baseline="0" noProof="0" dirty="0">
                <a:ln>
                  <a:noFill/>
                </a:ln>
                <a:effectLst/>
                <a:uLnTx/>
                <a:uFillTx/>
                <a:latin typeface="Arial" panose="020B0604020202020204" pitchFamily="34" charset="0"/>
                <a:ea typeface="Verdana" pitchFamily="34" charset="0"/>
                <a:cs typeface="Arial" panose="020B0604020202020204" pitchFamily="34" charset="0"/>
              </a:rPr>
              <a:t>–</a:t>
            </a:r>
            <a:r>
              <a:rPr lang="en-US" dirty="0"/>
              <a:t> Financial Statements—NetSolutions</a:t>
            </a:r>
            <a:br>
              <a:rPr lang="en-US" dirty="0"/>
            </a:br>
            <a:r>
              <a:rPr lang="en-US" sz="2400" dirty="0"/>
              <a:t>(2 of 2)</a:t>
            </a:r>
          </a:p>
        </p:txBody>
      </p:sp>
      <p:pic>
        <p:nvPicPr>
          <p:cNvPr id="6" name="Content Placeholder 5" descr="Below the statement of stockholders’ equity, a balance sheet for NetSolutions is shown. A three-line heading is set centered at the top of the balance sheet. The first line lists the company name, NetSolutions. The second line lists the type of financial statement, Balance Sheet. The third line lists the date, December 31, 20Y3. The balance sheet is in the report form, with the Liabilities and Stockholders’ Equity sections shown below the Assets section. There are three amount columns for the Assets section and two amount columns for the Liabilities and Stockholders’ Equity sections. The Assets section has two subsections—Current assets and Property, plant, and equipment. Under Current assets:, the following accounts are listed: Cash, $2,065; Accounts receivable, 2,720; Supplies, 760; and Prepaid insurance, 2,200. A single rule appears below 2,200. These amounts are shown in the second amount column. Total current assets are $7,745, which is shown in the third amount column. Below the list of current assets, Property, plant, and equipment are listed and include the following accounts: Land, $20,000, which is shown in the second amount column; Office equipment, $1,800, which is shown in the first amount column;  Accumulated depreciation—office equipment, 50, set in parentheses, which is shown in the first amount column. A single rule appears below 50, set in parentheses. Book value, 1,750, is shown in the second amount column. A single rule appears below 1,750. Total property, plant, and equipment is 21,750, which is shown in the third amount column. A single rule appears below 21,750. Total assets are $29,495, and a double rule underscores this number. This amount appears in the third amount column. Under Current liabilities: in the Liabilities section, the following accounts are listed: Accounts payable, $900; Wages payable, 250; Unearned rent, 240. A single rule appears be-low 240. These amounts are shown in the first amount column. Total liabilities are $1,390, which is shown in the second amount column. Below the Liabilities section is the Stockholders’ Equity section, which lists the following: Common stock, $25,000, which is shown in the first amount column and in blue type; and Retained earnings, 3,105, which is shown in the first amount column and in blue type. A single rule appears below 3,105. Total stockholders’ equity is 28,105, which is shown in the second amount column and in blue type. The number 28,105 is underscored by a single rule. Total liabilities and stockholders’ equity is $29,495, which is shown in the second amount column. A double rule underscores this number.&#10;&#10;An arrow leads from $28,105 in the Total column of the statement of stockholders’ equity to the Com-mon stock amount of $25,000, the Retained earnings amount of 3,105, and the Total stockholders’ equity amount of 28,105 shown in the Stockholders’ Equity section of the balance sheet.&#10;">
            <a:extLst>
              <a:ext uri="{FF2B5EF4-FFF2-40B4-BE49-F238E27FC236}">
                <a16:creationId xmlns:a16="http://schemas.microsoft.com/office/drawing/2014/main" id="{BBE5872D-0A3D-4AF4-946F-98B400F5FA78}"/>
              </a:ext>
            </a:extLst>
          </p:cNvPr>
          <p:cNvPicPr>
            <a:picLocks noGrp="1" noChangeAspect="1"/>
          </p:cNvPicPr>
          <p:nvPr>
            <p:ph sz="quarter" idx="10"/>
          </p:nvPr>
        </p:nvPicPr>
        <p:blipFill>
          <a:blip r:embed="rId2"/>
          <a:stretch>
            <a:fillRect/>
          </a:stretch>
        </p:blipFill>
        <p:spPr>
          <a:xfrm>
            <a:off x="3345458" y="1330202"/>
            <a:ext cx="5501083" cy="4737223"/>
          </a:xfrm>
          <a:prstGeom prst="rect">
            <a:avLst/>
          </a:prstGeom>
        </p:spPr>
      </p:pic>
    </p:spTree>
    <p:extLst>
      <p:ext uri="{BB962C8B-B14F-4D97-AF65-F5344CB8AC3E}">
        <p14:creationId xmlns:p14="http://schemas.microsoft.com/office/powerpoint/2010/main" val="1402627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C5113-CF8B-4666-A012-BE351AD36549}"/>
              </a:ext>
            </a:extLst>
          </p:cNvPr>
          <p:cNvSpPr>
            <a:spLocks noGrp="1"/>
          </p:cNvSpPr>
          <p:nvPr>
            <p:ph type="title"/>
          </p:nvPr>
        </p:nvSpPr>
        <p:spPr/>
        <p:txBody>
          <a:bodyPr/>
          <a:lstStyle/>
          <a:p>
            <a:r>
              <a:rPr lang="en-US" dirty="0"/>
              <a:t>Income Statement</a:t>
            </a:r>
          </a:p>
        </p:txBody>
      </p:sp>
      <p:sp>
        <p:nvSpPr>
          <p:cNvPr id="3" name="Text Placeholder 2">
            <a:extLst>
              <a:ext uri="{FF2B5EF4-FFF2-40B4-BE49-F238E27FC236}">
                <a16:creationId xmlns:a16="http://schemas.microsoft.com/office/drawing/2014/main" id="{247C094B-8C78-4D65-AEBA-F1078A023889}"/>
              </a:ext>
            </a:extLst>
          </p:cNvPr>
          <p:cNvSpPr>
            <a:spLocks noGrp="1"/>
          </p:cNvSpPr>
          <p:nvPr>
            <p:ph sz="quarter" idx="10"/>
          </p:nvPr>
        </p:nvSpPr>
        <p:spPr/>
        <p:txBody>
          <a:bodyPr/>
          <a:lstStyle/>
          <a:p>
            <a:pPr marL="457200" indent="-457200">
              <a:buFont typeface="Arial" panose="020B0604020202020204" pitchFamily="34" charset="0"/>
              <a:buChar char="•"/>
            </a:pPr>
            <a:r>
              <a:rPr lang="en-US" sz="2600" dirty="0"/>
              <a:t>The income statement is prepared directly from the Adjusted Trial Balance columns spreadsheet, beginning with fees earned.</a:t>
            </a:r>
          </a:p>
          <a:p>
            <a:pPr marL="457200" indent="-457200">
              <a:spcAft>
                <a:spcPts val="600"/>
              </a:spcAft>
              <a:buFont typeface="Arial" panose="020B0604020202020204" pitchFamily="34" charset="0"/>
              <a:buChar char="•"/>
            </a:pPr>
            <a:r>
              <a:rPr lang="en-US" sz="2600" dirty="0"/>
              <a:t>The expenses in the income statement are listed in order of size, beginning with the larger items. </a:t>
            </a:r>
          </a:p>
          <a:p>
            <a:pPr lvl="1"/>
            <a:r>
              <a:rPr lang="en-US" sz="2600" dirty="0"/>
              <a:t>Miscellaneous expense is the last item, regardless of its amount.</a:t>
            </a:r>
          </a:p>
        </p:txBody>
      </p:sp>
    </p:spTree>
    <p:extLst>
      <p:ext uri="{BB962C8B-B14F-4D97-AF65-F5344CB8AC3E}">
        <p14:creationId xmlns:p14="http://schemas.microsoft.com/office/powerpoint/2010/main" val="3092351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0C294-5C62-458B-912E-2DA2EE2887D2}"/>
              </a:ext>
            </a:extLst>
          </p:cNvPr>
          <p:cNvSpPr>
            <a:spLocks noGrp="1"/>
          </p:cNvSpPr>
          <p:nvPr>
            <p:ph type="title"/>
          </p:nvPr>
        </p:nvSpPr>
        <p:spPr/>
        <p:txBody>
          <a:bodyPr/>
          <a:lstStyle/>
          <a:p>
            <a:r>
              <a:rPr lang="en-US" dirty="0"/>
              <a:t>Statement of Stockholders’ Equity</a:t>
            </a:r>
            <a:br>
              <a:rPr lang="en-US" dirty="0"/>
            </a:br>
            <a:r>
              <a:rPr lang="en-US" sz="2400" dirty="0"/>
              <a:t>(1 of 2)</a:t>
            </a:r>
          </a:p>
        </p:txBody>
      </p:sp>
      <p:sp>
        <p:nvSpPr>
          <p:cNvPr id="3" name="Text Placeholder 2">
            <a:extLst>
              <a:ext uri="{FF2B5EF4-FFF2-40B4-BE49-F238E27FC236}">
                <a16:creationId xmlns:a16="http://schemas.microsoft.com/office/drawing/2014/main" id="{9AF742E5-CFA2-4694-9E9D-233FC7E6573F}"/>
              </a:ext>
            </a:extLst>
          </p:cNvPr>
          <p:cNvSpPr>
            <a:spLocks noGrp="1"/>
          </p:cNvSpPr>
          <p:nvPr>
            <p:ph sz="quarter" idx="10"/>
          </p:nvPr>
        </p:nvSpPr>
        <p:spPr/>
        <p:txBody>
          <a:bodyPr>
            <a:noAutofit/>
          </a:bodyPr>
          <a:lstStyle/>
          <a:p>
            <a:pPr marL="457200" indent="-457200">
              <a:lnSpc>
                <a:spcPct val="100000"/>
              </a:lnSpc>
              <a:spcBef>
                <a:spcPts val="600"/>
              </a:spcBef>
              <a:buFont typeface="Arial" panose="020B0604020202020204" pitchFamily="34" charset="0"/>
              <a:buChar char="•"/>
            </a:pPr>
            <a:r>
              <a:rPr lang="en-US" sz="2200" dirty="0"/>
              <a:t>The statement of stockholders’ equity is prepared by entering the beginning balances for common stock and retained earnings.</a:t>
            </a:r>
          </a:p>
          <a:p>
            <a:pPr marL="457200" indent="-457200">
              <a:lnSpc>
                <a:spcPct val="100000"/>
              </a:lnSpc>
              <a:spcBef>
                <a:spcPts val="600"/>
              </a:spcBef>
              <a:buFont typeface="Arial" panose="020B0604020202020204" pitchFamily="34" charset="0"/>
              <a:buChar char="•"/>
            </a:pPr>
            <a:r>
              <a:rPr lang="en-US" sz="2200" dirty="0"/>
              <a:t>The common stock that was issued during the period is entered in the Common Stock column.</a:t>
            </a:r>
          </a:p>
          <a:p>
            <a:pPr marL="457200" indent="-457200">
              <a:lnSpc>
                <a:spcPct val="100000"/>
              </a:lnSpc>
              <a:spcBef>
                <a:spcPts val="600"/>
              </a:spcBef>
              <a:buFont typeface="Arial" panose="020B0604020202020204" pitchFamily="34" charset="0"/>
              <a:buChar char="•"/>
            </a:pPr>
            <a:r>
              <a:rPr lang="en-US" sz="2200" dirty="0"/>
              <a:t>During the period, earned net income increases retained earnings and is therefore entered in the Retained Earnings column.</a:t>
            </a:r>
          </a:p>
          <a:p>
            <a:pPr marL="457200" indent="-457200">
              <a:lnSpc>
                <a:spcPct val="100000"/>
              </a:lnSpc>
              <a:spcBef>
                <a:spcPts val="600"/>
              </a:spcBef>
              <a:buFont typeface="Arial" panose="020B0604020202020204" pitchFamily="34" charset="0"/>
              <a:buChar char="•"/>
            </a:pPr>
            <a:r>
              <a:rPr lang="en-US" sz="2200" dirty="0"/>
              <a:t>Paid dividends during the period, which reduces retained earnings and is therefore entered as a deduction in the Retained Earnings column.</a:t>
            </a:r>
          </a:p>
          <a:p>
            <a:pPr marL="457200" indent="-457200">
              <a:lnSpc>
                <a:spcPct val="100000"/>
              </a:lnSpc>
              <a:spcBef>
                <a:spcPts val="600"/>
              </a:spcBef>
              <a:buFont typeface="Arial" panose="020B0604020202020204" pitchFamily="34" charset="0"/>
              <a:buChar char="•"/>
            </a:pPr>
            <a:r>
              <a:rPr lang="en-US" sz="2200" dirty="0"/>
              <a:t>Entries in each row are added across and the total is entered in the Total column. </a:t>
            </a:r>
          </a:p>
          <a:p>
            <a:pPr marL="457200" indent="-457200">
              <a:lnSpc>
                <a:spcPct val="100000"/>
              </a:lnSpc>
              <a:spcBef>
                <a:spcPts val="600"/>
              </a:spcBef>
              <a:buFont typeface="Arial" panose="020B0604020202020204" pitchFamily="34" charset="0"/>
              <a:buChar char="•"/>
            </a:pPr>
            <a:r>
              <a:rPr lang="en-US" sz="2200" dirty="0"/>
              <a:t>Finally, all of the columns are totaled to arrive at the ending balances for Common Stock and Retained Earnings and the total of stockholders’ equity as of December 31, 20Y3.</a:t>
            </a:r>
          </a:p>
        </p:txBody>
      </p:sp>
    </p:spTree>
    <p:extLst>
      <p:ext uri="{BB962C8B-B14F-4D97-AF65-F5344CB8AC3E}">
        <p14:creationId xmlns:p14="http://schemas.microsoft.com/office/powerpoint/2010/main" val="1851297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0C294-5C62-458B-912E-2DA2EE2887D2}"/>
              </a:ext>
            </a:extLst>
          </p:cNvPr>
          <p:cNvSpPr>
            <a:spLocks noGrp="1"/>
          </p:cNvSpPr>
          <p:nvPr>
            <p:ph type="title"/>
          </p:nvPr>
        </p:nvSpPr>
        <p:spPr/>
        <p:txBody>
          <a:bodyPr/>
          <a:lstStyle/>
          <a:p>
            <a:r>
              <a:rPr lang="en-US" dirty="0"/>
              <a:t>Statement of Stockholders’ Equity</a:t>
            </a:r>
            <a:br>
              <a:rPr lang="en-US" dirty="0"/>
            </a:br>
            <a:r>
              <a:rPr lang="en-US" sz="2400" dirty="0"/>
              <a:t>(2 of 2)</a:t>
            </a:r>
          </a:p>
        </p:txBody>
      </p:sp>
      <p:sp>
        <p:nvSpPr>
          <p:cNvPr id="3" name="Text Placeholder 2">
            <a:extLst>
              <a:ext uri="{FF2B5EF4-FFF2-40B4-BE49-F238E27FC236}">
                <a16:creationId xmlns:a16="http://schemas.microsoft.com/office/drawing/2014/main" id="{9AF742E5-CFA2-4694-9E9D-233FC7E6573F}"/>
              </a:ext>
            </a:extLst>
          </p:cNvPr>
          <p:cNvSpPr>
            <a:spLocks noGrp="1"/>
          </p:cNvSpPr>
          <p:nvPr>
            <p:ph sz="quarter" idx="16"/>
          </p:nvPr>
        </p:nvSpPr>
        <p:spPr>
          <a:xfrm>
            <a:off x="838200" y="1607126"/>
            <a:ext cx="10515599" cy="1928801"/>
          </a:xfrm>
        </p:spPr>
        <p:txBody>
          <a:bodyPr>
            <a:normAutofit/>
          </a:bodyPr>
          <a:lstStyle/>
          <a:p>
            <a:pPr marL="342900" indent="-342900">
              <a:buFont typeface="Arial" panose="020B0604020202020204" pitchFamily="34" charset="0"/>
              <a:buChar char="•"/>
            </a:pPr>
            <a:r>
              <a:rPr lang="en-US" sz="2400" dirty="0"/>
              <a:t>For the following period, the beginning balances of Common Stock and Retained Earnings are the ending balances that were reported for the previous period.</a:t>
            </a:r>
          </a:p>
          <a:p>
            <a:pPr marL="342900" indent="-342900">
              <a:buFont typeface="Arial" panose="020B0604020202020204" pitchFamily="34" charset="0"/>
              <a:buChar char="•"/>
            </a:pPr>
            <a:r>
              <a:rPr lang="en-US" sz="2400" dirty="0"/>
              <a:t>The statement of stockholders’ equity for the year ending December 31, 20Y4, for NetSolutions would be as follows:</a:t>
            </a:r>
          </a:p>
        </p:txBody>
      </p:sp>
      <p:pic>
        <p:nvPicPr>
          <p:cNvPr id="6" name="Content Placeholder 5" descr="A statement of stockholders’ equity for NetSolutions is shown. A three-line heading is set centered at the top of the statement. The first line lists the company name, NetSolutions. The second line lists the type of financial statement, Statement of Stockholders’ Equity. The third line is For the Year Ended December 31, 20Y4. There are four columns. The first column has no title. The other columns are titled Common Stock, Retained Earnings, and Total. The line entries are as follows:&#10;&#10;Balances, January 1, 20Y4: Common Stock of $25,000; Retained Earnings of $3,105; and Total of $28,105.&#10;Net income: Retained Earnings of 149,695 and Total of 149,695.&#10;Dividends: Retained Earnings of 24,000, set in parentheses, and Total of 24,000, set in parentheses. A single rule appears in each column on this line.&#10;Balances, December 31, 20Y4: Common Stock of $25,000; Retained Earnings of $128,800; and Total of $153,800. A double rule appears below each total on this line.&#10;">
            <a:extLst>
              <a:ext uri="{FF2B5EF4-FFF2-40B4-BE49-F238E27FC236}">
                <a16:creationId xmlns:a16="http://schemas.microsoft.com/office/drawing/2014/main" id="{88A7292B-3AA0-44F9-98E8-E06298F20A7F}"/>
              </a:ext>
            </a:extLst>
          </p:cNvPr>
          <p:cNvPicPr>
            <a:picLocks noGrp="1" noChangeAspect="1"/>
          </p:cNvPicPr>
          <p:nvPr>
            <p:ph sz="quarter" idx="17"/>
          </p:nvPr>
        </p:nvPicPr>
        <p:blipFill>
          <a:blip r:embed="rId2"/>
          <a:stretch>
            <a:fillRect/>
          </a:stretch>
        </p:blipFill>
        <p:spPr>
          <a:xfrm>
            <a:off x="2656973" y="3535927"/>
            <a:ext cx="6878053" cy="2634547"/>
          </a:xfrm>
          <a:prstGeom prst="rect">
            <a:avLst/>
          </a:prstGeom>
        </p:spPr>
      </p:pic>
    </p:spTree>
    <p:extLst>
      <p:ext uri="{BB962C8B-B14F-4D97-AF65-F5344CB8AC3E}">
        <p14:creationId xmlns:p14="http://schemas.microsoft.com/office/powerpoint/2010/main" val="3862978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0FF15-6886-484E-8905-357E3999325E}"/>
              </a:ext>
            </a:extLst>
          </p:cNvPr>
          <p:cNvSpPr>
            <a:spLocks noGrp="1"/>
          </p:cNvSpPr>
          <p:nvPr>
            <p:ph type="title"/>
          </p:nvPr>
        </p:nvSpPr>
        <p:spPr/>
        <p:txBody>
          <a:bodyPr/>
          <a:lstStyle/>
          <a:p>
            <a:r>
              <a:rPr lang="en-US" dirty="0"/>
              <a:t>Balance Sheet</a:t>
            </a:r>
          </a:p>
        </p:txBody>
      </p:sp>
      <p:sp>
        <p:nvSpPr>
          <p:cNvPr id="3" name="Text Placeholder 2">
            <a:extLst>
              <a:ext uri="{FF2B5EF4-FFF2-40B4-BE49-F238E27FC236}">
                <a16:creationId xmlns:a16="http://schemas.microsoft.com/office/drawing/2014/main" id="{721F9008-B429-46D6-A16F-D56979CB0A01}"/>
              </a:ext>
            </a:extLst>
          </p:cNvPr>
          <p:cNvSpPr>
            <a:spLocks noGrp="1"/>
          </p:cNvSpPr>
          <p:nvPr>
            <p:ph sz="quarter" idx="10"/>
          </p:nvPr>
        </p:nvSpPr>
        <p:spPr/>
        <p:txBody>
          <a:bodyPr/>
          <a:lstStyle/>
          <a:p>
            <a:pPr marL="457200" indent="-457200">
              <a:buFont typeface="Arial" panose="020B0604020202020204" pitchFamily="34" charset="0"/>
              <a:buChar char="•"/>
            </a:pPr>
            <a:r>
              <a:rPr lang="en-US" sz="2600" dirty="0"/>
              <a:t>The balance sheet is prepared directly from the Adjusted Trial Balance columns of the spreadsheet, beginning with cash.</a:t>
            </a:r>
          </a:p>
          <a:p>
            <a:pPr marL="457200" indent="-457200">
              <a:buFont typeface="Arial" panose="020B0604020202020204" pitchFamily="34" charset="0"/>
              <a:buChar char="•"/>
            </a:pPr>
            <a:r>
              <a:rPr lang="en-US" sz="2600" dirty="0"/>
              <a:t>The asset and liability amounts are taken from the spreadsheet. </a:t>
            </a:r>
          </a:p>
          <a:p>
            <a:pPr marL="457200" indent="-457200">
              <a:buFont typeface="Arial" panose="020B0604020202020204" pitchFamily="34" charset="0"/>
              <a:buChar char="•"/>
            </a:pPr>
            <a:r>
              <a:rPr lang="en-US" sz="2600" dirty="0"/>
              <a:t>The common stock and retained earnings amounts are taken from the statement of stockholders’ equity.</a:t>
            </a:r>
          </a:p>
          <a:p>
            <a:pPr marL="457200" indent="-457200">
              <a:buFont typeface="Arial" panose="020B0604020202020204" pitchFamily="34" charset="0"/>
              <a:buChar char="•"/>
            </a:pPr>
            <a:r>
              <a:rPr lang="en-US" sz="2600" dirty="0"/>
              <a:t>The balance sheet shows subsections for assets and liabilities.</a:t>
            </a:r>
          </a:p>
          <a:p>
            <a:pPr lvl="1"/>
            <a:r>
              <a:rPr lang="en-US" sz="2600" dirty="0"/>
              <a:t>Such a balance sheet is a </a:t>
            </a:r>
            <a:r>
              <a:rPr lang="en-US" sz="2600" i="1" dirty="0"/>
              <a:t>classified balance sheet</a:t>
            </a:r>
            <a:r>
              <a:rPr lang="en-US" sz="2600" dirty="0"/>
              <a:t>.</a:t>
            </a:r>
          </a:p>
        </p:txBody>
      </p:sp>
    </p:spTree>
    <p:extLst>
      <p:ext uri="{BB962C8B-B14F-4D97-AF65-F5344CB8AC3E}">
        <p14:creationId xmlns:p14="http://schemas.microsoft.com/office/powerpoint/2010/main" val="3250411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4FED9-34BB-4866-9A15-026B90C896D8}"/>
              </a:ext>
            </a:extLst>
          </p:cNvPr>
          <p:cNvSpPr>
            <a:spLocks noGrp="1"/>
          </p:cNvSpPr>
          <p:nvPr>
            <p:ph type="title"/>
          </p:nvPr>
        </p:nvSpPr>
        <p:spPr/>
        <p:txBody>
          <a:bodyPr/>
          <a:lstStyle/>
          <a:p>
            <a:r>
              <a:rPr lang="en-US" dirty="0"/>
              <a:t>Assets</a:t>
            </a:r>
          </a:p>
        </p:txBody>
      </p:sp>
      <p:sp>
        <p:nvSpPr>
          <p:cNvPr id="3" name="Text Placeholder 2">
            <a:extLst>
              <a:ext uri="{FF2B5EF4-FFF2-40B4-BE49-F238E27FC236}">
                <a16:creationId xmlns:a16="http://schemas.microsoft.com/office/drawing/2014/main" id="{22C5D8C2-032B-4E9C-A41B-6CEFC4EE62BF}"/>
              </a:ext>
            </a:extLst>
          </p:cNvPr>
          <p:cNvSpPr>
            <a:spLocks noGrp="1"/>
          </p:cNvSpPr>
          <p:nvPr>
            <p:ph sz="quarter" idx="10"/>
          </p:nvPr>
        </p:nvSpPr>
        <p:spPr/>
        <p:txBody>
          <a:bodyPr>
            <a:noAutofit/>
          </a:bodyPr>
          <a:lstStyle/>
          <a:p>
            <a:pPr marL="457200" indent="-457200">
              <a:buFont typeface="Arial" panose="020B0604020202020204" pitchFamily="34" charset="0"/>
              <a:buChar char="•"/>
            </a:pPr>
            <a:r>
              <a:rPr lang="en-US" sz="2600" dirty="0"/>
              <a:t>Assets are commonly divided into two sections on the balance sheet:</a:t>
            </a:r>
          </a:p>
          <a:p>
            <a:pPr marL="914400" lvl="1" indent="-449263">
              <a:buFont typeface="+mj-lt"/>
              <a:buAutoNum type="arabicPeriod"/>
            </a:pPr>
            <a:r>
              <a:rPr lang="en-US" sz="2600" b="1" dirty="0">
                <a:solidFill>
                  <a:srgbClr val="004A78"/>
                </a:solidFill>
              </a:rPr>
              <a:t>Current assets</a:t>
            </a:r>
            <a:r>
              <a:rPr lang="en-US" sz="2600" dirty="0">
                <a:solidFill>
                  <a:srgbClr val="004A78"/>
                </a:solidFill>
              </a:rPr>
              <a:t> </a:t>
            </a:r>
            <a:r>
              <a:rPr lang="en-US" sz="2600" dirty="0"/>
              <a:t>are cash and other assets that are expected to be converted to cash or sold or used up usually within one year or less, through the normal operations of the business.</a:t>
            </a:r>
          </a:p>
          <a:p>
            <a:pPr marL="1250950" lvl="2" indent="-336550">
              <a:buClr>
                <a:srgbClr val="000000"/>
              </a:buClr>
            </a:pPr>
            <a:r>
              <a:rPr lang="en-US" sz="2600" b="1" dirty="0">
                <a:solidFill>
                  <a:srgbClr val="004A78"/>
                </a:solidFill>
              </a:rPr>
              <a:t>Notes receivable</a:t>
            </a:r>
            <a:r>
              <a:rPr lang="en-US" sz="2600" dirty="0">
                <a:solidFill>
                  <a:srgbClr val="004A78"/>
                </a:solidFill>
              </a:rPr>
              <a:t> </a:t>
            </a:r>
            <a:r>
              <a:rPr lang="en-US" sz="2600" dirty="0"/>
              <a:t>and accounts receivable are amounts that customers owe.</a:t>
            </a:r>
          </a:p>
          <a:p>
            <a:pPr marL="914400" lvl="1" indent="-449263">
              <a:buFont typeface="+mj-lt"/>
              <a:buAutoNum type="arabicPeriod"/>
            </a:pPr>
            <a:r>
              <a:rPr lang="en-US" sz="2600" b="1" dirty="0">
                <a:solidFill>
                  <a:srgbClr val="004A78"/>
                </a:solidFill>
              </a:rPr>
              <a:t>Property, plant, and equipment</a:t>
            </a:r>
            <a:r>
              <a:rPr lang="en-US" sz="2600" dirty="0">
                <a:solidFill>
                  <a:srgbClr val="004A78"/>
                </a:solidFill>
              </a:rPr>
              <a:t> </a:t>
            </a:r>
            <a:r>
              <a:rPr lang="en-US" sz="2600" dirty="0"/>
              <a:t>may also be described as </a:t>
            </a:r>
            <a:r>
              <a:rPr lang="en-US" sz="2600" b="1" dirty="0">
                <a:solidFill>
                  <a:srgbClr val="004A78"/>
                </a:solidFill>
              </a:rPr>
              <a:t>fixed assets</a:t>
            </a:r>
            <a:r>
              <a:rPr lang="en-US" sz="2600" dirty="0">
                <a:solidFill>
                  <a:srgbClr val="004A78"/>
                </a:solidFill>
              </a:rPr>
              <a:t> </a:t>
            </a:r>
            <a:r>
              <a:rPr lang="en-US" sz="2600" dirty="0"/>
              <a:t>or </a:t>
            </a:r>
            <a:r>
              <a:rPr lang="en-US" sz="2600" b="1" dirty="0">
                <a:solidFill>
                  <a:srgbClr val="004A78"/>
                </a:solidFill>
              </a:rPr>
              <a:t>plant assets</a:t>
            </a:r>
            <a:r>
              <a:rPr lang="en-US" sz="2600" dirty="0"/>
              <a:t>. </a:t>
            </a:r>
          </a:p>
          <a:p>
            <a:pPr marL="1250950" lvl="2" indent="-347663"/>
            <a:r>
              <a:rPr lang="en-US" sz="2600" dirty="0"/>
              <a:t>These assets include equipment, machinery, buildings, and land.</a:t>
            </a:r>
          </a:p>
        </p:txBody>
      </p:sp>
    </p:spTree>
    <p:extLst>
      <p:ext uri="{BB962C8B-B14F-4D97-AF65-F5344CB8AC3E}">
        <p14:creationId xmlns:p14="http://schemas.microsoft.com/office/powerpoint/2010/main" val="299871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03054-054E-4F85-B459-0D939AB68DCA}"/>
              </a:ext>
            </a:extLst>
          </p:cNvPr>
          <p:cNvSpPr>
            <a:spLocks noGrp="1"/>
          </p:cNvSpPr>
          <p:nvPr>
            <p:ph type="title"/>
          </p:nvPr>
        </p:nvSpPr>
        <p:spPr/>
        <p:txBody>
          <a:bodyPr/>
          <a:lstStyle/>
          <a:p>
            <a:r>
              <a:rPr lang="en-US" dirty="0"/>
              <a:t>Liabilities and Shareholders’ Equity </a:t>
            </a:r>
          </a:p>
        </p:txBody>
      </p:sp>
      <p:sp>
        <p:nvSpPr>
          <p:cNvPr id="3" name="Text Placeholder 2">
            <a:extLst>
              <a:ext uri="{FF2B5EF4-FFF2-40B4-BE49-F238E27FC236}">
                <a16:creationId xmlns:a16="http://schemas.microsoft.com/office/drawing/2014/main" id="{6A1E761A-366F-4EC0-B472-8E33607CF80E}"/>
              </a:ext>
            </a:extLst>
          </p:cNvPr>
          <p:cNvSpPr>
            <a:spLocks noGrp="1"/>
          </p:cNvSpPr>
          <p:nvPr>
            <p:ph sz="quarter" idx="10"/>
          </p:nvPr>
        </p:nvSpPr>
        <p:spPr/>
        <p:txBody>
          <a:bodyPr>
            <a:normAutofit/>
          </a:bodyPr>
          <a:lstStyle/>
          <a:p>
            <a:pPr marL="457200" indent="-457200">
              <a:buFont typeface="Arial" panose="020B0604020202020204" pitchFamily="34" charset="0"/>
              <a:buChar char="•"/>
            </a:pPr>
            <a:r>
              <a:rPr lang="en-US" sz="2600" dirty="0"/>
              <a:t>Liabilities are the amounts the business owes to creditors. Liabilities are commonly divided into two sections on the balance sheet:</a:t>
            </a:r>
          </a:p>
          <a:p>
            <a:pPr marL="914400" lvl="1" indent="-449263">
              <a:buFont typeface="+mj-lt"/>
              <a:buAutoNum type="arabicPeriod"/>
            </a:pPr>
            <a:r>
              <a:rPr lang="en-US" sz="2600" b="1" dirty="0">
                <a:solidFill>
                  <a:srgbClr val="004A78"/>
                </a:solidFill>
              </a:rPr>
              <a:t>Current liabilities</a:t>
            </a:r>
            <a:r>
              <a:rPr lang="en-US" sz="2600" dirty="0">
                <a:solidFill>
                  <a:srgbClr val="004A78"/>
                </a:solidFill>
              </a:rPr>
              <a:t> </a:t>
            </a:r>
            <a:r>
              <a:rPr lang="en-US" sz="2600" dirty="0"/>
              <a:t>are liabilities that will be due within a short time (usually one year or less) and that are to be paid out of current assets.</a:t>
            </a:r>
          </a:p>
          <a:p>
            <a:pPr marL="914400" lvl="1" indent="-449263">
              <a:buFont typeface="+mj-lt"/>
              <a:buAutoNum type="arabicPeriod"/>
            </a:pPr>
            <a:r>
              <a:rPr lang="en-US" sz="2600" b="1" dirty="0">
                <a:solidFill>
                  <a:srgbClr val="004A78"/>
                </a:solidFill>
              </a:rPr>
              <a:t>Long-term liabilities</a:t>
            </a:r>
            <a:r>
              <a:rPr lang="en-US" sz="2600" dirty="0">
                <a:solidFill>
                  <a:srgbClr val="004A78"/>
                </a:solidFill>
              </a:rPr>
              <a:t> </a:t>
            </a:r>
            <a:r>
              <a:rPr lang="en-US" sz="2600" dirty="0"/>
              <a:t>are liabilities that will not be due for a long time (usually more than one year).</a:t>
            </a:r>
          </a:p>
          <a:p>
            <a:pPr marL="457200" indent="-457200">
              <a:buFont typeface="Arial" panose="020B0604020202020204" pitchFamily="34" charset="0"/>
              <a:buChar char="•"/>
              <a:tabLst>
                <a:tab pos="336550" algn="l"/>
              </a:tabLst>
            </a:pPr>
            <a:r>
              <a:rPr lang="en-US" sz="2600" dirty="0"/>
              <a:t>The stockholders’ right to the assets of the business is presented on  the balance sheet below the Liabilities section as shareholders’ equity.</a:t>
            </a:r>
          </a:p>
          <a:p>
            <a:pPr marL="342900" lvl="1" indent="0">
              <a:buNone/>
            </a:pPr>
            <a:endParaRPr lang="en-US" sz="2600" dirty="0"/>
          </a:p>
          <a:p>
            <a:pPr marL="342900" lvl="1" indent="0">
              <a:buNone/>
            </a:pPr>
            <a:endParaRPr lang="en-US" sz="2600" dirty="0"/>
          </a:p>
        </p:txBody>
      </p:sp>
    </p:spTree>
    <p:extLst>
      <p:ext uri="{BB962C8B-B14F-4D97-AF65-F5344CB8AC3E}">
        <p14:creationId xmlns:p14="http://schemas.microsoft.com/office/powerpoint/2010/main" val="4022993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AD15-92F2-4514-A831-BCDBB2F85B8A}"/>
              </a:ext>
            </a:extLst>
          </p:cNvPr>
          <p:cNvSpPr>
            <a:spLocks noGrp="1"/>
          </p:cNvSpPr>
          <p:nvPr>
            <p:ph type="title"/>
          </p:nvPr>
        </p:nvSpPr>
        <p:spPr/>
        <p:txBody>
          <a:bodyPr/>
          <a:lstStyle/>
          <a:p>
            <a:r>
              <a:rPr lang="en-US" dirty="0"/>
              <a:t>Statement of Cash Flows</a:t>
            </a:r>
          </a:p>
        </p:txBody>
      </p:sp>
      <p:sp>
        <p:nvSpPr>
          <p:cNvPr id="3" name="Text Placeholder 2">
            <a:extLst>
              <a:ext uri="{FF2B5EF4-FFF2-40B4-BE49-F238E27FC236}">
                <a16:creationId xmlns:a16="http://schemas.microsoft.com/office/drawing/2014/main" id="{0B06E428-A801-4B01-9159-A8AF39033F67}"/>
              </a:ext>
            </a:extLst>
          </p:cNvPr>
          <p:cNvSpPr>
            <a:spLocks noGrp="1"/>
          </p:cNvSpPr>
          <p:nvPr>
            <p:ph sz="quarter" idx="10"/>
          </p:nvPr>
        </p:nvSpPr>
        <p:spPr/>
        <p:txBody>
          <a:bodyPr/>
          <a:lstStyle/>
          <a:p>
            <a:pPr marL="457200" indent="-457200">
              <a:buFont typeface="Arial" panose="020B0604020202020204" pitchFamily="34" charset="0"/>
              <a:buChar char="•"/>
            </a:pPr>
            <a:r>
              <a:rPr lang="en-US" sz="2600" dirty="0"/>
              <a:t>While the income statement, statement of stockholders’ equity, and balance sheet can be prepared from the Adjusted Trial Balance columns, the statement of cash flows is prepared by analyzing the cash account.</a:t>
            </a:r>
          </a:p>
          <a:p>
            <a:pPr marL="457200" indent="-457200">
              <a:buFont typeface="Arial" panose="020B0604020202020204" pitchFamily="34" charset="0"/>
              <a:buChar char="•"/>
            </a:pPr>
            <a:r>
              <a:rPr lang="en-US" sz="2600" dirty="0"/>
              <a:t>In doing so, each cash transaction is classified as an operating, investing, or financing activity.</a:t>
            </a:r>
          </a:p>
          <a:p>
            <a:pPr marL="457200" indent="-457200">
              <a:buFont typeface="Arial" panose="020B0604020202020204" pitchFamily="34" charset="0"/>
              <a:buChar char="•"/>
            </a:pPr>
            <a:r>
              <a:rPr lang="en-US" sz="2600" dirty="0"/>
              <a:t>In practice, however, the statement of cash flows is normally prepared using a different, more complex method called the </a:t>
            </a:r>
            <a:r>
              <a:rPr lang="en-US" sz="2600" i="1" dirty="0"/>
              <a:t>indirect method</a:t>
            </a:r>
            <a:r>
              <a:rPr lang="en-US" sz="2600" dirty="0"/>
              <a:t>.</a:t>
            </a:r>
          </a:p>
        </p:txBody>
      </p:sp>
    </p:spTree>
    <p:extLst>
      <p:ext uri="{BB962C8B-B14F-4D97-AF65-F5344CB8AC3E}">
        <p14:creationId xmlns:p14="http://schemas.microsoft.com/office/powerpoint/2010/main" val="2259199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88406-0E27-4C5E-91DC-409376E08D82}"/>
              </a:ext>
            </a:extLst>
          </p:cNvPr>
          <p:cNvSpPr>
            <a:spLocks noGrp="1"/>
          </p:cNvSpPr>
          <p:nvPr>
            <p:ph type="title"/>
          </p:nvPr>
        </p:nvSpPr>
        <p:spPr/>
        <p:txBody>
          <a:bodyPr/>
          <a:lstStyle/>
          <a:p>
            <a:r>
              <a:rPr lang="en-US" dirty="0">
                <a:solidFill>
                  <a:srgbClr val="FF0000"/>
                </a:solidFill>
              </a:rPr>
              <a:t>NOT ON THE EXAM AFTER THIS SLIDE-</a:t>
            </a:r>
            <a:br>
              <a:rPr lang="en-US" dirty="0">
                <a:solidFill>
                  <a:srgbClr val="FF0000"/>
                </a:solidFill>
              </a:rPr>
            </a:br>
            <a:r>
              <a:rPr lang="en-US" dirty="0"/>
              <a:t>Closing Entries</a:t>
            </a:r>
            <a:br>
              <a:rPr lang="en-US" dirty="0"/>
            </a:br>
            <a:r>
              <a:rPr lang="en-US" sz="2400" dirty="0"/>
              <a:t>(1 of 3) (Learning Objective 3)</a:t>
            </a:r>
          </a:p>
        </p:txBody>
      </p:sp>
      <p:sp>
        <p:nvSpPr>
          <p:cNvPr id="3" name="Text Placeholder 2">
            <a:extLst>
              <a:ext uri="{FF2B5EF4-FFF2-40B4-BE49-F238E27FC236}">
                <a16:creationId xmlns:a16="http://schemas.microsoft.com/office/drawing/2014/main" id="{9BE632C2-EEF3-4CB2-88BF-5AF38DC737BA}"/>
              </a:ext>
            </a:extLst>
          </p:cNvPr>
          <p:cNvSpPr>
            <a:spLocks noGrp="1"/>
          </p:cNvSpPr>
          <p:nvPr>
            <p:ph sz="quarter" idx="10"/>
          </p:nvPr>
        </p:nvSpPr>
        <p:spPr/>
        <p:txBody>
          <a:bodyPr>
            <a:normAutofit/>
          </a:bodyPr>
          <a:lstStyle/>
          <a:p>
            <a:pPr marL="457200" indent="-457200">
              <a:buFont typeface="Arial" panose="020B0604020202020204" pitchFamily="34" charset="0"/>
              <a:buChar char="•"/>
            </a:pPr>
            <a:r>
              <a:rPr lang="en-US" sz="2400" dirty="0"/>
              <a:t>The balances of the accounts reported on the balance sheet are carried forward from year to year. </a:t>
            </a:r>
          </a:p>
          <a:p>
            <a:pPr marL="457200" indent="-457200">
              <a:buFont typeface="Arial" panose="020B0604020202020204" pitchFamily="34" charset="0"/>
              <a:buChar char="•"/>
            </a:pPr>
            <a:r>
              <a:rPr lang="en-US" sz="2400" dirty="0"/>
              <a:t>Because they are relatively permanent, these accounts are called </a:t>
            </a:r>
            <a:r>
              <a:rPr lang="en-US" sz="2400" b="1" dirty="0">
                <a:solidFill>
                  <a:srgbClr val="004A78"/>
                </a:solidFill>
              </a:rPr>
              <a:t>permanent accounts</a:t>
            </a:r>
            <a:r>
              <a:rPr lang="en-US" sz="2400" dirty="0"/>
              <a:t> or </a:t>
            </a:r>
            <a:r>
              <a:rPr lang="en-US" sz="2400" b="1" dirty="0">
                <a:solidFill>
                  <a:srgbClr val="004A78"/>
                </a:solidFill>
              </a:rPr>
              <a:t>real accounts</a:t>
            </a:r>
            <a:r>
              <a:rPr lang="en-US" sz="2400" dirty="0"/>
              <a:t>. </a:t>
            </a:r>
          </a:p>
          <a:p>
            <a:pPr lvl="1"/>
            <a:r>
              <a:rPr lang="en-US" dirty="0"/>
              <a:t>The balances of the accounts reported on the income statement are not carried forward from year to year. </a:t>
            </a:r>
          </a:p>
          <a:p>
            <a:pPr lvl="1"/>
            <a:r>
              <a:rPr lang="en-US" dirty="0"/>
              <a:t>The balance of the dividends account, which is reported on the statement of stockholders’ equity, is not carried forward.</a:t>
            </a:r>
          </a:p>
          <a:p>
            <a:pPr marL="457200" indent="-457200">
              <a:buFont typeface="Arial" panose="020B0604020202020204" pitchFamily="34" charset="0"/>
              <a:buChar char="•"/>
            </a:pPr>
            <a:r>
              <a:rPr lang="en-US" sz="2400" dirty="0"/>
              <a:t>Because these accounts report amounts for only one period, they are called </a:t>
            </a:r>
            <a:r>
              <a:rPr lang="en-US" sz="2400" b="1" dirty="0">
                <a:solidFill>
                  <a:srgbClr val="004A78"/>
                </a:solidFill>
              </a:rPr>
              <a:t>temporary accounts</a:t>
            </a:r>
            <a:r>
              <a:rPr lang="en-US" sz="2400" dirty="0">
                <a:solidFill>
                  <a:srgbClr val="004A78"/>
                </a:solidFill>
              </a:rPr>
              <a:t> </a:t>
            </a:r>
            <a:r>
              <a:rPr lang="en-US" sz="2400" dirty="0"/>
              <a:t>or </a:t>
            </a:r>
            <a:r>
              <a:rPr lang="en-US" sz="2400" b="1" dirty="0">
                <a:solidFill>
                  <a:srgbClr val="004A78"/>
                </a:solidFill>
              </a:rPr>
              <a:t>nominal accounts</a:t>
            </a:r>
            <a:r>
              <a:rPr lang="en-US" sz="2400" dirty="0"/>
              <a:t>.</a:t>
            </a:r>
          </a:p>
          <a:p>
            <a:pPr lvl="1"/>
            <a:r>
              <a:rPr lang="en-US" dirty="0"/>
              <a:t>Temporary accounts are not carried forward because they relate only to one period. </a:t>
            </a:r>
          </a:p>
        </p:txBody>
      </p:sp>
    </p:spTree>
    <p:extLst>
      <p:ext uri="{BB962C8B-B14F-4D97-AF65-F5344CB8AC3E}">
        <p14:creationId xmlns:p14="http://schemas.microsoft.com/office/powerpoint/2010/main" val="3634204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88406-0E27-4C5E-91DC-409376E08D82}"/>
              </a:ext>
            </a:extLst>
          </p:cNvPr>
          <p:cNvSpPr>
            <a:spLocks noGrp="1"/>
          </p:cNvSpPr>
          <p:nvPr>
            <p:ph type="title"/>
          </p:nvPr>
        </p:nvSpPr>
        <p:spPr/>
        <p:txBody>
          <a:bodyPr/>
          <a:lstStyle/>
          <a:p>
            <a:r>
              <a:rPr lang="en-US" dirty="0"/>
              <a:t>Closing Entries</a:t>
            </a:r>
            <a:br>
              <a:rPr lang="en-US" dirty="0"/>
            </a:br>
            <a:r>
              <a:rPr lang="en-US" sz="2400" dirty="0"/>
              <a:t>(2 of 3)</a:t>
            </a:r>
          </a:p>
        </p:txBody>
      </p:sp>
      <p:sp>
        <p:nvSpPr>
          <p:cNvPr id="3" name="Text Placeholder 2">
            <a:extLst>
              <a:ext uri="{FF2B5EF4-FFF2-40B4-BE49-F238E27FC236}">
                <a16:creationId xmlns:a16="http://schemas.microsoft.com/office/drawing/2014/main" id="{9BE632C2-EEF3-4CB2-88BF-5AF38DC737BA}"/>
              </a:ext>
            </a:extLst>
          </p:cNvPr>
          <p:cNvSpPr>
            <a:spLocks noGrp="1"/>
          </p:cNvSpPr>
          <p:nvPr>
            <p:ph sz="quarter" idx="10"/>
          </p:nvPr>
        </p:nvSpPr>
        <p:spPr/>
        <p:txBody>
          <a:bodyPr>
            <a:normAutofit/>
          </a:bodyPr>
          <a:lstStyle/>
          <a:p>
            <a:pPr marL="457200" indent="-457200">
              <a:buFont typeface="Arial" panose="020B0604020202020204" pitchFamily="34" charset="0"/>
              <a:buChar char="•"/>
            </a:pPr>
            <a:r>
              <a:rPr lang="en-US" sz="2600" dirty="0"/>
              <a:t>At the beginning of the next period, temporary accounts should have zero balances.</a:t>
            </a:r>
          </a:p>
          <a:p>
            <a:pPr lvl="1"/>
            <a:r>
              <a:rPr lang="en-US" sz="2600" dirty="0"/>
              <a:t>To achieve this, temporary account balances are transferred to permanent accounts at the end of the accounting period. </a:t>
            </a:r>
          </a:p>
          <a:p>
            <a:pPr marL="457200" indent="-457200">
              <a:buFont typeface="Arial" panose="020B0604020202020204" pitchFamily="34" charset="0"/>
              <a:buChar char="•"/>
            </a:pPr>
            <a:r>
              <a:rPr lang="en-US" sz="2600" dirty="0"/>
              <a:t>The journal entries that transfer these balances are called </a:t>
            </a:r>
            <a:r>
              <a:rPr lang="en-US" sz="2600" b="1" dirty="0">
                <a:solidFill>
                  <a:srgbClr val="004A78"/>
                </a:solidFill>
              </a:rPr>
              <a:t>closing entries</a:t>
            </a:r>
            <a:r>
              <a:rPr lang="en-US" sz="2600" dirty="0"/>
              <a:t>.</a:t>
            </a:r>
          </a:p>
          <a:p>
            <a:pPr marL="457200" indent="-457200">
              <a:buFont typeface="Arial" panose="020B0604020202020204" pitchFamily="34" charset="0"/>
              <a:buChar char="•"/>
            </a:pPr>
            <a:r>
              <a:rPr lang="en-US" sz="2600" dirty="0"/>
              <a:t>The transfer process is called the </a:t>
            </a:r>
            <a:r>
              <a:rPr lang="en-US" sz="2600" b="1" dirty="0">
                <a:solidFill>
                  <a:srgbClr val="004A78"/>
                </a:solidFill>
              </a:rPr>
              <a:t>closing process </a:t>
            </a:r>
            <a:r>
              <a:rPr lang="en-US" sz="2600" dirty="0"/>
              <a:t>and is sometimes referred to as </a:t>
            </a:r>
            <a:r>
              <a:rPr lang="en-US" sz="2600" b="1" dirty="0">
                <a:solidFill>
                  <a:srgbClr val="004A78"/>
                </a:solidFill>
              </a:rPr>
              <a:t>closing the books</a:t>
            </a:r>
            <a:r>
              <a:rPr lang="en-US" sz="2600" dirty="0"/>
              <a:t>.</a:t>
            </a:r>
          </a:p>
        </p:txBody>
      </p:sp>
    </p:spTree>
    <p:extLst>
      <p:ext uri="{BB962C8B-B14F-4D97-AF65-F5344CB8AC3E}">
        <p14:creationId xmlns:p14="http://schemas.microsoft.com/office/powerpoint/2010/main" val="1469914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88406-0E27-4C5E-91DC-409376E08D82}"/>
              </a:ext>
            </a:extLst>
          </p:cNvPr>
          <p:cNvSpPr>
            <a:spLocks noGrp="1"/>
          </p:cNvSpPr>
          <p:nvPr>
            <p:ph type="title"/>
          </p:nvPr>
        </p:nvSpPr>
        <p:spPr/>
        <p:txBody>
          <a:bodyPr/>
          <a:lstStyle/>
          <a:p>
            <a:r>
              <a:rPr lang="en-US" dirty="0"/>
              <a:t>Closing Entries</a:t>
            </a:r>
            <a:br>
              <a:rPr lang="en-US" dirty="0"/>
            </a:br>
            <a:r>
              <a:rPr lang="en-US" sz="2400" dirty="0"/>
              <a:t>(3 of 3)</a:t>
            </a:r>
          </a:p>
        </p:txBody>
      </p:sp>
      <p:sp>
        <p:nvSpPr>
          <p:cNvPr id="3" name="Text Placeholder 2">
            <a:extLst>
              <a:ext uri="{FF2B5EF4-FFF2-40B4-BE49-F238E27FC236}">
                <a16:creationId xmlns:a16="http://schemas.microsoft.com/office/drawing/2014/main" id="{9BE632C2-EEF3-4CB2-88BF-5AF38DC737BA}"/>
              </a:ext>
            </a:extLst>
          </p:cNvPr>
          <p:cNvSpPr>
            <a:spLocks noGrp="1"/>
          </p:cNvSpPr>
          <p:nvPr>
            <p:ph sz="quarter" idx="10"/>
          </p:nvPr>
        </p:nvSpPr>
        <p:spPr/>
        <p:txBody>
          <a:bodyPr>
            <a:noAutofit/>
          </a:bodyPr>
          <a:lstStyle/>
          <a:p>
            <a:pPr marL="342900" indent="-342900">
              <a:buFont typeface="Arial" panose="020B0604020202020204" pitchFamily="34" charset="0"/>
              <a:buChar char="•"/>
            </a:pPr>
            <a:r>
              <a:rPr lang="en-US" sz="2200" dirty="0"/>
              <a:t>The closing process involves the following two steps:</a:t>
            </a:r>
          </a:p>
          <a:p>
            <a:pPr lvl="1">
              <a:tabLst>
                <a:tab pos="1658938" algn="l"/>
              </a:tabLst>
            </a:pPr>
            <a:r>
              <a:rPr lang="en-US" sz="2200" dirty="0"/>
              <a:t>Step 1. Revenue and expense account balances are transferred to the retained 	earnings account.</a:t>
            </a:r>
          </a:p>
          <a:p>
            <a:pPr lvl="1">
              <a:tabLst>
                <a:tab pos="1658938" algn="l"/>
              </a:tabLst>
            </a:pPr>
            <a:r>
              <a:rPr lang="en-US" sz="2200" dirty="0"/>
              <a:t>Step 2. The balance of the dividends account is transferred to the retained 	earnings account.</a:t>
            </a:r>
          </a:p>
          <a:p>
            <a:pPr marL="342900" indent="-342900">
              <a:buFont typeface="Arial" panose="020B0604020202020204" pitchFamily="34" charset="0"/>
              <a:buChar char="•"/>
            </a:pPr>
            <a:r>
              <a:rPr lang="en-US" sz="2200" dirty="0"/>
              <a:t>The two closing journal entries required by the closing process are as follows:</a:t>
            </a:r>
          </a:p>
          <a:p>
            <a:pPr lvl="1"/>
            <a:r>
              <a:rPr lang="en-US" sz="2200" dirty="0"/>
              <a:t>Closing Entry (1): Debit each revenue account for its balance, credit each expense account for its balance, and credit (net income) or debit (net loss) the retained earnings account.</a:t>
            </a:r>
          </a:p>
          <a:p>
            <a:pPr lvl="1"/>
            <a:r>
              <a:rPr lang="en-US" sz="2200" dirty="0"/>
              <a:t>Closing Entry (2): Debit the retained earnings account for the balance of the dividends account and credit the dividends account for its balance.</a:t>
            </a:r>
          </a:p>
          <a:p>
            <a:pPr marL="342900" indent="-342900">
              <a:buFont typeface="Arial" panose="020B0604020202020204" pitchFamily="34" charset="0"/>
              <a:buChar char="•"/>
            </a:pPr>
            <a:r>
              <a:rPr lang="en-US" sz="2200" dirty="0"/>
              <a:t>Closing entries are recorded in the journal and are dated as of the last day of the accounting period.</a:t>
            </a:r>
          </a:p>
        </p:txBody>
      </p:sp>
    </p:spTree>
    <p:extLst>
      <p:ext uri="{BB962C8B-B14F-4D97-AF65-F5344CB8AC3E}">
        <p14:creationId xmlns:p14="http://schemas.microsoft.com/office/powerpoint/2010/main" val="2863427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0C93-49E1-4A82-8318-F13272FA60A9}"/>
              </a:ext>
            </a:extLst>
          </p:cNvPr>
          <p:cNvSpPr>
            <a:spLocks noGrp="1"/>
          </p:cNvSpPr>
          <p:nvPr>
            <p:ph type="title"/>
          </p:nvPr>
        </p:nvSpPr>
        <p:spPr/>
        <p:txBody>
          <a:bodyPr/>
          <a:lstStyle/>
          <a:p>
            <a:r>
              <a:rPr lang="en-US" dirty="0"/>
              <a:t>Exhibit 5 </a:t>
            </a:r>
            <a:r>
              <a:rPr kumimoji="0" lang="en-US" sz="3600" b="1" i="0" u="none" strike="noStrike" kern="1200" cap="none" spc="0" normalizeH="0" baseline="0" noProof="0" dirty="0">
                <a:ln>
                  <a:noFill/>
                </a:ln>
                <a:effectLst/>
                <a:uLnTx/>
                <a:uFillTx/>
                <a:latin typeface="Arial" panose="020B0604020202020204" pitchFamily="34" charset="0"/>
                <a:ea typeface="Verdana" pitchFamily="34" charset="0"/>
                <a:cs typeface="Arial" panose="020B0604020202020204" pitchFamily="34" charset="0"/>
              </a:rPr>
              <a:t>–</a:t>
            </a:r>
            <a:r>
              <a:rPr lang="en-US" dirty="0"/>
              <a:t> Closing Entries, NetSolutions</a:t>
            </a:r>
          </a:p>
        </p:txBody>
      </p:sp>
      <p:pic>
        <p:nvPicPr>
          <p:cNvPr id="5" name="Content Placeholder 4" descr="A journal containing closing entries for NetSolutions is shown on page 6 of a journal form. December 31, 20Y3, is the date indicated for both entries. &#10;&#10;In the first closing entry, Fees Earned is debited—with 41 shown in the Posting Reference column and 16,840 shown in the Debit column. Rent Revenue is debited—with 42 shown in the Posting Reference column and 120 shown in Debit column. Wages Expense is credited—with 51 shown in the Posting Reference column and 4,525 shown in the Credit column. Supplies Expense is credited—with 52 shown in the Posting Reference column and 2,040 shown in the Credit column. Rent Expense is credited—with 53 shown in the Posting Reference column and 1,600 shown in the Credit column. Utilities Expense is credited—with 54 shown in the Posting Reference column and 985 shown in the Credit column. Insurance Expense is credited—with 55 shown in the Posting Reference column and 200 shown in the Credit column. Depreciation Expense is credited—with 56 shown in the Posting Reference column and 50 shown in the Credit column. Miscellaneous Expense is credited—with 59 shown in the Posting Reference column and 455 shown in the Credit column. Retained Earnings is credited—with 32 shown in the Posting Reference column and 7,105 shown in the Credit column.&#10;&#10;In the second closing entry, Retained Earnings is debited—with 32 shown in the Posting Reference column and 4,000 shown in the Debit column. Dividends is credited—with 33 shown in the Posting Reference column and 4,000 shown in the Credit column. &#10;">
            <a:extLst>
              <a:ext uri="{FF2B5EF4-FFF2-40B4-BE49-F238E27FC236}">
                <a16:creationId xmlns:a16="http://schemas.microsoft.com/office/drawing/2014/main" id="{B37BF257-EBC5-4C43-B6EE-A7345BFB1F03}"/>
              </a:ext>
            </a:extLst>
          </p:cNvPr>
          <p:cNvPicPr>
            <a:picLocks noGrp="1" noChangeAspect="1"/>
          </p:cNvPicPr>
          <p:nvPr>
            <p:ph sz="quarter" idx="10"/>
          </p:nvPr>
        </p:nvPicPr>
        <p:blipFill>
          <a:blip r:embed="rId2"/>
          <a:stretch>
            <a:fillRect/>
          </a:stretch>
        </p:blipFill>
        <p:spPr>
          <a:xfrm>
            <a:off x="1858004" y="1390281"/>
            <a:ext cx="8475992" cy="4341362"/>
          </a:xfrm>
          <a:prstGeom prst="rect">
            <a:avLst/>
          </a:prstGeom>
        </p:spPr>
      </p:pic>
    </p:spTree>
    <p:extLst>
      <p:ext uri="{BB962C8B-B14F-4D97-AF65-F5344CB8AC3E}">
        <p14:creationId xmlns:p14="http://schemas.microsoft.com/office/powerpoint/2010/main" val="870070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2C7C2-0FE1-47DA-897A-A28404674888}"/>
              </a:ext>
            </a:extLst>
          </p:cNvPr>
          <p:cNvSpPr>
            <a:spLocks noGrp="1"/>
          </p:cNvSpPr>
          <p:nvPr>
            <p:ph type="title"/>
          </p:nvPr>
        </p:nvSpPr>
        <p:spPr>
          <a:xfrm>
            <a:off x="691815" y="365125"/>
            <a:ext cx="10808368" cy="671513"/>
          </a:xfrm>
        </p:spPr>
        <p:txBody>
          <a:bodyPr/>
          <a:lstStyle/>
          <a:p>
            <a:r>
              <a:rPr lang="en-US" noProof="0" dirty="0"/>
              <a:t>Exhibit 7 – Post-Closing Trial Balance, NetSolutions</a:t>
            </a:r>
            <a:endParaRPr lang="en-US" dirty="0"/>
          </a:p>
        </p:txBody>
      </p:sp>
      <p:pic>
        <p:nvPicPr>
          <p:cNvPr id="8" name="Content Placeholder 7" descr="A post-closing trial balance for NetSolutions is shown. A three-line heading is set centered at the top of the trial balance. The first line lists the company name, NetSolutions. The second line lists the type of financial statement, Post-Closing Trial Balance. The third line lists the date, December 31, 20Y3. It shows the following accounts, account numbers, and amounts: Cash, 11, debit balance of 2,065; Accounts Receivable, 12, debit balance of 2,720; Supplies, 14, debit balance of 760; Prepaid Insurance, 15, debit balance of 2,200; Land, 17, debit balance of 20,000; Office Equipment, 18, debit balance of 1,800; Accumulated Depreciation—Office Equipment, 19, credit balance of 50; Accounts Payable, 21, credit balance of 900; Wages Payable, 22, credit balance of 250; Unearned Rent, 23, credit balance of 240; Common Stock, 31, credit balance of 25,000; Retained Earnings, 32, credit balance of 3,105. A single rule appears below 3,105 in the Credit Balances column and also on this line in the Debit Balances column. The total of the Debit Balances column is 29,545. The total of the Credit Balances column is also 29,545. A double rule underscores both of these numbers.">
            <a:extLst>
              <a:ext uri="{FF2B5EF4-FFF2-40B4-BE49-F238E27FC236}">
                <a16:creationId xmlns:a16="http://schemas.microsoft.com/office/drawing/2014/main" id="{A2A46D27-949E-4A45-81DA-75E3E3BD697F}"/>
              </a:ext>
            </a:extLst>
          </p:cNvPr>
          <p:cNvPicPr>
            <a:picLocks noGrp="1" noChangeAspect="1"/>
          </p:cNvPicPr>
          <p:nvPr>
            <p:ph sz="quarter" idx="10"/>
          </p:nvPr>
        </p:nvPicPr>
        <p:blipFill>
          <a:blip r:embed="rId3"/>
          <a:stretch>
            <a:fillRect/>
          </a:stretch>
        </p:blipFill>
        <p:spPr>
          <a:xfrm>
            <a:off x="1133623" y="1036638"/>
            <a:ext cx="9924751" cy="4910791"/>
          </a:xfrm>
          <a:prstGeom prst="rect">
            <a:avLst/>
          </a:prstGeom>
        </p:spPr>
      </p:pic>
    </p:spTree>
    <p:extLst>
      <p:ext uri="{BB962C8B-B14F-4D97-AF65-F5344CB8AC3E}">
        <p14:creationId xmlns:p14="http://schemas.microsoft.com/office/powerpoint/2010/main" val="2487837104"/>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ab864144-ca3b-47ab-a142-93b76c4c492d">
      <UserInfo>
        <DisplayName/>
        <AccountId xsi:nil="true"/>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394B888A8E71149BA1FDF36AA0410F2" ma:contentTypeVersion="11" ma:contentTypeDescription="Create a new document." ma:contentTypeScope="" ma:versionID="a2acd571cfbae07cc1c1b9b4f31a4903">
  <xsd:schema xmlns:xsd="http://www.w3.org/2001/XMLSchema" xmlns:xs="http://www.w3.org/2001/XMLSchema" xmlns:p="http://schemas.microsoft.com/office/2006/metadata/properties" xmlns:ns2="5f8dbb90-e206-4f83-9820-44f04f84401f" xmlns:ns3="ab864144-ca3b-47ab-a142-93b76c4c492d" targetNamespace="http://schemas.microsoft.com/office/2006/metadata/properties" ma:root="true" ma:fieldsID="3c31c27e1b082e584a7e0e139cda3467" ns2:_="" ns3:_="">
    <xsd:import namespace="5f8dbb90-e206-4f83-9820-44f04f84401f"/>
    <xsd:import namespace="ab864144-ca3b-47ab-a142-93b76c4c492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dbb90-e206-4f83-9820-44f04f8440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864144-ca3b-47ab-a142-93b76c4c492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purl.org/dc/dcmitype/"/>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ab864144-ca3b-47ab-a142-93b76c4c492d"/>
    <ds:schemaRef ds:uri="5f8dbb90-e206-4f83-9820-44f04f84401f"/>
    <ds:schemaRef ds:uri="http://www.w3.org/XML/1998/namespace"/>
  </ds:schemaRefs>
</ds:datastoreItem>
</file>

<file path=customXml/itemProps2.xml><?xml version="1.0" encoding="utf-8"?>
<ds:datastoreItem xmlns:ds="http://schemas.openxmlformats.org/officeDocument/2006/customXml" ds:itemID="{CCAA2083-1E27-43BC-8488-C4E35C2DDA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8dbb90-e206-4f83-9820-44f04f84401f"/>
    <ds:schemaRef ds:uri="ab864144-ca3b-47ab-a142-93b76c4c49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1138</TotalTime>
  <Words>1158</Words>
  <Application>Microsoft Office PowerPoint</Application>
  <PresentationFormat>Widescreen</PresentationFormat>
  <Paragraphs>74</Paragraphs>
  <Slides>17</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Arial</vt:lpstr>
      <vt:lpstr>Calibri</vt:lpstr>
      <vt:lpstr>Helvetica</vt:lpstr>
      <vt:lpstr>Open Sans</vt:lpstr>
      <vt:lpstr>Summer Font</vt:lpstr>
      <vt:lpstr>Office Theme</vt:lpstr>
      <vt:lpstr>Chapter 4: The Accounting Cycle</vt:lpstr>
      <vt:lpstr>Financial Statements (Learning Objective 2) </vt:lpstr>
      <vt:lpstr>Exhibit 9 – Adjusted Trial Balance</vt:lpstr>
      <vt:lpstr>Exhibit 2 – Financial Statements—NetSolutions (1 of 2)</vt:lpstr>
      <vt:lpstr>Exhibit 2 – Financial Statements—NetSolutions (2 of 2)</vt:lpstr>
      <vt:lpstr>Income Statement</vt:lpstr>
      <vt:lpstr>Statement of Stockholders’ Equity (1 of 2)</vt:lpstr>
      <vt:lpstr>Statement of Stockholders’ Equity (2 of 2)</vt:lpstr>
      <vt:lpstr>Balance Sheet</vt:lpstr>
      <vt:lpstr>Assets</vt:lpstr>
      <vt:lpstr>Liabilities and Shareholders’ Equity </vt:lpstr>
      <vt:lpstr>Statement of Cash Flows</vt:lpstr>
      <vt:lpstr>NOT ON THE EXAM AFTER THIS SLIDE- Closing Entries (1 of 3) (Learning Objective 3)</vt:lpstr>
      <vt:lpstr>Closing Entries (2 of 3)</vt:lpstr>
      <vt:lpstr>Closing Entries (3 of 3)</vt:lpstr>
      <vt:lpstr>Exhibit 5 – Closing Entries, NetSolutions</vt:lpstr>
      <vt:lpstr>Exhibit 7 – Post-Closing Trial Balance, NetSolutions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Constitutional Law</dc:title>
  <dc:creator>Onderdonk, Natalie</dc:creator>
  <cp:lastModifiedBy>Graney, Karla (DTPW)</cp:lastModifiedBy>
  <cp:revision>81</cp:revision>
  <dcterms:created xsi:type="dcterms:W3CDTF">2020-07-27T16:46:05Z</dcterms:created>
  <dcterms:modified xsi:type="dcterms:W3CDTF">2026-06-08T11:47:25Z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0x0101005394B888A8E71149BA1FDF36AA0410F2</vt:lpwstr>
  </property>
  <property fmtid="{D5CDD505-2E9C-101B-9397-08002B2CF9AE}" pid="3" name="Order">
    <vt:r8>21552800</vt:r8>
  </property>
  <property fmtid="{D5CDD505-2E9C-101B-9397-08002B2CF9AE}" pid="4" name="xd_Signature">
    <vt:bool>false</vt:bool>
  </property>
  <property fmtid="{D5CDD505-2E9C-101B-9397-08002B2CF9AE}" pid="5" name="xd_ProgID">
    <vt:lpwstr/>
  </property>
  <property fmtid="{D5CDD505-2E9C-101B-9397-08002B2CF9AE}" pid="6" name="Status">
    <vt:lpwstr>1. In development</vt:lpwstr>
  </property>
  <property fmtid="{D5CDD505-2E9C-101B-9397-08002B2CF9AE}" pid="7" name="ComplianceAssetId">
    <vt:lpwstr/>
  </property>
  <property fmtid="{D5CDD505-2E9C-101B-9397-08002B2CF9AE}" pid="8" name="TemplateUrl">
    <vt:lpwstr/>
  </property>
</Properties>
</file>